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773" r:id="rId4"/>
    <p:sldId id="818" r:id="rId6"/>
    <p:sldId id="745" r:id="rId7"/>
    <p:sldId id="819" r:id="rId8"/>
    <p:sldId id="820" r:id="rId9"/>
    <p:sldId id="821" r:id="rId10"/>
    <p:sldId id="783" r:id="rId11"/>
    <p:sldId id="777" r:id="rId12"/>
    <p:sldId id="822" r:id="rId13"/>
    <p:sldId id="778" r:id="rId14"/>
    <p:sldId id="825" r:id="rId15"/>
    <p:sldId id="823" r:id="rId16"/>
    <p:sldId id="824" r:id="rId17"/>
    <p:sldId id="826" r:id="rId18"/>
    <p:sldId id="827" r:id="rId19"/>
    <p:sldId id="828" r:id="rId20"/>
    <p:sldId id="779" r:id="rId21"/>
    <p:sldId id="829" r:id="rId22"/>
    <p:sldId id="830" r:id="rId23"/>
    <p:sldId id="831" r:id="rId24"/>
    <p:sldId id="832" r:id="rId25"/>
    <p:sldId id="833" r:id="rId26"/>
    <p:sldId id="834" r:id="rId27"/>
    <p:sldId id="794" r:id="rId28"/>
    <p:sldId id="790" r:id="rId29"/>
    <p:sldId id="804" r:id="rId30"/>
    <p:sldId id="805" r:id="rId31"/>
    <p:sldId id="806" r:id="rId32"/>
    <p:sldId id="807" r:id="rId33"/>
    <p:sldId id="810" r:id="rId34"/>
    <p:sldId id="809" r:id="rId35"/>
    <p:sldId id="811" r:id="rId36"/>
    <p:sldId id="812" r:id="rId37"/>
    <p:sldId id="813" r:id="rId38"/>
    <p:sldId id="814" r:id="rId39"/>
    <p:sldId id="815" r:id="rId40"/>
    <p:sldId id="816" r:id="rId41"/>
    <p:sldId id="817" r:id="rId42"/>
    <p:sldId id="835" r:id="rId43"/>
    <p:sldId id="803" r:id="rId44"/>
  </p:sldIdLst>
  <p:sldSz cx="12196445" cy="6858000"/>
  <p:notesSz cx="6858000" cy="9144000"/>
  <p:custDataLst>
    <p:tags r:id="rId48"/>
  </p:custDataLst>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116" userDrawn="1">
          <p15:clr>
            <a:srgbClr val="A4A3A4"/>
          </p15:clr>
        </p15:guide>
        <p15:guide id="2" pos="38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113E6A"/>
    <a:srgbClr val="006BBC"/>
    <a:srgbClr val="363636"/>
    <a:srgbClr val="FAFAFA"/>
    <a:srgbClr val="0F3D68"/>
    <a:srgbClr val="003366"/>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3092A72-E74D-4342-BD42-A49AEADB4AA1}" styleName="表样式 1 17">
    <a:wholeTbl>
      <a:tcTxStyle>
        <a:fontRef idx="none">
          <a:srgbClr val="000000"/>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w="9525" cmpd="sng">
              <a:solidFill>
                <a:schemeClr val="dk1">
                  <a:lumMod val="40000"/>
                  <a:lumOff val="60000"/>
                </a:schemeClr>
              </a:solidFill>
              <a:prstDash val="solid"/>
            </a:ln>
          </a:insideV>
        </a:tcBdr>
        <a:fill>
          <a:solidFill>
            <a:srgbClr val="FFFFFF"/>
          </a:solidFill>
        </a:fill>
      </a:tcStyle>
    </a:wholeTbl>
    <a:band2H>
      <a:tcTxStyle/>
      <a:tcStyle>
        <a:tcBdr/>
        <a:fill>
          <a:solidFill>
            <a:schemeClr val="dk1">
              <a:lumMod val="10000"/>
              <a:lumOff val="90000"/>
            </a:schemeClr>
          </a:solidFill>
        </a:fill>
      </a:tcStyle>
    </a:band2H>
    <a:band1V>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10000"/>
              <a:lumOff val="90000"/>
            </a:schemeClr>
          </a:solidFill>
        </a:fill>
      </a:tcStyle>
    </a:band1V>
    <a:band2V>
      <a:tcTxStyle/>
      <a:tcStyle>
        <a:tcBdr>
          <a:left>
            <a:ln w="9525" cmpd="sng">
              <a:solidFill>
                <a:schemeClr val="dk1">
                  <a:lumMod val="40000"/>
                  <a:lumOff val="60000"/>
                </a:schemeClr>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dk1">
                  <a:lumMod val="40000"/>
                  <a:lumOff val="60000"/>
                </a:schemeClr>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lastCol>
    <a:firstCol>
      <a:tcTxStyle b="on">
        <a:fontRef idx="none">
          <a:srgbClr val="08090C"/>
        </a:fontRef>
      </a:tcTxStyle>
      <a:tcStyle>
        <a:tcBdr>
          <a:left>
            <a:ln w="9525" cmpd="sng">
              <a:solidFill>
                <a:schemeClr val="dk1"/>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firstCol>
    <a:lastRow>
      <a:tcTxStyle b="on">
        <a:fontRef idx="none">
          <a:schemeClr val="dk1"/>
        </a:fontRef>
      </a:tcTxStyle>
      <a:tcStyle>
        <a:tcBdr>
          <a:left>
            <a:ln w="9525" cmpd="sng">
              <a:solidFill>
                <a:schemeClr val="dk1"/>
              </a:solidFill>
              <a:prstDash val="solid"/>
            </a:ln>
          </a:left>
          <a:right>
            <a:ln w="9525" cmpd="sng">
              <a:solidFill>
                <a:schemeClr val="dk1"/>
              </a:solidFill>
              <a:prstDash val="solid"/>
            </a:ln>
          </a:right>
          <a:top>
            <a:ln w="9525" cmpd="sng">
              <a:solidFill>
                <a:schemeClr val="dk1">
                  <a:lumMod val="40000"/>
                  <a:lumOff val="60000"/>
                </a:schemeClr>
              </a:solidFill>
              <a:prstDash val="solid"/>
            </a:ln>
          </a:top>
          <a:bottom>
            <a:ln w="9525" cmpd="sng">
              <a:solidFill>
                <a:schemeClr val="dk1"/>
              </a:solidFill>
              <a:prstDash val="solid"/>
            </a:ln>
          </a:bottom>
          <a:insideH>
            <a:ln>
              <a:noFill/>
            </a:ln>
          </a:insideH>
          <a:insideV>
            <a:ln>
              <a:noFill/>
            </a:ln>
          </a:insideV>
        </a:tcBdr>
        <a:fill>
          <a:solidFill>
            <a:srgbClr val="FFFFFF"/>
          </a:solidFill>
        </a:fill>
      </a:tcStyle>
    </a:lastRow>
    <a:seCell>
      <a:tcTxStyle b="on">
        <a:fontRef idx="none">
          <a:schemeClr val="dk1"/>
        </a:fontRef>
      </a:tcTxStyle>
      <a:tcStyle>
        <a:tcBdr>
          <a:left>
            <a:ln>
              <a:noFill/>
            </a:ln>
          </a:left>
          <a:right>
            <a:ln w="9525" cmpd="sng">
              <a:solidFill>
                <a:schemeClr val="dk1"/>
              </a:solidFill>
              <a:prstDash val="solid"/>
            </a:ln>
          </a:right>
          <a:top>
            <a:ln w="9525" cmpd="sng">
              <a:solidFill>
                <a:schemeClr val="dk1">
                  <a:lumMod val="40000"/>
                  <a:lumOff val="60000"/>
                </a:schemeClr>
              </a:solidFill>
              <a:prstDash val="solid"/>
            </a:ln>
          </a:top>
          <a:bottom>
            <a:ln w="9525" cmpd="sng">
              <a:solidFill>
                <a:schemeClr val="dk1"/>
              </a:solidFill>
              <a:prstDash val="solid"/>
            </a:ln>
          </a:bottom>
          <a:insideH>
            <a:ln>
              <a:noFill/>
            </a:ln>
          </a:insideH>
          <a:insideV>
            <a:ln>
              <a:noFill/>
            </a:ln>
          </a:insideV>
        </a:tcBdr>
        <a:fill>
          <a:solidFill>
            <a:srgbClr val="FFFFFF"/>
          </a:solidFill>
        </a:fill>
      </a:tcStyle>
    </a:seCell>
    <a:swCell>
      <a:tcTxStyle b="on">
        <a:fontRef idx="none">
          <a:schemeClr val="dk1"/>
        </a:fontRef>
      </a:tcTxStyle>
      <a:tcStyle>
        <a:tcBdr>
          <a:left>
            <a:ln w="9525" cmpd="sng">
              <a:solidFill>
                <a:schemeClr val="dk1"/>
              </a:solidFill>
              <a:prstDash val="solid"/>
            </a:ln>
          </a:left>
          <a:right>
            <a:ln>
              <a:noFill/>
            </a:ln>
          </a:right>
          <a:top>
            <a:ln w="9525" cmpd="sng">
              <a:solidFill>
                <a:schemeClr val="dk1">
                  <a:lumMod val="40000"/>
                  <a:lumOff val="60000"/>
                </a:schemeClr>
              </a:solidFill>
              <a:prstDash val="solid"/>
            </a:ln>
          </a:top>
          <a:bottom>
            <a:ln w="9525" cmpd="sng">
              <a:solidFill>
                <a:schemeClr val="dk1"/>
              </a:solidFill>
              <a:prstDash val="solid"/>
            </a:ln>
          </a:bottom>
          <a:insideH>
            <a:ln>
              <a:noFill/>
            </a:ln>
          </a:insideH>
          <a:insideV>
            <a:ln>
              <a:noFill/>
            </a:ln>
          </a:insideV>
        </a:tcBdr>
        <a:fill>
          <a:solidFill>
            <a:srgbClr val="FFFFFF"/>
          </a:solidFill>
        </a:fill>
      </a:tcStyle>
    </a:swCell>
    <a:firstRow>
      <a:tcTxStyle b="on">
        <a:fontRef idx="none">
          <a:schemeClr val="dk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40000"/>
                  <a:lumOff val="60000"/>
                </a:schemeClr>
              </a:solidFill>
              <a:prstDash val="solid"/>
            </a:ln>
          </a:bottom>
          <a:insideH>
            <a:ln>
              <a:noFill/>
            </a:ln>
          </a:insideH>
          <a:insideV>
            <a:ln w="9525" cmpd="sng">
              <a:solidFill>
                <a:schemeClr val="dk1">
                  <a:lumMod val="40000"/>
                  <a:lumOff val="60000"/>
                </a:schemeClr>
              </a:solidFill>
              <a:prstDash val="solid"/>
            </a:ln>
          </a:insideV>
        </a:tcBdr>
        <a:fill>
          <a:solidFill>
            <a:srgbClr val="FFFFFF"/>
          </a:solidFill>
        </a:fill>
      </a:tcStyle>
    </a:firstRow>
    <a:neCell>
      <a:tcTxStyle b="on">
        <a:fontRef idx="none">
          <a:schemeClr val="dk1"/>
        </a:fontRef>
      </a:tcTxStyle>
      <a:tcStyle>
        <a:tcBdr>
          <a:left>
            <a:ln w="9525" cmpd="sng">
              <a:solidFill>
                <a:schemeClr val="dk1">
                  <a:lumMod val="40000"/>
                  <a:lumOff val="60000"/>
                </a:schemeClr>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40000"/>
                  <a:lumOff val="60000"/>
                </a:schemeClr>
              </a:solidFill>
              <a:prstDash val="solid"/>
            </a:ln>
          </a:bottom>
          <a:insideH>
            <a:ln>
              <a:noFill/>
            </a:ln>
          </a:insideH>
          <a:insideV>
            <a:ln>
              <a:noFill/>
            </a:ln>
          </a:insideV>
        </a:tcBdr>
        <a:fill>
          <a:solidFill>
            <a:srgbClr val="FFFFFF"/>
          </a:solidFill>
        </a:fill>
      </a:tcStyle>
    </a:neCell>
    <a:nwCell>
      <a:tcTxStyle b="on">
        <a:fontRef idx="none">
          <a:schemeClr val="dk1"/>
        </a:fontRef>
      </a:tcTxStyle>
      <a:tcStyle>
        <a:tcBdr>
          <a:left>
            <a:ln w="9525" cmpd="sng">
              <a:solidFill>
                <a:schemeClr val="dk1"/>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lumMod val="40000"/>
                  <a:lumOff val="60000"/>
                </a:schemeClr>
              </a:solidFill>
              <a:prstDash val="solid"/>
            </a:ln>
          </a:bottom>
          <a:insideH>
            <a:ln>
              <a:noFill/>
            </a:ln>
          </a:insideH>
          <a:insideV>
            <a:ln>
              <a:noFill/>
            </a:ln>
          </a:insideV>
        </a:tcBdr>
        <a:fill>
          <a:solidFill>
            <a:srgbClr val="FFFFFF"/>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7" autoAdjust="0"/>
    <p:restoredTop sz="94660"/>
  </p:normalViewPr>
  <p:slideViewPr>
    <p:cSldViewPr snapToObjects="1" showGuides="1">
      <p:cViewPr varScale="1">
        <p:scale>
          <a:sx n="88" d="100"/>
          <a:sy n="88" d="100"/>
        </p:scale>
        <p:origin x="120" y="360"/>
      </p:cViewPr>
      <p:guideLst>
        <p:guide orient="horz" pos="2116"/>
        <p:guide pos="387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8" Type="http://schemas.openxmlformats.org/officeDocument/2006/relationships/tags" Target="tags/tag18.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noChangeAspect="1"/>
          </p:cNvSpPr>
          <p:nvPr>
            <p:ph type="sldImg"/>
          </p:nvPr>
        </p:nvSpPr>
        <p:spPr>
          <a:xfrm>
            <a:off x="1143000" y="685800"/>
            <a:ext cx="4572000" cy="3429000"/>
          </a:xfrm>
          <a:prstGeom prst="rect">
            <a:avLst/>
          </a:prstGeom>
          <a:noFill/>
          <a:ln w="9525">
            <a:noFill/>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fontAlgn="base">
              <a:buChar char="•"/>
            </a:pPr>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3074"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4098"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矩形 5"/>
          <p:cNvSpPr>
            <a:spLocks noChangeArrowheads="1"/>
          </p:cNvSpPr>
          <p:nvPr/>
        </p:nvSpPr>
        <p:spPr bwMode="auto">
          <a:xfrm>
            <a:off x="5522913" y="0"/>
            <a:ext cx="6673850" cy="6858000"/>
          </a:xfrm>
          <a:prstGeom prst="rect">
            <a:avLst/>
          </a:prstGeom>
          <a:solidFill>
            <a:srgbClr val="F8F8F8"/>
          </a:solidFill>
          <a:ln>
            <a:noFill/>
          </a:ln>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cstate="print"/>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1027"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cstate="print"/>
          <a:stretch>
            <a:fillRect/>
          </a:stretch>
        </a:blipFill>
        <a:effectLst/>
      </p:bgPr>
    </p:bg>
    <p:spTree>
      <p:nvGrpSpPr>
        <p:cNvPr id="1" name=""/>
        <p:cNvGrpSpPr/>
        <p:nvPr/>
      </p:nvGrpSpPr>
      <p:grpSpPr>
        <a:xfrm>
          <a:off x="0" y="0"/>
          <a:ext cx="0" cy="0"/>
          <a:chOff x="0" y="0"/>
          <a:chExt cx="0" cy="0"/>
        </a:xfrm>
      </p:grpSpPr>
      <p:sp>
        <p:nvSpPr>
          <p:cNvPr id="3074" name="矩形 3"/>
          <p:cNvSpPr>
            <a:spLocks noChangeArrowheads="1"/>
          </p:cNvSpPr>
          <p:nvPr/>
        </p:nvSpPr>
        <p:spPr bwMode="auto">
          <a:xfrm>
            <a:off x="11582400" y="6381750"/>
            <a:ext cx="492125" cy="396875"/>
          </a:xfrm>
          <a:prstGeom prst="rect">
            <a:avLst/>
          </a:prstGeom>
          <a:solidFill>
            <a:srgbClr val="0F3D68"/>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TextBox 4"/>
          <p:cNvSpPr txBox="1"/>
          <p:nvPr/>
        </p:nvSpPr>
        <p:spPr>
          <a:xfrm>
            <a:off x="11609388" y="6410325"/>
            <a:ext cx="436562" cy="339725"/>
          </a:xfrm>
          <a:prstGeom prst="rect">
            <a:avLst/>
          </a:prstGeom>
          <a:noFill/>
          <a:ln w="9525">
            <a:noFill/>
          </a:ln>
        </p:spPr>
        <p:txBody>
          <a:bodyPr wrap="none" anchor="t">
            <a:spAutoFit/>
          </a:bodyPr>
          <a:lstStyle/>
          <a:p>
            <a:pPr lvl="0" indent="0" algn="ctr"/>
            <a:fld id="{9A0DB2DC-4C9A-4742-B13C-FB6460FD3503}" type="slidenum">
              <a:rPr lang="zh-CN" altLang="en-US" sz="1600" dirty="0">
                <a:solidFill>
                  <a:schemeClr val="accent2"/>
                </a:solidFill>
                <a:latin typeface="Arial" panose="020B0604020202020204" pitchFamily="34" charset="0"/>
                <a:ea typeface="宋体" panose="02010600030101010101" pitchFamily="2" charset="-122"/>
              </a:rPr>
            </a:fld>
            <a:endParaRPr lang="zh-CN" altLang="en-US" sz="1600" dirty="0">
              <a:solidFill>
                <a:schemeClr val="accent2"/>
              </a:solidFill>
              <a:latin typeface="Arial" panose="020B0604020202020204" pitchFamily="34" charset="0"/>
              <a:ea typeface="宋体" panose="02010600030101010101" pitchFamily="2" charset="-122"/>
            </a:endParaRPr>
          </a:p>
        </p:txBody>
      </p:sp>
      <p:sp>
        <p:nvSpPr>
          <p:cNvPr id="2052"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53"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
        <p:nvSpPr>
          <p:cNvPr id="2054" name="矩形 1"/>
          <p:cNvSpPr>
            <a:spLocks noChangeArrowheads="1"/>
          </p:cNvSpPr>
          <p:nvPr/>
        </p:nvSpPr>
        <p:spPr bwMode="auto">
          <a:xfrm>
            <a:off x="0" y="6713538"/>
            <a:ext cx="12196763" cy="144463"/>
          </a:xfrm>
          <a:prstGeom prst="rect">
            <a:avLst/>
          </a:prstGeom>
          <a:solidFill>
            <a:srgbClr val="0F3D68"/>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400" fill="hold"/>
                                        <p:tgtEl>
                                          <p:spTgt spid="3075"/>
                                        </p:tgtEl>
                                        <p:attrNameLst>
                                          <p:attrName>ppt_w</p:attrName>
                                        </p:attrNameLst>
                                      </p:cBhvr>
                                      <p:tavLst>
                                        <p:tav tm="0">
                                          <p:val>
                                            <p:fltVal val="0"/>
                                          </p:val>
                                        </p:tav>
                                        <p:tav tm="100000">
                                          <p:val>
                                            <p:strVal val="#ppt_w"/>
                                          </p:val>
                                        </p:tav>
                                      </p:tavLst>
                                    </p:anim>
                                    <p:anim calcmode="lin" valueType="num">
                                      <p:cBhvr>
                                        <p:cTn id="8" dur="400" fill="hold"/>
                                        <p:tgtEl>
                                          <p:spTgt spid="3075"/>
                                        </p:tgtEl>
                                        <p:attrNameLst>
                                          <p:attrName>ppt_h</p:attrName>
                                        </p:attrNameLst>
                                      </p:cBhvr>
                                      <p:tavLst>
                                        <p:tav tm="0">
                                          <p:val>
                                            <p:fltVal val="0"/>
                                          </p:val>
                                        </p:tav>
                                        <p:tav tm="100000">
                                          <p:val>
                                            <p:strVal val="#ppt_h"/>
                                          </p:val>
                                        </p:tav>
                                      </p:tavLst>
                                    </p:anim>
                                    <p:anim calcmode="lin" valueType="num">
                                      <p:cBhvr>
                                        <p:cTn id="9" dur="400" fill="hold"/>
                                        <p:tgtEl>
                                          <p:spTgt spid="3075"/>
                                        </p:tgtEl>
                                        <p:attrNameLst>
                                          <p:attrName>style.rotation</p:attrName>
                                        </p:attrNameLst>
                                      </p:cBhvr>
                                      <p:tavLst>
                                        <p:tav tm="0">
                                          <p:val>
                                            <p:fltVal val="90"/>
                                          </p:val>
                                        </p:tav>
                                        <p:tav tm="100000">
                                          <p:val>
                                            <p:fltVal val="0"/>
                                          </p:val>
                                        </p:tav>
                                      </p:tavLst>
                                    </p:anim>
                                    <p:animEffect transition="in" filter="fade">
                                      <p:cBhvr>
                                        <p:cTn id="10" dur="4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Lst>
  </p:timing>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22.png"/><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8.png"/></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en-US" altLang="zh-CN" sz="3200" b="1" dirty="0">
                <a:solidFill>
                  <a:schemeClr val="accent2"/>
                </a:solidFill>
                <a:latin typeface="微软雅黑" panose="020B0503020204020204" pitchFamily="34" charset="-122"/>
                <a:ea typeface="微软雅黑" panose="020B0503020204020204" pitchFamily="34" charset="-122"/>
              </a:rPr>
              <a:t>MInference 1.0: Accelerating Pre-filling for Long-Context LLMs via Dynamic Sparse Attention</a:t>
            </a:r>
            <a:endParaRPr lang="en-US" altLang="zh-CN" sz="32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
        <p:nvSpPr>
          <p:cNvPr id="4" name="文本框 3"/>
          <p:cNvSpPr txBox="1"/>
          <p:nvPr/>
        </p:nvSpPr>
        <p:spPr>
          <a:xfrm>
            <a:off x="8474075" y="4221480"/>
            <a:ext cx="4065270" cy="1014730"/>
          </a:xfrm>
          <a:prstGeom prst="rect">
            <a:avLst/>
          </a:prstGeom>
          <a:noFill/>
        </p:spPr>
        <p:txBody>
          <a:bodyPr wrap="square" rtlCol="0">
            <a:spAutoFit/>
          </a:bodyPr>
          <a:p>
            <a:r>
              <a:rPr lang="en-US" altLang="zh-CN" sz="2000">
                <a:solidFill>
                  <a:schemeClr val="accent2"/>
                </a:solidFill>
              </a:rPr>
              <a:t>NeurIPS 2024</a:t>
            </a:r>
            <a:endParaRPr lang="en-US" altLang="zh-CN" sz="2000">
              <a:solidFill>
                <a:schemeClr val="accent2"/>
              </a:solidFill>
            </a:endParaRPr>
          </a:p>
          <a:p>
            <a:r>
              <a:rPr lang="en-US" altLang="zh-CN" sz="2000">
                <a:solidFill>
                  <a:schemeClr val="accent2"/>
                </a:solidFill>
              </a:rPr>
              <a:t>2024.12</a:t>
            </a:r>
            <a:endParaRPr lang="en-US" altLang="zh-CN" sz="2000">
              <a:solidFill>
                <a:schemeClr val="accent2"/>
              </a:solidFill>
            </a:endParaRPr>
          </a:p>
          <a:p>
            <a:r>
              <a:rPr lang="en-US" altLang="zh-CN" sz="2000">
                <a:solidFill>
                  <a:schemeClr val="accent2"/>
                </a:solidFill>
              </a:rPr>
              <a:t> </a:t>
            </a:r>
            <a:endParaRPr lang="en-US" altLang="zh-CN" sz="2000">
              <a:solidFill>
                <a:schemeClr val="accent2"/>
              </a:solidFill>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100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en-US" altLang="zh-CN" sz="3200" b="1" dirty="0">
                <a:solidFill>
                  <a:schemeClr val="accent2"/>
                </a:solidFill>
                <a:latin typeface="微软雅黑" panose="020B0503020204020204" pitchFamily="34" charset="-122"/>
                <a:ea typeface="微软雅黑" panose="020B0503020204020204" pitchFamily="34" charset="-122"/>
              </a:rPr>
              <a:t>MInference 1.0: </a:t>
            </a:r>
            <a:r>
              <a:rPr lang="zh-CN" altLang="en-US" sz="3200" b="1" dirty="0">
                <a:solidFill>
                  <a:schemeClr val="accent2"/>
                </a:solidFill>
                <a:latin typeface="微软雅黑" panose="020B0503020204020204" pitchFamily="34" charset="-122"/>
                <a:ea typeface="微软雅黑" panose="020B0503020204020204" pitchFamily="34" charset="-122"/>
              </a:rPr>
              <a:t>通过动态稀疏注意力加速长上下文大语言模型的预填充阶段</a:t>
            </a:r>
            <a:endParaRPr lang="zh-CN" altLang="en-US" sz="32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sz="1800"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pic>
        <p:nvPicPr>
          <p:cNvPr id="3" name="图片 2"/>
          <p:cNvPicPr>
            <a:picLocks noChangeAspect="1"/>
          </p:cNvPicPr>
          <p:nvPr/>
        </p:nvPicPr>
        <p:blipFill>
          <a:blip r:embed="rId3"/>
          <a:stretch>
            <a:fillRect/>
          </a:stretch>
        </p:blipFill>
        <p:spPr>
          <a:xfrm>
            <a:off x="985520" y="3933190"/>
            <a:ext cx="10064750" cy="1410970"/>
          </a:xfrm>
          <a:prstGeom prst="rect">
            <a:avLst/>
          </a:prstGeom>
        </p:spPr>
      </p:pic>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5099"/>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0242"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0243" name="Freeform 11"/>
          <p:cNvSpPr>
            <a:spLocks noEditPoints="1"/>
          </p:cNvSpPr>
          <p:nvPr/>
        </p:nvSpPr>
        <p:spPr>
          <a:xfrm>
            <a:off x="5595938" y="936625"/>
            <a:ext cx="1152525" cy="1217613"/>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404" h="1483">
                <a:moveTo>
                  <a:pt x="308" y="0"/>
                </a:moveTo>
                <a:lnTo>
                  <a:pt x="877" y="0"/>
                </a:lnTo>
                <a:cubicBezTo>
                  <a:pt x="984" y="0"/>
                  <a:pt x="1072" y="88"/>
                  <a:pt x="1072" y="195"/>
                </a:cubicBezTo>
                <a:lnTo>
                  <a:pt x="1072" y="456"/>
                </a:lnTo>
                <a:cubicBezTo>
                  <a:pt x="1010" y="504"/>
                  <a:pt x="973" y="550"/>
                  <a:pt x="924" y="616"/>
                </a:cubicBezTo>
                <a:lnTo>
                  <a:pt x="924" y="195"/>
                </a:lnTo>
                <a:cubicBezTo>
                  <a:pt x="924" y="169"/>
                  <a:pt x="903" y="147"/>
                  <a:pt x="877" y="147"/>
                </a:cubicBezTo>
                <a:lnTo>
                  <a:pt x="426" y="147"/>
                </a:lnTo>
                <a:lnTo>
                  <a:pt x="426" y="354"/>
                </a:lnTo>
                <a:cubicBezTo>
                  <a:pt x="426" y="374"/>
                  <a:pt x="409" y="391"/>
                  <a:pt x="389" y="391"/>
                </a:cubicBezTo>
                <a:lnTo>
                  <a:pt x="148" y="391"/>
                </a:lnTo>
                <a:lnTo>
                  <a:pt x="148" y="1111"/>
                </a:lnTo>
                <a:cubicBezTo>
                  <a:pt x="148" y="1138"/>
                  <a:pt x="169" y="1159"/>
                  <a:pt x="196" y="1159"/>
                </a:cubicBezTo>
                <a:lnTo>
                  <a:pt x="647" y="1159"/>
                </a:lnTo>
                <a:cubicBezTo>
                  <a:pt x="632" y="1208"/>
                  <a:pt x="619" y="1257"/>
                  <a:pt x="610" y="1307"/>
                </a:cubicBezTo>
                <a:lnTo>
                  <a:pt x="196" y="1307"/>
                </a:lnTo>
                <a:cubicBezTo>
                  <a:pt x="88" y="1307"/>
                  <a:pt x="0" y="1219"/>
                  <a:pt x="0" y="1111"/>
                </a:cubicBezTo>
                <a:lnTo>
                  <a:pt x="0" y="308"/>
                </a:lnTo>
                <a:lnTo>
                  <a:pt x="308" y="0"/>
                </a:lnTo>
                <a:close/>
                <a:moveTo>
                  <a:pt x="1246" y="478"/>
                </a:moveTo>
                <a:cubicBezTo>
                  <a:pt x="1266" y="490"/>
                  <a:pt x="1279" y="509"/>
                  <a:pt x="1284" y="536"/>
                </a:cubicBezTo>
                <a:cubicBezTo>
                  <a:pt x="1322" y="546"/>
                  <a:pt x="1359" y="571"/>
                  <a:pt x="1386" y="619"/>
                </a:cubicBezTo>
                <a:cubicBezTo>
                  <a:pt x="1404" y="661"/>
                  <a:pt x="1397" y="720"/>
                  <a:pt x="1372" y="765"/>
                </a:cubicBezTo>
                <a:cubicBezTo>
                  <a:pt x="1330" y="843"/>
                  <a:pt x="1273" y="938"/>
                  <a:pt x="1222" y="1016"/>
                </a:cubicBezTo>
                <a:cubicBezTo>
                  <a:pt x="1190" y="1029"/>
                  <a:pt x="1196" y="961"/>
                  <a:pt x="1208" y="944"/>
                </a:cubicBezTo>
                <a:cubicBezTo>
                  <a:pt x="1249" y="882"/>
                  <a:pt x="1284" y="824"/>
                  <a:pt x="1317" y="713"/>
                </a:cubicBezTo>
                <a:cubicBezTo>
                  <a:pt x="1324" y="661"/>
                  <a:pt x="1300" y="637"/>
                  <a:pt x="1284" y="614"/>
                </a:cubicBezTo>
                <a:cubicBezTo>
                  <a:pt x="1283" y="618"/>
                  <a:pt x="1282" y="623"/>
                  <a:pt x="1281" y="628"/>
                </a:cubicBezTo>
                <a:cubicBezTo>
                  <a:pt x="1250" y="614"/>
                  <a:pt x="1220" y="599"/>
                  <a:pt x="1189" y="582"/>
                </a:cubicBezTo>
                <a:cubicBezTo>
                  <a:pt x="1158" y="565"/>
                  <a:pt x="1129" y="543"/>
                  <a:pt x="1099" y="523"/>
                </a:cubicBezTo>
                <a:cubicBezTo>
                  <a:pt x="1157" y="473"/>
                  <a:pt x="1207" y="456"/>
                  <a:pt x="1246" y="478"/>
                </a:cubicBezTo>
                <a:close/>
                <a:moveTo>
                  <a:pt x="1268" y="683"/>
                </a:moveTo>
                <a:cubicBezTo>
                  <a:pt x="1242" y="770"/>
                  <a:pt x="1192" y="879"/>
                  <a:pt x="1121" y="1002"/>
                </a:cubicBezTo>
                <a:cubicBezTo>
                  <a:pt x="1086" y="1064"/>
                  <a:pt x="1045" y="1123"/>
                  <a:pt x="1003" y="1178"/>
                </a:cubicBezTo>
                <a:cubicBezTo>
                  <a:pt x="964" y="1159"/>
                  <a:pt x="925" y="1138"/>
                  <a:pt x="885" y="1116"/>
                </a:cubicBezTo>
                <a:cubicBezTo>
                  <a:pt x="843" y="1094"/>
                  <a:pt x="804" y="1066"/>
                  <a:pt x="764" y="1039"/>
                </a:cubicBezTo>
                <a:cubicBezTo>
                  <a:pt x="790" y="976"/>
                  <a:pt x="821" y="911"/>
                  <a:pt x="857" y="849"/>
                </a:cubicBezTo>
                <a:cubicBezTo>
                  <a:pt x="927" y="727"/>
                  <a:pt x="996" y="628"/>
                  <a:pt x="1058" y="562"/>
                </a:cubicBezTo>
                <a:cubicBezTo>
                  <a:pt x="1091" y="584"/>
                  <a:pt x="1124" y="608"/>
                  <a:pt x="1159" y="628"/>
                </a:cubicBezTo>
                <a:cubicBezTo>
                  <a:pt x="1195" y="649"/>
                  <a:pt x="1232" y="664"/>
                  <a:pt x="1268" y="683"/>
                </a:cubicBezTo>
                <a:close/>
                <a:moveTo>
                  <a:pt x="968" y="1222"/>
                </a:moveTo>
                <a:cubicBezTo>
                  <a:pt x="839" y="1379"/>
                  <a:pt x="708" y="1483"/>
                  <a:pt x="678" y="1466"/>
                </a:cubicBezTo>
                <a:cubicBezTo>
                  <a:pt x="648" y="1448"/>
                  <a:pt x="672" y="1283"/>
                  <a:pt x="743" y="1092"/>
                </a:cubicBezTo>
                <a:cubicBezTo>
                  <a:pt x="779" y="1116"/>
                  <a:pt x="816" y="1140"/>
                  <a:pt x="854" y="1162"/>
                </a:cubicBezTo>
                <a:cubicBezTo>
                  <a:pt x="892" y="1184"/>
                  <a:pt x="930" y="1202"/>
                  <a:pt x="968" y="1222"/>
                </a:cubicBezTo>
                <a:close/>
                <a:moveTo>
                  <a:pt x="508" y="258"/>
                </a:moveTo>
                <a:lnTo>
                  <a:pt x="833" y="258"/>
                </a:lnTo>
                <a:lnTo>
                  <a:pt x="833" y="333"/>
                </a:lnTo>
                <a:lnTo>
                  <a:pt x="508" y="333"/>
                </a:lnTo>
                <a:lnTo>
                  <a:pt x="508" y="258"/>
                </a:lnTo>
                <a:close/>
                <a:moveTo>
                  <a:pt x="256" y="756"/>
                </a:moveTo>
                <a:lnTo>
                  <a:pt x="446" y="756"/>
                </a:lnTo>
                <a:lnTo>
                  <a:pt x="446" y="831"/>
                </a:lnTo>
                <a:lnTo>
                  <a:pt x="256" y="831"/>
                </a:lnTo>
                <a:lnTo>
                  <a:pt x="256" y="756"/>
                </a:lnTo>
                <a:close/>
                <a:moveTo>
                  <a:pt x="256" y="583"/>
                </a:moveTo>
                <a:lnTo>
                  <a:pt x="833" y="583"/>
                </a:lnTo>
                <a:lnTo>
                  <a:pt x="833" y="658"/>
                </a:lnTo>
                <a:lnTo>
                  <a:pt x="256" y="658"/>
                </a:lnTo>
                <a:lnTo>
                  <a:pt x="256" y="583"/>
                </a:lnTo>
                <a:close/>
                <a:moveTo>
                  <a:pt x="256" y="423"/>
                </a:moveTo>
                <a:lnTo>
                  <a:pt x="833" y="423"/>
                </a:lnTo>
                <a:lnTo>
                  <a:pt x="833" y="498"/>
                </a:lnTo>
                <a:lnTo>
                  <a:pt x="256" y="498"/>
                </a:lnTo>
                <a:lnTo>
                  <a:pt x="256" y="423"/>
                </a:lnTo>
                <a:close/>
                <a:moveTo>
                  <a:pt x="192" y="323"/>
                </a:moveTo>
                <a:lnTo>
                  <a:pt x="334" y="323"/>
                </a:lnTo>
                <a:cubicBezTo>
                  <a:pt x="347" y="323"/>
                  <a:pt x="359" y="312"/>
                  <a:pt x="359" y="299"/>
                </a:cubicBezTo>
                <a:lnTo>
                  <a:pt x="359" y="157"/>
                </a:lnTo>
                <a:lnTo>
                  <a:pt x="192" y="323"/>
                </a:lnTo>
                <a:close/>
              </a:path>
            </a:pathLst>
          </a:custGeom>
          <a:solidFill>
            <a:srgbClr val="113E6A"/>
          </a:solidFill>
          <a:ln w="9525">
            <a:noFill/>
          </a:ln>
        </p:spPr>
        <p:txBody>
          <a:bodyPr/>
          <a:lstStyle/>
          <a:p>
            <a:endParaRPr lang="zh-CN" altLang="en-US"/>
          </a:p>
        </p:txBody>
      </p:sp>
      <p:sp>
        <p:nvSpPr>
          <p:cNvPr id="10244"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0245" name="TextBox 77"/>
          <p:cNvSpPr txBox="1"/>
          <p:nvPr/>
        </p:nvSpPr>
        <p:spPr>
          <a:xfrm>
            <a:off x="4548188" y="30686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摘要</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10246"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1</a:t>
            </a:r>
            <a:endParaRPr lang="zh-CN" altLang="en-US" sz="2600" dirty="0">
              <a:solidFill>
                <a:srgbClr val="363636"/>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heel(1)">
                                      <p:cBhvr>
                                        <p:cTn id="7" dur="2000"/>
                                        <p:tgtEl>
                                          <p:spTgt spid="10242"/>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0243"/>
                                        </p:tgtEl>
                                        <p:attrNameLst>
                                          <p:attrName>style.visibility</p:attrName>
                                        </p:attrNameLst>
                                      </p:cBhvr>
                                      <p:to>
                                        <p:strVal val="visible"/>
                                      </p:to>
                                    </p:set>
                                    <p:anim calcmode="lin" valueType="num">
                                      <p:cBhvr>
                                        <p:cTn id="11" dur="400" fill="hold"/>
                                        <p:tgtEl>
                                          <p:spTgt spid="10243"/>
                                        </p:tgtEl>
                                        <p:attrNameLst>
                                          <p:attrName>ppt_w</p:attrName>
                                        </p:attrNameLst>
                                      </p:cBhvr>
                                      <p:tavLst>
                                        <p:tav tm="0">
                                          <p:val>
                                            <p:fltVal val="0"/>
                                          </p:val>
                                        </p:tav>
                                        <p:tav tm="100000">
                                          <p:val>
                                            <p:strVal val="#ppt_w"/>
                                          </p:val>
                                        </p:tav>
                                      </p:tavLst>
                                    </p:anim>
                                    <p:anim calcmode="lin" valueType="num">
                                      <p:cBhvr>
                                        <p:cTn id="12" dur="400" fill="hold"/>
                                        <p:tgtEl>
                                          <p:spTgt spid="10243"/>
                                        </p:tgtEl>
                                        <p:attrNameLst>
                                          <p:attrName>ppt_h</p:attrName>
                                        </p:attrNameLst>
                                      </p:cBhvr>
                                      <p:tavLst>
                                        <p:tav tm="0">
                                          <p:val>
                                            <p:fltVal val="0"/>
                                          </p:val>
                                        </p:tav>
                                        <p:tav tm="100000">
                                          <p:val>
                                            <p:strVal val="#ppt_h"/>
                                          </p:val>
                                        </p:tav>
                                      </p:tavLst>
                                    </p:anim>
                                    <p:anim calcmode="lin" valueType="num">
                                      <p:cBhvr>
                                        <p:cTn id="13" dur="400" fill="hold"/>
                                        <p:tgtEl>
                                          <p:spTgt spid="10243"/>
                                        </p:tgtEl>
                                        <p:attrNameLst>
                                          <p:attrName>style.rotation</p:attrName>
                                        </p:attrNameLst>
                                      </p:cBhvr>
                                      <p:tavLst>
                                        <p:tav tm="0">
                                          <p:val>
                                            <p:fltVal val="90"/>
                                          </p:val>
                                        </p:tav>
                                        <p:tav tm="100000">
                                          <p:val>
                                            <p:fltVal val="0"/>
                                          </p:val>
                                        </p:tav>
                                      </p:tavLst>
                                    </p:anim>
                                    <p:animEffect transition="in" filter="fade">
                                      <p:cBhvr>
                                        <p:cTn id="14" dur="400"/>
                                        <p:tgtEl>
                                          <p:spTgt spid="10243"/>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barn(inVertical)">
                                      <p:cBhvr>
                                        <p:cTn id="18" dur="500"/>
                                        <p:tgtEl>
                                          <p:spTgt spid="10244"/>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0245"/>
                                        </p:tgtEl>
                                        <p:attrNameLst>
                                          <p:attrName>style.visibility</p:attrName>
                                        </p:attrNameLst>
                                      </p:cBhvr>
                                      <p:to>
                                        <p:strVal val="visible"/>
                                      </p:to>
                                    </p:set>
                                    <p:animEffect transition="in" filter="wipe(up)">
                                      <p:cBhvr>
                                        <p:cTn id="22" dur="500"/>
                                        <p:tgtEl>
                                          <p:spTgt spid="1024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6"/>
                                        </p:tgtEl>
                                        <p:attrNameLst>
                                          <p:attrName>style.visibility</p:attrName>
                                        </p:attrNameLst>
                                      </p:cBhvr>
                                      <p:to>
                                        <p:strVal val="visible"/>
                                      </p:to>
                                    </p:set>
                                    <p:animEffect transition="in" filter="wipe(down)">
                                      <p:cBhvr>
                                        <p:cTn id="25"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p:bldP spid="10245" grpId="0"/>
      <p:bldP spid="102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摘要</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298450" y="1682750"/>
            <a:ext cx="3575050" cy="4467225"/>
          </a:xfrm>
          <a:prstGeom prst="rect">
            <a:avLst/>
          </a:prstGeom>
          <a:noFill/>
          <a:ln w="9525">
            <a:noFill/>
          </a:ln>
        </p:spPr>
      </p:pic>
      <p:sp>
        <p:nvSpPr>
          <p:cNvPr id="2" name="文本框 1"/>
          <p:cNvSpPr txBox="1"/>
          <p:nvPr/>
        </p:nvSpPr>
        <p:spPr>
          <a:xfrm>
            <a:off x="4309745" y="1196340"/>
            <a:ext cx="7241540" cy="216852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在提示长度持续增加的情况下，</a:t>
            </a:r>
            <a:r>
              <a:rPr lang="zh-CN" altLang="en-US" sz="1800" dirty="0">
                <a:solidFill>
                  <a:schemeClr val="accent1"/>
                </a:solidFill>
                <a:latin typeface="微软雅黑" panose="020B0503020204020204" pitchFamily="34" charset="-122"/>
                <a:ea typeface="微软雅黑" panose="020B0503020204020204" pitchFamily="34" charset="-122"/>
                <a:cs typeface="+mn-ea"/>
              </a:rPr>
              <a:t>大语言模型推理的计算成为一大问题。现有的加速预填充的方法在应用于长上下文大语言模型时，通常无法保持较高的准确性或效率。为了解决这一差距，我们引入了</a:t>
            </a:r>
            <a:r>
              <a:rPr lang="en-US" altLang="zh-CN" sz="1800" dirty="0">
                <a:solidFill>
                  <a:schemeClr val="accent1"/>
                </a:solidFill>
                <a:latin typeface="微软雅黑" panose="020B0503020204020204" pitchFamily="34" charset="-122"/>
                <a:ea typeface="微软雅黑" panose="020B0503020204020204" pitchFamily="34" charset="-122"/>
                <a:cs typeface="+mn-ea"/>
              </a:rPr>
              <a:t>MInference</a:t>
            </a:r>
            <a:r>
              <a:rPr lang="zh-CN" altLang="en-US" sz="1800" dirty="0">
                <a:solidFill>
                  <a:schemeClr val="accent1"/>
                </a:solidFill>
                <a:latin typeface="微软雅黑" panose="020B0503020204020204" pitchFamily="34" charset="-122"/>
                <a:ea typeface="微软雅黑" panose="020B0503020204020204" pitchFamily="34" charset="-122"/>
                <a:cs typeface="+mn-ea"/>
              </a:rPr>
              <a:t>，这是一种稀疏计算方法，旨在加速长序列处理的预填充阶段</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74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摘要</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298450" y="1682750"/>
            <a:ext cx="3575050" cy="4467225"/>
          </a:xfrm>
          <a:prstGeom prst="rect">
            <a:avLst/>
          </a:prstGeom>
          <a:noFill/>
          <a:ln w="9525">
            <a:noFill/>
          </a:ln>
        </p:spPr>
      </p:pic>
      <p:sp>
        <p:nvSpPr>
          <p:cNvPr id="2" name="文本框 1"/>
          <p:cNvSpPr txBox="1"/>
          <p:nvPr/>
        </p:nvSpPr>
        <p:spPr>
          <a:xfrm>
            <a:off x="4309745" y="1196340"/>
            <a:ext cx="7241540" cy="216852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本方法在长上下文注意力矩阵中识别出三种独特的模式：</a:t>
            </a:r>
            <a:r>
              <a:rPr lang="en-US" altLang="zh-CN" sz="1800" dirty="0">
                <a:solidFill>
                  <a:schemeClr val="accent1"/>
                </a:solidFill>
                <a:latin typeface="微软雅黑" panose="020B0503020204020204" pitchFamily="34" charset="-122"/>
                <a:ea typeface="微软雅黑" panose="020B0503020204020204" pitchFamily="34" charset="-122"/>
                <a:cs typeface="+mn-ea"/>
              </a:rPr>
              <a:t>A</a:t>
            </a:r>
            <a:r>
              <a:rPr lang="zh-CN" altLang="en-US" sz="1800" dirty="0">
                <a:solidFill>
                  <a:schemeClr val="accent1"/>
                </a:solidFill>
                <a:latin typeface="微软雅黑" panose="020B0503020204020204" pitchFamily="34" charset="-122"/>
                <a:ea typeface="微软雅黑" panose="020B0503020204020204" pitchFamily="34" charset="-122"/>
                <a:cs typeface="+mn-ea"/>
              </a:rPr>
              <a:t>形、垂直-斜线和块稀疏。这些模式可用于在</a:t>
            </a:r>
            <a:r>
              <a:rPr lang="en-US" altLang="zh-CN" sz="1800" dirty="0">
                <a:solidFill>
                  <a:schemeClr val="accent1"/>
                </a:solidFill>
                <a:latin typeface="微软雅黑" panose="020B0503020204020204" pitchFamily="34" charset="-122"/>
                <a:ea typeface="微软雅黑" panose="020B0503020204020204" pitchFamily="34" charset="-122"/>
                <a:cs typeface="+mn-ea"/>
              </a:rPr>
              <a:t>GPU</a:t>
            </a:r>
            <a:r>
              <a:rPr lang="zh-CN" altLang="en-US" sz="1800" dirty="0">
                <a:solidFill>
                  <a:schemeClr val="accent1"/>
                </a:solidFill>
                <a:latin typeface="微软雅黑" panose="020B0503020204020204" pitchFamily="34" charset="-122"/>
                <a:ea typeface="微软雅黑" panose="020B0503020204020204" pitchFamily="34" charset="-122"/>
                <a:cs typeface="+mn-ea"/>
              </a:rPr>
              <a:t>上进行高效的稀疏计算。我们离线为每个注意力头确定最佳模式，并在推理过程中根据指定的模式动态构建稀疏索引，通过优化的</a:t>
            </a:r>
            <a:r>
              <a:rPr lang="en-US" altLang="zh-CN" sz="1800" dirty="0">
                <a:solidFill>
                  <a:schemeClr val="accent1"/>
                </a:solidFill>
                <a:latin typeface="微软雅黑" panose="020B0503020204020204" pitchFamily="34" charset="-122"/>
                <a:ea typeface="微软雅黑" panose="020B0503020204020204" pitchFamily="34" charset="-122"/>
                <a:cs typeface="+mn-ea"/>
              </a:rPr>
              <a:t>GPU</a:t>
            </a:r>
            <a:r>
              <a:rPr lang="zh-CN" altLang="en-US" sz="1800" dirty="0">
                <a:solidFill>
                  <a:schemeClr val="accent1"/>
                </a:solidFill>
                <a:latin typeface="微软雅黑" panose="020B0503020204020204" pitchFamily="34" charset="-122"/>
                <a:ea typeface="微软雅黑" panose="020B0503020204020204" pitchFamily="34" charset="-122"/>
                <a:cs typeface="+mn-ea"/>
              </a:rPr>
              <a:t>内核执行高效的稀疏注意力计算，从而显著降低长上下文大语言模型预填充阶段的延迟</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74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摘要</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298450" y="1682750"/>
            <a:ext cx="3575050" cy="4467225"/>
          </a:xfrm>
          <a:prstGeom prst="rect">
            <a:avLst/>
          </a:prstGeom>
          <a:noFill/>
          <a:ln w="9525">
            <a:noFill/>
          </a:ln>
        </p:spPr>
      </p:pic>
      <p:sp>
        <p:nvSpPr>
          <p:cNvPr id="2" name="文本框 1"/>
          <p:cNvSpPr txBox="1"/>
          <p:nvPr/>
        </p:nvSpPr>
        <p:spPr>
          <a:xfrm>
            <a:off x="4309745" y="1196340"/>
            <a:ext cx="7241540" cy="258445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本文技术可以直接应用于现有的大语言模型，无需对预训练设置进行任何修改或额外的微调。通过在包括</a:t>
            </a:r>
            <a:r>
              <a:rPr lang="en-US" altLang="zh-CN" sz="1800" dirty="0">
                <a:solidFill>
                  <a:schemeClr val="accent1"/>
                </a:solidFill>
                <a:latin typeface="微软雅黑" panose="020B0503020204020204" pitchFamily="34" charset="-122"/>
                <a:ea typeface="微软雅黑" panose="020B0503020204020204" pitchFamily="34" charset="-122"/>
                <a:cs typeface="+mn-ea"/>
              </a:rPr>
              <a:t>InfiniteBench、RULER、PG-19</a:t>
            </a:r>
            <a:r>
              <a:rPr lang="zh-CN" altLang="en-US" sz="1800" dirty="0">
                <a:solidFill>
                  <a:schemeClr val="accent1"/>
                </a:solidFill>
                <a:latin typeface="微软雅黑" panose="020B0503020204020204" pitchFamily="34" charset="-122"/>
                <a:ea typeface="微软雅黑" panose="020B0503020204020204" pitchFamily="34" charset="-122"/>
                <a:cs typeface="+mn-ea"/>
              </a:rPr>
              <a:t>和</a:t>
            </a:r>
            <a:r>
              <a:rPr lang="en-US" altLang="zh-CN" sz="1800" dirty="0">
                <a:solidFill>
                  <a:schemeClr val="accent1"/>
                </a:solidFill>
                <a:latin typeface="微软雅黑" panose="020B0503020204020204" pitchFamily="34" charset="-122"/>
                <a:ea typeface="微软雅黑" panose="020B0503020204020204" pitchFamily="34" charset="-122"/>
                <a:cs typeface="+mn-ea"/>
              </a:rPr>
              <a:t>Needle In A Haystack</a:t>
            </a:r>
            <a:r>
              <a:rPr lang="zh-CN" altLang="en-US" sz="1800" dirty="0">
                <a:solidFill>
                  <a:schemeClr val="accent1"/>
                </a:solidFill>
                <a:latin typeface="微软雅黑" panose="020B0503020204020204" pitchFamily="34" charset="-122"/>
                <a:ea typeface="微软雅黑" panose="020B0503020204020204" pitchFamily="34" charset="-122"/>
                <a:cs typeface="+mn-ea"/>
              </a:rPr>
              <a:t>在内的广泛下游任务上，以及包括</a:t>
            </a:r>
            <a:r>
              <a:rPr lang="en-US" altLang="zh-CN" sz="1800" dirty="0">
                <a:solidFill>
                  <a:schemeClr val="accent1"/>
                </a:solidFill>
                <a:latin typeface="微软雅黑" panose="020B0503020204020204" pitchFamily="34" charset="-122"/>
                <a:ea typeface="微软雅黑" panose="020B0503020204020204" pitchFamily="34" charset="-122"/>
                <a:cs typeface="+mn-ea"/>
              </a:rPr>
              <a:t>LLaMA-3-1M、GLM-4-1M、Yi-200K、Phi-3-128K </a:t>
            </a:r>
            <a:r>
              <a:rPr lang="zh-CN" altLang="en-US" sz="1800" dirty="0">
                <a:solidFill>
                  <a:schemeClr val="accent1"/>
                </a:solidFill>
                <a:latin typeface="微软雅黑" panose="020B0503020204020204" pitchFamily="34" charset="-122"/>
                <a:ea typeface="微软雅黑" panose="020B0503020204020204" pitchFamily="34" charset="-122"/>
                <a:cs typeface="+mn-ea"/>
              </a:rPr>
              <a:t>和</a:t>
            </a:r>
            <a:r>
              <a:rPr lang="en-US" altLang="zh-CN" sz="1800" dirty="0">
                <a:solidFill>
                  <a:schemeClr val="accent1"/>
                </a:solidFill>
                <a:latin typeface="微软雅黑" panose="020B0503020204020204" pitchFamily="34" charset="-122"/>
                <a:ea typeface="微软雅黑" panose="020B0503020204020204" pitchFamily="34" charset="-122"/>
                <a:cs typeface="+mn-ea"/>
              </a:rPr>
              <a:t> Qwen2-128K</a:t>
            </a:r>
            <a:r>
              <a:rPr lang="zh-CN" altLang="en-US" sz="1800" dirty="0">
                <a:solidFill>
                  <a:schemeClr val="accent1"/>
                </a:solidFill>
                <a:latin typeface="微软雅黑" panose="020B0503020204020204" pitchFamily="34" charset="-122"/>
                <a:ea typeface="微软雅黑" panose="020B0503020204020204" pitchFamily="34" charset="-122"/>
                <a:cs typeface="+mn-ea"/>
              </a:rPr>
              <a:t>在内的模型上进行评估，我们证明</a:t>
            </a:r>
            <a:r>
              <a:rPr lang="en-US" altLang="zh-CN" sz="1800" dirty="0">
                <a:solidFill>
                  <a:schemeClr val="accent1"/>
                </a:solidFill>
                <a:latin typeface="微软雅黑" panose="020B0503020204020204" pitchFamily="34" charset="-122"/>
                <a:ea typeface="微软雅黑" panose="020B0503020204020204" pitchFamily="34" charset="-122"/>
                <a:cs typeface="+mn-ea"/>
              </a:rPr>
              <a:t>MInference</a:t>
            </a:r>
            <a:r>
              <a:rPr lang="zh-CN" altLang="en-US" sz="1800" dirty="0">
                <a:solidFill>
                  <a:schemeClr val="accent1"/>
                </a:solidFill>
                <a:latin typeface="微软雅黑" panose="020B0503020204020204" pitchFamily="34" charset="-122"/>
                <a:ea typeface="微软雅黑" panose="020B0503020204020204" pitchFamily="34" charset="-122"/>
                <a:cs typeface="+mn-ea"/>
              </a:rPr>
              <a:t>在</a:t>
            </a:r>
            <a:r>
              <a:rPr lang="en-US" altLang="zh-CN" sz="1800" dirty="0">
                <a:solidFill>
                  <a:schemeClr val="accent1"/>
                </a:solidFill>
                <a:latin typeface="微软雅黑" panose="020B0503020204020204" pitchFamily="34" charset="-122"/>
                <a:ea typeface="微软雅黑" panose="020B0503020204020204" pitchFamily="34" charset="-122"/>
                <a:cs typeface="+mn-ea"/>
              </a:rPr>
              <a:t>A100</a:t>
            </a:r>
            <a:r>
              <a:rPr lang="zh-CN" altLang="en-US" sz="1800" dirty="0">
                <a:solidFill>
                  <a:schemeClr val="accent1"/>
                </a:solidFill>
                <a:latin typeface="微软雅黑" panose="020B0503020204020204" pitchFamily="34" charset="-122"/>
                <a:ea typeface="微软雅黑" panose="020B0503020204020204" pitchFamily="34" charset="-122"/>
                <a:cs typeface="+mn-ea"/>
              </a:rPr>
              <a:t>上能将预填充的推理延迟有效降低高达10倍，同时保持准确性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74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7410"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1741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7412" name="TextBox 77"/>
          <p:cNvSpPr txBox="1"/>
          <p:nvPr/>
        </p:nvSpPr>
        <p:spPr>
          <a:xfrm>
            <a:off x="4602163" y="28527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背景</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1741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2</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17422" name="Freeform 13"/>
          <p:cNvSpPr>
            <a:spLocks noEditPoints="1"/>
          </p:cNvSpPr>
          <p:nvPr/>
        </p:nvSpPr>
        <p:spPr>
          <a:xfrm>
            <a:off x="5441950" y="830263"/>
            <a:ext cx="1489075" cy="1398587"/>
          </a:xfrm>
          <a:custGeom>
            <a:avLst/>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113E6A"/>
          </a:solidFill>
          <a:ln w="9525">
            <a:noFill/>
          </a:ln>
        </p:spPr>
        <p:txBody>
          <a:bodyPr/>
          <a:lstStyle/>
          <a:p>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heel(1)">
                                      <p:cBhvr>
                                        <p:cTn id="7" dur="2000"/>
                                        <p:tgtEl>
                                          <p:spTgt spid="17410"/>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7422"/>
                                        </p:tgtEl>
                                        <p:attrNameLst>
                                          <p:attrName>style.visibility</p:attrName>
                                        </p:attrNameLst>
                                      </p:cBhvr>
                                      <p:to>
                                        <p:strVal val="visible"/>
                                      </p:to>
                                    </p:set>
                                    <p:anim calcmode="lin" valueType="num">
                                      <p:cBhvr>
                                        <p:cTn id="11" dur="400" fill="hold"/>
                                        <p:tgtEl>
                                          <p:spTgt spid="17422"/>
                                        </p:tgtEl>
                                        <p:attrNameLst>
                                          <p:attrName>ppt_w</p:attrName>
                                        </p:attrNameLst>
                                      </p:cBhvr>
                                      <p:tavLst>
                                        <p:tav tm="0">
                                          <p:val>
                                            <p:fltVal val="0"/>
                                          </p:val>
                                        </p:tav>
                                        <p:tav tm="100000">
                                          <p:val>
                                            <p:strVal val="#ppt_w"/>
                                          </p:val>
                                        </p:tav>
                                      </p:tavLst>
                                    </p:anim>
                                    <p:anim calcmode="lin" valueType="num">
                                      <p:cBhvr>
                                        <p:cTn id="12" dur="400" fill="hold"/>
                                        <p:tgtEl>
                                          <p:spTgt spid="17422"/>
                                        </p:tgtEl>
                                        <p:attrNameLst>
                                          <p:attrName>ppt_h</p:attrName>
                                        </p:attrNameLst>
                                      </p:cBhvr>
                                      <p:tavLst>
                                        <p:tav tm="0">
                                          <p:val>
                                            <p:fltVal val="0"/>
                                          </p:val>
                                        </p:tav>
                                        <p:tav tm="100000">
                                          <p:val>
                                            <p:strVal val="#ppt_h"/>
                                          </p:val>
                                        </p:tav>
                                      </p:tavLst>
                                    </p:anim>
                                    <p:anim calcmode="lin" valueType="num">
                                      <p:cBhvr>
                                        <p:cTn id="13" dur="400" fill="hold"/>
                                        <p:tgtEl>
                                          <p:spTgt spid="17422"/>
                                        </p:tgtEl>
                                        <p:attrNameLst>
                                          <p:attrName>style.rotation</p:attrName>
                                        </p:attrNameLst>
                                      </p:cBhvr>
                                      <p:tavLst>
                                        <p:tav tm="0">
                                          <p:val>
                                            <p:fltVal val="90"/>
                                          </p:val>
                                        </p:tav>
                                        <p:tav tm="100000">
                                          <p:val>
                                            <p:fltVal val="0"/>
                                          </p:val>
                                        </p:tav>
                                      </p:tavLst>
                                    </p:anim>
                                    <p:animEffect transition="in" filter="fade">
                                      <p:cBhvr>
                                        <p:cTn id="14" dur="400"/>
                                        <p:tgtEl>
                                          <p:spTgt spid="17422"/>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barn(inVertical)">
                                      <p:cBhvr>
                                        <p:cTn id="18" dur="500"/>
                                        <p:tgtEl>
                                          <p:spTgt spid="17411"/>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7412"/>
                                        </p:tgtEl>
                                        <p:attrNameLst>
                                          <p:attrName>style.visibility</p:attrName>
                                        </p:attrNameLst>
                                      </p:cBhvr>
                                      <p:to>
                                        <p:strVal val="visible"/>
                                      </p:to>
                                    </p:set>
                                    <p:animEffect transition="in" filter="wipe(up)">
                                      <p:cBhvr>
                                        <p:cTn id="22" dur="500"/>
                                        <p:tgtEl>
                                          <p:spTgt spid="174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wipe(down)">
                                      <p:cBhvr>
                                        <p:cTn id="25"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p:bldP spid="17412" grpId="0"/>
      <p:bldP spid="174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背景</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012825" y="1268730"/>
            <a:ext cx="10437495" cy="3642360"/>
          </a:xfrm>
          <a:prstGeom prst="rect">
            <a:avLst/>
          </a:prstGeom>
        </p:spPr>
        <p:txBody>
          <a:bodyPr wrap="square">
            <a:noAutofit/>
          </a:bodyPr>
          <a:p>
            <a:pPr marL="0" indent="0">
              <a:lnSpc>
                <a:spcPct val="150000"/>
              </a:lnSpc>
              <a:spcBef>
                <a:spcPts val="800"/>
              </a:spcBef>
              <a:spcAft>
                <a:spcPts val="800"/>
              </a:spcAft>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大语言模型已进入长上下文处理时代，其中一些模型支持的上下文窗口范围从128K到1000万</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 token</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。这些扩展的上下文窗口使大语言模型能够解锁许多复杂的现实应用，如仓库级代码理解、长文档问答、极端标签上下文学习</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spcBef>
                <a:spcPts val="800"/>
              </a:spcBef>
              <a:spcAft>
                <a:spcPts val="800"/>
              </a:spcAft>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然而，由于注意力的二次方复杂度，模型处理输入提示然后开始生成第一个令牌可能需要几分钟，这导致了不可接受的首令牌时间体验，从而极大地阻碍了长上下文大语言模型的广泛应用</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740"/>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背景</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012825" y="1268730"/>
            <a:ext cx="4158615" cy="3642360"/>
          </a:xfrm>
          <a:prstGeom prst="rect">
            <a:avLst/>
          </a:prstGeom>
        </p:spPr>
        <p:txBody>
          <a:bodyPr wrap="square">
            <a:noAutofit/>
          </a:bodyPr>
          <a:p>
            <a:pPr marL="0" indent="0">
              <a:lnSpc>
                <a:spcPct val="150000"/>
              </a:lnSpc>
              <a:spcBef>
                <a:spcPts val="800"/>
              </a:spcBef>
              <a:spcAft>
                <a:spcPts val="800"/>
              </a:spcAft>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在单卡</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A100</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上使用</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LLaMA-3-8B</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模型时，给定一个30万</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的提示，用户需要等待6分钟才能完成预填充阶段，而对于100万</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的提示，这个数字增加到30分钟</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spcBef>
                <a:spcPts val="800"/>
              </a:spcBef>
              <a:spcAft>
                <a:spcPts val="800"/>
              </a:spcAft>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自注意力计算的开销超过了预填充总延迟的90%，这使其成为大语言模型长上下文处理中的主要瓶颈</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6530340" y="405130"/>
            <a:ext cx="4975860" cy="458978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740"/>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7"/>
          <p:cNvSpPr txBox="1"/>
          <p:nvPr/>
        </p:nvSpPr>
        <p:spPr>
          <a:xfrm>
            <a:off x="1012825" y="176213"/>
            <a:ext cx="2849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注意力的稀疏性</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433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pic>
        <p:nvPicPr>
          <p:cNvPr id="2" name="图片 1"/>
          <p:cNvPicPr>
            <a:picLocks noChangeAspect="1"/>
          </p:cNvPicPr>
          <p:nvPr/>
        </p:nvPicPr>
        <p:blipFill>
          <a:blip r:embed="rId1"/>
          <a:stretch>
            <a:fillRect/>
          </a:stretch>
        </p:blipFill>
        <p:spPr>
          <a:xfrm>
            <a:off x="6170295" y="908685"/>
            <a:ext cx="5215890" cy="4824730"/>
          </a:xfrm>
          <a:prstGeom prst="rect">
            <a:avLst/>
          </a:prstGeom>
        </p:spPr>
      </p:pic>
      <p:sp>
        <p:nvSpPr>
          <p:cNvPr id="3" name="文本框 2"/>
          <p:cNvSpPr txBox="1"/>
          <p:nvPr/>
        </p:nvSpPr>
        <p:spPr>
          <a:xfrm>
            <a:off x="989330" y="1196975"/>
            <a:ext cx="4065270" cy="383095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先前的研究表明，注意力矩阵是高度稀疏的，这导致了固定稀疏注意力方法的发展，例如</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Longformer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和</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BigBird </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对于一个128k x 128k的注意力矩阵，仅保留前4k列可以召回96.</a:t>
            </a:r>
            <a:r>
              <a:rPr lang="en-US" altLang="zh-CN" sz="1800" dirty="0">
                <a:solidFill>
                  <a:schemeClr val="accent1"/>
                </a:solidFill>
                <a:latin typeface="微软雅黑" panose="020B0503020204020204" pitchFamily="34" charset="-122"/>
                <a:ea typeface="微软雅黑" panose="020B0503020204020204" pitchFamily="34" charset="-122"/>
                <a:cs typeface="+mn-ea"/>
              </a:rPr>
              <a:t>4</a:t>
            </a:r>
            <a:r>
              <a:rPr lang="zh-CN" altLang="en-US" sz="1800" dirty="0">
                <a:solidFill>
                  <a:schemeClr val="accent1"/>
                </a:solidFill>
                <a:latin typeface="微软雅黑" panose="020B0503020204020204" pitchFamily="34" charset="-122"/>
                <a:ea typeface="微软雅黑" panose="020B0503020204020204" pitchFamily="34" charset="-122"/>
                <a:cs typeface="+mn-ea"/>
              </a:rPr>
              <a:t>%的总注意力。因此，尽管处理的是长序列，但每个</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只关注有限数量的</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p:cTn id="7" dur="300" fill="hold"/>
                                        <p:tgtEl>
                                          <p:spTgt spid="14339"/>
                                        </p:tgtEl>
                                        <p:attrNameLst>
                                          <p:attrName>ppt_w</p:attrName>
                                        </p:attrNameLst>
                                      </p:cBhvr>
                                      <p:tavLst>
                                        <p:tav tm="0">
                                          <p:val>
                                            <p:fltVal val="0"/>
                                          </p:val>
                                        </p:tav>
                                        <p:tav tm="100000">
                                          <p:val>
                                            <p:strVal val="#ppt_w"/>
                                          </p:val>
                                        </p:tav>
                                      </p:tavLst>
                                    </p:anim>
                                    <p:anim calcmode="lin" valueType="num">
                                      <p:cBhvr>
                                        <p:cTn id="8" dur="300" fill="hold"/>
                                        <p:tgtEl>
                                          <p:spTgt spid="14339"/>
                                        </p:tgtEl>
                                        <p:attrNameLst>
                                          <p:attrName>ppt_h</p:attrName>
                                        </p:attrNameLst>
                                      </p:cBhvr>
                                      <p:tavLst>
                                        <p:tav tm="0">
                                          <p:val>
                                            <p:fltVal val="0"/>
                                          </p:val>
                                        </p:tav>
                                        <p:tav tm="100000">
                                          <p:val>
                                            <p:strVal val="#ppt_h"/>
                                          </p:val>
                                        </p:tav>
                                      </p:tavLst>
                                    </p:anim>
                                    <p:anim calcmode="lin" valueType="num">
                                      <p:cBhvr>
                                        <p:cTn id="9" dur="300" fill="hold"/>
                                        <p:tgtEl>
                                          <p:spTgt spid="14339"/>
                                        </p:tgtEl>
                                        <p:attrNameLst>
                                          <p:attrName>style.rotation</p:attrName>
                                        </p:attrNameLst>
                                      </p:cBhvr>
                                      <p:tavLst>
                                        <p:tav tm="0">
                                          <p:val>
                                            <p:fltVal val="90"/>
                                          </p:val>
                                        </p:tav>
                                        <p:tav tm="100000">
                                          <p:val>
                                            <p:fltVal val="0"/>
                                          </p:val>
                                        </p:tav>
                                      </p:tavLst>
                                    </p:anim>
                                    <p:animEffect transition="in" filter="fade">
                                      <p:cBhvr>
                                        <p:cTn id="10" dur="300"/>
                                        <p:tgtEl>
                                          <p:spTgt spid="1433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4338"/>
                                        </p:tgtEl>
                                        <p:attrNameLst>
                                          <p:attrName>style.visibility</p:attrName>
                                        </p:attrNameLst>
                                      </p:cBhvr>
                                      <p:to>
                                        <p:strVal val="visible"/>
                                      </p:to>
                                    </p:set>
                                    <p:anim calcmode="lin" valueType="num">
                                      <p:cBhvr>
                                        <p:cTn id="14" dur="400" fill="hold"/>
                                        <p:tgtEl>
                                          <p:spTgt spid="1433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4338"/>
                                        </p:tgtEl>
                                        <p:attrNameLst>
                                          <p:attrName>ppt_y</p:attrName>
                                        </p:attrNameLst>
                                      </p:cBhvr>
                                      <p:tavLst>
                                        <p:tav tm="0">
                                          <p:val>
                                            <p:strVal val="#ppt_y"/>
                                          </p:val>
                                        </p:tav>
                                        <p:tav tm="100000">
                                          <p:val>
                                            <p:strVal val="#ppt_y"/>
                                          </p:val>
                                        </p:tav>
                                      </p:tavLst>
                                    </p:anim>
                                    <p:anim calcmode="lin" valueType="num">
                                      <p:cBhvr>
                                        <p:cTn id="16" dur="400" fill="hold"/>
                                        <p:tgtEl>
                                          <p:spTgt spid="1433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433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7"/>
          <p:cNvSpPr txBox="1"/>
          <p:nvPr/>
        </p:nvSpPr>
        <p:spPr>
          <a:xfrm>
            <a:off x="1012825" y="176213"/>
            <a:ext cx="2849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注意力的稀疏性</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433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989330" y="1196975"/>
            <a:ext cx="4065270" cy="341503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然而，注意力分布在不同的输入之间差异很大，这种动态特性导致先前的稀疏方法在没有昂贵训练或微调的情况下无法直接用于长上下文大模型</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如果我们将上一个图中找到的前4</a:t>
            </a:r>
            <a:r>
              <a:rPr lang="en-US" altLang="zh-CN" sz="1800" dirty="0">
                <a:solidFill>
                  <a:schemeClr val="accent1"/>
                </a:solidFill>
                <a:latin typeface="微软雅黑" panose="020B0503020204020204" pitchFamily="34" charset="-122"/>
                <a:ea typeface="微软雅黑" panose="020B0503020204020204" pitchFamily="34" charset="-122"/>
                <a:cs typeface="+mn-ea"/>
              </a:rPr>
              <a:t>k</a:t>
            </a:r>
            <a:r>
              <a:rPr lang="zh-CN" altLang="en-US" sz="1800" dirty="0">
                <a:solidFill>
                  <a:schemeClr val="accent1"/>
                </a:solidFill>
                <a:latin typeface="微软雅黑" panose="020B0503020204020204" pitchFamily="34" charset="-122"/>
                <a:ea typeface="微软雅黑" panose="020B0503020204020204" pitchFamily="34" charset="-122"/>
                <a:cs typeface="+mn-ea"/>
              </a:rPr>
              <a:t>列，应用于另一个128</a:t>
            </a:r>
            <a:r>
              <a:rPr lang="en-US" altLang="zh-CN" sz="1800" dirty="0">
                <a:solidFill>
                  <a:schemeClr val="accent1"/>
                </a:solidFill>
                <a:latin typeface="微软雅黑" panose="020B0503020204020204" pitchFamily="34" charset="-122"/>
                <a:ea typeface="微软雅黑" panose="020B0503020204020204" pitchFamily="34" charset="-122"/>
                <a:cs typeface="+mn-ea"/>
              </a:rPr>
              <a:t>k</a:t>
            </a:r>
            <a:r>
              <a:rPr lang="zh-CN" altLang="en-US" sz="1800" dirty="0">
                <a:solidFill>
                  <a:schemeClr val="accent1"/>
                </a:solidFill>
                <a:latin typeface="微软雅黑" panose="020B0503020204020204" pitchFamily="34" charset="-122"/>
                <a:ea typeface="微软雅黑" panose="020B0503020204020204" pitchFamily="34" charset="-122"/>
                <a:cs typeface="+mn-ea"/>
              </a:rPr>
              <a:t>的提示，注意力的召回率将大幅下降至83.7%</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1"/>
          <a:stretch>
            <a:fillRect/>
          </a:stretch>
        </p:blipFill>
        <p:spPr>
          <a:xfrm>
            <a:off x="5810250" y="981075"/>
            <a:ext cx="5598160" cy="430847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p:cTn id="7" dur="300" fill="hold"/>
                                        <p:tgtEl>
                                          <p:spTgt spid="14339"/>
                                        </p:tgtEl>
                                        <p:attrNameLst>
                                          <p:attrName>ppt_w</p:attrName>
                                        </p:attrNameLst>
                                      </p:cBhvr>
                                      <p:tavLst>
                                        <p:tav tm="0">
                                          <p:val>
                                            <p:fltVal val="0"/>
                                          </p:val>
                                        </p:tav>
                                        <p:tav tm="100000">
                                          <p:val>
                                            <p:strVal val="#ppt_w"/>
                                          </p:val>
                                        </p:tav>
                                      </p:tavLst>
                                    </p:anim>
                                    <p:anim calcmode="lin" valueType="num">
                                      <p:cBhvr>
                                        <p:cTn id="8" dur="300" fill="hold"/>
                                        <p:tgtEl>
                                          <p:spTgt spid="14339"/>
                                        </p:tgtEl>
                                        <p:attrNameLst>
                                          <p:attrName>ppt_h</p:attrName>
                                        </p:attrNameLst>
                                      </p:cBhvr>
                                      <p:tavLst>
                                        <p:tav tm="0">
                                          <p:val>
                                            <p:fltVal val="0"/>
                                          </p:val>
                                        </p:tav>
                                        <p:tav tm="100000">
                                          <p:val>
                                            <p:strVal val="#ppt_h"/>
                                          </p:val>
                                        </p:tav>
                                      </p:tavLst>
                                    </p:anim>
                                    <p:anim calcmode="lin" valueType="num">
                                      <p:cBhvr>
                                        <p:cTn id="9" dur="300" fill="hold"/>
                                        <p:tgtEl>
                                          <p:spTgt spid="14339"/>
                                        </p:tgtEl>
                                        <p:attrNameLst>
                                          <p:attrName>style.rotation</p:attrName>
                                        </p:attrNameLst>
                                      </p:cBhvr>
                                      <p:tavLst>
                                        <p:tav tm="0">
                                          <p:val>
                                            <p:fltVal val="90"/>
                                          </p:val>
                                        </p:tav>
                                        <p:tav tm="100000">
                                          <p:val>
                                            <p:fltVal val="0"/>
                                          </p:val>
                                        </p:tav>
                                      </p:tavLst>
                                    </p:anim>
                                    <p:animEffect transition="in" filter="fade">
                                      <p:cBhvr>
                                        <p:cTn id="10" dur="300"/>
                                        <p:tgtEl>
                                          <p:spTgt spid="1433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4338"/>
                                        </p:tgtEl>
                                        <p:attrNameLst>
                                          <p:attrName>style.visibility</p:attrName>
                                        </p:attrNameLst>
                                      </p:cBhvr>
                                      <p:to>
                                        <p:strVal val="visible"/>
                                      </p:to>
                                    </p:set>
                                    <p:anim calcmode="lin" valueType="num">
                                      <p:cBhvr>
                                        <p:cTn id="14" dur="400" fill="hold"/>
                                        <p:tgtEl>
                                          <p:spTgt spid="1433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4338"/>
                                        </p:tgtEl>
                                        <p:attrNameLst>
                                          <p:attrName>ppt_y</p:attrName>
                                        </p:attrNameLst>
                                      </p:cBhvr>
                                      <p:tavLst>
                                        <p:tav tm="0">
                                          <p:val>
                                            <p:strVal val="#ppt_y"/>
                                          </p:val>
                                        </p:tav>
                                        <p:tav tm="100000">
                                          <p:val>
                                            <p:strVal val="#ppt_y"/>
                                          </p:val>
                                        </p:tav>
                                      </p:tavLst>
                                    </p:anim>
                                    <p:anim calcmode="lin" valueType="num">
                                      <p:cBhvr>
                                        <p:cTn id="16" dur="400" fill="hold"/>
                                        <p:tgtEl>
                                          <p:spTgt spid="1433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433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背景</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012825" y="1268730"/>
            <a:ext cx="9339580" cy="3642360"/>
          </a:xfrm>
          <a:prstGeom prst="rect">
            <a:avLst/>
          </a:prstGeom>
        </p:spPr>
        <p:txBody>
          <a:bodyPr wrap="square">
            <a:noAutofit/>
          </a:bodyPr>
          <a:p>
            <a:pPr marL="0" indent="0">
              <a:lnSpc>
                <a:spcPct val="150000"/>
              </a:lnSpc>
              <a:spcBef>
                <a:spcPts val="800"/>
              </a:spcBef>
              <a:spcAft>
                <a:spcPts val="800"/>
              </a:spcAft>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但是，如果能够在线有效预测动态稀疏注意力模式，那么仅计算注意力权重中最重要的部分，就可以显著降低长上下文大语言模型的预填充延迟</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740"/>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2530" name="Oval 5"/>
          <p:cNvSpPr/>
          <p:nvPr/>
        </p:nvSpPr>
        <p:spPr>
          <a:xfrm>
            <a:off x="4062413" y="627063"/>
            <a:ext cx="4141787" cy="4144962"/>
          </a:xfrm>
          <a:prstGeom prst="ellipse">
            <a:avLst/>
          </a:prstGeom>
          <a:solidFill>
            <a:srgbClr val="FFFFFF"/>
          </a:solidFill>
          <a:ln w="9525">
            <a:noFill/>
          </a:ln>
        </p:spPr>
        <p:txBody>
          <a:bodyPr anchor="t"/>
          <a:lstStyle/>
          <a:p>
            <a:endParaRPr lang="zh-CN" altLang="en-US" sz="1800" dirty="0">
              <a:solidFill>
                <a:srgbClr val="004C54"/>
              </a:solidFill>
              <a:latin typeface="Arial" panose="020B0604020202020204" pitchFamily="34" charset="0"/>
              <a:ea typeface="宋体" panose="02010600030101010101" pitchFamily="2" charset="-122"/>
            </a:endParaRPr>
          </a:p>
        </p:txBody>
      </p:sp>
      <p:sp>
        <p:nvSpPr>
          <p:cNvPr id="2253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2532" name="TextBox 77"/>
          <p:cNvSpPr txBox="1"/>
          <p:nvPr/>
        </p:nvSpPr>
        <p:spPr>
          <a:xfrm>
            <a:off x="4602163" y="28527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关键技术</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2253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3</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2534" name="Freeform 12"/>
          <p:cNvSpPr>
            <a:spLocks noEditPoints="1"/>
          </p:cNvSpPr>
          <p:nvPr/>
        </p:nvSpPr>
        <p:spPr>
          <a:xfrm>
            <a:off x="5340350" y="798513"/>
            <a:ext cx="1517650" cy="14636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113E6A"/>
          </a:solidFill>
          <a:ln w="9525">
            <a:noFill/>
          </a:ln>
        </p:spPr>
        <p:txBody>
          <a:bodyPr/>
          <a:lstStyle/>
          <a:p>
            <a:endParaRPr lang="zh-CN" altLang="en-US" sz="180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ldLvl="0" animBg="1"/>
      <p:bldP spid="22532" grpId="0"/>
      <p:bldP spid="225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7"/>
          <p:cNvSpPr txBox="1"/>
          <p:nvPr/>
        </p:nvSpPr>
        <p:spPr>
          <a:xfrm>
            <a:off x="1012825" y="176213"/>
            <a:ext cx="4373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注意力稀疏性的表现形式</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433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989330" y="1196975"/>
            <a:ext cx="4065270" cy="2168525"/>
          </a:xfrm>
          <a:prstGeom prst="rect">
            <a:avLst/>
          </a:prstGeom>
          <a:noFill/>
        </p:spPr>
        <p:txBody>
          <a:bodyPr wrap="square" rtlCol="0">
            <a:spAutoFit/>
          </a:bodyPr>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A</a:t>
            </a:r>
            <a:r>
              <a:rPr lang="zh-CN" altLang="en-US" sz="1800" dirty="0">
                <a:solidFill>
                  <a:schemeClr val="accent1"/>
                </a:solidFill>
                <a:latin typeface="微软雅黑" panose="020B0503020204020204" pitchFamily="34" charset="-122"/>
                <a:ea typeface="微软雅黑" panose="020B0503020204020204" pitchFamily="34" charset="-122"/>
                <a:cs typeface="+mn-ea"/>
              </a:rPr>
              <a:t>形模式：这些类型头的注意力权重集中在初始</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（输入序列最开头的那几个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和本地窗口（当前 </a:t>
            </a:r>
            <a:r>
              <a:rPr lang="en-US" altLang="zh-CN" sz="1800" dirty="0">
                <a:solidFill>
                  <a:schemeClr val="accent1"/>
                </a:solidFill>
                <a:latin typeface="微软雅黑" panose="020B0503020204020204" pitchFamily="34" charset="-122"/>
                <a:ea typeface="微软雅黑" panose="020B0503020204020204" pitchFamily="34" charset="-122"/>
                <a:cs typeface="+mn-ea"/>
              </a:rPr>
              <a:t>Query </a:t>
            </a:r>
            <a:r>
              <a:rPr lang="zh-CN" altLang="en-US" sz="1800" dirty="0">
                <a:solidFill>
                  <a:schemeClr val="accent1"/>
                </a:solidFill>
                <a:latin typeface="微软雅黑" panose="020B0503020204020204" pitchFamily="34" charset="-122"/>
                <a:ea typeface="微软雅黑" panose="020B0503020204020204" pitchFamily="34" charset="-122"/>
                <a:cs typeface="+mn-ea"/>
              </a:rPr>
              <a:t>位置附近的一小段连续区域），表现出相对较高的稳定性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1"/>
          <a:stretch>
            <a:fillRect/>
          </a:stretch>
        </p:blipFill>
        <p:spPr>
          <a:xfrm>
            <a:off x="6026150" y="692785"/>
            <a:ext cx="5439410" cy="561403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p:cTn id="7" dur="300" fill="hold"/>
                                        <p:tgtEl>
                                          <p:spTgt spid="14339"/>
                                        </p:tgtEl>
                                        <p:attrNameLst>
                                          <p:attrName>ppt_w</p:attrName>
                                        </p:attrNameLst>
                                      </p:cBhvr>
                                      <p:tavLst>
                                        <p:tav tm="0">
                                          <p:val>
                                            <p:fltVal val="0"/>
                                          </p:val>
                                        </p:tav>
                                        <p:tav tm="100000">
                                          <p:val>
                                            <p:strVal val="#ppt_w"/>
                                          </p:val>
                                        </p:tav>
                                      </p:tavLst>
                                    </p:anim>
                                    <p:anim calcmode="lin" valueType="num">
                                      <p:cBhvr>
                                        <p:cTn id="8" dur="300" fill="hold"/>
                                        <p:tgtEl>
                                          <p:spTgt spid="14339"/>
                                        </p:tgtEl>
                                        <p:attrNameLst>
                                          <p:attrName>ppt_h</p:attrName>
                                        </p:attrNameLst>
                                      </p:cBhvr>
                                      <p:tavLst>
                                        <p:tav tm="0">
                                          <p:val>
                                            <p:fltVal val="0"/>
                                          </p:val>
                                        </p:tav>
                                        <p:tav tm="100000">
                                          <p:val>
                                            <p:strVal val="#ppt_h"/>
                                          </p:val>
                                        </p:tav>
                                      </p:tavLst>
                                    </p:anim>
                                    <p:anim calcmode="lin" valueType="num">
                                      <p:cBhvr>
                                        <p:cTn id="9" dur="300" fill="hold"/>
                                        <p:tgtEl>
                                          <p:spTgt spid="14339"/>
                                        </p:tgtEl>
                                        <p:attrNameLst>
                                          <p:attrName>style.rotation</p:attrName>
                                        </p:attrNameLst>
                                      </p:cBhvr>
                                      <p:tavLst>
                                        <p:tav tm="0">
                                          <p:val>
                                            <p:fltVal val="90"/>
                                          </p:val>
                                        </p:tav>
                                        <p:tav tm="100000">
                                          <p:val>
                                            <p:fltVal val="0"/>
                                          </p:val>
                                        </p:tav>
                                      </p:tavLst>
                                    </p:anim>
                                    <p:animEffect transition="in" filter="fade">
                                      <p:cBhvr>
                                        <p:cTn id="10" dur="300"/>
                                        <p:tgtEl>
                                          <p:spTgt spid="1433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4338"/>
                                        </p:tgtEl>
                                        <p:attrNameLst>
                                          <p:attrName>style.visibility</p:attrName>
                                        </p:attrNameLst>
                                      </p:cBhvr>
                                      <p:to>
                                        <p:strVal val="visible"/>
                                      </p:to>
                                    </p:set>
                                    <p:anim calcmode="lin" valueType="num">
                                      <p:cBhvr>
                                        <p:cTn id="14" dur="400" fill="hold"/>
                                        <p:tgtEl>
                                          <p:spTgt spid="1433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4338"/>
                                        </p:tgtEl>
                                        <p:attrNameLst>
                                          <p:attrName>ppt_y</p:attrName>
                                        </p:attrNameLst>
                                      </p:cBhvr>
                                      <p:tavLst>
                                        <p:tav tm="0">
                                          <p:val>
                                            <p:strVal val="#ppt_y"/>
                                          </p:val>
                                        </p:tav>
                                        <p:tav tm="100000">
                                          <p:val>
                                            <p:strVal val="#ppt_y"/>
                                          </p:val>
                                        </p:tav>
                                      </p:tavLst>
                                    </p:anim>
                                    <p:anim calcmode="lin" valueType="num">
                                      <p:cBhvr>
                                        <p:cTn id="16" dur="400" fill="hold"/>
                                        <p:tgtEl>
                                          <p:spTgt spid="1433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433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7"/>
          <p:cNvSpPr txBox="1"/>
          <p:nvPr/>
        </p:nvSpPr>
        <p:spPr>
          <a:xfrm>
            <a:off x="1012825" y="176213"/>
            <a:ext cx="4373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注意力稀疏性的表现形式</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433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989330" y="1196975"/>
            <a:ext cx="4065270" cy="216852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垂直-斜线模式：注意力权重集中在特定</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（垂直线）和固定间隔的</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（斜线）。这种模式中垂直和斜线的位置随上下文内容动态变化，并表现出一定的稀疏性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1"/>
          <a:stretch>
            <a:fillRect/>
          </a:stretch>
        </p:blipFill>
        <p:spPr>
          <a:xfrm>
            <a:off x="6098540" y="620395"/>
            <a:ext cx="5405120" cy="557911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p:cTn id="7" dur="300" fill="hold"/>
                                        <p:tgtEl>
                                          <p:spTgt spid="14339"/>
                                        </p:tgtEl>
                                        <p:attrNameLst>
                                          <p:attrName>ppt_w</p:attrName>
                                        </p:attrNameLst>
                                      </p:cBhvr>
                                      <p:tavLst>
                                        <p:tav tm="0">
                                          <p:val>
                                            <p:fltVal val="0"/>
                                          </p:val>
                                        </p:tav>
                                        <p:tav tm="100000">
                                          <p:val>
                                            <p:strVal val="#ppt_w"/>
                                          </p:val>
                                        </p:tav>
                                      </p:tavLst>
                                    </p:anim>
                                    <p:anim calcmode="lin" valueType="num">
                                      <p:cBhvr>
                                        <p:cTn id="8" dur="300" fill="hold"/>
                                        <p:tgtEl>
                                          <p:spTgt spid="14339"/>
                                        </p:tgtEl>
                                        <p:attrNameLst>
                                          <p:attrName>ppt_h</p:attrName>
                                        </p:attrNameLst>
                                      </p:cBhvr>
                                      <p:tavLst>
                                        <p:tav tm="0">
                                          <p:val>
                                            <p:fltVal val="0"/>
                                          </p:val>
                                        </p:tav>
                                        <p:tav tm="100000">
                                          <p:val>
                                            <p:strVal val="#ppt_h"/>
                                          </p:val>
                                        </p:tav>
                                      </p:tavLst>
                                    </p:anim>
                                    <p:anim calcmode="lin" valueType="num">
                                      <p:cBhvr>
                                        <p:cTn id="9" dur="300" fill="hold"/>
                                        <p:tgtEl>
                                          <p:spTgt spid="14339"/>
                                        </p:tgtEl>
                                        <p:attrNameLst>
                                          <p:attrName>style.rotation</p:attrName>
                                        </p:attrNameLst>
                                      </p:cBhvr>
                                      <p:tavLst>
                                        <p:tav tm="0">
                                          <p:val>
                                            <p:fltVal val="90"/>
                                          </p:val>
                                        </p:tav>
                                        <p:tav tm="100000">
                                          <p:val>
                                            <p:fltVal val="0"/>
                                          </p:val>
                                        </p:tav>
                                      </p:tavLst>
                                    </p:anim>
                                    <p:animEffect transition="in" filter="fade">
                                      <p:cBhvr>
                                        <p:cTn id="10" dur="300"/>
                                        <p:tgtEl>
                                          <p:spTgt spid="1433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4338"/>
                                        </p:tgtEl>
                                        <p:attrNameLst>
                                          <p:attrName>style.visibility</p:attrName>
                                        </p:attrNameLst>
                                      </p:cBhvr>
                                      <p:to>
                                        <p:strVal val="visible"/>
                                      </p:to>
                                    </p:set>
                                    <p:anim calcmode="lin" valueType="num">
                                      <p:cBhvr>
                                        <p:cTn id="14" dur="400" fill="hold"/>
                                        <p:tgtEl>
                                          <p:spTgt spid="1433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4338"/>
                                        </p:tgtEl>
                                        <p:attrNameLst>
                                          <p:attrName>ppt_y</p:attrName>
                                        </p:attrNameLst>
                                      </p:cBhvr>
                                      <p:tavLst>
                                        <p:tav tm="0">
                                          <p:val>
                                            <p:strVal val="#ppt_y"/>
                                          </p:val>
                                        </p:tav>
                                        <p:tav tm="100000">
                                          <p:val>
                                            <p:strVal val="#ppt_y"/>
                                          </p:val>
                                        </p:tav>
                                      </p:tavLst>
                                    </p:anim>
                                    <p:anim calcmode="lin" valueType="num">
                                      <p:cBhvr>
                                        <p:cTn id="16" dur="400" fill="hold"/>
                                        <p:tgtEl>
                                          <p:spTgt spid="1433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433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7"/>
          <p:cNvSpPr txBox="1"/>
          <p:nvPr/>
        </p:nvSpPr>
        <p:spPr>
          <a:xfrm>
            <a:off x="1012825" y="176213"/>
            <a:ext cx="4373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注意力稀疏性的表现形式</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433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 name="文本框 2"/>
          <p:cNvSpPr txBox="1"/>
          <p:nvPr/>
        </p:nvSpPr>
        <p:spPr>
          <a:xfrm>
            <a:off x="989330" y="1196975"/>
            <a:ext cx="4065270" cy="299974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块稀疏模式：这种稀疏模式是最动态的。论文分析了在</a:t>
            </a:r>
            <a:r>
              <a:rPr lang="en-US" altLang="zh-CN" sz="1800" dirty="0">
                <a:solidFill>
                  <a:schemeClr val="accent1"/>
                </a:solidFill>
                <a:latin typeface="微软雅黑" panose="020B0503020204020204" pitchFamily="34" charset="-122"/>
                <a:ea typeface="微软雅黑" panose="020B0503020204020204" pitchFamily="34" charset="-122"/>
                <a:cs typeface="+mn-ea"/>
              </a:rPr>
              <a:t> </a:t>
            </a:r>
            <a:r>
              <a:rPr lang="zh-CN" altLang="en-US" sz="1800" dirty="0">
                <a:solidFill>
                  <a:schemeClr val="accent1"/>
                </a:solidFill>
                <a:latin typeface="微软雅黑" panose="020B0503020204020204" pitchFamily="34" charset="-122"/>
                <a:ea typeface="微软雅黑" panose="020B0503020204020204" pitchFamily="34" charset="-122"/>
                <a:cs typeface="+mn-ea"/>
              </a:rPr>
              <a:t>128</a:t>
            </a:r>
            <a:r>
              <a:rPr lang="en-US" altLang="zh-CN" sz="1800" dirty="0">
                <a:solidFill>
                  <a:schemeClr val="accent1"/>
                </a:solidFill>
                <a:latin typeface="微软雅黑" panose="020B0503020204020204" pitchFamily="34" charset="-122"/>
                <a:ea typeface="微软雅黑" panose="020B0503020204020204" pitchFamily="34" charset="-122"/>
                <a:cs typeface="+mn-ea"/>
              </a:rPr>
              <a:t>k </a:t>
            </a:r>
            <a:r>
              <a:rPr lang="zh-CN" altLang="en-US" sz="1800" dirty="0">
                <a:solidFill>
                  <a:schemeClr val="accent1"/>
                </a:solidFill>
                <a:latin typeface="微软雅黑" panose="020B0503020204020204" pitchFamily="34" charset="-122"/>
                <a:ea typeface="微软雅黑" panose="020B0503020204020204" pitchFamily="34" charset="-122"/>
                <a:cs typeface="+mn-ea"/>
              </a:rPr>
              <a:t>提示中非零注意力权重与其前</a:t>
            </a:r>
            <a:r>
              <a:rPr lang="en-US" altLang="zh-CN" sz="1800" dirty="0">
                <a:solidFill>
                  <a:schemeClr val="accent1"/>
                </a:solidFill>
                <a:latin typeface="微软雅黑" panose="020B0503020204020204" pitchFamily="34" charset="-122"/>
                <a:ea typeface="微软雅黑" panose="020B0503020204020204" pitchFamily="34" charset="-122"/>
                <a:cs typeface="+mn-ea"/>
              </a:rPr>
              <a:t> k </a:t>
            </a:r>
            <a:r>
              <a:rPr lang="zh-CN" altLang="en-US" sz="1800" dirty="0">
                <a:solidFill>
                  <a:schemeClr val="accent1"/>
                </a:solidFill>
                <a:latin typeface="微软雅黑" panose="020B0503020204020204" pitchFamily="34" charset="-122"/>
                <a:ea typeface="微软雅黑" panose="020B0503020204020204" pitchFamily="34" charset="-122"/>
                <a:cs typeface="+mn-ea"/>
              </a:rPr>
              <a:t>个最近非零邻居之间的距离</a:t>
            </a:r>
            <a:r>
              <a:rPr lang="zh-CN" sz="1800" dirty="0">
                <a:solidFill>
                  <a:schemeClr val="accent1"/>
                </a:solidFill>
                <a:latin typeface="微软雅黑" panose="020B0503020204020204" pitchFamily="34" charset="-122"/>
                <a:ea typeface="微软雅黑" panose="020B0503020204020204" pitchFamily="34" charset="-122"/>
                <a:cs typeface="+mn-ea"/>
              </a:rPr>
              <a:t>。</a:t>
            </a:r>
            <a:r>
              <a:rPr lang="zh-CN" altLang="en-US" sz="1800" dirty="0">
                <a:solidFill>
                  <a:schemeClr val="accent1"/>
                </a:solidFill>
                <a:latin typeface="微软雅黑" panose="020B0503020204020204" pitchFamily="34" charset="-122"/>
                <a:ea typeface="微软雅黑" panose="020B0503020204020204" pitchFamily="34" charset="-122"/>
                <a:cs typeface="+mn-ea"/>
              </a:rPr>
              <a:t>结果表明，在各层和头之间，最近非零值之间的距离通常集中在5附近，表明注意力权重具有很强的空间聚类性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1"/>
          <a:stretch>
            <a:fillRect/>
          </a:stretch>
        </p:blipFill>
        <p:spPr>
          <a:xfrm>
            <a:off x="6530340" y="692785"/>
            <a:ext cx="5005705" cy="509778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p:cTn id="7" dur="300" fill="hold"/>
                                        <p:tgtEl>
                                          <p:spTgt spid="14339"/>
                                        </p:tgtEl>
                                        <p:attrNameLst>
                                          <p:attrName>ppt_w</p:attrName>
                                        </p:attrNameLst>
                                      </p:cBhvr>
                                      <p:tavLst>
                                        <p:tav tm="0">
                                          <p:val>
                                            <p:fltVal val="0"/>
                                          </p:val>
                                        </p:tav>
                                        <p:tav tm="100000">
                                          <p:val>
                                            <p:strVal val="#ppt_w"/>
                                          </p:val>
                                        </p:tav>
                                      </p:tavLst>
                                    </p:anim>
                                    <p:anim calcmode="lin" valueType="num">
                                      <p:cBhvr>
                                        <p:cTn id="8" dur="300" fill="hold"/>
                                        <p:tgtEl>
                                          <p:spTgt spid="14339"/>
                                        </p:tgtEl>
                                        <p:attrNameLst>
                                          <p:attrName>ppt_h</p:attrName>
                                        </p:attrNameLst>
                                      </p:cBhvr>
                                      <p:tavLst>
                                        <p:tav tm="0">
                                          <p:val>
                                            <p:fltVal val="0"/>
                                          </p:val>
                                        </p:tav>
                                        <p:tav tm="100000">
                                          <p:val>
                                            <p:strVal val="#ppt_h"/>
                                          </p:val>
                                        </p:tav>
                                      </p:tavLst>
                                    </p:anim>
                                    <p:anim calcmode="lin" valueType="num">
                                      <p:cBhvr>
                                        <p:cTn id="9" dur="300" fill="hold"/>
                                        <p:tgtEl>
                                          <p:spTgt spid="14339"/>
                                        </p:tgtEl>
                                        <p:attrNameLst>
                                          <p:attrName>style.rotation</p:attrName>
                                        </p:attrNameLst>
                                      </p:cBhvr>
                                      <p:tavLst>
                                        <p:tav tm="0">
                                          <p:val>
                                            <p:fltVal val="90"/>
                                          </p:val>
                                        </p:tav>
                                        <p:tav tm="100000">
                                          <p:val>
                                            <p:fltVal val="0"/>
                                          </p:val>
                                        </p:tav>
                                      </p:tavLst>
                                    </p:anim>
                                    <p:animEffect transition="in" filter="fade">
                                      <p:cBhvr>
                                        <p:cTn id="10" dur="300"/>
                                        <p:tgtEl>
                                          <p:spTgt spid="1433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4338"/>
                                        </p:tgtEl>
                                        <p:attrNameLst>
                                          <p:attrName>style.visibility</p:attrName>
                                        </p:attrNameLst>
                                      </p:cBhvr>
                                      <p:to>
                                        <p:strVal val="visible"/>
                                      </p:to>
                                    </p:set>
                                    <p:anim calcmode="lin" valueType="num">
                                      <p:cBhvr>
                                        <p:cTn id="14" dur="400" fill="hold"/>
                                        <p:tgtEl>
                                          <p:spTgt spid="1433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4338"/>
                                        </p:tgtEl>
                                        <p:attrNameLst>
                                          <p:attrName>ppt_y</p:attrName>
                                        </p:attrNameLst>
                                      </p:cBhvr>
                                      <p:tavLst>
                                        <p:tav tm="0">
                                          <p:val>
                                            <p:strVal val="#ppt_y"/>
                                          </p:val>
                                        </p:tav>
                                        <p:tav tm="100000">
                                          <p:val>
                                            <p:strVal val="#ppt_y"/>
                                          </p:val>
                                        </p:tav>
                                      </p:tavLst>
                                    </p:anim>
                                    <p:anim calcmode="lin" valueType="num">
                                      <p:cBhvr>
                                        <p:cTn id="16" dur="400" fill="hold"/>
                                        <p:tgtEl>
                                          <p:spTgt spid="1433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433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问题定义</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2" name="文本框 1"/>
          <p:cNvSpPr txBox="1"/>
          <p:nvPr/>
        </p:nvSpPr>
        <p:spPr>
          <a:xfrm>
            <a:off x="769620" y="1196975"/>
            <a:ext cx="10219055" cy="368300"/>
          </a:xfrm>
          <a:prstGeom prst="rect">
            <a:avLst/>
          </a:prstGeom>
        </p:spPr>
        <p:txBody>
          <a:bodyPr wrap="square">
            <a:spAutoFit/>
          </a:bodyPr>
          <a:p>
            <a:pPr marL="0" indent="0"/>
            <a:r>
              <a:rPr lang="zh-CN" altLang="en-US" sz="1800" b="0" i="0" dirty="0">
                <a:solidFill>
                  <a:schemeClr val="accent1"/>
                </a:solidFill>
                <a:latin typeface="微软雅黑" panose="020B0503020204020204" pitchFamily="34" charset="-122"/>
                <a:ea typeface="微软雅黑" panose="020B0503020204020204" pitchFamily="34" charset="-122"/>
                <a:cs typeface="+mn-ea"/>
              </a:rPr>
              <a:t>在使用稀疏注意力计算加速长上下文大语言模型的预填充阶段时，注意力矩阵可以表述如下：</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1345565" y="2037080"/>
            <a:ext cx="9201150" cy="1352550"/>
          </a:xfrm>
          <a:prstGeom prst="rect">
            <a:avLst/>
          </a:prstGeom>
        </p:spPr>
      </p:pic>
      <p:sp>
        <p:nvSpPr>
          <p:cNvPr id="4" name="文本框 3"/>
          <p:cNvSpPr txBox="1"/>
          <p:nvPr/>
        </p:nvSpPr>
        <p:spPr>
          <a:xfrm>
            <a:off x="985520" y="3861435"/>
            <a:ext cx="9632315" cy="158242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其中，</a:t>
            </a:r>
            <a:r>
              <a:rPr lang="en-US" altLang="zh-CN" sz="1800" dirty="0">
                <a:solidFill>
                  <a:schemeClr val="accent1"/>
                </a:solidFill>
                <a:latin typeface="微软雅黑" panose="020B0503020204020204" pitchFamily="34" charset="-122"/>
                <a:ea typeface="微软雅黑" panose="020B0503020204020204" pitchFamily="34" charset="-122"/>
                <a:cs typeface="+mn-ea"/>
              </a:rPr>
              <a:t>M_{i,j} ∈ {0, 1} </a:t>
            </a:r>
            <a:r>
              <a:rPr lang="zh-CN" altLang="en-US" sz="1800" dirty="0">
                <a:solidFill>
                  <a:schemeClr val="accent1"/>
                </a:solidFill>
                <a:latin typeface="微软雅黑" panose="020B0503020204020204" pitchFamily="34" charset="-122"/>
                <a:ea typeface="微软雅黑" panose="020B0503020204020204" pitchFamily="34" charset="-122"/>
                <a:cs typeface="+mn-ea"/>
              </a:rPr>
              <a:t>表示注意力矩阵中项目 </a:t>
            </a:r>
            <a:r>
              <a:rPr lang="en-US" altLang="zh-CN" sz="1800" dirty="0">
                <a:solidFill>
                  <a:schemeClr val="accent1"/>
                </a:solidFill>
                <a:latin typeface="微软雅黑" panose="020B0503020204020204" pitchFamily="34" charset="-122"/>
                <a:ea typeface="微软雅黑" panose="020B0503020204020204" pitchFamily="34" charset="-122"/>
                <a:cs typeface="+mn-ea"/>
              </a:rPr>
              <a:t>i, j </a:t>
            </a:r>
            <a:r>
              <a:rPr lang="zh-CN" altLang="en-US" sz="1800" dirty="0">
                <a:solidFill>
                  <a:schemeClr val="accent1"/>
                </a:solidFill>
                <a:latin typeface="微软雅黑" panose="020B0503020204020204" pitchFamily="34" charset="-122"/>
                <a:ea typeface="微软雅黑" panose="020B0503020204020204" pitchFamily="34" charset="-122"/>
                <a:cs typeface="+mn-ea"/>
              </a:rPr>
              <a:t>的动态稀疏掩码。这里，</a:t>
            </a:r>
            <a:r>
              <a:rPr lang="en-US" altLang="zh-CN" sz="1800" dirty="0">
                <a:solidFill>
                  <a:schemeClr val="accent1"/>
                </a:solidFill>
                <a:latin typeface="微软雅黑" panose="020B0503020204020204" pitchFamily="34" charset="-122"/>
                <a:ea typeface="微软雅黑" panose="020B0503020204020204" pitchFamily="34" charset="-122"/>
                <a:cs typeface="+mn-ea"/>
              </a:rPr>
              <a:t>c </a:t>
            </a:r>
            <a:r>
              <a:rPr lang="zh-CN" altLang="en-US" sz="1800" dirty="0">
                <a:solidFill>
                  <a:schemeClr val="accent1"/>
                </a:solidFill>
                <a:latin typeface="微软雅黑" panose="020B0503020204020204" pitchFamily="34" charset="-122"/>
                <a:ea typeface="微软雅黑" panose="020B0503020204020204" pitchFamily="34" charset="-122"/>
                <a:cs typeface="+mn-ea"/>
              </a:rPr>
              <a:t>是一个大常数，例如 1</a:t>
            </a:r>
            <a:r>
              <a:rPr lang="en-US" altLang="zh-CN" sz="1800" dirty="0">
                <a:solidFill>
                  <a:schemeClr val="accent1"/>
                </a:solidFill>
                <a:latin typeface="微软雅黑" panose="020B0503020204020204" pitchFamily="34" charset="-122"/>
                <a:ea typeface="微软雅黑" panose="020B0503020204020204" pitchFamily="34" charset="-122"/>
                <a:cs typeface="+mn-ea"/>
              </a:rPr>
              <a:t>e5，</a:t>
            </a:r>
            <a:r>
              <a:rPr lang="zh-CN" altLang="en-US" sz="1800" dirty="0">
                <a:solidFill>
                  <a:schemeClr val="accent1"/>
                </a:solidFill>
                <a:latin typeface="微软雅黑" panose="020B0503020204020204" pitchFamily="34" charset="-122"/>
                <a:ea typeface="微软雅黑" panose="020B0503020204020204" pitchFamily="34" charset="-122"/>
                <a:cs typeface="+mn-ea"/>
              </a:rPr>
              <a:t>确保对于 </a:t>
            </a:r>
            <a:r>
              <a:rPr lang="en-US" altLang="zh-CN" sz="1800" dirty="0">
                <a:solidFill>
                  <a:schemeClr val="accent1"/>
                </a:solidFill>
                <a:latin typeface="微软雅黑" panose="020B0503020204020204" pitchFamily="34" charset="-122"/>
                <a:ea typeface="微软雅黑" panose="020B0503020204020204" pitchFamily="34" charset="-122"/>
                <a:cs typeface="+mn-ea"/>
              </a:rPr>
              <a:t>M_{i,j} = 0 </a:t>
            </a:r>
            <a:r>
              <a:rPr lang="zh-CN" altLang="en-US" sz="1800" dirty="0">
                <a:solidFill>
                  <a:schemeClr val="accent1"/>
                </a:solidFill>
                <a:latin typeface="微软雅黑" panose="020B0503020204020204" pitchFamily="34" charset="-122"/>
                <a:ea typeface="微软雅黑" panose="020B0503020204020204" pitchFamily="34" charset="-122"/>
                <a:cs typeface="+mn-ea"/>
              </a:rPr>
              <a:t>的不重要注意力权重，在经过 </a:t>
            </a:r>
            <a:r>
              <a:rPr lang="en-US" altLang="zh-CN" sz="1800" dirty="0">
                <a:solidFill>
                  <a:schemeClr val="accent1"/>
                </a:solidFill>
                <a:latin typeface="微软雅黑" panose="020B0503020204020204" pitchFamily="34" charset="-122"/>
                <a:ea typeface="微软雅黑" panose="020B0503020204020204" pitchFamily="34" charset="-122"/>
                <a:cs typeface="+mn-ea"/>
              </a:rPr>
              <a:t>softmax </a:t>
            </a:r>
            <a:r>
              <a:rPr lang="zh-CN" altLang="en-US" sz="1800" dirty="0">
                <a:solidFill>
                  <a:schemeClr val="accent1"/>
                </a:solidFill>
                <a:latin typeface="微软雅黑" panose="020B0503020204020204" pitchFamily="34" charset="-122"/>
                <a:ea typeface="微软雅黑" panose="020B0503020204020204" pitchFamily="34" charset="-122"/>
                <a:cs typeface="+mn-ea"/>
              </a:rPr>
              <a:t>后其值接近于零，即 </a:t>
            </a:r>
            <a:r>
              <a:rPr lang="en-US" altLang="zh-CN" sz="1800" dirty="0">
                <a:solidFill>
                  <a:schemeClr val="accent1"/>
                </a:solidFill>
                <a:latin typeface="微软雅黑" panose="020B0503020204020204" pitchFamily="34" charset="-122"/>
                <a:ea typeface="微软雅黑" panose="020B0503020204020204" pitchFamily="34" charset="-122"/>
                <a:cs typeface="+mn-ea"/>
              </a:rPr>
              <a:t>A_{i,j} ≈ 0</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5135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内核感知的最优稀疏模式搜索</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769620" y="1196975"/>
            <a:ext cx="5625465" cy="2103755"/>
          </a:xfrm>
          <a:prstGeom prst="rect">
            <a:avLst/>
          </a:prstGeom>
        </p:spPr>
        <p:txBody>
          <a:bodyPr wrap="square">
            <a:noAutofit/>
          </a:bodyPr>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本文提出了一种离线内核感知的最优稀疏模式搜索方法。在此步骤中，我们确定每个注意力头将使用哪种稀疏模式</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sp>
        <p:nvSpPr>
          <p:cNvPr id="4" name="文本框 3"/>
          <p:cNvSpPr txBox="1"/>
          <p:nvPr/>
        </p:nvSpPr>
        <p:spPr>
          <a:xfrm>
            <a:off x="1417955" y="3861435"/>
            <a:ext cx="9632315" cy="1582420"/>
          </a:xfrm>
          <a:prstGeom prst="rect">
            <a:avLst/>
          </a:prstGeom>
          <a:noFill/>
        </p:spPr>
        <p:txBody>
          <a:bodyPr wrap="square" rtlCol="0">
            <a:noAutofit/>
          </a:bodyPr>
          <a:p>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1"/>
          <a:stretch>
            <a:fillRect/>
          </a:stretch>
        </p:blipFill>
        <p:spPr>
          <a:xfrm>
            <a:off x="6890385" y="476250"/>
            <a:ext cx="4529455" cy="620712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5135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内核感知的最优稀疏模式搜索</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769620" y="1196975"/>
            <a:ext cx="5625465" cy="5129530"/>
          </a:xfrm>
          <a:prstGeom prst="rect">
            <a:avLst/>
          </a:prstGeom>
        </p:spPr>
        <p:txBody>
          <a:bodyPr wrap="square">
            <a:noAutofit/>
          </a:bodyPr>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对每种模式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p_i（</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例如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VS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模式），初始参数为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σ_i（</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比如垂直线数量=30，斜线数量=2000）</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计算该参数下在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GPU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内核中实际发生的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FLOPs</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如果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t_i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与目标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相差超过阈值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ε，</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就通过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ChangeSpace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调整参数，重新计算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FLOPs，</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直到接近目标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收敛后的参数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σ_i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加入最终搜索空间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ρ</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1"/>
          <a:stretch>
            <a:fillRect/>
          </a:stretch>
        </p:blipFill>
        <p:spPr>
          <a:xfrm>
            <a:off x="6890385" y="476250"/>
            <a:ext cx="4529455" cy="620712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5135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内核感知的最优稀疏模式搜索</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769620" y="1196975"/>
            <a:ext cx="5625465" cy="2865120"/>
          </a:xfrm>
          <a:prstGeom prst="rect">
            <a:avLst/>
          </a:prstGeom>
        </p:spPr>
        <p:txBody>
          <a:bodyPr wrap="square">
            <a:noAutofit/>
          </a:bodyPr>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使用一个参考输入的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Q, K, V</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先计算密集注意力的输出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y</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对搜索空间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ρ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中的每一个候选配置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ρ_i，</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调用稀疏注意力得到输出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y_i</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选择与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y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差异最小的那个配置，最终返回最优的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p_best</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sp>
        <p:nvSpPr>
          <p:cNvPr id="4" name="文本框 3"/>
          <p:cNvSpPr txBox="1"/>
          <p:nvPr/>
        </p:nvSpPr>
        <p:spPr>
          <a:xfrm>
            <a:off x="1417955" y="3861435"/>
            <a:ext cx="9632315" cy="1582420"/>
          </a:xfrm>
          <a:prstGeom prst="rect">
            <a:avLst/>
          </a:prstGeom>
          <a:noFill/>
        </p:spPr>
        <p:txBody>
          <a:bodyPr wrap="square" rtlCol="0">
            <a:noAutofit/>
          </a:bodyPr>
          <a:p>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1"/>
          <a:stretch>
            <a:fillRect/>
          </a:stretch>
        </p:blipFill>
        <p:spPr>
          <a:xfrm>
            <a:off x="6890385" y="476250"/>
            <a:ext cx="4529455" cy="620712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2374265"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A</a:t>
            </a:r>
            <a:r>
              <a:rPr lang="zh-CN" altLang="en-US" sz="3000" b="1" dirty="0">
                <a:solidFill>
                  <a:schemeClr val="accent1"/>
                </a:solidFill>
                <a:latin typeface="微软雅黑" panose="020B0503020204020204" pitchFamily="34" charset="-122"/>
                <a:ea typeface="微软雅黑" panose="020B0503020204020204" pitchFamily="34" charset="-122"/>
              </a:rPr>
              <a:t>形头的计算</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769620" y="1196975"/>
            <a:ext cx="11431270" cy="4554855"/>
          </a:xfrm>
          <a:prstGeom prst="rect">
            <a:avLst/>
          </a:prstGeom>
        </p:spPr>
        <p:txBody>
          <a:bodyPr wrap="square">
            <a:noAutofit/>
          </a:bodyPr>
          <a:p>
            <a:pPr marL="0" indent="0">
              <a:lnSpc>
                <a:spcPct val="150000"/>
              </a:lnSpc>
            </a:pPr>
            <a:r>
              <a:rPr lang="en-US" altLang="zh-CN" sz="1800" b="0" i="0" dirty="0">
                <a:solidFill>
                  <a:schemeClr val="accent1"/>
                </a:solidFill>
                <a:latin typeface="微软雅黑" panose="020B0503020204020204" pitchFamily="34" charset="-122"/>
                <a:ea typeface="微软雅黑" panose="020B0503020204020204" pitchFamily="34" charset="-122"/>
                <a:cs typeface="+mn-ea"/>
              </a:rPr>
              <a:t>A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形注意力头的权重集中在初始</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（序列开头的若干位置）和本地窗口（当前令牌之前的一段连续区域），具有较高的稳定性</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en-US" altLang="zh-CN" sz="1800" b="0" i="0" dirty="0">
                <a:solidFill>
                  <a:schemeClr val="accent1"/>
                </a:solidFill>
                <a:latin typeface="微软雅黑" panose="020B0503020204020204" pitchFamily="34" charset="-122"/>
                <a:ea typeface="微软雅黑" panose="020B0503020204020204" pitchFamily="34" charset="-122"/>
                <a:cs typeface="+mn-ea"/>
              </a:rPr>
              <a:t>A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形模式使用静态稀疏掩码，无需在线动态估计。掩码预先确定为两部分：</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45720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全局</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：固定保留前 1024 个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token（1k）</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45720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局部窗口：保留当前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query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位置之前的 4096 个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token（4k）</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在推理阶段，</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A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形头直接调用静态稀疏注意力内核，没有动态索引构建的开销，仅执行稀疏计算</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sp>
        <p:nvSpPr>
          <p:cNvPr id="4" name="文本框 3"/>
          <p:cNvSpPr txBox="1"/>
          <p:nvPr/>
        </p:nvSpPr>
        <p:spPr>
          <a:xfrm flipV="1">
            <a:off x="1417955" y="5443855"/>
            <a:ext cx="9632315" cy="307340"/>
          </a:xfrm>
          <a:prstGeom prst="rect">
            <a:avLst/>
          </a:prstGeom>
          <a:noFill/>
        </p:spPr>
        <p:txBody>
          <a:bodyPr wrap="square" rtlCol="0">
            <a:noAutofit/>
          </a:bodyPr>
          <a:p>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339725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垂直</a:t>
            </a:r>
            <a:r>
              <a:rPr lang="en-US" altLang="zh-CN" sz="3000" b="1" dirty="0">
                <a:solidFill>
                  <a:schemeClr val="accent1"/>
                </a:solidFill>
                <a:latin typeface="微软雅黑" panose="020B0503020204020204" pitchFamily="34" charset="-122"/>
                <a:ea typeface="微软雅黑" panose="020B0503020204020204" pitchFamily="34" charset="-122"/>
              </a:rPr>
              <a:t>-</a:t>
            </a:r>
            <a:r>
              <a:rPr lang="zh-CN" altLang="en-US" sz="3000" b="1" dirty="0">
                <a:solidFill>
                  <a:schemeClr val="accent1"/>
                </a:solidFill>
                <a:latin typeface="微软雅黑" panose="020B0503020204020204" pitchFamily="34" charset="-122"/>
                <a:ea typeface="微软雅黑" panose="020B0503020204020204" pitchFamily="34" charset="-122"/>
              </a:rPr>
              <a:t>斜线头的计算</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481330" y="1124585"/>
            <a:ext cx="5461000" cy="4554855"/>
          </a:xfrm>
          <a:prstGeom prst="rect">
            <a:avLst/>
          </a:prstGeom>
        </p:spPr>
        <p:txBody>
          <a:bodyPr wrap="square">
            <a:noAutofit/>
          </a:bodyPr>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用最后</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 last_q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64</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 个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Query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与所有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Key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计算近似注意力 </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垂直方向求和 → 选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Top-k_v</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 列（垂直线）</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斜线方向求和 → 选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Top-k_s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条斜线</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仅对选中的垂直线 + 斜线位置做完整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QK^T</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  和</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 AV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计算</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sp>
        <p:nvSpPr>
          <p:cNvPr id="4" name="文本框 3"/>
          <p:cNvSpPr txBox="1"/>
          <p:nvPr/>
        </p:nvSpPr>
        <p:spPr>
          <a:xfrm flipV="1">
            <a:off x="1417955" y="5443855"/>
            <a:ext cx="9632315" cy="307340"/>
          </a:xfrm>
          <a:prstGeom prst="rect">
            <a:avLst/>
          </a:prstGeom>
          <a:noFill/>
        </p:spPr>
        <p:txBody>
          <a:bodyPr wrap="square" rtlCol="0">
            <a:noAutofit/>
          </a:bodyPr>
          <a:p>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6242050" y="220980"/>
            <a:ext cx="5007610" cy="633349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2849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块稀疏头的计算</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121920" y="1124585"/>
            <a:ext cx="6096000" cy="4554855"/>
          </a:xfrm>
          <a:prstGeom prst="rect">
            <a:avLst/>
          </a:prstGeom>
        </p:spPr>
        <p:txBody>
          <a:bodyPr wrap="square">
            <a:noAutofit/>
          </a:bodyPr>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对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Q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和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K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分别进行平均池化，块大小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block_size = 64</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计算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QK^T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并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softmax，</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得到块级别的近似注意力矩阵</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 A</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取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A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中最大的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k_b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个块索引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i_b</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，每个索引对应原始注意力矩阵中的一个</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 64×64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的块</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将选中的块索引转换成适合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GPU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内核的稀疏格式</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 i_b</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仅对选中的</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64×64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块做完整 </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QK^T</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  和</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AV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计算</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pP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p:txBody>
      </p:sp>
      <p:sp>
        <p:nvSpPr>
          <p:cNvPr id="4" name="文本框 3"/>
          <p:cNvSpPr txBox="1"/>
          <p:nvPr/>
        </p:nvSpPr>
        <p:spPr>
          <a:xfrm flipV="1">
            <a:off x="1417955" y="5443855"/>
            <a:ext cx="9632315" cy="307340"/>
          </a:xfrm>
          <a:prstGeom prst="rect">
            <a:avLst/>
          </a:prstGeom>
          <a:noFill/>
        </p:spPr>
        <p:txBody>
          <a:bodyPr wrap="square" rtlCol="0">
            <a:noAutofit/>
          </a:bodyPr>
          <a:p>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1"/>
          <a:stretch>
            <a:fillRect/>
          </a:stretch>
        </p:blipFill>
        <p:spPr>
          <a:xfrm>
            <a:off x="6303010" y="404495"/>
            <a:ext cx="4747260" cy="590994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6626"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26627"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6628" name="TextBox 77"/>
          <p:cNvSpPr txBox="1"/>
          <p:nvPr/>
        </p:nvSpPr>
        <p:spPr>
          <a:xfrm>
            <a:off x="4602163" y="2852738"/>
            <a:ext cx="3168650" cy="144526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优点和</a:t>
            </a:r>
            <a:endParaRPr lang="zh-CN" altLang="en-US" sz="4400" b="1" dirty="0">
              <a:solidFill>
                <a:srgbClr val="363636"/>
              </a:solidFill>
              <a:latin typeface="微软雅黑" panose="020B0503020204020204" pitchFamily="34" charset="-122"/>
              <a:ea typeface="微软雅黑" panose="020B0503020204020204" pitchFamily="34" charset="-122"/>
            </a:endParaRPr>
          </a:p>
          <a:p>
            <a:pPr algn="ctr"/>
            <a:r>
              <a:rPr lang="zh-CN" altLang="en-US" sz="4400" b="1" dirty="0">
                <a:solidFill>
                  <a:srgbClr val="363636"/>
                </a:solidFill>
                <a:latin typeface="微软雅黑" panose="020B0503020204020204" pitchFamily="34" charset="-122"/>
                <a:ea typeface="微软雅黑" panose="020B0503020204020204" pitchFamily="34" charset="-122"/>
              </a:rPr>
              <a:t>不足之处</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26629"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4</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6630" name="Freeform 11"/>
          <p:cNvSpPr>
            <a:spLocks noEditPoints="1"/>
          </p:cNvSpPr>
          <p:nvPr/>
        </p:nvSpPr>
        <p:spPr>
          <a:xfrm>
            <a:off x="5354638" y="850900"/>
            <a:ext cx="1489075" cy="128746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ln>
        </p:spPr>
        <p:txBody>
          <a:bodyPr/>
          <a:lstStyle/>
          <a:p>
            <a:endParaRPr lang="zh-CN" altLang="en-US"/>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p:bldP spid="26628" grpId="0"/>
      <p:bldP spid="266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实验设置</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a:p>
        </p:txBody>
      </p:sp>
      <p:sp>
        <p:nvSpPr>
          <p:cNvPr id="2" name="文本框 1"/>
          <p:cNvSpPr txBox="1"/>
          <p:nvPr/>
        </p:nvSpPr>
        <p:spPr>
          <a:xfrm>
            <a:off x="769620" y="1125220"/>
            <a:ext cx="9923145" cy="412877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长上下文大语言模型：LLaMA3-8B-Instruct-262k、LLaMA-3-8B-Instruct-1048k、GLM-4-9B-1M 和 Yi-9B-200K</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硬件：单张 </a:t>
            </a:r>
            <a:r>
              <a:rPr lang="en-US" altLang="zh-CN" sz="1800" dirty="0">
                <a:solidFill>
                  <a:schemeClr val="accent1"/>
                </a:solidFill>
                <a:latin typeface="微软雅黑" panose="020B0503020204020204" pitchFamily="34" charset="-122"/>
                <a:ea typeface="微软雅黑" panose="020B0503020204020204" pitchFamily="34" charset="-122"/>
                <a:cs typeface="+mn-ea"/>
              </a:rPr>
              <a:t>NVIDIA A100 GPU（80GB）</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数据格式：</a:t>
            </a:r>
            <a:r>
              <a:rPr lang="en-US" altLang="zh-CN" sz="1800" dirty="0">
                <a:solidFill>
                  <a:schemeClr val="accent1"/>
                </a:solidFill>
                <a:latin typeface="微软雅黑" panose="020B0503020204020204" pitchFamily="34" charset="-122"/>
                <a:ea typeface="微软雅黑" panose="020B0503020204020204" pitchFamily="34" charset="-122"/>
                <a:cs typeface="+mn-ea"/>
              </a:rPr>
              <a:t>bfloat16</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使用自定义 </a:t>
            </a:r>
            <a:r>
              <a:rPr lang="en-US" altLang="zh-CN" sz="1800" dirty="0">
                <a:solidFill>
                  <a:schemeClr val="accent1"/>
                </a:solidFill>
                <a:latin typeface="微软雅黑" panose="020B0503020204020204" pitchFamily="34" charset="-122"/>
                <a:ea typeface="微软雅黑" panose="020B0503020204020204" pitchFamily="34" charset="-122"/>
                <a:cs typeface="+mn-ea"/>
              </a:rPr>
              <a:t>PyTorch </a:t>
            </a:r>
            <a:r>
              <a:rPr lang="zh-CN" altLang="en-US" sz="1800" dirty="0">
                <a:solidFill>
                  <a:schemeClr val="accent1"/>
                </a:solidFill>
                <a:latin typeface="微软雅黑" panose="020B0503020204020204" pitchFamily="34" charset="-122"/>
                <a:ea typeface="微软雅黑" panose="020B0503020204020204" pitchFamily="34" charset="-122"/>
                <a:cs typeface="+mn-ea"/>
              </a:rPr>
              <a:t>实现</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实验设置</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2" name="文本框 1"/>
          <p:cNvSpPr txBox="1"/>
          <p:nvPr/>
        </p:nvSpPr>
        <p:spPr>
          <a:xfrm>
            <a:off x="769620" y="1125220"/>
            <a:ext cx="9923145" cy="4128770"/>
          </a:xfrm>
          <a:prstGeom prst="rect">
            <a:avLst/>
          </a:prstGeom>
          <a:noFill/>
        </p:spPr>
        <p:txBody>
          <a:bodyPr wrap="square" rtlCol="0">
            <a:noAutofit/>
          </a:bodyPr>
          <a:p>
            <a:pPr>
              <a:lnSpc>
                <a:spcPct val="150000"/>
              </a:lnSpc>
            </a:pPr>
            <a:r>
              <a:rPr lang="zh-CN" altLang="en-US" sz="2000" b="1" dirty="0">
                <a:solidFill>
                  <a:schemeClr val="accent1"/>
                </a:solidFill>
                <a:latin typeface="微软雅黑" panose="020B0503020204020204" pitchFamily="34" charset="-122"/>
                <a:ea typeface="微软雅黑" panose="020B0503020204020204" pitchFamily="34" charset="-122"/>
                <a:cs typeface="+mn-ea"/>
              </a:rPr>
              <a:t>评估基准</a:t>
            </a:r>
            <a:endParaRPr lang="zh-CN" altLang="en-US" sz="2000" b="1"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InfiniteBench</a:t>
            </a:r>
            <a:r>
              <a:rPr lang="zh-CN" altLang="en-US" sz="1800" dirty="0">
                <a:solidFill>
                  <a:schemeClr val="accent1"/>
                </a:solidFill>
                <a:latin typeface="微软雅黑" panose="020B0503020204020204" pitchFamily="34" charset="-122"/>
                <a:ea typeface="微软雅黑" panose="020B0503020204020204" pitchFamily="34" charset="-122"/>
                <a:cs typeface="+mn-ea"/>
              </a:rPr>
              <a:t>：用214</a:t>
            </a:r>
            <a:r>
              <a:rPr lang="en-US" altLang="zh-CN" sz="1800" dirty="0">
                <a:solidFill>
                  <a:schemeClr val="accent1"/>
                </a:solidFill>
                <a:latin typeface="微软雅黑" panose="020B0503020204020204" pitchFamily="34" charset="-122"/>
                <a:ea typeface="微软雅黑" panose="020B0503020204020204" pitchFamily="34" charset="-122"/>
                <a:cs typeface="+mn-ea"/>
              </a:rPr>
              <a:t>K 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平均长度的文本，考校模型处理超长现实任务的综合能力</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RULER</a:t>
            </a:r>
            <a:r>
              <a:rPr lang="zh-CN" altLang="en-US" sz="1800" dirty="0">
                <a:solidFill>
                  <a:schemeClr val="accent1"/>
                </a:solidFill>
                <a:latin typeface="微软雅黑" panose="020B0503020204020204" pitchFamily="34" charset="-122"/>
                <a:ea typeface="微软雅黑" panose="020B0503020204020204" pitchFamily="34" charset="-122"/>
                <a:cs typeface="+mn-ea"/>
              </a:rPr>
              <a:t>：13 种复杂任务，分为检索、多跳追踪、聚合、长上下文 </a:t>
            </a:r>
            <a:r>
              <a:rPr lang="en-US" altLang="zh-CN" sz="1800" dirty="0">
                <a:solidFill>
                  <a:schemeClr val="accent1"/>
                </a:solidFill>
                <a:latin typeface="微软雅黑" panose="020B0503020204020204" pitchFamily="34" charset="-122"/>
                <a:ea typeface="微软雅黑" panose="020B0503020204020204" pitchFamily="34" charset="-122"/>
                <a:cs typeface="+mn-ea"/>
              </a:rPr>
              <a:t>QA</a:t>
            </a:r>
            <a:r>
              <a:rPr lang="zh-CN" altLang="en-US" sz="1800" dirty="0">
                <a:solidFill>
                  <a:schemeClr val="accent1"/>
                </a:solidFill>
                <a:latin typeface="微软雅黑" panose="020B0503020204020204" pitchFamily="34" charset="-122"/>
                <a:ea typeface="微软雅黑" panose="020B0503020204020204" pitchFamily="34" charset="-122"/>
                <a:cs typeface="+mn-ea"/>
              </a:rPr>
              <a:t>，测出模型真实的有效上下文窗口有多长</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Needle In A Haystack</a:t>
            </a:r>
            <a:r>
              <a:rPr lang="zh-CN" altLang="en-US" sz="1800" dirty="0">
                <a:solidFill>
                  <a:schemeClr val="accent1"/>
                </a:solidFill>
                <a:latin typeface="微软雅黑" panose="020B0503020204020204" pitchFamily="34" charset="-122"/>
                <a:ea typeface="微软雅黑" panose="020B0503020204020204" pitchFamily="34" charset="-122"/>
                <a:cs typeface="+mn-ea"/>
              </a:rPr>
              <a:t>：在 1</a:t>
            </a:r>
            <a:r>
              <a:rPr lang="en-US" altLang="zh-CN" sz="1800" dirty="0">
                <a:solidFill>
                  <a:schemeClr val="accent1"/>
                </a:solidFill>
                <a:latin typeface="微软雅黑" panose="020B0503020204020204" pitchFamily="34" charset="-122"/>
                <a:ea typeface="微软雅黑" panose="020B0503020204020204" pitchFamily="34" charset="-122"/>
                <a:cs typeface="+mn-ea"/>
              </a:rPr>
              <a:t>K </a:t>
            </a:r>
            <a:r>
              <a:rPr lang="zh-CN" altLang="en-US" sz="1800" dirty="0">
                <a:solidFill>
                  <a:schemeClr val="accent1"/>
                </a:solidFill>
                <a:latin typeface="微软雅黑" panose="020B0503020204020204" pitchFamily="34" charset="-122"/>
                <a:ea typeface="微软雅黑" panose="020B0503020204020204" pitchFamily="34" charset="-122"/>
                <a:cs typeface="+mn-ea"/>
              </a:rPr>
              <a:t>至 1</a:t>
            </a:r>
            <a:r>
              <a:rPr lang="en-US" altLang="zh-CN" sz="1800" dirty="0">
                <a:solidFill>
                  <a:schemeClr val="accent1"/>
                </a:solidFill>
                <a:latin typeface="微软雅黑" panose="020B0503020204020204" pitchFamily="34" charset="-122"/>
                <a:ea typeface="微软雅黑" panose="020B0503020204020204" pitchFamily="34" charset="-122"/>
                <a:cs typeface="+mn-ea"/>
              </a:rPr>
              <a:t>M 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量级的干扰文档中于不同深度位置插入特定目标信息，评估模型在极端长度下的长距离检索保真度</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PG-19</a:t>
            </a:r>
            <a:r>
              <a:rPr lang="zh-CN" altLang="en-US" sz="1800" dirty="0">
                <a:solidFill>
                  <a:schemeClr val="accent1"/>
                </a:solidFill>
                <a:latin typeface="微软雅黑" panose="020B0503020204020204" pitchFamily="34" charset="-122"/>
                <a:ea typeface="微软雅黑" panose="020B0503020204020204" pitchFamily="34" charset="-122"/>
                <a:cs typeface="+mn-ea"/>
              </a:rPr>
              <a:t>：测量模型在超过 100</a:t>
            </a:r>
            <a:r>
              <a:rPr lang="en-US" altLang="zh-CN" sz="1800" dirty="0">
                <a:solidFill>
                  <a:schemeClr val="accent1"/>
                </a:solidFill>
                <a:latin typeface="微软雅黑" panose="020B0503020204020204" pitchFamily="34" charset="-122"/>
                <a:ea typeface="微软雅黑" panose="020B0503020204020204" pitchFamily="34" charset="-122"/>
                <a:cs typeface="+mn-ea"/>
              </a:rPr>
              <a:t>K 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的连续叙事文本上的困惑度，来量化模型捕捉超长距离文本依赖关系的能力</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实验设置</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2" name="文本框 1"/>
          <p:cNvSpPr txBox="1"/>
          <p:nvPr/>
        </p:nvSpPr>
        <p:spPr>
          <a:xfrm>
            <a:off x="769620" y="908685"/>
            <a:ext cx="9923145" cy="4128770"/>
          </a:xfrm>
          <a:prstGeom prst="rect">
            <a:avLst/>
          </a:prstGeom>
          <a:noFill/>
        </p:spPr>
        <p:txBody>
          <a:bodyPr wrap="square" rtlCol="0">
            <a:noAutofit/>
          </a:bodyPr>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graphicFrame>
        <p:nvGraphicFramePr>
          <p:cNvPr id="5" name="表格 4"/>
          <p:cNvGraphicFramePr/>
          <p:nvPr>
            <p:custDataLst>
              <p:tags r:id="rId1"/>
            </p:custDataLst>
          </p:nvPr>
        </p:nvGraphicFramePr>
        <p:xfrm>
          <a:off x="901700" y="904240"/>
          <a:ext cx="10729595" cy="5320030"/>
        </p:xfrm>
        <a:graphic>
          <a:graphicData uri="http://schemas.openxmlformats.org/drawingml/2006/table">
            <a:tbl>
              <a:tblPr firstRow="1">
                <a:tableStyleId>{23092A72-E74D-4342-BD42-A49AEADB4AA1}</a:tableStyleId>
              </a:tblPr>
              <a:tblGrid>
                <a:gridCol w="3157855"/>
                <a:gridCol w="7571740"/>
              </a:tblGrid>
              <a:tr h="534035">
                <a:tc>
                  <a:txBody>
                    <a:bodyPr/>
                    <a:p>
                      <a:pPr algn="l" fontAlgn="base">
                        <a:lnSpc>
                          <a:spcPct val="150000"/>
                        </a:lnSpc>
                        <a:buClrTx/>
                        <a:buSzTx/>
                        <a:buFontTx/>
                      </a:pPr>
                      <a:r>
                        <a:rPr lang="zh-CN" altLang="en-US" sz="1800" b="0" dirty="0">
                          <a:solidFill>
                            <a:schemeClr val="accent1"/>
                          </a:solidFill>
                          <a:latin typeface="微软雅黑" panose="020B0503020204020204" pitchFamily="34" charset="-122"/>
                          <a:ea typeface="微软雅黑" panose="020B0503020204020204" pitchFamily="34" charset="-122"/>
                          <a:cs typeface="+mn-ea"/>
                        </a:rPr>
                        <a:t>基线方法</a:t>
                      </a:r>
                      <a:endParaRPr lang="zh-CN" altLang="en-US" sz="1800" b="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c>
                  <a:txBody>
                    <a:bodyPr/>
                    <a:p>
                      <a:pPr algn="l" fontAlgn="base">
                        <a:lnSpc>
                          <a:spcPct val="150000"/>
                        </a:lnSpc>
                        <a:buClrTx/>
                        <a:buSzTx/>
                        <a:buFontTx/>
                      </a:pPr>
                      <a:r>
                        <a:rPr lang="zh-CN" altLang="en-US" sz="1800" b="0" dirty="0">
                          <a:solidFill>
                            <a:schemeClr val="accent1"/>
                          </a:solidFill>
                          <a:latin typeface="微软雅黑" panose="020B0503020204020204" pitchFamily="34" charset="-122"/>
                          <a:ea typeface="微软雅黑" panose="020B0503020204020204" pitchFamily="34" charset="-122"/>
                          <a:cs typeface="+mn-ea"/>
                        </a:rPr>
                        <a:t>介绍</a:t>
                      </a:r>
                      <a:endParaRPr lang="zh-CN" altLang="en-US" sz="1800" b="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r>
              <a:tr h="1155700">
                <a:tc>
                  <a:txBody>
                    <a:bodyPr/>
                    <a:p>
                      <a:pPr algn="l" fontAlgn="base">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rPr>
                        <a:t>StreamingLLM</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c>
                  <a:txBody>
                    <a:bodyPr/>
                    <a:p>
                      <a:pPr algn="l" fontAlgn="base">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rPr>
                        <a:t>让每个 token 只关注：开头的1024 个token和离自己最近的4096 个局部窗口 token</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r>
              <a:tr h="858520">
                <a:tc>
                  <a:txBody>
                    <a:bodyPr/>
                    <a:p>
                      <a:pPr algn="l" fontAlgn="base">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rPr>
                        <a:t>StreamingLLM（扩张版）</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c>
                  <a:txBody>
                    <a:bodyPr/>
                    <a:p>
                      <a:pPr algn="l" fontAlgn="base">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rPr>
                        <a:t>把局部窗口从连续的 4096 个，改成带间隔的扩张窗口（共 8192 个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每隔一个取一个）</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r>
              <a:tr h="857250">
                <a:tc>
                  <a:txBody>
                    <a:bodyPr/>
                    <a:p>
                      <a:pPr algn="l" fontAlgn="base">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rPr>
                        <a:t>StreamingLLM（跨步版）</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c>
                  <a:txBody>
                    <a:bodyPr/>
                    <a:p>
                      <a:pPr algn="l" fontAlgn="base">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rPr>
                        <a:t>同时保留一个较小的连续局部窗口（2048）和一个较大的跨步窗口（4096），试图兼顾局部连续性和长距离覆盖</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r>
              <a:tr h="1057910">
                <a:tc>
                  <a:txBody>
                    <a:bodyPr/>
                    <a:p>
                      <a:pPr algn="l" fontAlgn="base">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rPr>
                        <a:t>InfLLM</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c>
                  <a:txBody>
                    <a:bodyPr/>
                    <a:p>
                      <a:pPr algn="l" fontAlgn="base">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rPr>
                        <a:t>使用一个外部记忆单元来存储和回忆长序列信息。它保留 128 个全局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和 8192 个局部窗口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并通过记忆机制来补充窗口外的内容</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r>
              <a:tr h="856615">
                <a:tc>
                  <a:txBody>
                    <a:bodyPr/>
                    <a:p>
                      <a:pPr algn="l" fontAlgn="base">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rPr>
                        <a:t>Ours w/ static（静态版本）</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c>
                  <a:txBody>
                    <a:bodyPr/>
                    <a:p>
                      <a:pPr algn="l" fontAlgn="base">
                        <a:lnSpc>
                          <a:spcPct val="150000"/>
                        </a:lnSpc>
                        <a:buClrTx/>
                        <a:buSzTx/>
                        <a:buFontTx/>
                      </a:pPr>
                      <a:r>
                        <a:rPr lang="en-US" altLang="zh-CN" sz="1800" dirty="0">
                          <a:solidFill>
                            <a:schemeClr val="accent1"/>
                          </a:solidFill>
                          <a:latin typeface="微软雅黑" panose="020B0503020204020204" pitchFamily="34" charset="-122"/>
                          <a:ea typeface="微软雅黑" panose="020B0503020204020204" pitchFamily="34" charset="-122"/>
                          <a:cs typeface="+mn-ea"/>
                        </a:rPr>
                        <a:t>MInference </a:t>
                      </a:r>
                      <a:r>
                        <a:rPr lang="zh-CN" altLang="en-US" sz="1800" dirty="0">
                          <a:solidFill>
                            <a:schemeClr val="accent1"/>
                          </a:solidFill>
                          <a:latin typeface="微软雅黑" panose="020B0503020204020204" pitchFamily="34" charset="-122"/>
                          <a:ea typeface="微软雅黑" panose="020B0503020204020204" pitchFamily="34" charset="-122"/>
                          <a:cs typeface="+mn-ea"/>
                        </a:rPr>
                        <a:t>自身变体，在竖斜线头和块稀疏头上，不用动态预测，而是用一组预先从某个样本上找到的固定稀疏索引</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txBody>
                  <a:tcPr marL="7937" marR="7937" marT="7937" marB="0" anchor="ctr" anchorCtr="0"/>
                </a:tc>
              </a:tr>
            </a:tbl>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pic>
        <p:nvPicPr>
          <p:cNvPr id="3" name="图片 2"/>
          <p:cNvPicPr>
            <a:picLocks noChangeAspect="1"/>
          </p:cNvPicPr>
          <p:nvPr/>
        </p:nvPicPr>
        <p:blipFill>
          <a:blip r:embed="rId1"/>
          <a:stretch>
            <a:fillRect/>
          </a:stretch>
        </p:blipFill>
        <p:spPr>
          <a:xfrm>
            <a:off x="1201420" y="981075"/>
            <a:ext cx="9663430" cy="4532630"/>
          </a:xfrm>
          <a:prstGeom prst="rect">
            <a:avLst/>
          </a:prstGeom>
        </p:spPr>
      </p:pic>
      <p:sp>
        <p:nvSpPr>
          <p:cNvPr id="4" name="文本框 3"/>
          <p:cNvSpPr txBox="1"/>
          <p:nvPr/>
        </p:nvSpPr>
        <p:spPr>
          <a:xfrm>
            <a:off x="1273810" y="5765165"/>
            <a:ext cx="8533130" cy="506730"/>
          </a:xfrm>
          <a:prstGeom prst="rect">
            <a:avLst/>
          </a:prstGeom>
          <a:noFill/>
        </p:spPr>
        <p:txBody>
          <a:bodyPr wrap="square" rtlCol="0">
            <a:sp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与基线方法相比，MInference 在 InfiniteBench 上实现了最佳的整体性能</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4" name="文本框 3"/>
          <p:cNvSpPr txBox="1"/>
          <p:nvPr/>
        </p:nvSpPr>
        <p:spPr>
          <a:xfrm>
            <a:off x="1273810" y="5765165"/>
            <a:ext cx="9779000" cy="922020"/>
          </a:xfrm>
          <a:prstGeom prst="rect">
            <a:avLst/>
          </a:prstGeom>
          <a:noFill/>
        </p:spPr>
        <p:txBody>
          <a:bodyPr wrap="square" rtlCol="0">
            <a:sp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即使在 </a:t>
            </a:r>
            <a:r>
              <a:rPr lang="en-US" altLang="zh-CN" sz="1800" dirty="0">
                <a:solidFill>
                  <a:schemeClr val="accent1"/>
                </a:solidFill>
                <a:latin typeface="微软雅黑" panose="020B0503020204020204" pitchFamily="34" charset="-122"/>
                <a:ea typeface="微软雅黑" panose="020B0503020204020204" pitchFamily="34" charset="-122"/>
                <a:cs typeface="+mn-ea"/>
              </a:rPr>
              <a:t>RULER </a:t>
            </a:r>
            <a:r>
              <a:rPr lang="zh-CN" altLang="en-US" sz="1800" dirty="0">
                <a:solidFill>
                  <a:schemeClr val="accent1"/>
                </a:solidFill>
                <a:latin typeface="微软雅黑" panose="020B0503020204020204" pitchFamily="34" charset="-122"/>
                <a:ea typeface="微软雅黑" panose="020B0503020204020204" pitchFamily="34" charset="-122"/>
                <a:cs typeface="+mn-ea"/>
              </a:rPr>
              <a:t>中复杂的多跳或聚合任务中，</a:t>
            </a:r>
            <a:r>
              <a:rPr lang="en-US" altLang="zh-CN" sz="1800" dirty="0">
                <a:solidFill>
                  <a:schemeClr val="accent1"/>
                </a:solidFill>
                <a:latin typeface="微软雅黑" panose="020B0503020204020204" pitchFamily="34" charset="-122"/>
                <a:ea typeface="微软雅黑" panose="020B0503020204020204" pitchFamily="34" charset="-122"/>
                <a:cs typeface="+mn-ea"/>
              </a:rPr>
              <a:t>MInference </a:t>
            </a:r>
            <a:r>
              <a:rPr lang="zh-CN" altLang="en-US" sz="1800" dirty="0">
                <a:solidFill>
                  <a:schemeClr val="accent1"/>
                </a:solidFill>
                <a:latin typeface="微软雅黑" panose="020B0503020204020204" pitchFamily="34" charset="-122"/>
                <a:ea typeface="微软雅黑" panose="020B0503020204020204" pitchFamily="34" charset="-122"/>
                <a:cs typeface="+mn-ea"/>
              </a:rPr>
              <a:t>也能有效地保持长上下文性能。在超过 32</a:t>
            </a:r>
            <a:r>
              <a:rPr lang="en-US" altLang="zh-CN" sz="1800" dirty="0">
                <a:solidFill>
                  <a:schemeClr val="accent1"/>
                </a:solidFill>
                <a:latin typeface="微软雅黑" panose="020B0503020204020204" pitchFamily="34" charset="-122"/>
                <a:ea typeface="微软雅黑" panose="020B0503020204020204" pitchFamily="34" charset="-122"/>
                <a:cs typeface="+mn-ea"/>
              </a:rPr>
              <a:t>K </a:t>
            </a:r>
            <a:r>
              <a:rPr lang="zh-CN" altLang="en-US" sz="1800" dirty="0">
                <a:solidFill>
                  <a:schemeClr val="accent1"/>
                </a:solidFill>
                <a:latin typeface="微软雅黑" panose="020B0503020204020204" pitchFamily="34" charset="-122"/>
                <a:ea typeface="微软雅黑" panose="020B0503020204020204" pitchFamily="34" charset="-122"/>
                <a:cs typeface="+mn-ea"/>
              </a:rPr>
              <a:t>的测试长度上，它甚至优于原始的全注意力</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1345565" y="908685"/>
            <a:ext cx="9744075" cy="474789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4" name="文本框 3"/>
          <p:cNvSpPr txBox="1"/>
          <p:nvPr/>
        </p:nvSpPr>
        <p:spPr>
          <a:xfrm>
            <a:off x="625475" y="4653280"/>
            <a:ext cx="9779000" cy="1753235"/>
          </a:xfrm>
          <a:prstGeom prst="rect">
            <a:avLst/>
          </a:prstGeom>
          <a:noFill/>
        </p:spPr>
        <p:txBody>
          <a:bodyPr wrap="square" rtlCol="0">
            <a:sp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基于 </a:t>
            </a:r>
            <a:r>
              <a:rPr lang="en-US" altLang="zh-CN" sz="1800" dirty="0">
                <a:solidFill>
                  <a:schemeClr val="accent1"/>
                </a:solidFill>
                <a:latin typeface="微软雅黑" panose="020B0503020204020204" pitchFamily="34" charset="-122"/>
                <a:ea typeface="微软雅黑" panose="020B0503020204020204" pitchFamily="34" charset="-122"/>
                <a:cs typeface="+mn-ea"/>
              </a:rPr>
              <a:t>PG-19 </a:t>
            </a:r>
            <a:r>
              <a:rPr lang="zh-CN" altLang="en-US" sz="1800" dirty="0">
                <a:solidFill>
                  <a:schemeClr val="accent1"/>
                </a:solidFill>
                <a:latin typeface="微软雅黑" panose="020B0503020204020204" pitchFamily="34" charset="-122"/>
                <a:ea typeface="微软雅黑" panose="020B0503020204020204" pitchFamily="34" charset="-122"/>
                <a:cs typeface="+mn-ea"/>
              </a:rPr>
              <a:t>数据集评估了我们的方法与基线方法在语言建模任务上的表现</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与其它稀疏方法相比，我们的方法取得了最佳结果，并且与全注意力基线相比差异极小</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对于 100</a:t>
            </a:r>
            <a:r>
              <a:rPr lang="en-US" altLang="zh-CN" sz="1800" dirty="0">
                <a:solidFill>
                  <a:schemeClr val="accent1"/>
                </a:solidFill>
                <a:latin typeface="微软雅黑" panose="020B0503020204020204" pitchFamily="34" charset="-122"/>
                <a:ea typeface="微软雅黑" panose="020B0503020204020204" pitchFamily="34" charset="-122"/>
                <a:cs typeface="+mn-ea"/>
              </a:rPr>
              <a:t>K token</a:t>
            </a:r>
            <a:r>
              <a:rPr lang="zh-CN" altLang="en-US" sz="1800" dirty="0">
                <a:solidFill>
                  <a:schemeClr val="accent1"/>
                </a:solidFill>
                <a:latin typeface="微软雅黑" panose="020B0503020204020204" pitchFamily="34" charset="-122"/>
                <a:ea typeface="微软雅黑" panose="020B0503020204020204" pitchFamily="34" charset="-122"/>
                <a:cs typeface="+mn-ea"/>
              </a:rPr>
              <a:t>的提示，我们的困惑度仅比全注意力高 0.2，但比 </a:t>
            </a:r>
            <a:r>
              <a:rPr lang="en-US" altLang="zh-CN" sz="1800" dirty="0">
                <a:solidFill>
                  <a:schemeClr val="accent1"/>
                </a:solidFill>
                <a:latin typeface="微软雅黑" panose="020B0503020204020204" pitchFamily="34" charset="-122"/>
                <a:ea typeface="微软雅黑" panose="020B0503020204020204" pitchFamily="34" charset="-122"/>
                <a:cs typeface="+mn-ea"/>
              </a:rPr>
              <a:t>StreamingLLM </a:t>
            </a:r>
            <a:r>
              <a:rPr lang="zh-CN" altLang="en-US" sz="1800" dirty="0">
                <a:solidFill>
                  <a:schemeClr val="accent1"/>
                </a:solidFill>
                <a:latin typeface="微软雅黑" panose="020B0503020204020204" pitchFamily="34" charset="-122"/>
                <a:ea typeface="微软雅黑" panose="020B0503020204020204" pitchFamily="34" charset="-122"/>
                <a:cs typeface="+mn-ea"/>
              </a:rPr>
              <a:t>在 </a:t>
            </a:r>
            <a:r>
              <a:rPr lang="en-US" altLang="zh-CN" sz="1800" dirty="0">
                <a:solidFill>
                  <a:schemeClr val="accent1"/>
                </a:solidFill>
                <a:latin typeface="微软雅黑" panose="020B0503020204020204" pitchFamily="34" charset="-122"/>
                <a:ea typeface="微软雅黑" panose="020B0503020204020204" pitchFamily="34" charset="-122"/>
                <a:cs typeface="+mn-ea"/>
              </a:rPr>
              <a:t>Yi-9B-200K </a:t>
            </a:r>
            <a:r>
              <a:rPr lang="zh-CN" altLang="en-US" sz="1800" dirty="0">
                <a:solidFill>
                  <a:schemeClr val="accent1"/>
                </a:solidFill>
                <a:latin typeface="微软雅黑" panose="020B0503020204020204" pitchFamily="34" charset="-122"/>
                <a:ea typeface="微软雅黑" panose="020B0503020204020204" pitchFamily="34" charset="-122"/>
                <a:cs typeface="+mn-ea"/>
              </a:rPr>
              <a:t>和 </a:t>
            </a:r>
            <a:r>
              <a:rPr lang="en-US" altLang="zh-CN" sz="1800" dirty="0">
                <a:solidFill>
                  <a:schemeClr val="accent1"/>
                </a:solidFill>
                <a:latin typeface="微软雅黑" panose="020B0503020204020204" pitchFamily="34" charset="-122"/>
                <a:ea typeface="微软雅黑" panose="020B0503020204020204" pitchFamily="34" charset="-122"/>
                <a:cs typeface="+mn-ea"/>
              </a:rPr>
              <a:t>LLaMA-3-262K </a:t>
            </a:r>
            <a:r>
              <a:rPr lang="zh-CN" altLang="en-US" sz="1800" dirty="0">
                <a:solidFill>
                  <a:schemeClr val="accent1"/>
                </a:solidFill>
                <a:latin typeface="微软雅黑" panose="020B0503020204020204" pitchFamily="34" charset="-122"/>
                <a:ea typeface="微软雅黑" panose="020B0503020204020204" pitchFamily="34" charset="-122"/>
                <a:cs typeface="+mn-ea"/>
              </a:rPr>
              <a:t>模型上分别低 0.25 和 0.75</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553720" y="981075"/>
            <a:ext cx="11255375" cy="339915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4" name="文本框 3"/>
          <p:cNvSpPr txBox="1"/>
          <p:nvPr/>
        </p:nvSpPr>
        <p:spPr>
          <a:xfrm>
            <a:off x="625475" y="4653280"/>
            <a:ext cx="10384790" cy="1337945"/>
          </a:xfrm>
          <a:prstGeom prst="rect">
            <a:avLst/>
          </a:prstGeom>
          <a:noFill/>
        </p:spPr>
        <p:txBody>
          <a:bodyPr wrap="square" rtlCol="0">
            <a:sp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我们的方法有效地保留了在不同上下文窗口（从 1</a:t>
            </a:r>
            <a:r>
              <a:rPr lang="en-US" altLang="zh-CN" sz="1800" dirty="0">
                <a:solidFill>
                  <a:schemeClr val="accent1"/>
                </a:solidFill>
                <a:latin typeface="微软雅黑" panose="020B0503020204020204" pitchFamily="34" charset="-122"/>
                <a:ea typeface="微软雅黑" panose="020B0503020204020204" pitchFamily="34" charset="-122"/>
                <a:cs typeface="+mn-ea"/>
              </a:rPr>
              <a:t>k </a:t>
            </a:r>
            <a:r>
              <a:rPr lang="zh-CN" altLang="en-US" sz="1800" dirty="0">
                <a:solidFill>
                  <a:schemeClr val="accent1"/>
                </a:solidFill>
                <a:latin typeface="微软雅黑" panose="020B0503020204020204" pitchFamily="34" charset="-122"/>
                <a:ea typeface="微软雅黑" panose="020B0503020204020204" pitchFamily="34" charset="-122"/>
                <a:cs typeface="+mn-ea"/>
              </a:rPr>
              <a:t>到 100 万</a:t>
            </a:r>
            <a:r>
              <a:rPr lang="en-US" altLang="zh-CN" sz="1800" dirty="0">
                <a:solidFill>
                  <a:schemeClr val="accent1"/>
                </a:solidFill>
                <a:latin typeface="微软雅黑" panose="020B0503020204020204" pitchFamily="34" charset="-122"/>
                <a:ea typeface="微软雅黑" panose="020B0503020204020204" pitchFamily="34" charset="-122"/>
                <a:cs typeface="+mn-ea"/>
              </a:rPr>
              <a:t> token</a:t>
            </a:r>
            <a:r>
              <a:rPr lang="zh-CN" altLang="en-US" sz="1800" dirty="0">
                <a:solidFill>
                  <a:schemeClr val="accent1"/>
                </a:solidFill>
                <a:latin typeface="微软雅黑" panose="020B0503020204020204" pitchFamily="34" charset="-122"/>
                <a:ea typeface="微软雅黑" panose="020B0503020204020204" pitchFamily="34" charset="-122"/>
                <a:cs typeface="+mn-ea"/>
              </a:rPr>
              <a:t>）中处理不同位置信息的能力 </a:t>
            </a:r>
            <a:r>
              <a:rPr lang="en-US" altLang="zh-CN" sz="1800" dirty="0">
                <a:solidFill>
                  <a:schemeClr val="accent1"/>
                </a:solidFill>
                <a:latin typeface="微软雅黑" panose="020B0503020204020204" pitchFamily="34" charset="-122"/>
                <a:ea typeface="微软雅黑" panose="020B0503020204020204" pitchFamily="34" charset="-122"/>
                <a:cs typeface="+mn-ea"/>
              </a:rPr>
              <a:t>StreamingLLM </a:t>
            </a:r>
            <a:r>
              <a:rPr lang="zh-CN" altLang="en-US" sz="1800" dirty="0">
                <a:solidFill>
                  <a:schemeClr val="accent1"/>
                </a:solidFill>
                <a:latin typeface="微软雅黑" panose="020B0503020204020204" pitchFamily="34" charset="-122"/>
                <a:ea typeface="微软雅黑" panose="020B0503020204020204" pitchFamily="34" charset="-122"/>
                <a:cs typeface="+mn-ea"/>
              </a:rPr>
              <a:t>虽然能有效降低延迟，但一旦关键信息超出全局</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和局部窗口的范围，其性能就会急剧下降</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1"/>
          <a:stretch>
            <a:fillRect/>
          </a:stretch>
        </p:blipFill>
        <p:spPr>
          <a:xfrm>
            <a:off x="6242050" y="692785"/>
            <a:ext cx="5709920" cy="3588385"/>
          </a:xfrm>
          <a:prstGeom prst="rect">
            <a:avLst/>
          </a:prstGeom>
        </p:spPr>
      </p:pic>
      <p:pic>
        <p:nvPicPr>
          <p:cNvPr id="6" name="图片 5"/>
          <p:cNvPicPr>
            <a:picLocks noChangeAspect="1"/>
          </p:cNvPicPr>
          <p:nvPr/>
        </p:nvPicPr>
        <p:blipFill>
          <a:blip r:embed="rId2"/>
          <a:stretch>
            <a:fillRect/>
          </a:stretch>
        </p:blipFill>
        <p:spPr>
          <a:xfrm>
            <a:off x="265430" y="836930"/>
            <a:ext cx="5818505" cy="339979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4" name="文本框 3"/>
          <p:cNvSpPr txBox="1"/>
          <p:nvPr/>
        </p:nvSpPr>
        <p:spPr>
          <a:xfrm>
            <a:off x="481330" y="3734435"/>
            <a:ext cx="11299825" cy="2584450"/>
          </a:xfrm>
          <a:prstGeom prst="rect">
            <a:avLst/>
          </a:prstGeom>
          <a:noFill/>
        </p:spPr>
        <p:txBody>
          <a:bodyPr wrap="square" rtlCol="0">
            <a:sp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引入了四个变体进行消融研究：(1) 带静态的 </a:t>
            </a:r>
            <a:r>
              <a:rPr lang="en-US" altLang="zh-CN" sz="1800" dirty="0">
                <a:solidFill>
                  <a:schemeClr val="accent1"/>
                </a:solidFill>
                <a:latin typeface="微软雅黑" panose="020B0503020204020204" pitchFamily="34" charset="-122"/>
                <a:ea typeface="微软雅黑" panose="020B0503020204020204" pitchFamily="34" charset="-122"/>
                <a:cs typeface="+mn-ea"/>
              </a:rPr>
              <a:t>Ours (Ours w/ static)，</a:t>
            </a:r>
            <a:r>
              <a:rPr lang="zh-CN" altLang="en-US" sz="1800" dirty="0">
                <a:solidFill>
                  <a:schemeClr val="accent1"/>
                </a:solidFill>
                <a:latin typeface="微软雅黑" panose="020B0503020204020204" pitchFamily="34" charset="-122"/>
                <a:ea typeface="微软雅黑" panose="020B0503020204020204" pitchFamily="34" charset="-122"/>
                <a:cs typeface="+mn-ea"/>
              </a:rPr>
              <a:t>在垂直-斜线和块稀疏模式中使用静态稀疏掩码</a:t>
            </a:r>
            <a:r>
              <a:rPr lang="en-US" altLang="zh-CN" sz="1800" dirty="0">
                <a:solidFill>
                  <a:schemeClr val="accent1"/>
                </a:solidFill>
                <a:latin typeface="微软雅黑" panose="020B0503020204020204" pitchFamily="34" charset="-122"/>
                <a:ea typeface="微软雅黑" panose="020B0503020204020204" pitchFamily="34" charset="-122"/>
                <a:cs typeface="+mn-ea"/>
              </a:rPr>
              <a:t> </a:t>
            </a:r>
            <a:r>
              <a:rPr lang="zh-CN" altLang="en-US" sz="1800" dirty="0">
                <a:solidFill>
                  <a:schemeClr val="accent1"/>
                </a:solidFill>
                <a:latin typeface="微软雅黑" panose="020B0503020204020204" pitchFamily="34" charset="-122"/>
                <a:ea typeface="微软雅黑" panose="020B0503020204020204" pitchFamily="34" charset="-122"/>
                <a:cs typeface="+mn-ea"/>
              </a:rPr>
              <a:t>(2) 仅 </a:t>
            </a:r>
            <a:r>
              <a:rPr lang="en-US" altLang="zh-CN" sz="1800" dirty="0">
                <a:solidFill>
                  <a:schemeClr val="accent1"/>
                </a:solidFill>
                <a:latin typeface="微软雅黑" panose="020B0503020204020204" pitchFamily="34" charset="-122"/>
                <a:ea typeface="微软雅黑" panose="020B0503020204020204" pitchFamily="34" charset="-122"/>
                <a:cs typeface="+mn-ea"/>
              </a:rPr>
              <a:t>A </a:t>
            </a:r>
            <a:r>
              <a:rPr lang="zh-CN" altLang="en-US" sz="1800" dirty="0">
                <a:solidFill>
                  <a:schemeClr val="accent1"/>
                </a:solidFill>
                <a:latin typeface="微软雅黑" panose="020B0503020204020204" pitchFamily="34" charset="-122"/>
                <a:ea typeface="微软雅黑" panose="020B0503020204020204" pitchFamily="34" charset="-122"/>
                <a:cs typeface="+mn-ea"/>
              </a:rPr>
              <a:t>形的 </a:t>
            </a:r>
            <a:r>
              <a:rPr lang="en-US" altLang="zh-CN" sz="1800" dirty="0">
                <a:solidFill>
                  <a:schemeClr val="accent1"/>
                </a:solidFill>
                <a:latin typeface="微软雅黑" panose="020B0503020204020204" pitchFamily="34" charset="-122"/>
                <a:ea typeface="微软雅黑" panose="020B0503020204020204" pitchFamily="34" charset="-122"/>
                <a:cs typeface="+mn-ea"/>
              </a:rPr>
              <a:t>Ours，</a:t>
            </a:r>
            <a:r>
              <a:rPr lang="zh-CN" altLang="en-US" sz="1800" dirty="0">
                <a:solidFill>
                  <a:schemeClr val="accent1"/>
                </a:solidFill>
                <a:latin typeface="微软雅黑" panose="020B0503020204020204" pitchFamily="34" charset="-122"/>
                <a:ea typeface="微软雅黑" panose="020B0503020204020204" pitchFamily="34" charset="-122"/>
                <a:cs typeface="+mn-ea"/>
              </a:rPr>
              <a:t>等同于 </a:t>
            </a:r>
            <a:r>
              <a:rPr lang="en-US" altLang="zh-CN" sz="1800" dirty="0">
                <a:solidFill>
                  <a:schemeClr val="accent1"/>
                </a:solidFill>
                <a:latin typeface="微软雅黑" panose="020B0503020204020204" pitchFamily="34" charset="-122"/>
                <a:ea typeface="微软雅黑" panose="020B0503020204020204" pitchFamily="34" charset="-122"/>
                <a:cs typeface="+mn-ea"/>
              </a:rPr>
              <a:t>StreamingLLM (3) </a:t>
            </a:r>
            <a:r>
              <a:rPr lang="zh-CN" altLang="en-US" sz="1800" dirty="0">
                <a:solidFill>
                  <a:schemeClr val="accent1"/>
                </a:solidFill>
                <a:latin typeface="微软雅黑" panose="020B0503020204020204" pitchFamily="34" charset="-122"/>
                <a:ea typeface="微软雅黑" panose="020B0503020204020204" pitchFamily="34" charset="-122"/>
                <a:cs typeface="+mn-ea"/>
              </a:rPr>
              <a:t>仅块稀疏的 </a:t>
            </a:r>
            <a:r>
              <a:rPr lang="en-US" altLang="zh-CN" sz="1800" dirty="0">
                <a:solidFill>
                  <a:schemeClr val="accent1"/>
                </a:solidFill>
                <a:latin typeface="微软雅黑" panose="020B0503020204020204" pitchFamily="34" charset="-122"/>
                <a:ea typeface="微软雅黑" panose="020B0503020204020204" pitchFamily="34" charset="-122"/>
                <a:cs typeface="+mn-ea"/>
              </a:rPr>
              <a:t>Ours </a:t>
            </a:r>
            <a:r>
              <a:rPr lang="zh-CN" altLang="en-US" sz="1800" dirty="0">
                <a:solidFill>
                  <a:schemeClr val="accent1"/>
                </a:solidFill>
                <a:latin typeface="微软雅黑" panose="020B0503020204020204" pitchFamily="34" charset="-122"/>
                <a:ea typeface="微软雅黑" panose="020B0503020204020204" pitchFamily="34" charset="-122"/>
                <a:cs typeface="+mn-ea"/>
              </a:rPr>
              <a:t>(4) 仅垂直-斜线的 </a:t>
            </a:r>
            <a:r>
              <a:rPr lang="en-US" altLang="zh-CN" sz="1800" dirty="0">
                <a:solidFill>
                  <a:schemeClr val="accent1"/>
                </a:solidFill>
                <a:latin typeface="微软雅黑" panose="020B0503020204020204" pitchFamily="34" charset="-122"/>
                <a:ea typeface="微软雅黑" panose="020B0503020204020204" pitchFamily="34" charset="-122"/>
                <a:cs typeface="+mn-ea"/>
              </a:rPr>
              <a:t>Ours </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使用静态索引会显著降低大语言模型性能，尤其是在高度动态的任务（如 </a:t>
            </a:r>
            <a:r>
              <a:rPr lang="en-US" altLang="zh-CN" sz="1800" dirty="0">
                <a:solidFill>
                  <a:schemeClr val="accent1"/>
                </a:solidFill>
                <a:latin typeface="微软雅黑" panose="020B0503020204020204" pitchFamily="34" charset="-122"/>
                <a:ea typeface="微软雅黑" panose="020B0503020204020204" pitchFamily="34" charset="-122"/>
                <a:cs typeface="+mn-ea"/>
              </a:rPr>
              <a:t>KV </a:t>
            </a:r>
            <a:r>
              <a:rPr lang="zh-CN" altLang="en-US" sz="1800" dirty="0">
                <a:solidFill>
                  <a:schemeClr val="accent1"/>
                </a:solidFill>
                <a:latin typeface="微软雅黑" panose="020B0503020204020204" pitchFamily="34" charset="-122"/>
                <a:ea typeface="微软雅黑" panose="020B0503020204020204" pitchFamily="34" charset="-122"/>
                <a:cs typeface="+mn-ea"/>
              </a:rPr>
              <a:t>检索）中，准确性几乎降至零</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此外，从三种模式中移除任何一种都会导致不同程度的性能下降。“仅垂直-斜线”由于其在动态性和 </a:t>
            </a:r>
            <a:r>
              <a:rPr lang="en-US" altLang="zh-CN" sz="1800" dirty="0">
                <a:solidFill>
                  <a:schemeClr val="accent1"/>
                </a:solidFill>
                <a:latin typeface="微软雅黑" panose="020B0503020204020204" pitchFamily="34" charset="-122"/>
                <a:ea typeface="微软雅黑" panose="020B0503020204020204" pitchFamily="34" charset="-122"/>
                <a:cs typeface="+mn-ea"/>
              </a:rPr>
              <a:t>StreamingLLM </a:t>
            </a:r>
            <a:r>
              <a:rPr lang="zh-CN" altLang="en-US" sz="1800" dirty="0">
                <a:solidFill>
                  <a:schemeClr val="accent1"/>
                </a:solidFill>
                <a:latin typeface="微软雅黑" panose="020B0503020204020204" pitchFamily="34" charset="-122"/>
                <a:ea typeface="微软雅黑" panose="020B0503020204020204" pitchFamily="34" charset="-122"/>
                <a:cs typeface="+mn-ea"/>
              </a:rPr>
              <a:t>模式之间取得了平衡，保留了大部分性能，但仍不及我们方法的完整版本</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697865" y="1052830"/>
            <a:ext cx="11177270" cy="1962150"/>
          </a:xfrm>
          <a:prstGeom prst="rect">
            <a:avLst/>
          </a:prstGeom>
        </p:spPr>
      </p:pic>
      <p:pic>
        <p:nvPicPr>
          <p:cNvPr id="3" name="图片 2"/>
          <p:cNvPicPr>
            <a:picLocks noChangeAspect="1"/>
          </p:cNvPicPr>
          <p:nvPr/>
        </p:nvPicPr>
        <p:blipFill>
          <a:blip r:embed="rId2"/>
          <a:stretch>
            <a:fillRect/>
          </a:stretch>
        </p:blipFill>
        <p:spPr>
          <a:xfrm>
            <a:off x="880110" y="2925445"/>
            <a:ext cx="10830560" cy="289560"/>
          </a:xfrm>
          <a:prstGeom prst="rect">
            <a:avLst/>
          </a:prstGeom>
        </p:spPr>
      </p:pic>
      <p:pic>
        <p:nvPicPr>
          <p:cNvPr id="7" name="图片 6"/>
          <p:cNvPicPr>
            <a:picLocks noChangeAspect="1"/>
          </p:cNvPicPr>
          <p:nvPr/>
        </p:nvPicPr>
        <p:blipFill>
          <a:blip r:embed="rId3"/>
          <a:stretch>
            <a:fillRect/>
          </a:stretch>
        </p:blipFill>
        <p:spPr>
          <a:xfrm>
            <a:off x="985520" y="3244850"/>
            <a:ext cx="10530840" cy="25971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pic>
        <p:nvPicPr>
          <p:cNvPr id="5" name="图片 4"/>
          <p:cNvPicPr>
            <a:picLocks noChangeAspect="1"/>
          </p:cNvPicPr>
          <p:nvPr/>
        </p:nvPicPr>
        <p:blipFill>
          <a:blip r:embed="rId1"/>
          <a:stretch>
            <a:fillRect/>
          </a:stretch>
        </p:blipFill>
        <p:spPr>
          <a:xfrm>
            <a:off x="2858135" y="836930"/>
            <a:ext cx="6271895" cy="3719830"/>
          </a:xfrm>
          <a:prstGeom prst="rect">
            <a:avLst/>
          </a:prstGeom>
        </p:spPr>
      </p:pic>
      <p:sp>
        <p:nvSpPr>
          <p:cNvPr id="8" name="文本框 7"/>
          <p:cNvSpPr txBox="1"/>
          <p:nvPr/>
        </p:nvSpPr>
        <p:spPr>
          <a:xfrm>
            <a:off x="553720" y="4797425"/>
            <a:ext cx="10271125" cy="133794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 MInference 在单张 A100 上不同上下文窗口下的延迟。在 100K、300K、500K 和 100 万</a:t>
            </a:r>
            <a:r>
              <a:rPr lang="en-US" altLang="zh-CN" sz="1800" dirty="0">
                <a:solidFill>
                  <a:schemeClr val="accent1"/>
                </a:solidFill>
                <a:latin typeface="微软雅黑" panose="020B0503020204020204" pitchFamily="34" charset="-122"/>
                <a:ea typeface="微软雅黑" panose="020B0503020204020204" pitchFamily="34" charset="-122"/>
                <a:cs typeface="+mn-ea"/>
              </a:rPr>
              <a:t> token</a:t>
            </a:r>
            <a:r>
              <a:rPr lang="zh-CN" altLang="en-US" sz="1800" dirty="0">
                <a:solidFill>
                  <a:schemeClr val="accent1"/>
                </a:solidFill>
                <a:latin typeface="微软雅黑" panose="020B0503020204020204" pitchFamily="34" charset="-122"/>
                <a:ea typeface="微软雅黑" panose="020B0503020204020204" pitchFamily="34" charset="-122"/>
                <a:cs typeface="+mn-ea"/>
              </a:rPr>
              <a:t>时，我们的方法分别实现了 1.8 倍、4.1 倍、6.8 倍和 10 倍的加速</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8" name="文本框 7"/>
          <p:cNvSpPr txBox="1"/>
          <p:nvPr/>
        </p:nvSpPr>
        <p:spPr>
          <a:xfrm>
            <a:off x="697865" y="3285490"/>
            <a:ext cx="10271125" cy="92202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我们还将 </a:t>
            </a:r>
            <a:r>
              <a:rPr lang="en-US" altLang="zh-CN" sz="1800" dirty="0">
                <a:solidFill>
                  <a:schemeClr val="accent1"/>
                </a:solidFill>
                <a:latin typeface="微软雅黑" panose="020B0503020204020204" pitchFamily="34" charset="-122"/>
                <a:ea typeface="微软雅黑" panose="020B0503020204020204" pitchFamily="34" charset="-122"/>
                <a:cs typeface="+mn-ea"/>
              </a:rPr>
              <a:t>MInference </a:t>
            </a:r>
            <a:r>
              <a:rPr lang="zh-CN" altLang="en-US" sz="1800" dirty="0">
                <a:solidFill>
                  <a:schemeClr val="accent1"/>
                </a:solidFill>
                <a:latin typeface="微软雅黑" panose="020B0503020204020204" pitchFamily="34" charset="-122"/>
                <a:ea typeface="微软雅黑" panose="020B0503020204020204" pitchFamily="34" charset="-122"/>
                <a:cs typeface="+mn-ea"/>
              </a:rPr>
              <a:t>与最先进的 </a:t>
            </a:r>
            <a:r>
              <a:rPr lang="en-US" altLang="zh-CN" sz="1800" dirty="0">
                <a:solidFill>
                  <a:schemeClr val="accent1"/>
                </a:solidFill>
                <a:latin typeface="微软雅黑" panose="020B0503020204020204" pitchFamily="34" charset="-122"/>
                <a:ea typeface="微软雅黑" panose="020B0503020204020204" pitchFamily="34" charset="-122"/>
                <a:cs typeface="+mn-ea"/>
              </a:rPr>
              <a:t>KV </a:t>
            </a:r>
            <a:r>
              <a:rPr lang="zh-CN" altLang="en-US" sz="1800" dirty="0">
                <a:solidFill>
                  <a:schemeClr val="accent1"/>
                </a:solidFill>
                <a:latin typeface="微软雅黑" panose="020B0503020204020204" pitchFamily="34" charset="-122"/>
                <a:ea typeface="微软雅黑" panose="020B0503020204020204" pitchFamily="34" charset="-122"/>
                <a:cs typeface="+mn-ea"/>
              </a:rPr>
              <a:t>缓存压缩方法 </a:t>
            </a:r>
            <a:r>
              <a:rPr lang="en-US" altLang="zh-CN" sz="1800" dirty="0">
                <a:solidFill>
                  <a:schemeClr val="accent1"/>
                </a:solidFill>
                <a:latin typeface="微软雅黑" panose="020B0503020204020204" pitchFamily="34" charset="-122"/>
                <a:ea typeface="微软雅黑" panose="020B0503020204020204" pitchFamily="34" charset="-122"/>
                <a:cs typeface="+mn-ea"/>
              </a:rPr>
              <a:t>SnapKV </a:t>
            </a:r>
            <a:r>
              <a:rPr lang="zh-CN" altLang="en-US" sz="1800" dirty="0">
                <a:solidFill>
                  <a:schemeClr val="accent1"/>
                </a:solidFill>
                <a:latin typeface="微软雅黑" panose="020B0503020204020204" pitchFamily="34" charset="-122"/>
                <a:ea typeface="微软雅黑" panose="020B0503020204020204" pitchFamily="34" charset="-122"/>
                <a:cs typeface="+mn-ea"/>
              </a:rPr>
              <a:t>结合，证明了我们的方法与 </a:t>
            </a:r>
            <a:r>
              <a:rPr lang="en-US" altLang="zh-CN" sz="1800" dirty="0">
                <a:solidFill>
                  <a:schemeClr val="accent1"/>
                </a:solidFill>
                <a:latin typeface="微软雅黑" panose="020B0503020204020204" pitchFamily="34" charset="-122"/>
                <a:ea typeface="微软雅黑" panose="020B0503020204020204" pitchFamily="34" charset="-122"/>
                <a:cs typeface="+mn-ea"/>
              </a:rPr>
              <a:t>KV </a:t>
            </a:r>
            <a:r>
              <a:rPr lang="zh-CN" altLang="en-US" sz="1800" dirty="0">
                <a:solidFill>
                  <a:schemeClr val="accent1"/>
                </a:solidFill>
                <a:latin typeface="微软雅黑" panose="020B0503020204020204" pitchFamily="34" charset="-122"/>
                <a:ea typeface="微软雅黑" panose="020B0503020204020204" pitchFamily="34" charset="-122"/>
                <a:cs typeface="+mn-ea"/>
              </a:rPr>
              <a:t>缓存压缩技术兼容。对于大多数任务，性能几乎保持不变，平均分数甚至略有增加</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481330" y="1268730"/>
            <a:ext cx="11626850" cy="184277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8" name="文本框 7"/>
          <p:cNvSpPr txBox="1"/>
          <p:nvPr/>
        </p:nvSpPr>
        <p:spPr>
          <a:xfrm>
            <a:off x="697865" y="3285490"/>
            <a:ext cx="10271125" cy="133794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在更大的大语言模型</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 </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LLaMA3-70B-1M</a:t>
            </a:r>
            <a:r>
              <a:rPr lang="zh-CN" altLang="en-US" sz="1800" dirty="0">
                <a:solidFill>
                  <a:schemeClr val="accent1"/>
                </a:solidFill>
                <a:latin typeface="微软雅黑" panose="020B0503020204020204" pitchFamily="34" charset="-122"/>
                <a:ea typeface="微软雅黑" panose="020B0503020204020204" pitchFamily="34" charset="-122"/>
                <a:cs typeface="+mn-ea"/>
              </a:rPr>
              <a:t>上评估了 </a:t>
            </a:r>
            <a:r>
              <a:rPr lang="en-US" altLang="zh-CN" sz="1800" dirty="0">
                <a:solidFill>
                  <a:schemeClr val="accent1"/>
                </a:solidFill>
                <a:latin typeface="微软雅黑" panose="020B0503020204020204" pitchFamily="34" charset="-122"/>
                <a:ea typeface="微软雅黑" panose="020B0503020204020204" pitchFamily="34" charset="-122"/>
                <a:cs typeface="+mn-ea"/>
              </a:rPr>
              <a:t>MInference，</a:t>
            </a:r>
            <a:r>
              <a:rPr lang="zh-CN" altLang="en-US" sz="1800" dirty="0">
                <a:solidFill>
                  <a:schemeClr val="accent1"/>
                </a:solidFill>
                <a:latin typeface="微软雅黑" panose="020B0503020204020204" pitchFamily="34" charset="-122"/>
                <a:ea typeface="微软雅黑" panose="020B0503020204020204" pitchFamily="34" charset="-122"/>
                <a:cs typeface="+mn-ea"/>
              </a:rPr>
              <a:t>也保持了很强的性能。值得注意的是，在动态任务（如 </a:t>
            </a:r>
            <a:r>
              <a:rPr lang="en-US" altLang="zh-CN" sz="1800" dirty="0">
                <a:solidFill>
                  <a:schemeClr val="accent1"/>
                </a:solidFill>
                <a:latin typeface="微软雅黑" panose="020B0503020204020204" pitchFamily="34" charset="-122"/>
                <a:ea typeface="微软雅黑" panose="020B0503020204020204" pitchFamily="34" charset="-122"/>
                <a:cs typeface="+mn-ea"/>
              </a:rPr>
              <a:t>KV </a:t>
            </a:r>
            <a:r>
              <a:rPr lang="zh-CN" altLang="en-US" sz="1800" dirty="0">
                <a:solidFill>
                  <a:schemeClr val="accent1"/>
                </a:solidFill>
                <a:latin typeface="微软雅黑" panose="020B0503020204020204" pitchFamily="34" charset="-122"/>
                <a:ea typeface="微软雅黑" panose="020B0503020204020204" pitchFamily="34" charset="-122"/>
                <a:cs typeface="+mn-ea"/>
              </a:rPr>
              <a:t>检索）中，</a:t>
            </a:r>
            <a:r>
              <a:rPr lang="en-US" altLang="zh-CN" sz="1800" dirty="0">
                <a:solidFill>
                  <a:schemeClr val="accent1"/>
                </a:solidFill>
                <a:latin typeface="微软雅黑" panose="020B0503020204020204" pitchFamily="34" charset="-122"/>
                <a:ea typeface="微软雅黑" panose="020B0503020204020204" pitchFamily="34" charset="-122"/>
                <a:cs typeface="+mn-ea"/>
              </a:rPr>
              <a:t>MInference </a:t>
            </a:r>
            <a:r>
              <a:rPr lang="zh-CN" altLang="en-US" sz="1800" dirty="0">
                <a:solidFill>
                  <a:schemeClr val="accent1"/>
                </a:solidFill>
                <a:latin typeface="微软雅黑" panose="020B0503020204020204" pitchFamily="34" charset="-122"/>
                <a:ea typeface="微软雅黑" panose="020B0503020204020204" pitchFamily="34" charset="-122"/>
                <a:cs typeface="+mn-ea"/>
              </a:rPr>
              <a:t>的性能可以与全注意力相当甚至略有提升。相比之下，像 </a:t>
            </a:r>
            <a:r>
              <a:rPr lang="en-US" altLang="zh-CN" sz="1800" dirty="0">
                <a:solidFill>
                  <a:schemeClr val="accent1"/>
                </a:solidFill>
                <a:latin typeface="微软雅黑" panose="020B0503020204020204" pitchFamily="34" charset="-122"/>
                <a:ea typeface="微软雅黑" panose="020B0503020204020204" pitchFamily="34" charset="-122"/>
                <a:cs typeface="+mn-ea"/>
              </a:rPr>
              <a:t>InfLLM </a:t>
            </a:r>
            <a:r>
              <a:rPr lang="zh-CN" altLang="en-US" sz="1800" dirty="0">
                <a:solidFill>
                  <a:schemeClr val="accent1"/>
                </a:solidFill>
                <a:latin typeface="微软雅黑" panose="020B0503020204020204" pitchFamily="34" charset="-122"/>
                <a:ea typeface="微软雅黑" panose="020B0503020204020204" pitchFamily="34" charset="-122"/>
                <a:cs typeface="+mn-ea"/>
              </a:rPr>
              <a:t>这样的基线通常在 </a:t>
            </a:r>
            <a:r>
              <a:rPr lang="en-US" altLang="zh-CN" sz="1800" dirty="0">
                <a:solidFill>
                  <a:schemeClr val="accent1"/>
                </a:solidFill>
                <a:latin typeface="微软雅黑" panose="020B0503020204020204" pitchFamily="34" charset="-122"/>
                <a:ea typeface="微软雅黑" panose="020B0503020204020204" pitchFamily="34" charset="-122"/>
                <a:cs typeface="+mn-ea"/>
              </a:rPr>
              <a:t>KV </a:t>
            </a:r>
            <a:r>
              <a:rPr lang="zh-CN" altLang="en-US" sz="1800" dirty="0">
                <a:solidFill>
                  <a:schemeClr val="accent1"/>
                </a:solidFill>
                <a:latin typeface="微软雅黑" panose="020B0503020204020204" pitchFamily="34" charset="-122"/>
                <a:ea typeface="微软雅黑" panose="020B0503020204020204" pitchFamily="34" charset="-122"/>
                <a:cs typeface="+mn-ea"/>
              </a:rPr>
              <a:t>检索等任务上表现不佳</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901700" y="1196340"/>
            <a:ext cx="10242550" cy="174244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不足之处</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35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5844" name="Freeform 10"/>
          <p:cNvSpPr/>
          <p:nvPr>
            <p:custDataLst>
              <p:tags r:id="rId1"/>
            </p:custDataLst>
          </p:nvPr>
        </p:nvSpPr>
        <p:spPr>
          <a:xfrm>
            <a:off x="1227138" y="1060450"/>
            <a:ext cx="4154487"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45" name="Freeform 11"/>
          <p:cNvSpPr/>
          <p:nvPr>
            <p:custDataLst>
              <p:tags r:id="rId2"/>
            </p:custDataLst>
          </p:nvPr>
        </p:nvSpPr>
        <p:spPr>
          <a:xfrm>
            <a:off x="1112838"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46" name="Freeform 12"/>
          <p:cNvSpPr/>
          <p:nvPr>
            <p:custDataLst>
              <p:tags r:id="rId3"/>
            </p:custDataLst>
          </p:nvPr>
        </p:nvSpPr>
        <p:spPr>
          <a:xfrm>
            <a:off x="1112838"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48" name="TextBox 7"/>
          <p:cNvSpPr txBox="1"/>
          <p:nvPr>
            <p:custDataLst>
              <p:tags r:id="rId4"/>
            </p:custDataLst>
          </p:nvPr>
        </p:nvSpPr>
        <p:spPr>
          <a:xfrm>
            <a:off x="1412875" y="1997075"/>
            <a:ext cx="3433763" cy="2999740"/>
          </a:xfrm>
          <a:prstGeom prst="rect">
            <a:avLst/>
          </a:prstGeom>
          <a:noFill/>
          <a:ln w="9525">
            <a:noFill/>
          </a:ln>
        </p:spPr>
        <p:txBody>
          <a:bodyPr anchor="t">
            <a:spAutoFit/>
          </a:bodyPr>
          <a:lstStyle/>
          <a:p>
            <a:pPr algn="just">
              <a:lnSpc>
                <a:spcPct val="150000"/>
              </a:lnSpc>
            </a:pPr>
            <a:r>
              <a:rPr lang="zh-CN" altLang="en-US" sz="1800" dirty="0" smtClean="0">
                <a:solidFill>
                  <a:schemeClr val="accent1"/>
                </a:solidFill>
                <a:latin typeface="微软雅黑" panose="020B0503020204020204" pitchFamily="34" charset="-122"/>
                <a:ea typeface="微软雅黑" panose="020B0503020204020204" pitchFamily="34" charset="-122"/>
              </a:rPr>
              <a:t>随着上下文长度缩短，动态索引构建的时间占比会显著上升。当上下文只有 10</a:t>
            </a:r>
            <a:r>
              <a:rPr lang="en-US" altLang="zh-CN" sz="1800" dirty="0" smtClean="0">
                <a:solidFill>
                  <a:schemeClr val="accent1"/>
                </a:solidFill>
                <a:latin typeface="微软雅黑" panose="020B0503020204020204" pitchFamily="34" charset="-122"/>
                <a:ea typeface="微软雅黑" panose="020B0503020204020204" pitchFamily="34" charset="-122"/>
              </a:rPr>
              <a:t>K token </a:t>
            </a:r>
            <a:r>
              <a:rPr lang="zh-CN" altLang="en-US" sz="1800" dirty="0" smtClean="0">
                <a:solidFill>
                  <a:schemeClr val="accent1"/>
                </a:solidFill>
                <a:latin typeface="微软雅黑" panose="020B0503020204020204" pitchFamily="34" charset="-122"/>
                <a:ea typeface="微软雅黑" panose="020B0503020204020204" pitchFamily="34" charset="-122"/>
              </a:rPr>
              <a:t>左右时，构建索引的开销从长序列时的 5% 上升到 30%，导致端到端延迟与 </a:t>
            </a:r>
            <a:r>
              <a:rPr lang="en-US" altLang="zh-CN" sz="1800" dirty="0" smtClean="0">
                <a:solidFill>
                  <a:schemeClr val="accent1"/>
                </a:solidFill>
                <a:latin typeface="微软雅黑" panose="020B0503020204020204" pitchFamily="34" charset="-122"/>
                <a:ea typeface="微软雅黑" panose="020B0503020204020204" pitchFamily="34" charset="-122"/>
              </a:rPr>
              <a:t>FlashAttention </a:t>
            </a:r>
            <a:r>
              <a:rPr lang="zh-CN" altLang="en-US" sz="1800" dirty="0" smtClean="0">
                <a:solidFill>
                  <a:schemeClr val="accent1"/>
                </a:solidFill>
                <a:latin typeface="微软雅黑" panose="020B0503020204020204" pitchFamily="34" charset="-122"/>
                <a:ea typeface="微软雅黑" panose="020B0503020204020204" pitchFamily="34" charset="-122"/>
              </a:rPr>
              <a:t>接近，加速效果不明显</a:t>
            </a:r>
            <a:endParaRPr lang="zh-CN" altLang="en-US" sz="1800" dirty="0" smtClean="0">
              <a:solidFill>
                <a:schemeClr val="accent1"/>
              </a:solidFill>
              <a:latin typeface="微软雅黑" panose="020B0503020204020204" pitchFamily="34" charset="-122"/>
              <a:ea typeface="微软雅黑" panose="020B0503020204020204" pitchFamily="34" charset="-122"/>
            </a:endParaRPr>
          </a:p>
        </p:txBody>
      </p:sp>
      <p:sp>
        <p:nvSpPr>
          <p:cNvPr id="35849" name="Freeform 10"/>
          <p:cNvSpPr/>
          <p:nvPr>
            <p:custDataLst>
              <p:tags r:id="rId5"/>
            </p:custDataLst>
          </p:nvPr>
        </p:nvSpPr>
        <p:spPr>
          <a:xfrm>
            <a:off x="6045200" y="1060450"/>
            <a:ext cx="4154488"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50" name="Freeform 11"/>
          <p:cNvSpPr/>
          <p:nvPr>
            <p:custDataLst>
              <p:tags r:id="rId6"/>
            </p:custDataLst>
          </p:nvPr>
        </p:nvSpPr>
        <p:spPr>
          <a:xfrm>
            <a:off x="5930900"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51" name="Freeform 12"/>
          <p:cNvSpPr/>
          <p:nvPr>
            <p:custDataLst>
              <p:tags r:id="rId7"/>
            </p:custDataLst>
          </p:nvPr>
        </p:nvSpPr>
        <p:spPr>
          <a:xfrm>
            <a:off x="5930900"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53" name="TextBox 13"/>
          <p:cNvSpPr txBox="1"/>
          <p:nvPr>
            <p:custDataLst>
              <p:tags r:id="rId8"/>
            </p:custDataLst>
          </p:nvPr>
        </p:nvSpPr>
        <p:spPr>
          <a:xfrm>
            <a:off x="6196013" y="1997075"/>
            <a:ext cx="3432175" cy="2584450"/>
          </a:xfrm>
          <a:prstGeom prst="rect">
            <a:avLst/>
          </a:prstGeom>
          <a:noFill/>
          <a:ln w="9525">
            <a:noFill/>
          </a:ln>
        </p:spPr>
        <p:txBody>
          <a:bodyPr anchor="t">
            <a:spAutoFit/>
          </a:bodyPr>
          <a:lstStyle/>
          <a:p>
            <a:pPr algn="just">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rPr>
              <a:t>如果为了追求更高的加速比而使用更高的稀疏率（比如进一步减少保留的 </a:t>
            </a:r>
            <a:r>
              <a:rPr lang="en-US" altLang="zh-CN" sz="1800" dirty="0">
                <a:solidFill>
                  <a:schemeClr val="accent1"/>
                </a:solidFill>
                <a:latin typeface="微软雅黑" panose="020B0503020204020204" pitchFamily="34" charset="-122"/>
                <a:ea typeface="微软雅黑" panose="020B0503020204020204" pitchFamily="34" charset="-122"/>
              </a:rPr>
              <a:t>token </a:t>
            </a:r>
            <a:r>
              <a:rPr lang="zh-CN" altLang="en-US" sz="1800" dirty="0">
                <a:solidFill>
                  <a:schemeClr val="accent1"/>
                </a:solidFill>
                <a:latin typeface="微软雅黑" panose="020B0503020204020204" pitchFamily="34" charset="-122"/>
                <a:ea typeface="微软雅黑" panose="020B0503020204020204" pitchFamily="34" charset="-122"/>
              </a:rPr>
              <a:t>或块数量），模型性能就会出现明显退化。这表明无法同时让加速比和稀疏率都达到最优</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par>
                          <p:cTn id="19" fill="hold">
                            <p:stCondLst>
                              <p:cond delay="819"/>
                            </p:stCondLst>
                            <p:childTnLst>
                              <p:par>
                                <p:cTn id="20" presetID="22" presetClass="entr" presetSubtype="4"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wipe(down)">
                                      <p:cBhvr>
                                        <p:cTn id="22" dur="500"/>
                                        <p:tgtEl>
                                          <p:spTgt spid="35844"/>
                                        </p:tgtEl>
                                      </p:cBhvr>
                                    </p:animEffect>
                                  </p:childTnLst>
                                </p:cTn>
                              </p:par>
                            </p:childTnLst>
                          </p:cTn>
                        </p:par>
                        <p:par>
                          <p:cTn id="23" fill="hold">
                            <p:stCondLst>
                              <p:cond delay="1319"/>
                            </p:stCondLst>
                            <p:childTnLst>
                              <p:par>
                                <p:cTn id="24" presetID="22" presetClass="entr" presetSubtype="2" fill="hold" nodeType="afterEffect">
                                  <p:stCondLst>
                                    <p:cond delay="0"/>
                                  </p:stCondLst>
                                  <p:childTnLst>
                                    <p:set>
                                      <p:cBhvr>
                                        <p:cTn id="25" dur="1" fill="hold">
                                          <p:stCondLst>
                                            <p:cond delay="0"/>
                                          </p:stCondLst>
                                        </p:cTn>
                                        <p:tgtEl>
                                          <p:spTgt spid="35845"/>
                                        </p:tgtEl>
                                        <p:attrNameLst>
                                          <p:attrName>style.visibility</p:attrName>
                                        </p:attrNameLst>
                                      </p:cBhvr>
                                      <p:to>
                                        <p:strVal val="visible"/>
                                      </p:to>
                                    </p:set>
                                    <p:animEffect transition="in" filter="wipe(right)">
                                      <p:cBhvr>
                                        <p:cTn id="26" dur="300"/>
                                        <p:tgtEl>
                                          <p:spTgt spid="35845"/>
                                        </p:tgtEl>
                                      </p:cBhvr>
                                    </p:animEffect>
                                  </p:childTnLst>
                                </p:cTn>
                              </p:par>
                            </p:childTnLst>
                          </p:cTn>
                        </p:par>
                        <p:par>
                          <p:cTn id="27" fill="hold">
                            <p:stCondLst>
                              <p:cond delay="1819"/>
                            </p:stCondLst>
                            <p:childTnLst>
                              <p:par>
                                <p:cTn id="28" presetID="22" presetClass="entr" presetSubtype="8" fill="hold" nodeType="after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par>
                          <p:cTn id="31" fill="hold">
                            <p:stCondLst>
                              <p:cond delay="2319"/>
                            </p:stCondLst>
                            <p:childTnLst>
                              <p:par>
                                <p:cTn id="32" presetID="22" presetClass="entr" presetSubtype="1" fill="hold" grpId="0" nodeType="afterEffect">
                                  <p:stCondLst>
                                    <p:cond delay="0"/>
                                  </p:stCondLst>
                                  <p:childTnLst>
                                    <p:set>
                                      <p:cBhvr>
                                        <p:cTn id="33" dur="1" fill="hold">
                                          <p:stCondLst>
                                            <p:cond delay="0"/>
                                          </p:stCondLst>
                                        </p:cTn>
                                        <p:tgtEl>
                                          <p:spTgt spid="35848"/>
                                        </p:tgtEl>
                                        <p:attrNameLst>
                                          <p:attrName>style.visibility</p:attrName>
                                        </p:attrNameLst>
                                      </p:cBhvr>
                                      <p:to>
                                        <p:strVal val="visible"/>
                                      </p:to>
                                    </p:set>
                                    <p:animEffect transition="in" filter="wipe(up)">
                                      <p:cBhvr>
                                        <p:cTn id="34" dur="500"/>
                                        <p:tgtEl>
                                          <p:spTgt spid="35848"/>
                                        </p:tgtEl>
                                      </p:cBhvr>
                                    </p:animEffect>
                                  </p:childTnLst>
                                </p:cTn>
                              </p:par>
                            </p:childTnLst>
                          </p:cTn>
                        </p:par>
                        <p:par>
                          <p:cTn id="35" fill="hold">
                            <p:stCondLst>
                              <p:cond delay="2819"/>
                            </p:stCondLst>
                            <p:childTnLst>
                              <p:par>
                                <p:cTn id="36" presetID="22" presetClass="entr" presetSubtype="4" fill="hold" nodeType="afterEffect">
                                  <p:stCondLst>
                                    <p:cond delay="0"/>
                                  </p:stCondLst>
                                  <p:childTnLst>
                                    <p:set>
                                      <p:cBhvr>
                                        <p:cTn id="37" dur="1" fill="hold">
                                          <p:stCondLst>
                                            <p:cond delay="0"/>
                                          </p:stCondLst>
                                        </p:cTn>
                                        <p:tgtEl>
                                          <p:spTgt spid="35849"/>
                                        </p:tgtEl>
                                        <p:attrNameLst>
                                          <p:attrName>style.visibility</p:attrName>
                                        </p:attrNameLst>
                                      </p:cBhvr>
                                      <p:to>
                                        <p:strVal val="visible"/>
                                      </p:to>
                                    </p:set>
                                    <p:animEffect transition="in" filter="wipe(down)">
                                      <p:cBhvr>
                                        <p:cTn id="38" dur="500"/>
                                        <p:tgtEl>
                                          <p:spTgt spid="35849"/>
                                        </p:tgtEl>
                                      </p:cBhvr>
                                    </p:animEffect>
                                  </p:childTnLst>
                                </p:cTn>
                              </p:par>
                            </p:childTnLst>
                          </p:cTn>
                        </p:par>
                        <p:par>
                          <p:cTn id="39" fill="hold">
                            <p:stCondLst>
                              <p:cond delay="3319"/>
                            </p:stCondLst>
                            <p:childTnLst>
                              <p:par>
                                <p:cTn id="40" presetID="22" presetClass="entr" presetSubtype="2" fill="hold" nodeType="afterEffect">
                                  <p:stCondLst>
                                    <p:cond delay="0"/>
                                  </p:stCondLst>
                                  <p:childTnLst>
                                    <p:set>
                                      <p:cBhvr>
                                        <p:cTn id="41" dur="1" fill="hold">
                                          <p:stCondLst>
                                            <p:cond delay="0"/>
                                          </p:stCondLst>
                                        </p:cTn>
                                        <p:tgtEl>
                                          <p:spTgt spid="35850"/>
                                        </p:tgtEl>
                                        <p:attrNameLst>
                                          <p:attrName>style.visibility</p:attrName>
                                        </p:attrNameLst>
                                      </p:cBhvr>
                                      <p:to>
                                        <p:strVal val="visible"/>
                                      </p:to>
                                    </p:set>
                                    <p:animEffect transition="in" filter="wipe(right)">
                                      <p:cBhvr>
                                        <p:cTn id="42" dur="300"/>
                                        <p:tgtEl>
                                          <p:spTgt spid="35850"/>
                                        </p:tgtEl>
                                      </p:cBhvr>
                                    </p:animEffect>
                                  </p:childTnLst>
                                </p:cTn>
                              </p:par>
                            </p:childTnLst>
                          </p:cTn>
                        </p:par>
                        <p:par>
                          <p:cTn id="43" fill="hold">
                            <p:stCondLst>
                              <p:cond delay="3819"/>
                            </p:stCondLst>
                            <p:childTnLst>
                              <p:par>
                                <p:cTn id="44" presetID="22" presetClass="entr" presetSubtype="8" fill="hold" nodeType="afterEffect">
                                  <p:stCondLst>
                                    <p:cond delay="0"/>
                                  </p:stCondLst>
                                  <p:childTnLst>
                                    <p:set>
                                      <p:cBhvr>
                                        <p:cTn id="45" dur="1" fill="hold">
                                          <p:stCondLst>
                                            <p:cond delay="0"/>
                                          </p:stCondLst>
                                        </p:cTn>
                                        <p:tgtEl>
                                          <p:spTgt spid="35851"/>
                                        </p:tgtEl>
                                        <p:attrNameLst>
                                          <p:attrName>style.visibility</p:attrName>
                                        </p:attrNameLst>
                                      </p:cBhvr>
                                      <p:to>
                                        <p:strVal val="visible"/>
                                      </p:to>
                                    </p:set>
                                    <p:animEffect transition="in" filter="wipe(left)">
                                      <p:cBhvr>
                                        <p:cTn id="46" dur="500"/>
                                        <p:tgtEl>
                                          <p:spTgt spid="35851"/>
                                        </p:tgtEl>
                                      </p:cBhvr>
                                    </p:animEffect>
                                  </p:childTnLst>
                                </p:cTn>
                              </p:par>
                            </p:childTnLst>
                          </p:cTn>
                        </p:par>
                        <p:par>
                          <p:cTn id="47" fill="hold">
                            <p:stCondLst>
                              <p:cond delay="4319"/>
                            </p:stCondLst>
                            <p:childTnLst>
                              <p:par>
                                <p:cTn id="48" presetID="22" presetClass="entr" presetSubtype="1" fill="hold" grpId="0" nodeType="afterEffect">
                                  <p:stCondLst>
                                    <p:cond delay="0"/>
                                  </p:stCondLst>
                                  <p:childTnLst>
                                    <p:set>
                                      <p:cBhvr>
                                        <p:cTn id="49" dur="1" fill="hold">
                                          <p:stCondLst>
                                            <p:cond delay="0"/>
                                          </p:stCondLst>
                                        </p:cTn>
                                        <p:tgtEl>
                                          <p:spTgt spid="35853"/>
                                        </p:tgtEl>
                                        <p:attrNameLst>
                                          <p:attrName>style.visibility</p:attrName>
                                        </p:attrNameLst>
                                      </p:cBhvr>
                                      <p:to>
                                        <p:strVal val="visible"/>
                                      </p:to>
                                    </p:set>
                                    <p:animEffect transition="in" filter="wipe(up)">
                                      <p:cBhvr>
                                        <p:cTn id="50" dur="5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8" grpId="0"/>
      <p:bldP spid="35853"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30722" name="Oval 5"/>
          <p:cNvSpPr/>
          <p:nvPr/>
        </p:nvSpPr>
        <p:spPr>
          <a:xfrm>
            <a:off x="4062413" y="627063"/>
            <a:ext cx="4141787" cy="4144962"/>
          </a:xfrm>
          <a:prstGeom prst="ellipse">
            <a:avLst/>
          </a:prstGeom>
          <a:solidFill>
            <a:srgbClr val="FFFFFF"/>
          </a:solidFill>
          <a:ln w="9525">
            <a:noFill/>
          </a:ln>
        </p:spPr>
        <p:txBody>
          <a:bodyPr anchor="t"/>
          <a:lstStyle/>
          <a:p>
            <a:endParaRPr lang="zh-CN" altLang="en-US" sz="1800" dirty="0">
              <a:solidFill>
                <a:srgbClr val="004C54"/>
              </a:solidFill>
              <a:latin typeface="Arial" panose="020B0604020202020204" pitchFamily="34" charset="0"/>
              <a:ea typeface="宋体" panose="02010600030101010101" pitchFamily="2" charset="-122"/>
            </a:endParaRPr>
          </a:p>
        </p:txBody>
      </p:sp>
      <p:sp>
        <p:nvSpPr>
          <p:cNvPr id="30723"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30724" name="TextBox 77"/>
          <p:cNvSpPr txBox="1"/>
          <p:nvPr/>
        </p:nvSpPr>
        <p:spPr>
          <a:xfrm>
            <a:off x="4602163" y="2852738"/>
            <a:ext cx="3168650" cy="144526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未来发展</a:t>
            </a:r>
            <a:endParaRPr lang="zh-CN" altLang="en-US" sz="4400" b="1" dirty="0">
              <a:solidFill>
                <a:srgbClr val="363636"/>
              </a:solidFill>
              <a:latin typeface="微软雅黑" panose="020B0503020204020204" pitchFamily="34" charset="-122"/>
              <a:ea typeface="微软雅黑" panose="020B0503020204020204" pitchFamily="34" charset="-122"/>
            </a:endParaRPr>
          </a:p>
          <a:p>
            <a:pPr algn="ctr"/>
            <a:r>
              <a:rPr lang="zh-CN" altLang="en-US" sz="4400" b="1" dirty="0">
                <a:solidFill>
                  <a:srgbClr val="363636"/>
                </a:solidFill>
                <a:latin typeface="微软雅黑" panose="020B0503020204020204" pitchFamily="34" charset="-122"/>
                <a:ea typeface="微软雅黑" panose="020B0503020204020204" pitchFamily="34" charset="-122"/>
              </a:rPr>
              <a:t>方向</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30725"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5</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30726" name="Freeform 28"/>
          <p:cNvSpPr>
            <a:spLocks noEditPoints="1"/>
          </p:cNvSpPr>
          <p:nvPr/>
        </p:nvSpPr>
        <p:spPr>
          <a:xfrm>
            <a:off x="5376863" y="850900"/>
            <a:ext cx="1511300" cy="1277938"/>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113E6A"/>
          </a:solidFill>
          <a:ln w="9525">
            <a:noFill/>
          </a:ln>
        </p:spPr>
        <p:txBody>
          <a:bodyPr/>
          <a:lstStyle/>
          <a:p>
            <a:endParaRPr lang="zh-CN" altLang="en-US" sz="1800"/>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heel(1)">
                                      <p:cBhvr>
                                        <p:cTn id="7" dur="2000"/>
                                        <p:tgtEl>
                                          <p:spTgt spid="30722"/>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barn(inVertical)">
                                      <p:cBhvr>
                                        <p:cTn id="11" dur="500"/>
                                        <p:tgtEl>
                                          <p:spTgt spid="30723"/>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wipe(up)">
                                      <p:cBhvr>
                                        <p:cTn id="15" dur="500"/>
                                        <p:tgtEl>
                                          <p:spTgt spid="307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725"/>
                                        </p:tgtEl>
                                        <p:attrNameLst>
                                          <p:attrName>style.visibility</p:attrName>
                                        </p:attrNameLst>
                                      </p:cBhvr>
                                      <p:to>
                                        <p:strVal val="visible"/>
                                      </p:to>
                                    </p:set>
                                    <p:animEffect transition="in" filter="wipe(down)">
                                      <p:cBhvr>
                                        <p:cTn id="18" dur="500"/>
                                        <p:tgtEl>
                                          <p:spTgt spid="30725"/>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30726"/>
                                        </p:tgtEl>
                                        <p:attrNameLst>
                                          <p:attrName>style.visibility</p:attrName>
                                        </p:attrNameLst>
                                      </p:cBhvr>
                                      <p:to>
                                        <p:strVal val="visible"/>
                                      </p:to>
                                    </p:set>
                                    <p:anim calcmode="lin" valueType="num">
                                      <p:cBhvr>
                                        <p:cTn id="22" dur="400" fill="hold"/>
                                        <p:tgtEl>
                                          <p:spTgt spid="30726"/>
                                        </p:tgtEl>
                                        <p:attrNameLst>
                                          <p:attrName>ppt_w</p:attrName>
                                        </p:attrNameLst>
                                      </p:cBhvr>
                                      <p:tavLst>
                                        <p:tav tm="0">
                                          <p:val>
                                            <p:fltVal val="0"/>
                                          </p:val>
                                        </p:tav>
                                        <p:tav tm="100000">
                                          <p:val>
                                            <p:strVal val="#ppt_w"/>
                                          </p:val>
                                        </p:tav>
                                      </p:tavLst>
                                    </p:anim>
                                    <p:anim calcmode="lin" valueType="num">
                                      <p:cBhvr>
                                        <p:cTn id="23" dur="400" fill="hold"/>
                                        <p:tgtEl>
                                          <p:spTgt spid="30726"/>
                                        </p:tgtEl>
                                        <p:attrNameLst>
                                          <p:attrName>ppt_h</p:attrName>
                                        </p:attrNameLst>
                                      </p:cBhvr>
                                      <p:tavLst>
                                        <p:tav tm="0">
                                          <p:val>
                                            <p:fltVal val="0"/>
                                          </p:val>
                                        </p:tav>
                                        <p:tav tm="100000">
                                          <p:val>
                                            <p:strVal val="#ppt_h"/>
                                          </p:val>
                                        </p:tav>
                                      </p:tavLst>
                                    </p:anim>
                                    <p:anim calcmode="lin" valueType="num">
                                      <p:cBhvr>
                                        <p:cTn id="24" dur="400" fill="hold"/>
                                        <p:tgtEl>
                                          <p:spTgt spid="30726"/>
                                        </p:tgtEl>
                                        <p:attrNameLst>
                                          <p:attrName>style.rotation</p:attrName>
                                        </p:attrNameLst>
                                      </p:cBhvr>
                                      <p:tavLst>
                                        <p:tav tm="0">
                                          <p:val>
                                            <p:fltVal val="90"/>
                                          </p:val>
                                        </p:tav>
                                        <p:tav tm="100000">
                                          <p:val>
                                            <p:fltVal val="0"/>
                                          </p:val>
                                        </p:tav>
                                      </p:tavLst>
                                    </p:anim>
                                    <p:animEffect transition="in" filter="fade">
                                      <p:cBhvr>
                                        <p:cTn id="25" dur="400"/>
                                        <p:tgtEl>
                                          <p:spTgt spid="30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ldLvl="0" animBg="1"/>
      <p:bldP spid="30724" grpId="0"/>
      <p:bldP spid="307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p:nvPr/>
        </p:nvSpPr>
        <p:spPr>
          <a:xfrm>
            <a:off x="1012825" y="176213"/>
            <a:ext cx="2468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未来发展方向</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35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5844" name="Freeform 10"/>
          <p:cNvSpPr/>
          <p:nvPr>
            <p:custDataLst>
              <p:tags r:id="rId1"/>
            </p:custDataLst>
          </p:nvPr>
        </p:nvSpPr>
        <p:spPr>
          <a:xfrm>
            <a:off x="1227138" y="1060450"/>
            <a:ext cx="4154487"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45" name="Freeform 11"/>
          <p:cNvSpPr/>
          <p:nvPr>
            <p:custDataLst>
              <p:tags r:id="rId2"/>
            </p:custDataLst>
          </p:nvPr>
        </p:nvSpPr>
        <p:spPr>
          <a:xfrm>
            <a:off x="1112838"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46" name="Freeform 12"/>
          <p:cNvSpPr/>
          <p:nvPr>
            <p:custDataLst>
              <p:tags r:id="rId3"/>
            </p:custDataLst>
          </p:nvPr>
        </p:nvSpPr>
        <p:spPr>
          <a:xfrm>
            <a:off x="1112838"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48" name="TextBox 7"/>
          <p:cNvSpPr txBox="1"/>
          <p:nvPr>
            <p:custDataLst>
              <p:tags r:id="rId4"/>
            </p:custDataLst>
          </p:nvPr>
        </p:nvSpPr>
        <p:spPr>
          <a:xfrm>
            <a:off x="1412875" y="1997075"/>
            <a:ext cx="3433763" cy="2999740"/>
          </a:xfrm>
          <a:prstGeom prst="rect">
            <a:avLst/>
          </a:prstGeom>
          <a:noFill/>
          <a:ln w="9525">
            <a:noFill/>
          </a:ln>
        </p:spPr>
        <p:txBody>
          <a:bodyPr anchor="t">
            <a:spAutoFit/>
          </a:bodyPr>
          <a:lstStyle/>
          <a:p>
            <a:pPr algn="just">
              <a:lnSpc>
                <a:spcPct val="150000"/>
              </a:lnSpc>
            </a:pPr>
            <a:r>
              <a:rPr lang="zh-CN" altLang="en-US" sz="1800" dirty="0" smtClean="0">
                <a:solidFill>
                  <a:schemeClr val="accent1"/>
                </a:solidFill>
                <a:latin typeface="微软雅黑" panose="020B0503020204020204" pitchFamily="34" charset="-122"/>
                <a:ea typeface="微软雅黑" panose="020B0503020204020204" pitchFamily="34" charset="-122"/>
              </a:rPr>
              <a:t>类似的动态稀疏注意力模式（竖斜线、块稀疏等）同样存在于 多模态模型（如 </a:t>
            </a:r>
            <a:r>
              <a:rPr lang="en-US" altLang="zh-CN" sz="1800" dirty="0" smtClean="0">
                <a:solidFill>
                  <a:schemeClr val="accent1"/>
                </a:solidFill>
                <a:latin typeface="微软雅黑" panose="020B0503020204020204" pitchFamily="34" charset="-122"/>
                <a:ea typeface="微软雅黑" panose="020B0503020204020204" pitchFamily="34" charset="-122"/>
              </a:rPr>
              <a:t>LLaVA、InternVL）</a:t>
            </a:r>
            <a:r>
              <a:rPr lang="zh-CN" altLang="en-US" sz="1800" dirty="0" smtClean="0">
                <a:solidFill>
                  <a:schemeClr val="accent1"/>
                </a:solidFill>
                <a:latin typeface="微软雅黑" panose="020B0503020204020204" pitchFamily="34" charset="-122"/>
                <a:ea typeface="微软雅黑" panose="020B0503020204020204" pitchFamily="34" charset="-122"/>
              </a:rPr>
              <a:t>中。因此，将 </a:t>
            </a:r>
            <a:r>
              <a:rPr lang="en-US" altLang="zh-CN" sz="1800" dirty="0" smtClean="0">
                <a:solidFill>
                  <a:schemeClr val="accent1"/>
                </a:solidFill>
                <a:latin typeface="微软雅黑" panose="020B0503020204020204" pitchFamily="34" charset="-122"/>
                <a:ea typeface="微软雅黑" panose="020B0503020204020204" pitchFamily="34" charset="-122"/>
              </a:rPr>
              <a:t>MInference </a:t>
            </a:r>
            <a:r>
              <a:rPr lang="zh-CN" altLang="en-US" sz="1800" dirty="0" smtClean="0">
                <a:solidFill>
                  <a:schemeClr val="accent1"/>
                </a:solidFill>
                <a:latin typeface="微软雅黑" panose="020B0503020204020204" pitchFamily="34" charset="-122"/>
                <a:ea typeface="微软雅黑" panose="020B0503020204020204" pitchFamily="34" charset="-122"/>
              </a:rPr>
              <a:t>应用到图文理解等视觉-语言任务上，是一个很有前景的方向</a:t>
            </a:r>
            <a:endParaRPr lang="zh-CN" altLang="en-US" sz="1800" dirty="0" smtClean="0">
              <a:solidFill>
                <a:schemeClr val="accent1"/>
              </a:solidFill>
              <a:latin typeface="微软雅黑" panose="020B0503020204020204" pitchFamily="34" charset="-122"/>
              <a:ea typeface="微软雅黑" panose="020B0503020204020204" pitchFamily="34" charset="-122"/>
            </a:endParaRPr>
          </a:p>
        </p:txBody>
      </p:sp>
      <p:sp>
        <p:nvSpPr>
          <p:cNvPr id="35849" name="Freeform 10"/>
          <p:cNvSpPr/>
          <p:nvPr>
            <p:custDataLst>
              <p:tags r:id="rId5"/>
            </p:custDataLst>
          </p:nvPr>
        </p:nvSpPr>
        <p:spPr>
          <a:xfrm>
            <a:off x="6045200" y="1060450"/>
            <a:ext cx="4154488"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50" name="Freeform 11"/>
          <p:cNvSpPr/>
          <p:nvPr>
            <p:custDataLst>
              <p:tags r:id="rId6"/>
            </p:custDataLst>
          </p:nvPr>
        </p:nvSpPr>
        <p:spPr>
          <a:xfrm>
            <a:off x="5930900"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51" name="Freeform 12"/>
          <p:cNvSpPr/>
          <p:nvPr>
            <p:custDataLst>
              <p:tags r:id="rId7"/>
            </p:custDataLst>
          </p:nvPr>
        </p:nvSpPr>
        <p:spPr>
          <a:xfrm>
            <a:off x="5930900"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53" name="TextBox 13"/>
          <p:cNvSpPr txBox="1"/>
          <p:nvPr>
            <p:custDataLst>
              <p:tags r:id="rId8"/>
            </p:custDataLst>
          </p:nvPr>
        </p:nvSpPr>
        <p:spPr>
          <a:xfrm>
            <a:off x="6196013" y="1997075"/>
            <a:ext cx="3432175" cy="2999740"/>
          </a:xfrm>
          <a:prstGeom prst="rect">
            <a:avLst/>
          </a:prstGeom>
          <a:noFill/>
          <a:ln w="9525">
            <a:noFill/>
          </a:ln>
        </p:spPr>
        <p:txBody>
          <a:bodyPr anchor="t">
            <a:spAutoFit/>
          </a:bodyPr>
          <a:lstStyle/>
          <a:p>
            <a:pPr algn="just">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rPr>
              <a:t>在短上下文场景</a:t>
            </a:r>
            <a:r>
              <a:rPr lang="en-US" altLang="zh-CN" sz="1800" dirty="0">
                <a:solidFill>
                  <a:schemeClr val="accent1"/>
                </a:solidFill>
                <a:latin typeface="微软雅黑" panose="020B0503020204020204" pitchFamily="34" charset="-122"/>
                <a:ea typeface="微软雅黑" panose="020B0503020204020204" pitchFamily="34" charset="-122"/>
              </a:rPr>
              <a:t>，</a:t>
            </a:r>
            <a:r>
              <a:rPr lang="zh-CN" altLang="en-US" sz="1800" dirty="0">
                <a:solidFill>
                  <a:schemeClr val="accent1"/>
                </a:solidFill>
                <a:latin typeface="微软雅黑" panose="020B0503020204020204" pitchFamily="34" charset="-122"/>
                <a:ea typeface="微软雅黑" panose="020B0503020204020204" pitchFamily="34" charset="-122"/>
              </a:rPr>
              <a:t>构建动态稀疏索引的时间占比从长文的 5% 显著升高到 30%，导致加速效果减弱。因此，未来可以降低短上下文场景下动态索引构建的开销，让 </a:t>
            </a:r>
            <a:r>
              <a:rPr lang="en-US" altLang="zh-CN" sz="1800" dirty="0">
                <a:solidFill>
                  <a:schemeClr val="accent1"/>
                </a:solidFill>
                <a:latin typeface="微软雅黑" panose="020B0503020204020204" pitchFamily="34" charset="-122"/>
                <a:ea typeface="微软雅黑" panose="020B0503020204020204" pitchFamily="34" charset="-122"/>
              </a:rPr>
              <a:t>MInference </a:t>
            </a:r>
            <a:r>
              <a:rPr lang="zh-CN" altLang="en-US" sz="1800" dirty="0">
                <a:solidFill>
                  <a:schemeClr val="accent1"/>
                </a:solidFill>
                <a:latin typeface="微软雅黑" panose="020B0503020204020204" pitchFamily="34" charset="-122"/>
                <a:ea typeface="微软雅黑" panose="020B0503020204020204" pitchFamily="34" charset="-122"/>
              </a:rPr>
              <a:t>在各种长度下都能保持高效的加速</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par>
                          <p:cTn id="19" fill="hold">
                            <p:stCondLst>
                              <p:cond delay="900"/>
                            </p:stCondLst>
                            <p:childTnLst>
                              <p:par>
                                <p:cTn id="20" presetID="22" presetClass="entr" presetSubtype="4"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wipe(down)">
                                      <p:cBhvr>
                                        <p:cTn id="22" dur="500"/>
                                        <p:tgtEl>
                                          <p:spTgt spid="35844"/>
                                        </p:tgtEl>
                                      </p:cBhvr>
                                    </p:animEffect>
                                  </p:childTnLst>
                                </p:cTn>
                              </p:par>
                            </p:childTnLst>
                          </p:cTn>
                        </p:par>
                        <p:par>
                          <p:cTn id="23" fill="hold">
                            <p:stCondLst>
                              <p:cond delay="1400"/>
                            </p:stCondLst>
                            <p:childTnLst>
                              <p:par>
                                <p:cTn id="24" presetID="22" presetClass="entr" presetSubtype="2" fill="hold" nodeType="afterEffect">
                                  <p:stCondLst>
                                    <p:cond delay="0"/>
                                  </p:stCondLst>
                                  <p:childTnLst>
                                    <p:set>
                                      <p:cBhvr>
                                        <p:cTn id="25" dur="1" fill="hold">
                                          <p:stCondLst>
                                            <p:cond delay="0"/>
                                          </p:stCondLst>
                                        </p:cTn>
                                        <p:tgtEl>
                                          <p:spTgt spid="35845"/>
                                        </p:tgtEl>
                                        <p:attrNameLst>
                                          <p:attrName>style.visibility</p:attrName>
                                        </p:attrNameLst>
                                      </p:cBhvr>
                                      <p:to>
                                        <p:strVal val="visible"/>
                                      </p:to>
                                    </p:set>
                                    <p:animEffect transition="in" filter="wipe(right)">
                                      <p:cBhvr>
                                        <p:cTn id="26" dur="300"/>
                                        <p:tgtEl>
                                          <p:spTgt spid="35845"/>
                                        </p:tgtEl>
                                      </p:cBhvr>
                                    </p:animEffect>
                                  </p:childTnLst>
                                </p:cTn>
                              </p:par>
                            </p:childTnLst>
                          </p:cTn>
                        </p:par>
                        <p:par>
                          <p:cTn id="27" fill="hold">
                            <p:stCondLst>
                              <p:cond delay="1900"/>
                            </p:stCondLst>
                            <p:childTnLst>
                              <p:par>
                                <p:cTn id="28" presetID="22" presetClass="entr" presetSubtype="8" fill="hold" nodeType="after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par>
                          <p:cTn id="31" fill="hold">
                            <p:stCondLst>
                              <p:cond delay="2400"/>
                            </p:stCondLst>
                            <p:childTnLst>
                              <p:par>
                                <p:cTn id="32" presetID="22" presetClass="entr" presetSubtype="1" fill="hold" grpId="0" nodeType="afterEffect">
                                  <p:stCondLst>
                                    <p:cond delay="0"/>
                                  </p:stCondLst>
                                  <p:childTnLst>
                                    <p:set>
                                      <p:cBhvr>
                                        <p:cTn id="33" dur="1" fill="hold">
                                          <p:stCondLst>
                                            <p:cond delay="0"/>
                                          </p:stCondLst>
                                        </p:cTn>
                                        <p:tgtEl>
                                          <p:spTgt spid="35848"/>
                                        </p:tgtEl>
                                        <p:attrNameLst>
                                          <p:attrName>style.visibility</p:attrName>
                                        </p:attrNameLst>
                                      </p:cBhvr>
                                      <p:to>
                                        <p:strVal val="visible"/>
                                      </p:to>
                                    </p:set>
                                    <p:animEffect transition="in" filter="wipe(up)">
                                      <p:cBhvr>
                                        <p:cTn id="34" dur="500"/>
                                        <p:tgtEl>
                                          <p:spTgt spid="35848"/>
                                        </p:tgtEl>
                                      </p:cBhvr>
                                    </p:animEffect>
                                  </p:childTnLst>
                                </p:cTn>
                              </p:par>
                            </p:childTnLst>
                          </p:cTn>
                        </p:par>
                        <p:par>
                          <p:cTn id="35" fill="hold">
                            <p:stCondLst>
                              <p:cond delay="2900"/>
                            </p:stCondLst>
                            <p:childTnLst>
                              <p:par>
                                <p:cTn id="36" presetID="22" presetClass="entr" presetSubtype="4" fill="hold" nodeType="afterEffect">
                                  <p:stCondLst>
                                    <p:cond delay="0"/>
                                  </p:stCondLst>
                                  <p:childTnLst>
                                    <p:set>
                                      <p:cBhvr>
                                        <p:cTn id="37" dur="1" fill="hold">
                                          <p:stCondLst>
                                            <p:cond delay="0"/>
                                          </p:stCondLst>
                                        </p:cTn>
                                        <p:tgtEl>
                                          <p:spTgt spid="35849"/>
                                        </p:tgtEl>
                                        <p:attrNameLst>
                                          <p:attrName>style.visibility</p:attrName>
                                        </p:attrNameLst>
                                      </p:cBhvr>
                                      <p:to>
                                        <p:strVal val="visible"/>
                                      </p:to>
                                    </p:set>
                                    <p:animEffect transition="in" filter="wipe(down)">
                                      <p:cBhvr>
                                        <p:cTn id="38" dur="500"/>
                                        <p:tgtEl>
                                          <p:spTgt spid="35849"/>
                                        </p:tgtEl>
                                      </p:cBhvr>
                                    </p:animEffect>
                                  </p:childTnLst>
                                </p:cTn>
                              </p:par>
                            </p:childTnLst>
                          </p:cTn>
                        </p:par>
                        <p:par>
                          <p:cTn id="39" fill="hold">
                            <p:stCondLst>
                              <p:cond delay="3400"/>
                            </p:stCondLst>
                            <p:childTnLst>
                              <p:par>
                                <p:cTn id="40" presetID="22" presetClass="entr" presetSubtype="2" fill="hold" nodeType="afterEffect">
                                  <p:stCondLst>
                                    <p:cond delay="0"/>
                                  </p:stCondLst>
                                  <p:childTnLst>
                                    <p:set>
                                      <p:cBhvr>
                                        <p:cTn id="41" dur="1" fill="hold">
                                          <p:stCondLst>
                                            <p:cond delay="0"/>
                                          </p:stCondLst>
                                        </p:cTn>
                                        <p:tgtEl>
                                          <p:spTgt spid="35850"/>
                                        </p:tgtEl>
                                        <p:attrNameLst>
                                          <p:attrName>style.visibility</p:attrName>
                                        </p:attrNameLst>
                                      </p:cBhvr>
                                      <p:to>
                                        <p:strVal val="visible"/>
                                      </p:to>
                                    </p:set>
                                    <p:animEffect transition="in" filter="wipe(right)">
                                      <p:cBhvr>
                                        <p:cTn id="42" dur="300"/>
                                        <p:tgtEl>
                                          <p:spTgt spid="35850"/>
                                        </p:tgtEl>
                                      </p:cBhvr>
                                    </p:animEffect>
                                  </p:childTnLst>
                                </p:cTn>
                              </p:par>
                            </p:childTnLst>
                          </p:cTn>
                        </p:par>
                        <p:par>
                          <p:cTn id="43" fill="hold">
                            <p:stCondLst>
                              <p:cond delay="3900"/>
                            </p:stCondLst>
                            <p:childTnLst>
                              <p:par>
                                <p:cTn id="44" presetID="22" presetClass="entr" presetSubtype="8" fill="hold" nodeType="afterEffect">
                                  <p:stCondLst>
                                    <p:cond delay="0"/>
                                  </p:stCondLst>
                                  <p:childTnLst>
                                    <p:set>
                                      <p:cBhvr>
                                        <p:cTn id="45" dur="1" fill="hold">
                                          <p:stCondLst>
                                            <p:cond delay="0"/>
                                          </p:stCondLst>
                                        </p:cTn>
                                        <p:tgtEl>
                                          <p:spTgt spid="35851"/>
                                        </p:tgtEl>
                                        <p:attrNameLst>
                                          <p:attrName>style.visibility</p:attrName>
                                        </p:attrNameLst>
                                      </p:cBhvr>
                                      <p:to>
                                        <p:strVal val="visible"/>
                                      </p:to>
                                    </p:set>
                                    <p:animEffect transition="in" filter="wipe(left)">
                                      <p:cBhvr>
                                        <p:cTn id="46" dur="500"/>
                                        <p:tgtEl>
                                          <p:spTgt spid="35851"/>
                                        </p:tgtEl>
                                      </p:cBhvr>
                                    </p:animEffect>
                                  </p:childTnLst>
                                </p:cTn>
                              </p:par>
                            </p:childTnLst>
                          </p:cTn>
                        </p:par>
                        <p:par>
                          <p:cTn id="47" fill="hold">
                            <p:stCondLst>
                              <p:cond delay="4400"/>
                            </p:stCondLst>
                            <p:childTnLst>
                              <p:par>
                                <p:cTn id="48" presetID="22" presetClass="entr" presetSubtype="1" fill="hold" grpId="0" nodeType="afterEffect">
                                  <p:stCondLst>
                                    <p:cond delay="0"/>
                                  </p:stCondLst>
                                  <p:childTnLst>
                                    <p:set>
                                      <p:cBhvr>
                                        <p:cTn id="49" dur="1" fill="hold">
                                          <p:stCondLst>
                                            <p:cond delay="0"/>
                                          </p:stCondLst>
                                        </p:cTn>
                                        <p:tgtEl>
                                          <p:spTgt spid="35853"/>
                                        </p:tgtEl>
                                        <p:attrNameLst>
                                          <p:attrName>style.visibility</p:attrName>
                                        </p:attrNameLst>
                                      </p:cBhvr>
                                      <p:to>
                                        <p:strVal val="visible"/>
                                      </p:to>
                                    </p:set>
                                    <p:animEffect transition="in" filter="wipe(up)">
                                      <p:cBhvr>
                                        <p:cTn id="50" dur="5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8" grpId="0"/>
      <p:bldP spid="3585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实验设计</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35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901700" y="1124585"/>
            <a:ext cx="10909300" cy="4723130"/>
          </a:xfrm>
          <a:prstGeom prst="rect">
            <a:avLst/>
          </a:prstGeom>
          <a:noFill/>
        </p:spPr>
        <p:txBody>
          <a:bodyPr wrap="square" rtlCol="0">
            <a:noAutofit/>
          </a:bodyPr>
          <a:p>
            <a:pPr>
              <a:lnSpc>
                <a:spcPct val="150000"/>
              </a:lnSpc>
            </a:pP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目标：在</a:t>
            </a:r>
            <a:r>
              <a:rPr lang="en-US" altLang="zh-CN" sz="1800" dirty="0" smtClean="0">
                <a:solidFill>
                  <a:schemeClr val="accent1"/>
                </a:solidFill>
                <a:latin typeface="微软雅黑" panose="020B0503020204020204" pitchFamily="34" charset="-122"/>
                <a:ea typeface="微软雅黑" panose="020B0503020204020204" pitchFamily="34" charset="-122"/>
                <a:cs typeface="+mn-ea"/>
              </a:rPr>
              <a:t> vLLM </a:t>
            </a: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内，验证 </a:t>
            </a:r>
            <a:r>
              <a:rPr lang="en-US" altLang="zh-CN" sz="1800" dirty="0" smtClean="0">
                <a:solidFill>
                  <a:schemeClr val="accent1"/>
                </a:solidFill>
                <a:latin typeface="微软雅黑" panose="020B0503020204020204" pitchFamily="34" charset="-122"/>
                <a:ea typeface="微软雅黑" panose="020B0503020204020204" pitchFamily="34" charset="-122"/>
                <a:cs typeface="+mn-ea"/>
              </a:rPr>
              <a:t>MInference </a:t>
            </a: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的稀疏注意力在大规模长上下文场景下的加速效果，并与原有的密集注意力基线进行对比</a:t>
            </a:r>
            <a:endParaRPr lang="zh-CN" altLang="en-US" sz="1800" dirty="0" smtClean="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模型：</a:t>
            </a:r>
            <a:r>
              <a:rPr lang="en-US" altLang="zh-CN" sz="1800" dirty="0" smtClean="0">
                <a:solidFill>
                  <a:schemeClr val="accent1"/>
                </a:solidFill>
                <a:latin typeface="微软雅黑" panose="020B0503020204020204" pitchFamily="34" charset="-122"/>
                <a:ea typeface="微软雅黑" panose="020B0503020204020204" pitchFamily="34" charset="-122"/>
                <a:cs typeface="+mn-ea"/>
              </a:rPr>
              <a:t>Qwen2.5-7B-Instruct</a:t>
            </a:r>
            <a:endParaRPr lang="en-US" altLang="zh-CN" sz="1800" dirty="0" smtClean="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基线设置：</a:t>
            </a:r>
            <a:r>
              <a:rPr lang="en-US" altLang="zh-CN" sz="1800" dirty="0" smtClean="0">
                <a:solidFill>
                  <a:schemeClr val="accent1"/>
                </a:solidFill>
                <a:latin typeface="微软雅黑" panose="020B0503020204020204" pitchFamily="34" charset="-122"/>
                <a:ea typeface="微软雅黑" panose="020B0503020204020204" pitchFamily="34" charset="-122"/>
                <a:cs typeface="+mn-ea"/>
              </a:rPr>
              <a:t>HuggingFace Transformers + </a:t>
            </a: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原生 </a:t>
            </a:r>
            <a:r>
              <a:rPr lang="en-US" altLang="zh-CN" sz="1800" dirty="0" smtClean="0">
                <a:solidFill>
                  <a:schemeClr val="accent1"/>
                </a:solidFill>
                <a:latin typeface="微软雅黑" panose="020B0503020204020204" pitchFamily="34" charset="-122"/>
                <a:ea typeface="微软雅黑" panose="020B0503020204020204" pitchFamily="34" charset="-122"/>
                <a:cs typeface="+mn-ea"/>
              </a:rPr>
              <a:t>SDPA Attention (dense)</a:t>
            </a: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a:t>
            </a:r>
            <a:r>
              <a:rPr lang="en-US" altLang="zh-CN" sz="1800" dirty="0" smtClean="0">
                <a:solidFill>
                  <a:schemeClr val="accent1"/>
                </a:solidFill>
                <a:latin typeface="微软雅黑" panose="020B0503020204020204" pitchFamily="34" charset="-122"/>
                <a:ea typeface="微软雅黑" panose="020B0503020204020204" pitchFamily="34" charset="-122"/>
                <a:cs typeface="+mn-ea"/>
              </a:rPr>
              <a:t>vLLM + FlashAttention </a:t>
            </a: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后端（密集计算）、</a:t>
            </a:r>
            <a:r>
              <a:rPr lang="en-US" altLang="zh-CN" sz="1800" dirty="0" smtClean="0">
                <a:solidFill>
                  <a:schemeClr val="accent1"/>
                </a:solidFill>
                <a:latin typeface="微软雅黑" panose="020B0503020204020204" pitchFamily="34" charset="-122"/>
                <a:ea typeface="微软雅黑" panose="020B0503020204020204" pitchFamily="34" charset="-122"/>
                <a:cs typeface="+mn-ea"/>
              </a:rPr>
              <a:t>vLLM + MInference</a:t>
            </a:r>
            <a:endParaRPr lang="en-US" altLang="zh-CN" sz="1800" dirty="0" smtClean="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数据集：</a:t>
            </a:r>
            <a:r>
              <a:rPr lang="en-US" altLang="zh-CN" sz="1800" dirty="0" smtClean="0">
                <a:solidFill>
                  <a:schemeClr val="accent1"/>
                </a:solidFill>
                <a:latin typeface="微软雅黑" panose="020B0503020204020204" pitchFamily="34" charset="-122"/>
                <a:ea typeface="微软雅黑" panose="020B0503020204020204" pitchFamily="34" charset="-122"/>
                <a:cs typeface="+mn-ea"/>
              </a:rPr>
              <a:t>PG-19</a:t>
            </a: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a:t>
            </a:r>
            <a:r>
              <a:rPr lang="en-US" altLang="zh-CN" sz="1800" dirty="0" smtClean="0">
                <a:solidFill>
                  <a:schemeClr val="accent1"/>
                </a:solidFill>
                <a:latin typeface="微软雅黑" panose="020B0503020204020204" pitchFamily="34" charset="-122"/>
                <a:ea typeface="微软雅黑" panose="020B0503020204020204" pitchFamily="34" charset="-122"/>
                <a:cs typeface="+mn-ea"/>
              </a:rPr>
              <a:t>InfiniteBench</a:t>
            </a:r>
            <a:r>
              <a:rPr lang="zh-CN" altLang="en-US" sz="1800" dirty="0" smtClean="0">
                <a:solidFill>
                  <a:schemeClr val="accent1"/>
                </a:solidFill>
                <a:latin typeface="微软雅黑" panose="020B0503020204020204" pitchFamily="34" charset="-122"/>
                <a:ea typeface="微软雅黑" panose="020B0503020204020204" pitchFamily="34" charset="-122"/>
                <a:cs typeface="+mn-ea"/>
              </a:rPr>
              <a:t>、合成长文本（脚本生成）</a:t>
            </a:r>
            <a:endParaRPr lang="zh-CN" altLang="en-US" sz="1800" dirty="0" smtClean="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zh-CN" altLang="en-US" sz="6000" b="1" dirty="0" smtClean="0">
                <a:solidFill>
                  <a:schemeClr val="accent2"/>
                </a:solidFill>
                <a:latin typeface="微软雅黑" panose="020B0503020204020204" pitchFamily="34" charset="-122"/>
                <a:ea typeface="微软雅黑" panose="020B0503020204020204" pitchFamily="34" charset="-122"/>
              </a:rPr>
              <a:t>感谢您的批评指正</a:t>
            </a:r>
            <a:endParaRPr lang="zh-CN" altLang="en-US" sz="60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17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tags/tag1.xml><?xml version="1.0" encoding="utf-8"?>
<p:tagLst xmlns:p="http://schemas.openxmlformats.org/presentationml/2006/main">
  <p:tag name="TABLE_ENDDRAG_ORIGIN_RECT" val="844*410"/>
  <p:tag name="TABLE_ENDDRAG_RECT" val="71*71*844*410"/>
</p:tagLst>
</file>

<file path=ppt/tags/tag2.xml><?xml version="1.0" encoding="utf-8"?>
<p:tagLst xmlns:p="http://schemas.openxmlformats.org/presentationml/2006/main">
  <p:tag name="KSO_WM_DIAGRAM_VIRTUALLY_FRAME" val="{&quot;height&quot;:397.12503937007875,&quot;left&quot;:87.62503937007874,&quot;top&quot;:83.5,&quot;width&quot;:715.5}"/>
</p:tagLst>
</file>

<file path=ppt/tags/tag3.xml><?xml version="1.0" encoding="utf-8"?>
<p:tagLst xmlns:p="http://schemas.openxmlformats.org/presentationml/2006/main">
  <p:tag name="KSO_WM_DIAGRAM_VIRTUALLY_FRAME" val="{&quot;height&quot;:397.12503937007875,&quot;left&quot;:87.62503937007874,&quot;top&quot;:83.5,&quot;width&quot;:715.5}"/>
</p:tagLst>
</file>

<file path=ppt/tags/tag4.xml><?xml version="1.0" encoding="utf-8"?>
<p:tagLst xmlns:p="http://schemas.openxmlformats.org/presentationml/2006/main">
  <p:tag name="KSO_WM_DIAGRAM_VIRTUALLY_FRAME" val="{&quot;height&quot;:397.12503937007875,&quot;left&quot;:87.62503937007874,&quot;top&quot;:83.5,&quot;width&quot;:715.5}"/>
</p:tagLst>
</file>

<file path=ppt/tags/tag5.xml><?xml version="1.0" encoding="utf-8"?>
<p:tagLst xmlns:p="http://schemas.openxmlformats.org/presentationml/2006/main">
  <p:tag name="KSO_WM_DIAGRAM_VIRTUALLY_FRAME" val="{&quot;height&quot;:397.12503937007875,&quot;left&quot;:87.62503937007874,&quot;top&quot;:83.5,&quot;width&quot;:715.5}"/>
</p:tagLst>
</file>

<file path=ppt/tags/tag6.xml><?xml version="1.0" encoding="utf-8"?>
<p:tagLst xmlns:p="http://schemas.openxmlformats.org/presentationml/2006/main">
  <p:tag name="KSO_WM_DIAGRAM_VIRTUALLY_FRAME" val="{&quot;height&quot;:397.12503937007875,&quot;left&quot;:87.62503937007874,&quot;top&quot;:83.5,&quot;width&quot;:715.5}"/>
</p:tagLst>
</file>

<file path=ppt/tags/tag7.xml><?xml version="1.0" encoding="utf-8"?>
<p:tagLst xmlns:p="http://schemas.openxmlformats.org/presentationml/2006/main">
  <p:tag name="KSO_WM_DIAGRAM_VIRTUALLY_FRAME" val="{&quot;height&quot;:397.12503937007875,&quot;left&quot;:87.62503937007874,&quot;top&quot;:83.5,&quot;width&quot;:715.5}"/>
</p:tagLst>
</file>

<file path=ppt/tags/tag8.xml><?xml version="1.0" encoding="utf-8"?>
<p:tagLst xmlns:p="http://schemas.openxmlformats.org/presentationml/2006/main">
  <p:tag name="KSO_WM_DIAGRAM_VIRTUALLY_FRAME" val="{&quot;height&quot;:397.12503937007875,&quot;left&quot;:87.62503937007874,&quot;top&quot;:83.5,&quot;width&quot;:715.5}"/>
</p:tagLst>
</file>

<file path=ppt/tags/tag9.xml><?xml version="1.0" encoding="utf-8"?>
<p:tagLst xmlns:p="http://schemas.openxmlformats.org/presentationml/2006/main">
  <p:tag name="KSO_WM_DIAGRAM_VIRTUALLY_FRAME" val="{&quot;height&quot;:397.12503937007875,&quot;left&quot;:87.62503937007874,&quot;top&quot;:83.5,&quot;width&quot;:715.5}"/>
</p:tagLst>
</file>

<file path=ppt/tags/tag10.xml><?xml version="1.0" encoding="utf-8"?>
<p:tagLst xmlns:p="http://schemas.openxmlformats.org/presentationml/2006/main">
  <p:tag name="KSO_WM_DIAGRAM_VIRTUALLY_FRAME" val="{&quot;height&quot;:397.12503937007875,&quot;left&quot;:87.62503937007874,&quot;top&quot;:83.5,&quot;width&quot;:715.5}"/>
</p:tagLst>
</file>

<file path=ppt/tags/tag11.xml><?xml version="1.0" encoding="utf-8"?>
<p:tagLst xmlns:p="http://schemas.openxmlformats.org/presentationml/2006/main">
  <p:tag name="KSO_WM_DIAGRAM_VIRTUALLY_FRAME" val="{&quot;height&quot;:397.12503937007875,&quot;left&quot;:87.62503937007874,&quot;top&quot;:83.5,&quot;width&quot;:715.5}"/>
</p:tagLst>
</file>

<file path=ppt/tags/tag12.xml><?xml version="1.0" encoding="utf-8"?>
<p:tagLst xmlns:p="http://schemas.openxmlformats.org/presentationml/2006/main">
  <p:tag name="KSO_WM_DIAGRAM_VIRTUALLY_FRAME" val="{&quot;height&quot;:397.12503937007875,&quot;left&quot;:87.62503937007874,&quot;top&quot;:83.5,&quot;width&quot;:715.5}"/>
</p:tagLst>
</file>

<file path=ppt/tags/tag13.xml><?xml version="1.0" encoding="utf-8"?>
<p:tagLst xmlns:p="http://schemas.openxmlformats.org/presentationml/2006/main">
  <p:tag name="KSO_WM_DIAGRAM_VIRTUALLY_FRAME" val="{&quot;height&quot;:397.12503937007875,&quot;left&quot;:87.62503937007874,&quot;top&quot;:83.5,&quot;width&quot;:715.5}"/>
</p:tagLst>
</file>

<file path=ppt/tags/tag14.xml><?xml version="1.0" encoding="utf-8"?>
<p:tagLst xmlns:p="http://schemas.openxmlformats.org/presentationml/2006/main">
  <p:tag name="KSO_WM_DIAGRAM_VIRTUALLY_FRAME" val="{&quot;height&quot;:397.12503937007875,&quot;left&quot;:87.62503937007874,&quot;top&quot;:83.5,&quot;width&quot;:715.5}"/>
</p:tagLst>
</file>

<file path=ppt/tags/tag15.xml><?xml version="1.0" encoding="utf-8"?>
<p:tagLst xmlns:p="http://schemas.openxmlformats.org/presentationml/2006/main">
  <p:tag name="KSO_WM_DIAGRAM_VIRTUALLY_FRAME" val="{&quot;height&quot;:397.12503937007875,&quot;left&quot;:87.62503937007874,&quot;top&quot;:83.5,&quot;width&quot;:715.5}"/>
</p:tagLst>
</file>

<file path=ppt/tags/tag16.xml><?xml version="1.0" encoding="utf-8"?>
<p:tagLst xmlns:p="http://schemas.openxmlformats.org/presentationml/2006/main">
  <p:tag name="KSO_WM_DIAGRAM_VIRTUALLY_FRAME" val="{&quot;height&quot;:397.12503937007875,&quot;left&quot;:87.62503937007874,&quot;top&quot;:83.5,&quot;width&quot;:715.5}"/>
</p:tagLst>
</file>

<file path=ppt/tags/tag17.xml><?xml version="1.0" encoding="utf-8"?>
<p:tagLst xmlns:p="http://schemas.openxmlformats.org/presentationml/2006/main">
  <p:tag name="KSO_WM_DIAGRAM_VIRTUALLY_FRAME" val="{&quot;height&quot;:397.12503937007875,&quot;left&quot;:87.62503937007874,&quot;top&quot;:83.5,&quot;width&quot;:715.5}"/>
</p:tagLst>
</file>

<file path=ppt/tags/tag18.xml><?xml version="1.0" encoding="utf-8"?>
<p:tagLst xmlns:p="http://schemas.openxmlformats.org/presentationml/2006/main">
  <p:tag name="resource_record_key" val="{&quot;29&quot;:[50052696,50052700,50000283,50052708,50000159]}"/>
</p:tagLst>
</file>

<file path=ppt/theme/theme1.xml><?xml version="1.0" encoding="utf-8"?>
<a:theme xmlns:a="http://schemas.openxmlformats.org/drawingml/2006/main" name="1">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2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5121</Words>
  <Application>WPS 演示</Application>
  <PresentationFormat>自定义</PresentationFormat>
  <Paragraphs>229</Paragraphs>
  <Slides>40</Slides>
  <Notes>2</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40</vt:i4>
      </vt:variant>
    </vt:vector>
  </HeadingPairs>
  <TitlesOfParts>
    <vt:vector size="58" baseType="lpstr">
      <vt:lpstr>Arial</vt:lpstr>
      <vt:lpstr>宋体</vt:lpstr>
      <vt:lpstr>Wingdings</vt:lpstr>
      <vt:lpstr>微软雅黑</vt:lpstr>
      <vt:lpstr>仿宋_GB2312</vt:lpstr>
      <vt:lpstr>仿宋</vt:lpstr>
      <vt:lpstr>Calibri</vt:lpstr>
      <vt:lpstr>Arial Unicode MS</vt:lpstr>
      <vt:lpstr>仿宋_GB2312</vt:lpstr>
      <vt:lpstr>quote-cjk-patch</vt:lpstr>
      <vt:lpstr>Segoe Print</vt:lpstr>
      <vt:lpstr>Segoe UI</vt:lpstr>
      <vt:lpstr>方正仿宋_GB2312</vt:lpstr>
      <vt:lpstr>Open Sans</vt:lpstr>
      <vt:lpstr>Cambria Math</vt:lpstr>
      <vt:lpstr>MS PGothic</vt:lpstr>
      <vt:lpstr>1</vt:lpstr>
      <vt:lpstr>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
  <dc:description>1</dc:description>
  <dc:subject>1</dc:subject>
  <cp:lastModifiedBy>徐凯威</cp:lastModifiedBy>
  <cp:revision>239</cp:revision>
  <dcterms:created xsi:type="dcterms:W3CDTF">2013-01-25T01:44:00Z</dcterms:created>
  <dcterms:modified xsi:type="dcterms:W3CDTF">2026-04-24T07:07:55Z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1DE9802DCE6D4801A2C3EC4159B70240_13</vt:lpwstr>
  </property>
</Properties>
</file>