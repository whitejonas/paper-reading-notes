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5"/>
  </p:notesMasterIdLst>
  <p:sldIdLst>
    <p:sldId id="773" r:id="rId4"/>
    <p:sldId id="804" r:id="rId6"/>
    <p:sldId id="745" r:id="rId7"/>
    <p:sldId id="819" r:id="rId8"/>
    <p:sldId id="820" r:id="rId9"/>
    <p:sldId id="822" r:id="rId10"/>
    <p:sldId id="823" r:id="rId11"/>
    <p:sldId id="776" r:id="rId12"/>
    <p:sldId id="824" r:id="rId13"/>
    <p:sldId id="825" r:id="rId14"/>
    <p:sldId id="826" r:id="rId15"/>
    <p:sldId id="777" r:id="rId16"/>
    <p:sldId id="827" r:id="rId17"/>
    <p:sldId id="828" r:id="rId18"/>
    <p:sldId id="829" r:id="rId19"/>
    <p:sldId id="831" r:id="rId20"/>
    <p:sldId id="832" r:id="rId21"/>
    <p:sldId id="833" r:id="rId22"/>
    <p:sldId id="834" r:id="rId23"/>
    <p:sldId id="837" r:id="rId24"/>
    <p:sldId id="838" r:id="rId25"/>
    <p:sldId id="839" r:id="rId26"/>
    <p:sldId id="835" r:id="rId27"/>
    <p:sldId id="836" r:id="rId28"/>
    <p:sldId id="794" r:id="rId29"/>
    <p:sldId id="790" r:id="rId30"/>
    <p:sldId id="805" r:id="rId31"/>
    <p:sldId id="806" r:id="rId32"/>
    <p:sldId id="807" r:id="rId33"/>
    <p:sldId id="808" r:id="rId34"/>
    <p:sldId id="810" r:id="rId35"/>
    <p:sldId id="811" r:id="rId36"/>
    <p:sldId id="812" r:id="rId37"/>
    <p:sldId id="813" r:id="rId38"/>
    <p:sldId id="814" r:id="rId39"/>
    <p:sldId id="815" r:id="rId40"/>
    <p:sldId id="816" r:id="rId41"/>
    <p:sldId id="817" r:id="rId42"/>
    <p:sldId id="796" r:id="rId43"/>
    <p:sldId id="818" r:id="rId44"/>
    <p:sldId id="803" r:id="rId45"/>
  </p:sldIdLst>
  <p:sldSz cx="12196445" cy="6858000"/>
  <p:notesSz cx="6858000" cy="9144000"/>
  <p:defaultTex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9pPr>
  </p:defaultTextStyle>
  <p:extLst>
    <p:ext uri="{EFAFB233-063F-42B5-8137-9DF3F51BA10A}">
      <p15:sldGuideLst xmlns:p15="http://schemas.microsoft.com/office/powerpoint/2012/main">
        <p15:guide id="1" orient="horz" pos="2118" userDrawn="1">
          <p15:clr>
            <a:srgbClr val="A4A3A4"/>
          </p15:clr>
        </p15:guide>
        <p15:guide id="2" pos="384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a:srgbClr val="113E6A"/>
    <a:srgbClr val="006BBC"/>
    <a:srgbClr val="363636"/>
    <a:srgbClr val="FAFAFA"/>
    <a:srgbClr val="0F3D68"/>
    <a:srgbClr val="003366"/>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477" autoAdjust="0"/>
    <p:restoredTop sz="94660"/>
  </p:normalViewPr>
  <p:slideViewPr>
    <p:cSldViewPr snapToObjects="1" showGuides="1">
      <p:cViewPr varScale="1">
        <p:scale>
          <a:sx n="88" d="100"/>
          <a:sy n="88" d="100"/>
        </p:scale>
        <p:origin x="120" y="360"/>
      </p:cViewPr>
      <p:guideLst>
        <p:guide orient="horz" pos="2118"/>
        <p:guide pos="384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0" hangingPunct="0">
              <a:buFont typeface="Arial" panose="020B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4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0" hangingPunct="0">
              <a:buFont typeface="Arial" panose="020B0604020202020204" pitchFamily="34" charset="0"/>
              <a:buNone/>
              <a:defRPr sz="1200"/>
            </a:lvl1p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4" name="Rectangle 4"/>
          <p:cNvSpPr>
            <a:spLocks noGrp="1" noRot="1" noChangeAspect="1"/>
          </p:cNvSpPr>
          <p:nvPr>
            <p:ph type="sldImg"/>
          </p:nvPr>
        </p:nvSpPr>
        <p:spPr>
          <a:xfrm>
            <a:off x="1143000" y="685800"/>
            <a:ext cx="4572000" cy="3429000"/>
          </a:xfrm>
          <a:prstGeom prst="rect">
            <a:avLst/>
          </a:prstGeom>
          <a:noFill/>
          <a:ln w="9525">
            <a:noFill/>
          </a:ln>
        </p:spPr>
      </p:sp>
      <p:sp>
        <p:nvSpPr>
          <p:cNvPr id="614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615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0" hangingPunct="0">
              <a:buFont typeface="Arial" panose="020B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lgn="r" fontAlgn="base">
              <a:buChar char="•"/>
            </a:pPr>
            <a:fld id="{9A0DB2DC-4C9A-4742-B13C-FB6460FD3503}" type="slidenum">
              <a:rPr lang="zh-CN" altLang="en-US" sz="1200" strike="noStrike" noProof="1" dirty="0">
                <a:latin typeface="Arial" panose="020B0604020202020204" pitchFamily="34" charset="0"/>
                <a:ea typeface="宋体" panose="02010600030101010101" pitchFamily="2" charset="-122"/>
                <a:cs typeface="+mn-ea"/>
              </a:rPr>
            </a:fld>
            <a:endParaRPr lang="zh-CN" altLang="en-US" sz="1200" strike="noStrike" noProof="1"/>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幻灯片图像占位符 1"/>
          <p:cNvSpPr>
            <a:spLocks noGrp="1" noRot="1" noChangeAspect="1"/>
          </p:cNvSpPr>
          <p:nvPr>
            <p:ph type="sldImg"/>
          </p:nvPr>
        </p:nvSpPr>
        <p:spPr>
          <a:xfrm>
            <a:off x="381000" y="685800"/>
            <a:ext cx="6096000" cy="3429000"/>
          </a:xfrm>
        </p:spPr>
      </p:sp>
      <p:sp>
        <p:nvSpPr>
          <p:cNvPr id="7170" name="文本占位符 2"/>
          <p:cNvSpPr>
            <a:spLocks noGrp="1"/>
          </p:cNvSpPr>
          <p:nvPr>
            <p:ph type="body"/>
          </p:nvPr>
        </p:nvSpPr>
        <p:spPr/>
        <p:txBody>
          <a:bodyPr wrap="square" lIns="91440" tIns="45720" rIns="91440" bIns="45720" anchor="ctr"/>
          <a:lstStyle/>
          <a:p>
            <a:pPr lvl="0"/>
            <a:r>
              <a:rPr lang="zh-CN" altLang="en-US" dirty="0" smtClean="0"/>
              <a:t>亮亮图文旗舰店</a:t>
            </a:r>
            <a:endParaRPr lang="zh-CN" altLang="en-US" dirty="0" smtClean="0"/>
          </a:p>
          <a:p>
            <a:pPr lvl="0"/>
            <a:r>
              <a:rPr lang="en-US" altLang="zh-CN" dirty="0" smtClean="0"/>
              <a:t>https://liangliangtuwen.tmall.com</a:t>
            </a:r>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幻灯片图像占位符 1"/>
          <p:cNvSpPr>
            <a:spLocks noGrp="1" noRot="1" noChangeAspect="1"/>
          </p:cNvSpPr>
          <p:nvPr>
            <p:ph type="sldImg"/>
          </p:nvPr>
        </p:nvSpPr>
        <p:spPr>
          <a:xfrm>
            <a:off x="381000" y="685800"/>
            <a:ext cx="6096000" cy="3429000"/>
          </a:xfrm>
        </p:spPr>
      </p:sp>
      <p:sp>
        <p:nvSpPr>
          <p:cNvPr id="7170" name="文本占位符 2"/>
          <p:cNvSpPr>
            <a:spLocks noGrp="1"/>
          </p:cNvSpPr>
          <p:nvPr>
            <p:ph type="body"/>
          </p:nvPr>
        </p:nvSpPr>
        <p:spPr/>
        <p:txBody>
          <a:bodyPr wrap="square" lIns="91440" tIns="45720" rIns="91440" bIns="45720" anchor="ctr"/>
          <a:lstStyle/>
          <a:p>
            <a:pPr lvl="0"/>
            <a:r>
              <a:rPr lang="zh-CN" altLang="en-US" dirty="0" smtClean="0"/>
              <a:t>亮亮图文旗舰店</a:t>
            </a:r>
            <a:endParaRPr lang="zh-CN" altLang="en-US" dirty="0" smtClean="0"/>
          </a:p>
          <a:p>
            <a:pPr lvl="0"/>
            <a:r>
              <a:rPr lang="en-US" altLang="zh-CN" dirty="0" smtClean="0"/>
              <a:t>https://liangliangtuwen.tmall.com</a:t>
            </a:r>
            <a:endParaRPr lang="en-US"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幻灯片图像占位符 1"/>
          <p:cNvSpPr>
            <a:spLocks noGrp="1" noRot="1" noChangeAspect="1"/>
          </p:cNvSpPr>
          <p:nvPr>
            <p:ph type="sldImg"/>
          </p:nvPr>
        </p:nvSpPr>
        <p:spPr>
          <a:xfrm>
            <a:off x="381000" y="685800"/>
            <a:ext cx="6096000" cy="3429000"/>
          </a:xfrm>
        </p:spPr>
      </p:sp>
      <p:sp>
        <p:nvSpPr>
          <p:cNvPr id="7170" name="文本占位符 2"/>
          <p:cNvSpPr>
            <a:spLocks noGrp="1"/>
          </p:cNvSpPr>
          <p:nvPr>
            <p:ph type="body"/>
          </p:nvPr>
        </p:nvSpPr>
        <p:spPr/>
        <p:txBody>
          <a:bodyPr wrap="square" lIns="91440" tIns="45720" rIns="91440" bIns="45720" anchor="ctr"/>
          <a:lstStyle/>
          <a:p>
            <a:pPr lvl="0"/>
            <a:r>
              <a:rPr lang="zh-CN" altLang="en-US" dirty="0" smtClean="0"/>
              <a:t>亮亮图文旗舰店</a:t>
            </a:r>
            <a:endParaRPr lang="zh-CN" altLang="en-US" dirty="0" smtClean="0"/>
          </a:p>
          <a:p>
            <a:pPr lvl="0"/>
            <a:r>
              <a:rPr lang="en-US" altLang="zh-CN" dirty="0" smtClean="0"/>
              <a:t>https://liangliangtuwen.tmall.com</a:t>
            </a:r>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8763" cy="2387600"/>
          </a:xfrm>
        </p:spPr>
        <p:txBody>
          <a:bodyPr anchor="b"/>
          <a:lstStyle>
            <a:lvl1pPr algn="ctr">
              <a:defRPr sz="60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524000" y="3602038"/>
            <a:ext cx="9148763"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20363" cy="2852737"/>
          </a:xfrm>
        </p:spPr>
        <p:txBody>
          <a:bodyPr anchor="b"/>
          <a:lstStyle>
            <a:lvl1pPr>
              <a:defRPr sz="60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1850" y="4589463"/>
            <a:ext cx="10520363"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411788"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73788" y="1600200"/>
            <a:ext cx="5413375"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20362"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9788" y="1681163"/>
            <a:ext cx="51593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39788" y="2505075"/>
            <a:ext cx="5159375"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75375" y="1681163"/>
            <a:ext cx="51847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75375" y="2505075"/>
            <a:ext cx="5184775"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blipFill rotWithShape="0">
          <a:blip r:embed="rId2" cstate="print"/>
          <a:stretch>
            <a:fillRect/>
          </a:stretch>
        </a:blipFill>
        <a:effectLst/>
      </p:bgPr>
    </p:bg>
    <p:spTree>
      <p:nvGrpSpPr>
        <p:cNvPr id="1" name=""/>
        <p:cNvGrpSpPr/>
        <p:nvPr/>
      </p:nvGrpSpPr>
      <p:grpSpPr>
        <a:xfrm>
          <a:off x="0" y="0"/>
          <a:ext cx="0" cy="0"/>
          <a:chOff x="0" y="0"/>
          <a:chExt cx="0" cy="0"/>
        </a:xfrm>
      </p:grpSpPr>
      <p:pic>
        <p:nvPicPr>
          <p:cNvPr id="3074" name="图片 3"/>
          <p:cNvPicPr>
            <a:picLocks noChangeAspect="1"/>
          </p:cNvPicPr>
          <p:nvPr userDrawn="1"/>
        </p:nvPicPr>
        <p:blipFill>
          <a:blip r:embed="rId3" cstate="print"/>
          <a:srcRect t="14301" b="13251"/>
          <a:stretch>
            <a:fillRect/>
          </a:stretch>
        </p:blipFill>
        <p:spPr>
          <a:xfrm>
            <a:off x="0" y="0"/>
            <a:ext cx="12196763" cy="6858000"/>
          </a:xfrm>
          <a:prstGeom prst="rect">
            <a:avLst/>
          </a:prstGeom>
          <a:noFill/>
          <a:ln w="9525">
            <a:noFill/>
          </a:ln>
        </p:spPr>
      </p:pic>
      <p:sp>
        <p:nvSpPr>
          <p:cNvPr id="5" name="矩形 4"/>
          <p:cNvSpPr>
            <a:spLocks noChangeArrowheads="1"/>
          </p:cNvSpPr>
          <p:nvPr/>
        </p:nvSpPr>
        <p:spPr bwMode="auto">
          <a:xfrm>
            <a:off x="0" y="0"/>
            <a:ext cx="12196763" cy="6858000"/>
          </a:xfrm>
          <a:prstGeom prst="rect">
            <a:avLst/>
          </a:prstGeom>
          <a:solidFill>
            <a:srgbClr val="003366">
              <a:alpha val="85881"/>
            </a:srgbClr>
          </a:solidFill>
          <a:ln>
            <a:noFill/>
          </a:ln>
          <a:extLst>
            <a:ext uri="{91240B29-F687-4F45-9708-019B960494DF}">
              <a14:hiddenLine xmlns:a14="http://schemas.microsoft.com/office/drawing/2010/main" w="9525">
                <a:solidFill>
                  <a:srgbClr val="000000"/>
                </a:solidFill>
                <a:rou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空白">
    <p:bg>
      <p:bgPr>
        <a:blipFill rotWithShape="0">
          <a:blip r:embed="rId2" cstate="print"/>
          <a:stretch>
            <a:fillRect/>
          </a:stretch>
        </a:blipFill>
        <a:effectLst/>
      </p:bgPr>
    </p:bg>
    <p:spTree>
      <p:nvGrpSpPr>
        <p:cNvPr id="1" name=""/>
        <p:cNvGrpSpPr/>
        <p:nvPr/>
      </p:nvGrpSpPr>
      <p:grpSpPr>
        <a:xfrm>
          <a:off x="0" y="0"/>
          <a:ext cx="0" cy="0"/>
          <a:chOff x="0" y="0"/>
          <a:chExt cx="0" cy="0"/>
        </a:xfrm>
      </p:grpSpPr>
      <p:pic>
        <p:nvPicPr>
          <p:cNvPr id="4098" name="图片 3"/>
          <p:cNvPicPr>
            <a:picLocks noChangeAspect="1"/>
          </p:cNvPicPr>
          <p:nvPr userDrawn="1"/>
        </p:nvPicPr>
        <p:blipFill>
          <a:blip r:embed="rId3" cstate="print"/>
          <a:srcRect t="14301" b="13251"/>
          <a:stretch>
            <a:fillRect/>
          </a:stretch>
        </p:blipFill>
        <p:spPr>
          <a:xfrm>
            <a:off x="0" y="0"/>
            <a:ext cx="12196763" cy="6858000"/>
          </a:xfrm>
          <a:prstGeom prst="rect">
            <a:avLst/>
          </a:prstGeom>
          <a:noFill/>
          <a:ln w="9525">
            <a:noFill/>
          </a:ln>
        </p:spPr>
      </p:pic>
      <p:sp>
        <p:nvSpPr>
          <p:cNvPr id="5" name="矩形 4"/>
          <p:cNvSpPr>
            <a:spLocks noChangeArrowheads="1"/>
          </p:cNvSpPr>
          <p:nvPr/>
        </p:nvSpPr>
        <p:spPr bwMode="auto">
          <a:xfrm>
            <a:off x="0" y="0"/>
            <a:ext cx="12196763" cy="6858000"/>
          </a:xfrm>
          <a:prstGeom prst="rect">
            <a:avLst/>
          </a:prstGeom>
          <a:solidFill>
            <a:srgbClr val="003366">
              <a:alpha val="85881"/>
            </a:srgbClr>
          </a:solidFill>
          <a:ln>
            <a:noFill/>
          </a:ln>
          <a:extLst>
            <a:ext uri="{91240B29-F687-4F45-9708-019B960494DF}">
              <a14:hiddenLine xmlns:a14="http://schemas.microsoft.com/office/drawing/2010/main" w="9525">
                <a:solidFill>
                  <a:srgbClr val="000000"/>
                </a:solidFill>
                <a:rou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矩形 5"/>
          <p:cNvSpPr>
            <a:spLocks noChangeArrowheads="1"/>
          </p:cNvSpPr>
          <p:nvPr/>
        </p:nvSpPr>
        <p:spPr bwMode="auto">
          <a:xfrm>
            <a:off x="5522913" y="0"/>
            <a:ext cx="6673850" cy="6858000"/>
          </a:xfrm>
          <a:prstGeom prst="rect">
            <a:avLst/>
          </a:prstGeom>
          <a:solidFill>
            <a:srgbClr val="F8F8F8"/>
          </a:solidFill>
          <a:ln>
            <a:noFill/>
          </a:ln>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382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5184775" y="987425"/>
            <a:ext cx="6175375"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839788" y="2057400"/>
            <a:ext cx="39338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382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5184775" y="987425"/>
            <a:ext cx="6175375"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1200" cap="none" spc="0" normalizeH="0" baseline="0" noProof="0" smtClean="0">
              <a:ln>
                <a:noFill/>
              </a:ln>
              <a:solidFill>
                <a:schemeClr val="accent1"/>
              </a:solidFill>
              <a:effectLst/>
              <a:uLnTx/>
              <a:uFillTx/>
              <a:latin typeface="+mn-lt"/>
              <a:ea typeface="+mn-ea"/>
              <a:cs typeface="+mn-cs"/>
            </a:endParaRPr>
          </a:p>
        </p:txBody>
      </p:sp>
      <p:sp>
        <p:nvSpPr>
          <p:cNvPr id="4" name="文本占位符 3"/>
          <p:cNvSpPr>
            <a:spLocks noGrp="1"/>
          </p:cNvSpPr>
          <p:nvPr>
            <p:ph type="body" sz="half" idx="2"/>
          </p:nvPr>
        </p:nvSpPr>
        <p:spPr>
          <a:xfrm>
            <a:off x="839788" y="2057400"/>
            <a:ext cx="39338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908050"/>
            <a:ext cx="2743200" cy="5218113"/>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908050"/>
            <a:ext cx="8081963" cy="5218113"/>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8763" cy="2387600"/>
          </a:xfrm>
        </p:spPr>
        <p:txBody>
          <a:bodyPr anchor="b"/>
          <a:lstStyle>
            <a:lvl1pPr algn="ctr">
              <a:defRPr sz="60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524000" y="3602038"/>
            <a:ext cx="9148763"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20363" cy="2852737"/>
          </a:xfrm>
        </p:spPr>
        <p:txBody>
          <a:bodyPr anchor="b"/>
          <a:lstStyle>
            <a:lvl1pPr>
              <a:defRPr sz="60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1850" y="4589463"/>
            <a:ext cx="10520363"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411788"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73788" y="1600200"/>
            <a:ext cx="5413375"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20362"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9788" y="1681163"/>
            <a:ext cx="51593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39788" y="2505075"/>
            <a:ext cx="5159375"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75375" y="1681163"/>
            <a:ext cx="51847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75375" y="2505075"/>
            <a:ext cx="5184775"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382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5184775" y="987425"/>
            <a:ext cx="6175375"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839788" y="2057400"/>
            <a:ext cx="39338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382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5184775" y="987425"/>
            <a:ext cx="6175375"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1200" cap="none" spc="0" normalizeH="0" baseline="0" noProof="0" smtClean="0">
              <a:ln>
                <a:noFill/>
              </a:ln>
              <a:solidFill>
                <a:schemeClr val="accent1"/>
              </a:solidFill>
              <a:effectLst/>
              <a:uLnTx/>
              <a:uFillTx/>
              <a:latin typeface="+mn-lt"/>
              <a:ea typeface="+mn-ea"/>
              <a:cs typeface="+mn-cs"/>
            </a:endParaRPr>
          </a:p>
        </p:txBody>
      </p:sp>
      <p:sp>
        <p:nvSpPr>
          <p:cNvPr id="4" name="文本占位符 3"/>
          <p:cNvSpPr>
            <a:spLocks noGrp="1"/>
          </p:cNvSpPr>
          <p:nvPr>
            <p:ph type="body" sz="half" idx="2"/>
          </p:nvPr>
        </p:nvSpPr>
        <p:spPr>
          <a:xfrm>
            <a:off x="839788" y="2057400"/>
            <a:ext cx="39338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908050"/>
            <a:ext cx="2743200" cy="5218113"/>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908050"/>
            <a:ext cx="8081963" cy="5218113"/>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image" Target="../media/image3.jpeg"/><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cstate="print"/>
          <a:stretch>
            <a:fillRect/>
          </a:stretch>
        </a:blip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609600" y="908050"/>
            <a:ext cx="10977563" cy="635000"/>
          </a:xfrm>
          <a:prstGeom prst="rect">
            <a:avLst/>
          </a:prstGeom>
          <a:noFill/>
          <a:ln w="9525">
            <a:noFill/>
          </a:ln>
        </p:spPr>
        <p:txBody>
          <a:bodyPr anchor="ctr"/>
          <a:lstStyle/>
          <a:p>
            <a:pPr lvl="0"/>
            <a:r>
              <a:rPr lang="zh-CN" altLang="zh-CN" dirty="0"/>
              <a:t>单击此处编辑母版标题样式</a:t>
            </a:r>
            <a:endParaRPr lang="zh-CN" altLang="zh-CN" dirty="0"/>
          </a:p>
        </p:txBody>
      </p:sp>
      <p:sp>
        <p:nvSpPr>
          <p:cNvPr id="1027" name="Rectangle 3"/>
          <p:cNvSpPr>
            <a:spLocks noGrp="1"/>
          </p:cNvSpPr>
          <p:nvPr>
            <p:ph type="body"/>
          </p:nvPr>
        </p:nvSpPr>
        <p:spPr>
          <a:xfrm>
            <a:off x="609600" y="1600200"/>
            <a:ext cx="10977563" cy="4525963"/>
          </a:xfrm>
          <a:prstGeom prst="rect">
            <a:avLst/>
          </a:prstGeom>
          <a:noFill/>
          <a:ln w="9525">
            <a:noFill/>
          </a:ln>
        </p:spPr>
        <p:txBody>
          <a:bodyPr anchor="t"/>
          <a:lstStyle/>
          <a:p>
            <a:pPr lvl="0" indent="-342900"/>
            <a:r>
              <a:rPr lang="zh-CN" altLang="zh-CN" dirty="0"/>
              <a:t>单击此处编辑母版文本样式</a:t>
            </a:r>
            <a:endParaRPr lang="zh-CN" altLang="zh-CN" dirty="0"/>
          </a:p>
          <a:p>
            <a:pPr lvl="1" indent="-285750"/>
            <a:r>
              <a:rPr lang="zh-CN" altLang="zh-CN" dirty="0"/>
              <a:t>第二级</a:t>
            </a:r>
            <a:endParaRPr lang="zh-CN" altLang="zh-C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0"/>
        </a:spcBef>
        <a:spcAft>
          <a:spcPct val="0"/>
        </a:spcAft>
        <a:defRPr sz="2400" kern="1200">
          <a:solidFill>
            <a:schemeClr val="accent1"/>
          </a:solidFill>
          <a:latin typeface="+mj-lt"/>
          <a:ea typeface="+mj-ea"/>
          <a:cs typeface="+mj-cs"/>
        </a:defRPr>
      </a:lvl1pPr>
      <a:lvl2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2pPr>
      <a:lvl3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3pPr>
      <a:lvl4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4pPr>
      <a:lvl5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5pPr>
      <a:lvl6pPr marL="4572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6pPr>
      <a:lvl7pPr marL="9144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7pPr>
      <a:lvl8pPr marL="13716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8pPr>
      <a:lvl9pPr marL="18288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9pPr>
    </p:titleStyle>
    <p:bodyStyle>
      <a:lvl1pPr marL="342900" indent="-342900" algn="l" rtl="0" eaLnBrk="0" fontAlgn="base" hangingPunct="0">
        <a:spcBef>
          <a:spcPct val="20000"/>
        </a:spcBef>
        <a:spcAft>
          <a:spcPct val="0"/>
        </a:spcAft>
        <a:buChar char="•"/>
        <a:defRPr sz="2000" kern="1200">
          <a:solidFill>
            <a:schemeClr val="accent1"/>
          </a:solidFill>
          <a:latin typeface="+mn-lt"/>
          <a:ea typeface="+mn-ea"/>
          <a:cs typeface="+mn-cs"/>
        </a:defRPr>
      </a:lvl1pPr>
      <a:lvl2pPr marL="742950" indent="-285750" algn="l" rtl="0" eaLnBrk="0" fontAlgn="base" hangingPunct="0">
        <a:spcBef>
          <a:spcPct val="20000"/>
        </a:spcBef>
        <a:spcAft>
          <a:spcPct val="0"/>
        </a:spcAft>
        <a:buChar char="–"/>
        <a:defRPr sz="2000" kern="1200">
          <a:solidFill>
            <a:schemeClr val="accent1"/>
          </a:solidFill>
          <a:latin typeface="+mn-lt"/>
          <a:ea typeface="仿宋_GB2312" pitchFamily="1" charset="-122"/>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宋体" panose="02010600030101010101" pitchFamily="2"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宋体" panose="02010600030101010101"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2" cstate="print"/>
          <a:stretch>
            <a:fillRect/>
          </a:stretch>
        </a:blipFill>
        <a:effectLst/>
      </p:bgPr>
    </p:bg>
    <p:spTree>
      <p:nvGrpSpPr>
        <p:cNvPr id="1" name=""/>
        <p:cNvGrpSpPr/>
        <p:nvPr/>
      </p:nvGrpSpPr>
      <p:grpSpPr>
        <a:xfrm>
          <a:off x="0" y="0"/>
          <a:ext cx="0" cy="0"/>
          <a:chOff x="0" y="0"/>
          <a:chExt cx="0" cy="0"/>
        </a:xfrm>
      </p:grpSpPr>
      <p:sp>
        <p:nvSpPr>
          <p:cNvPr id="3074" name="矩形 3"/>
          <p:cNvSpPr>
            <a:spLocks noChangeArrowheads="1"/>
          </p:cNvSpPr>
          <p:nvPr/>
        </p:nvSpPr>
        <p:spPr bwMode="auto">
          <a:xfrm>
            <a:off x="11582400" y="6381750"/>
            <a:ext cx="492125" cy="396875"/>
          </a:xfrm>
          <a:prstGeom prst="rect">
            <a:avLst/>
          </a:prstGeom>
          <a:solidFill>
            <a:srgbClr val="0F3D68"/>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TextBox 4"/>
          <p:cNvSpPr txBox="1"/>
          <p:nvPr/>
        </p:nvSpPr>
        <p:spPr>
          <a:xfrm>
            <a:off x="11609388" y="6410325"/>
            <a:ext cx="436562" cy="339725"/>
          </a:xfrm>
          <a:prstGeom prst="rect">
            <a:avLst/>
          </a:prstGeom>
          <a:noFill/>
          <a:ln w="9525">
            <a:noFill/>
          </a:ln>
        </p:spPr>
        <p:txBody>
          <a:bodyPr wrap="none" anchor="t">
            <a:spAutoFit/>
          </a:bodyPr>
          <a:lstStyle/>
          <a:p>
            <a:pPr lvl="0" indent="0" algn="ctr"/>
            <a:fld id="{9A0DB2DC-4C9A-4742-B13C-FB6460FD3503}" type="slidenum">
              <a:rPr lang="zh-CN" altLang="en-US" sz="1600" dirty="0">
                <a:solidFill>
                  <a:schemeClr val="accent2"/>
                </a:solidFill>
                <a:latin typeface="Arial" panose="020B0604020202020204" pitchFamily="34" charset="0"/>
                <a:ea typeface="宋体" panose="02010600030101010101" pitchFamily="2" charset="-122"/>
              </a:rPr>
            </a:fld>
            <a:endParaRPr lang="zh-CN" altLang="en-US" sz="1600" dirty="0">
              <a:solidFill>
                <a:schemeClr val="accent2"/>
              </a:solidFill>
              <a:latin typeface="Arial" panose="020B0604020202020204" pitchFamily="34" charset="0"/>
              <a:ea typeface="宋体" panose="02010600030101010101" pitchFamily="2" charset="-122"/>
            </a:endParaRPr>
          </a:p>
        </p:txBody>
      </p:sp>
      <p:sp>
        <p:nvSpPr>
          <p:cNvPr id="2052" name="Rectangle 2"/>
          <p:cNvSpPr>
            <a:spLocks noGrp="1"/>
          </p:cNvSpPr>
          <p:nvPr>
            <p:ph type="title"/>
          </p:nvPr>
        </p:nvSpPr>
        <p:spPr>
          <a:xfrm>
            <a:off x="609600" y="908050"/>
            <a:ext cx="10977563" cy="635000"/>
          </a:xfrm>
          <a:prstGeom prst="rect">
            <a:avLst/>
          </a:prstGeom>
          <a:noFill/>
          <a:ln w="9525">
            <a:noFill/>
          </a:ln>
        </p:spPr>
        <p:txBody>
          <a:bodyPr anchor="ctr"/>
          <a:lstStyle/>
          <a:p>
            <a:pPr lvl="0"/>
            <a:r>
              <a:rPr lang="zh-CN" altLang="zh-CN" dirty="0"/>
              <a:t>单击此处编辑母版标题样式</a:t>
            </a:r>
            <a:endParaRPr lang="zh-CN" altLang="zh-CN" dirty="0"/>
          </a:p>
        </p:txBody>
      </p:sp>
      <p:sp>
        <p:nvSpPr>
          <p:cNvPr id="2053" name="Rectangle 3"/>
          <p:cNvSpPr>
            <a:spLocks noGrp="1"/>
          </p:cNvSpPr>
          <p:nvPr>
            <p:ph type="body"/>
          </p:nvPr>
        </p:nvSpPr>
        <p:spPr>
          <a:xfrm>
            <a:off x="609600" y="1600200"/>
            <a:ext cx="10977563" cy="4525963"/>
          </a:xfrm>
          <a:prstGeom prst="rect">
            <a:avLst/>
          </a:prstGeom>
          <a:noFill/>
          <a:ln w="9525">
            <a:noFill/>
          </a:ln>
        </p:spPr>
        <p:txBody>
          <a:bodyPr anchor="t"/>
          <a:lstStyle/>
          <a:p>
            <a:pPr lvl="0" indent="-342900"/>
            <a:r>
              <a:rPr lang="zh-CN" altLang="zh-CN" dirty="0"/>
              <a:t>单击此处编辑母版文本样式</a:t>
            </a:r>
            <a:endParaRPr lang="zh-CN" altLang="zh-CN" dirty="0"/>
          </a:p>
          <a:p>
            <a:pPr lvl="1" indent="-285750"/>
            <a:r>
              <a:rPr lang="zh-CN" altLang="zh-CN" dirty="0"/>
              <a:t>第二级</a:t>
            </a:r>
            <a:endParaRPr lang="zh-CN" altLang="zh-CN" dirty="0"/>
          </a:p>
        </p:txBody>
      </p:sp>
      <p:sp>
        <p:nvSpPr>
          <p:cNvPr id="2054" name="矩形 1"/>
          <p:cNvSpPr>
            <a:spLocks noChangeArrowheads="1"/>
          </p:cNvSpPr>
          <p:nvPr/>
        </p:nvSpPr>
        <p:spPr bwMode="auto">
          <a:xfrm>
            <a:off x="0" y="6713538"/>
            <a:ext cx="12196763" cy="144463"/>
          </a:xfrm>
          <a:prstGeom prst="rect">
            <a:avLst/>
          </a:prstGeom>
          <a:solidFill>
            <a:srgbClr val="0F3D68"/>
          </a:solidFill>
          <a:ln>
            <a:noFill/>
          </a:ln>
          <a:extLst>
            <a:ext uri="{91240B29-F687-4F45-9708-019B960494DF}">
              <a14:hiddenLine xmlns:a14="http://schemas.microsoft.com/office/drawing/2010/main" w="9525">
                <a:solidFill>
                  <a:srgbClr val="000000"/>
                </a:solidFill>
                <a:rou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3075"/>
                                        </p:tgtEl>
                                        <p:attrNameLst>
                                          <p:attrName>style.visibility</p:attrName>
                                        </p:attrNameLst>
                                      </p:cBhvr>
                                      <p:to>
                                        <p:strVal val="visible"/>
                                      </p:to>
                                    </p:set>
                                    <p:anim calcmode="lin" valueType="num">
                                      <p:cBhvr>
                                        <p:cTn id="7" dur="400" fill="hold"/>
                                        <p:tgtEl>
                                          <p:spTgt spid="3075"/>
                                        </p:tgtEl>
                                        <p:attrNameLst>
                                          <p:attrName>ppt_w</p:attrName>
                                        </p:attrNameLst>
                                      </p:cBhvr>
                                      <p:tavLst>
                                        <p:tav tm="0">
                                          <p:val>
                                            <p:fltVal val="0"/>
                                          </p:val>
                                        </p:tav>
                                        <p:tav tm="100000">
                                          <p:val>
                                            <p:strVal val="#ppt_w"/>
                                          </p:val>
                                        </p:tav>
                                      </p:tavLst>
                                    </p:anim>
                                    <p:anim calcmode="lin" valueType="num">
                                      <p:cBhvr>
                                        <p:cTn id="8" dur="400" fill="hold"/>
                                        <p:tgtEl>
                                          <p:spTgt spid="3075"/>
                                        </p:tgtEl>
                                        <p:attrNameLst>
                                          <p:attrName>ppt_h</p:attrName>
                                        </p:attrNameLst>
                                      </p:cBhvr>
                                      <p:tavLst>
                                        <p:tav tm="0">
                                          <p:val>
                                            <p:fltVal val="0"/>
                                          </p:val>
                                        </p:tav>
                                        <p:tav tm="100000">
                                          <p:val>
                                            <p:strVal val="#ppt_h"/>
                                          </p:val>
                                        </p:tav>
                                      </p:tavLst>
                                    </p:anim>
                                    <p:anim calcmode="lin" valueType="num">
                                      <p:cBhvr>
                                        <p:cTn id="9" dur="400" fill="hold"/>
                                        <p:tgtEl>
                                          <p:spTgt spid="3075"/>
                                        </p:tgtEl>
                                        <p:attrNameLst>
                                          <p:attrName>style.rotation</p:attrName>
                                        </p:attrNameLst>
                                      </p:cBhvr>
                                      <p:tavLst>
                                        <p:tav tm="0">
                                          <p:val>
                                            <p:fltVal val="90"/>
                                          </p:val>
                                        </p:tav>
                                        <p:tav tm="100000">
                                          <p:val>
                                            <p:fltVal val="0"/>
                                          </p:val>
                                        </p:tav>
                                      </p:tavLst>
                                    </p:anim>
                                    <p:animEffect transition="in" filter="fade">
                                      <p:cBhvr>
                                        <p:cTn id="10" dur="400"/>
                                        <p:tgtEl>
                                          <p:spTgt spid="3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p:bldLst>
  </p:timing>
  <p:hf sldNum="0" hdr="0" ftr="0" dt="0"/>
  <p:txStyles>
    <p:titleStyle>
      <a:lvl1pPr algn="l" rtl="0" eaLnBrk="0" fontAlgn="base" hangingPunct="0">
        <a:spcBef>
          <a:spcPct val="0"/>
        </a:spcBef>
        <a:spcAft>
          <a:spcPct val="0"/>
        </a:spcAft>
        <a:defRPr sz="2400" kern="1200">
          <a:solidFill>
            <a:schemeClr val="accent1"/>
          </a:solidFill>
          <a:latin typeface="+mj-lt"/>
          <a:ea typeface="+mj-ea"/>
          <a:cs typeface="+mj-cs"/>
        </a:defRPr>
      </a:lvl1pPr>
      <a:lvl2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2pPr>
      <a:lvl3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3pPr>
      <a:lvl4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4pPr>
      <a:lvl5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5pPr>
      <a:lvl6pPr marL="4572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6pPr>
      <a:lvl7pPr marL="9144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7pPr>
      <a:lvl8pPr marL="13716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8pPr>
      <a:lvl9pPr marL="18288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9pPr>
    </p:titleStyle>
    <p:bodyStyle>
      <a:lvl1pPr marL="342900" indent="-342900" algn="l" rtl="0" eaLnBrk="0" fontAlgn="base" hangingPunct="0">
        <a:spcBef>
          <a:spcPct val="20000"/>
        </a:spcBef>
        <a:spcAft>
          <a:spcPct val="0"/>
        </a:spcAft>
        <a:buChar char="•"/>
        <a:defRPr sz="2000" kern="1200">
          <a:solidFill>
            <a:schemeClr val="accent1"/>
          </a:solidFill>
          <a:latin typeface="+mn-lt"/>
          <a:ea typeface="+mn-ea"/>
          <a:cs typeface="+mn-cs"/>
        </a:defRPr>
      </a:lvl1pPr>
      <a:lvl2pPr marL="742950" indent="-285750" algn="l" rtl="0" eaLnBrk="0" fontAlgn="base" hangingPunct="0">
        <a:spcBef>
          <a:spcPct val="20000"/>
        </a:spcBef>
        <a:spcAft>
          <a:spcPct val="0"/>
        </a:spcAft>
        <a:buChar char="–"/>
        <a:defRPr sz="2000" kern="1200">
          <a:solidFill>
            <a:schemeClr val="accent1"/>
          </a:solidFill>
          <a:latin typeface="+mn-lt"/>
          <a:ea typeface="仿宋_GB2312" pitchFamily="1" charset="-122"/>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宋体" panose="02010600030101010101" pitchFamily="2"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宋体" panose="02010600030101010101"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7.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7.jpe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image" Target="../media/image9.jpe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image" Target="../media/image9.jpe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image" Target="../media/image9.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7.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5.png"/><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6.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7.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7.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8.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21.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22.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23.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25.png"/><Relationship Id="rId1" Type="http://schemas.openxmlformats.org/officeDocument/2006/relationships/image" Target="../media/image24.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26.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27.png"/></Relationships>
</file>

<file path=ppt/slides/_rels/slide38.xml.rels><?xml version="1.0" encoding="UTF-8" standalone="yes"?>
<Relationships xmlns="http://schemas.openxmlformats.org/package/2006/relationships"><Relationship Id="rId8" Type="http://schemas.openxmlformats.org/officeDocument/2006/relationships/slideLayout" Target="../slideLayouts/slideLayout19.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7.jpeg"/></Relationships>
</file>

<file path=ppt/slides/_rels/slide40.xml.rels><?xml version="1.0" encoding="UTF-8" standalone="yes"?>
<Relationships xmlns="http://schemas.openxmlformats.org/package/2006/relationships"><Relationship Id="rId7" Type="http://schemas.openxmlformats.org/officeDocument/2006/relationships/slideLayout" Target="../slideLayouts/slideLayout19.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1" cstate="print"/>
          <a:stretch>
            <a:fillRect/>
          </a:stretch>
        </a:blipFill>
        <a:effectLst/>
      </p:bgPr>
    </p:bg>
    <p:spTree>
      <p:nvGrpSpPr>
        <p:cNvPr id="1" name=""/>
        <p:cNvGrpSpPr/>
        <p:nvPr/>
      </p:nvGrpSpPr>
      <p:grpSpPr>
        <a:xfrm>
          <a:off x="0" y="0"/>
          <a:ext cx="0" cy="0"/>
          <a:chOff x="0" y="0"/>
          <a:chExt cx="0" cy="0"/>
        </a:xfrm>
      </p:grpSpPr>
      <p:sp>
        <p:nvSpPr>
          <p:cNvPr id="7171" name="Rectangle 3"/>
          <p:cNvSpPr txBox="1"/>
          <p:nvPr/>
        </p:nvSpPr>
        <p:spPr>
          <a:xfrm>
            <a:off x="769938" y="2311400"/>
            <a:ext cx="10728325" cy="817563"/>
          </a:xfrm>
          <a:prstGeom prst="rect">
            <a:avLst/>
          </a:prstGeom>
          <a:noFill/>
          <a:ln w="9525">
            <a:noFill/>
          </a:ln>
        </p:spPr>
        <p:txBody>
          <a:bodyPr anchor="ctr"/>
          <a:lstStyle/>
          <a:p>
            <a:pPr algn="ctr"/>
            <a:r>
              <a:rPr lang="en-US" altLang="zh-CN" sz="3600" b="1" dirty="0">
                <a:solidFill>
                  <a:schemeClr val="accent2"/>
                </a:solidFill>
                <a:latin typeface="微软雅黑" panose="020B0503020204020204" pitchFamily="34" charset="-122"/>
                <a:ea typeface="微软雅黑" panose="020B0503020204020204" pitchFamily="34" charset="-122"/>
              </a:rPr>
              <a:t>MEDUSA: Simple LLM Inference Acceleration Framework with Multiple Decoding Heads</a:t>
            </a:r>
            <a:endParaRPr lang="en-US" altLang="zh-CN" sz="3600" b="1" dirty="0">
              <a:solidFill>
                <a:schemeClr val="accent2"/>
              </a:solidFill>
              <a:latin typeface="微软雅黑" panose="020B0503020204020204" pitchFamily="34" charset="-122"/>
              <a:ea typeface="微软雅黑" panose="020B0503020204020204" pitchFamily="34" charset="-122"/>
            </a:endParaRPr>
          </a:p>
        </p:txBody>
      </p:sp>
      <p:sp>
        <p:nvSpPr>
          <p:cNvPr id="7181" name="Rectangle 5"/>
          <p:cNvSpPr/>
          <p:nvPr/>
        </p:nvSpPr>
        <p:spPr>
          <a:xfrm>
            <a:off x="34925" y="6745288"/>
            <a:ext cx="12196763" cy="41275"/>
          </a:xfrm>
          <a:prstGeom prst="rect">
            <a:avLst/>
          </a:prstGeom>
          <a:solidFill>
            <a:srgbClr val="FFFFFF"/>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cxnSp>
        <p:nvCxnSpPr>
          <p:cNvPr id="6158" name="直接连接符 2"/>
          <p:cNvCxnSpPr/>
          <p:nvPr/>
        </p:nvCxnSpPr>
        <p:spPr>
          <a:xfrm>
            <a:off x="1201738" y="2159000"/>
            <a:ext cx="9864725" cy="0"/>
          </a:xfrm>
          <a:prstGeom prst="line">
            <a:avLst/>
          </a:prstGeom>
          <a:ln w="9525" cap="flat" cmpd="sng">
            <a:solidFill>
              <a:schemeClr val="accent2"/>
            </a:solidFill>
            <a:prstDash val="dash"/>
            <a:round/>
            <a:headEnd type="none" w="med" len="med"/>
            <a:tailEnd type="none" w="med" len="med"/>
          </a:ln>
        </p:spPr>
      </p:cxnSp>
      <p:cxnSp>
        <p:nvCxnSpPr>
          <p:cNvPr id="6159" name="直接连接符 17"/>
          <p:cNvCxnSpPr/>
          <p:nvPr/>
        </p:nvCxnSpPr>
        <p:spPr>
          <a:xfrm>
            <a:off x="1201738" y="3284538"/>
            <a:ext cx="9864725" cy="0"/>
          </a:xfrm>
          <a:prstGeom prst="line">
            <a:avLst/>
          </a:prstGeom>
          <a:ln w="9525" cap="flat" cmpd="sng">
            <a:solidFill>
              <a:schemeClr val="accent2"/>
            </a:solidFill>
            <a:prstDash val="dash"/>
            <a:round/>
            <a:headEnd type="none" w="med" len="med"/>
            <a:tailEnd type="none" w="med" len="med"/>
          </a:ln>
        </p:spPr>
      </p:cxn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7345" y="943854"/>
            <a:ext cx="4220005" cy="802395"/>
          </a:xfrm>
          <a:prstGeom prst="rect">
            <a:avLst/>
          </a:prstGeom>
        </p:spPr>
      </p:pic>
      <p:sp>
        <p:nvSpPr>
          <p:cNvPr id="3" name="文本框 2"/>
          <p:cNvSpPr txBox="1"/>
          <p:nvPr/>
        </p:nvSpPr>
        <p:spPr>
          <a:xfrm>
            <a:off x="1164590" y="3441065"/>
            <a:ext cx="9934575" cy="1096010"/>
          </a:xfrm>
          <a:prstGeom prst="rect">
            <a:avLst/>
          </a:prstGeom>
        </p:spPr>
        <p:txBody>
          <a:bodyPr>
            <a:noAutofit/>
          </a:bodyPr>
          <a:p>
            <a:pPr marL="0" indent="0" algn="ctr">
              <a:spcAft>
                <a:spcPct val="60000"/>
              </a:spcAft>
            </a:pPr>
            <a:r>
              <a:rPr lang="zh-CN" altLang="en-US" sz="2800" b="1" i="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基于多解码头的简单</a:t>
            </a:r>
            <a:r>
              <a:rPr lang="en-US" altLang="zh-CN" sz="2800" b="1" i="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LLM</a:t>
            </a:r>
            <a:r>
              <a:rPr lang="zh-CN" altLang="en-US" sz="2800" b="1" i="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推理加速框架</a:t>
            </a:r>
            <a:endParaRPr lang="zh-CN" altLang="en-US" sz="2800" b="1" i="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9266555" y="4221480"/>
            <a:ext cx="1529080" cy="467360"/>
          </a:xfrm>
          <a:prstGeom prst="rect">
            <a:avLst/>
          </a:prstGeom>
        </p:spPr>
        <p:txBody>
          <a:bodyPr>
            <a:noAutofit/>
          </a:bodyPr>
          <a:p>
            <a:pPr marL="0" indent="0"/>
            <a:r>
              <a:rPr lang="en-US" altLang="zh-CN" sz="2000" b="0" i="0">
                <a:solidFill>
                  <a:schemeClr val="accent2"/>
                </a:solidFill>
                <a:latin typeface="quote-cjk-patch"/>
                <a:ea typeface="quote-cjk-patch"/>
              </a:rPr>
              <a:t>ICML 2024</a:t>
            </a:r>
            <a:endParaRPr lang="en-US" altLang="zh-CN" sz="2000" b="0" i="0">
              <a:solidFill>
                <a:schemeClr val="accent2"/>
              </a:solidFill>
              <a:latin typeface="quote-cjk-patch"/>
              <a:ea typeface="quote-cjk-patch"/>
            </a:endParaRPr>
          </a:p>
        </p:txBody>
      </p:sp>
    </p:spTree>
  </p:cSld>
  <p:clrMapOvr>
    <a:masterClrMapping/>
  </p:clrMapOvr>
  <p:transition spd="slow" advTm="7871">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7171"/>
                                        </p:tgtEl>
                                        <p:attrNameLst>
                                          <p:attrName>style.visibility</p:attrName>
                                        </p:attrNameLst>
                                      </p:cBhvr>
                                      <p:to>
                                        <p:strVal val="visible"/>
                                      </p:to>
                                    </p:set>
                                    <p:anim by="(-#ppt_w*2)" calcmode="lin" valueType="num">
                                      <p:cBhvr rctx="PPT">
                                        <p:cTn id="7" dur="500" autoRev="1" fill="hold">
                                          <p:stCondLst>
                                            <p:cond delay="0"/>
                                          </p:stCondLst>
                                        </p:cTn>
                                        <p:tgtEl>
                                          <p:spTgt spid="7171"/>
                                        </p:tgtEl>
                                        <p:attrNameLst>
                                          <p:attrName>ppt_w</p:attrName>
                                        </p:attrNameLst>
                                      </p:cBhvr>
                                    </p:anim>
                                    <p:anim by="(#ppt_w*0.50)" calcmode="lin" valueType="num">
                                      <p:cBhvr>
                                        <p:cTn id="8" dur="500" decel="50000" autoRev="1" fill="hold">
                                          <p:stCondLst>
                                            <p:cond delay="0"/>
                                          </p:stCondLst>
                                        </p:cTn>
                                        <p:tgtEl>
                                          <p:spTgt spid="7171"/>
                                        </p:tgtEl>
                                        <p:attrNameLst>
                                          <p:attrName>ppt_x</p:attrName>
                                        </p:attrNameLst>
                                      </p:cBhvr>
                                    </p:anim>
                                    <p:anim from="(-#ppt_h/2)" to="(#ppt_y)" calcmode="lin" valueType="num">
                                      <p:cBhvr>
                                        <p:cTn id="9" dur="1000" fill="hold">
                                          <p:stCondLst>
                                            <p:cond delay="0"/>
                                          </p:stCondLst>
                                        </p:cTn>
                                        <p:tgtEl>
                                          <p:spTgt spid="7171"/>
                                        </p:tgtEl>
                                        <p:attrNameLst>
                                          <p:attrName>ppt_y</p:attrName>
                                        </p:attrNameLst>
                                      </p:cBhvr>
                                    </p:anim>
                                    <p:animRot by="21600000">
                                      <p:cBhvr>
                                        <p:cTn id="10" dur="1000" fill="hold">
                                          <p:stCondLst>
                                            <p:cond delay="0"/>
                                          </p:stCondLst>
                                        </p:cTn>
                                        <p:tgtEl>
                                          <p:spTgt spid="7171"/>
                                        </p:tgtEl>
                                        <p:attrNameLst>
                                          <p:attrName>r</p:attrName>
                                        </p:attrNameLst>
                                      </p:cBhvr>
                                    </p:animRot>
                                  </p:childTnLst>
                                </p:cTn>
                              </p:par>
                            </p:childTnLst>
                          </p:cTn>
                        </p:par>
                        <p:par>
                          <p:cTn id="11" fill="hold">
                            <p:stCondLst>
                              <p:cond delay="8899"/>
                            </p:stCondLst>
                            <p:childTnLst>
                              <p:par>
                                <p:cTn id="12" presetID="16" presetClass="entr" presetSubtype="21" fill="hold" grpId="0" nodeType="afterEffect">
                                  <p:stCondLst>
                                    <p:cond delay="0"/>
                                  </p:stCondLst>
                                  <p:childTnLst>
                                    <p:set>
                                      <p:cBhvr>
                                        <p:cTn id="13" dur="1" fill="hold">
                                          <p:stCondLst>
                                            <p:cond delay="0"/>
                                          </p:stCondLst>
                                        </p:cTn>
                                        <p:tgtEl>
                                          <p:spTgt spid="7181"/>
                                        </p:tgtEl>
                                        <p:attrNameLst>
                                          <p:attrName>style.visibility</p:attrName>
                                        </p:attrNameLst>
                                      </p:cBhvr>
                                      <p:to>
                                        <p:strVal val="visible"/>
                                      </p:to>
                                    </p:set>
                                    <p:animEffect transition="in" filter="barn(inVertical)">
                                      <p:cBhvr>
                                        <p:cTn id="14" dur="500"/>
                                        <p:tgtEl>
                                          <p:spTgt spid="7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p:bldP spid="718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0">
          <a:blip r:embed="rId1" cstate="print"/>
          <a:stretch>
            <a:fillRect/>
          </a:stretch>
        </a:blipFill>
        <a:effectLst/>
      </p:bgPr>
    </p:bg>
    <p:spTree>
      <p:nvGrpSpPr>
        <p:cNvPr id="1" name=""/>
        <p:cNvGrpSpPr/>
        <p:nvPr/>
      </p:nvGrpSpPr>
      <p:grpSpPr>
        <a:xfrm>
          <a:off x="0" y="0"/>
          <a:ext cx="0" cy="0"/>
          <a:chOff x="0" y="0"/>
          <a:chExt cx="0" cy="0"/>
        </a:xfrm>
      </p:grpSpPr>
      <p:sp>
        <p:nvSpPr>
          <p:cNvPr id="7171" name="Rectangle 3"/>
          <p:cNvSpPr txBox="1"/>
          <p:nvPr/>
        </p:nvSpPr>
        <p:spPr>
          <a:xfrm>
            <a:off x="769938" y="2311400"/>
            <a:ext cx="10728325" cy="817563"/>
          </a:xfrm>
          <a:prstGeom prst="rect">
            <a:avLst/>
          </a:prstGeom>
          <a:noFill/>
          <a:ln w="9525">
            <a:noFill/>
          </a:ln>
        </p:spPr>
        <p:txBody>
          <a:bodyPr anchor="ctr"/>
          <a:lstStyle/>
          <a:p>
            <a:pPr algn="ctr"/>
            <a:r>
              <a:rPr lang="en-US" altLang="zh-CN" sz="3600" b="1" dirty="0">
                <a:solidFill>
                  <a:schemeClr val="accent2"/>
                </a:solidFill>
                <a:latin typeface="微软雅黑" panose="020B0503020204020204" pitchFamily="34" charset="-122"/>
                <a:ea typeface="微软雅黑" panose="020B0503020204020204" pitchFamily="34" charset="-122"/>
              </a:rPr>
              <a:t>MEDUSA: Simple LLM Inference Acceleration Framework with Multiple Decoding Heads</a:t>
            </a:r>
            <a:endParaRPr lang="en-US" altLang="zh-CN" sz="3600" b="1" dirty="0">
              <a:solidFill>
                <a:schemeClr val="accent2"/>
              </a:solidFill>
              <a:latin typeface="微软雅黑" panose="020B0503020204020204" pitchFamily="34" charset="-122"/>
              <a:ea typeface="微软雅黑" panose="020B0503020204020204" pitchFamily="34" charset="-122"/>
            </a:endParaRPr>
          </a:p>
        </p:txBody>
      </p:sp>
      <p:sp>
        <p:nvSpPr>
          <p:cNvPr id="7181" name="Rectangle 5"/>
          <p:cNvSpPr/>
          <p:nvPr/>
        </p:nvSpPr>
        <p:spPr>
          <a:xfrm>
            <a:off x="34925" y="6745288"/>
            <a:ext cx="12196763" cy="41275"/>
          </a:xfrm>
          <a:prstGeom prst="rect">
            <a:avLst/>
          </a:prstGeom>
          <a:solidFill>
            <a:srgbClr val="FFFFFF"/>
          </a:solidFill>
          <a:ln w="9525">
            <a:noFill/>
          </a:ln>
        </p:spPr>
        <p:txBody>
          <a:bodyPr anchor="t"/>
          <a:lstStyle/>
          <a:p>
            <a:endParaRPr lang="zh-CN" altLang="en-US" sz="1800" dirty="0">
              <a:latin typeface="Arial" panose="020B0604020202020204" pitchFamily="34" charset="0"/>
              <a:ea typeface="宋体" panose="02010600030101010101" pitchFamily="2" charset="-122"/>
            </a:endParaRPr>
          </a:p>
        </p:txBody>
      </p:sp>
      <p:cxnSp>
        <p:nvCxnSpPr>
          <p:cNvPr id="6158" name="直接连接符 2"/>
          <p:cNvCxnSpPr/>
          <p:nvPr/>
        </p:nvCxnSpPr>
        <p:spPr>
          <a:xfrm>
            <a:off x="1201738" y="2159000"/>
            <a:ext cx="9864725" cy="0"/>
          </a:xfrm>
          <a:prstGeom prst="line">
            <a:avLst/>
          </a:prstGeom>
          <a:ln w="9525" cap="flat" cmpd="sng">
            <a:solidFill>
              <a:schemeClr val="accent2"/>
            </a:solidFill>
            <a:prstDash val="dash"/>
            <a:round/>
            <a:headEnd type="none" w="med" len="med"/>
            <a:tailEnd type="none" w="med" len="med"/>
          </a:ln>
        </p:spPr>
      </p:cxnSp>
      <p:cxnSp>
        <p:nvCxnSpPr>
          <p:cNvPr id="6159" name="直接连接符 17"/>
          <p:cNvCxnSpPr/>
          <p:nvPr/>
        </p:nvCxnSpPr>
        <p:spPr>
          <a:xfrm>
            <a:off x="1201738" y="3284538"/>
            <a:ext cx="9864725" cy="0"/>
          </a:xfrm>
          <a:prstGeom prst="line">
            <a:avLst/>
          </a:prstGeom>
          <a:ln w="9525" cap="flat" cmpd="sng">
            <a:solidFill>
              <a:schemeClr val="accent2"/>
            </a:solidFill>
            <a:prstDash val="dash"/>
            <a:round/>
            <a:headEnd type="none" w="med" len="med"/>
            <a:tailEnd type="none" w="med" len="med"/>
          </a:ln>
        </p:spPr>
      </p:cxn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7345" y="943854"/>
            <a:ext cx="4220005" cy="802395"/>
          </a:xfrm>
          <a:prstGeom prst="rect">
            <a:avLst/>
          </a:prstGeom>
        </p:spPr>
      </p:pic>
      <p:sp>
        <p:nvSpPr>
          <p:cNvPr id="3" name="文本框 2"/>
          <p:cNvSpPr txBox="1"/>
          <p:nvPr/>
        </p:nvSpPr>
        <p:spPr>
          <a:xfrm>
            <a:off x="1164590" y="3441065"/>
            <a:ext cx="9934575" cy="1096010"/>
          </a:xfrm>
          <a:prstGeom prst="rect">
            <a:avLst/>
          </a:prstGeom>
        </p:spPr>
        <p:txBody>
          <a:bodyPr>
            <a:noAutofit/>
          </a:bodyPr>
          <a:p>
            <a:pPr marL="0" indent="0" algn="ctr">
              <a:spcAft>
                <a:spcPct val="60000"/>
              </a:spcAft>
            </a:pPr>
            <a:endParaRPr lang="zh-CN" altLang="en-US" sz="2800" b="1" i="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9266555" y="4221480"/>
            <a:ext cx="1529080" cy="467360"/>
          </a:xfrm>
          <a:prstGeom prst="rect">
            <a:avLst/>
          </a:prstGeom>
        </p:spPr>
        <p:txBody>
          <a:bodyPr>
            <a:noAutofit/>
          </a:bodyPr>
          <a:p>
            <a:pPr marL="0" indent="0"/>
            <a:endParaRPr lang="en-US" altLang="zh-CN" sz="2000" b="0" i="0">
              <a:solidFill>
                <a:schemeClr val="accent2"/>
              </a:solidFill>
              <a:latin typeface="quote-cjk-patch"/>
              <a:ea typeface="quote-cjk-patch"/>
            </a:endParaRPr>
          </a:p>
        </p:txBody>
      </p:sp>
      <p:pic>
        <p:nvPicPr>
          <p:cNvPr id="5" name="图片 4"/>
          <p:cNvPicPr>
            <a:picLocks noChangeAspect="1"/>
          </p:cNvPicPr>
          <p:nvPr/>
        </p:nvPicPr>
        <p:blipFill>
          <a:blip r:embed="rId3"/>
          <a:stretch>
            <a:fillRect/>
          </a:stretch>
        </p:blipFill>
        <p:spPr>
          <a:xfrm>
            <a:off x="913765" y="3837305"/>
            <a:ext cx="10742295" cy="759460"/>
          </a:xfrm>
          <a:prstGeom prst="rect">
            <a:avLst/>
          </a:prstGeom>
        </p:spPr>
      </p:pic>
      <p:sp>
        <p:nvSpPr>
          <p:cNvPr id="6" name="文本框 5"/>
          <p:cNvSpPr txBox="1"/>
          <p:nvPr/>
        </p:nvSpPr>
        <p:spPr>
          <a:xfrm>
            <a:off x="1417955" y="4869180"/>
            <a:ext cx="8895715" cy="1063625"/>
          </a:xfrm>
          <a:prstGeom prst="rect">
            <a:avLst/>
          </a:prstGeom>
          <a:noFill/>
        </p:spPr>
        <p:txBody>
          <a:bodyPr wrap="square" rtlCol="0">
            <a:noAutofit/>
          </a:bodyPr>
          <a:p>
            <a:pPr algn="ctr"/>
            <a:r>
              <a:rPr lang="zh-CN" altLang="en-US">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普林斯顿大学、伊利诺伊大学厄巴纳-香槟分校、罗格斯大学</a:t>
            </a:r>
            <a:endParaRPr lang="en-US" altLang="zh-CN">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advTm="7871">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7171"/>
                                        </p:tgtEl>
                                        <p:attrNameLst>
                                          <p:attrName>style.visibility</p:attrName>
                                        </p:attrNameLst>
                                      </p:cBhvr>
                                      <p:to>
                                        <p:strVal val="visible"/>
                                      </p:to>
                                    </p:set>
                                    <p:anim by="(-#ppt_w*2)" calcmode="lin" valueType="num">
                                      <p:cBhvr rctx="PPT">
                                        <p:cTn id="7" dur="500" autoRev="1" fill="hold">
                                          <p:stCondLst>
                                            <p:cond delay="0"/>
                                          </p:stCondLst>
                                        </p:cTn>
                                        <p:tgtEl>
                                          <p:spTgt spid="7171"/>
                                        </p:tgtEl>
                                        <p:attrNameLst>
                                          <p:attrName>ppt_w</p:attrName>
                                        </p:attrNameLst>
                                      </p:cBhvr>
                                    </p:anim>
                                    <p:anim by="(#ppt_w*0.50)" calcmode="lin" valueType="num">
                                      <p:cBhvr>
                                        <p:cTn id="8" dur="500" decel="50000" autoRev="1" fill="hold">
                                          <p:stCondLst>
                                            <p:cond delay="0"/>
                                          </p:stCondLst>
                                        </p:cTn>
                                        <p:tgtEl>
                                          <p:spTgt spid="7171"/>
                                        </p:tgtEl>
                                        <p:attrNameLst>
                                          <p:attrName>ppt_x</p:attrName>
                                        </p:attrNameLst>
                                      </p:cBhvr>
                                    </p:anim>
                                    <p:anim from="(-#ppt_h/2)" to="(#ppt_y)" calcmode="lin" valueType="num">
                                      <p:cBhvr>
                                        <p:cTn id="9" dur="1000" fill="hold">
                                          <p:stCondLst>
                                            <p:cond delay="0"/>
                                          </p:stCondLst>
                                        </p:cTn>
                                        <p:tgtEl>
                                          <p:spTgt spid="7171"/>
                                        </p:tgtEl>
                                        <p:attrNameLst>
                                          <p:attrName>ppt_y</p:attrName>
                                        </p:attrNameLst>
                                      </p:cBhvr>
                                    </p:anim>
                                    <p:animRot by="21600000">
                                      <p:cBhvr>
                                        <p:cTn id="10" dur="1000" fill="hold">
                                          <p:stCondLst>
                                            <p:cond delay="0"/>
                                          </p:stCondLst>
                                        </p:cTn>
                                        <p:tgtEl>
                                          <p:spTgt spid="7171"/>
                                        </p:tgtEl>
                                        <p:attrNameLst>
                                          <p:attrName>r</p:attrName>
                                        </p:attrNameLst>
                                      </p:cBhvr>
                                    </p:animRot>
                                  </p:childTnLst>
                                </p:cTn>
                              </p:par>
                            </p:childTnLst>
                          </p:cTn>
                        </p:par>
                        <p:par>
                          <p:cTn id="11" fill="hold">
                            <p:stCondLst>
                              <p:cond delay="8899"/>
                            </p:stCondLst>
                            <p:childTnLst>
                              <p:par>
                                <p:cTn id="12" presetID="16" presetClass="entr" presetSubtype="21" fill="hold" grpId="0" nodeType="afterEffect">
                                  <p:stCondLst>
                                    <p:cond delay="0"/>
                                  </p:stCondLst>
                                  <p:childTnLst>
                                    <p:set>
                                      <p:cBhvr>
                                        <p:cTn id="13" dur="1" fill="hold">
                                          <p:stCondLst>
                                            <p:cond delay="0"/>
                                          </p:stCondLst>
                                        </p:cTn>
                                        <p:tgtEl>
                                          <p:spTgt spid="7181"/>
                                        </p:tgtEl>
                                        <p:attrNameLst>
                                          <p:attrName>style.visibility</p:attrName>
                                        </p:attrNameLst>
                                      </p:cBhvr>
                                      <p:to>
                                        <p:strVal val="visible"/>
                                      </p:to>
                                    </p:set>
                                    <p:animEffect transition="in" filter="barn(inVertical)">
                                      <p:cBhvr>
                                        <p:cTn id="14" dur="500"/>
                                        <p:tgtEl>
                                          <p:spTgt spid="7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p:bldP spid="7181"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0">
          <a:blip r:embed="rId1" cstate="print"/>
          <a:stretch>
            <a:fillRect/>
          </a:stretch>
        </a:blipFill>
        <a:effectLst/>
      </p:bgPr>
    </p:bg>
    <p:spTree>
      <p:nvGrpSpPr>
        <p:cNvPr id="1" name=""/>
        <p:cNvGrpSpPr/>
        <p:nvPr/>
      </p:nvGrpSpPr>
      <p:grpSpPr>
        <a:xfrm>
          <a:off x="0" y="0"/>
          <a:ext cx="0" cy="0"/>
          <a:chOff x="0" y="0"/>
          <a:chExt cx="0" cy="0"/>
        </a:xfrm>
      </p:grpSpPr>
      <p:sp>
        <p:nvSpPr>
          <p:cNvPr id="10242" name="Oval 5"/>
          <p:cNvSpPr/>
          <p:nvPr/>
        </p:nvSpPr>
        <p:spPr>
          <a:xfrm>
            <a:off x="4062413" y="627063"/>
            <a:ext cx="4141787" cy="4144962"/>
          </a:xfrm>
          <a:prstGeom prst="ellipse">
            <a:avLst/>
          </a:prstGeom>
          <a:solidFill>
            <a:srgbClr val="FFFFFF"/>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10243" name="Freeform 11"/>
          <p:cNvSpPr>
            <a:spLocks noEditPoints="1"/>
          </p:cNvSpPr>
          <p:nvPr/>
        </p:nvSpPr>
        <p:spPr>
          <a:xfrm>
            <a:off x="5595938" y="936625"/>
            <a:ext cx="1152525" cy="1217613"/>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404" h="1483">
                <a:moveTo>
                  <a:pt x="308" y="0"/>
                </a:moveTo>
                <a:lnTo>
                  <a:pt x="877" y="0"/>
                </a:lnTo>
                <a:cubicBezTo>
                  <a:pt x="984" y="0"/>
                  <a:pt x="1072" y="88"/>
                  <a:pt x="1072" y="195"/>
                </a:cubicBezTo>
                <a:lnTo>
                  <a:pt x="1072" y="456"/>
                </a:lnTo>
                <a:cubicBezTo>
                  <a:pt x="1010" y="504"/>
                  <a:pt x="973" y="550"/>
                  <a:pt x="924" y="616"/>
                </a:cubicBezTo>
                <a:lnTo>
                  <a:pt x="924" y="195"/>
                </a:lnTo>
                <a:cubicBezTo>
                  <a:pt x="924" y="169"/>
                  <a:pt x="903" y="147"/>
                  <a:pt x="877" y="147"/>
                </a:cubicBezTo>
                <a:lnTo>
                  <a:pt x="426" y="147"/>
                </a:lnTo>
                <a:lnTo>
                  <a:pt x="426" y="354"/>
                </a:lnTo>
                <a:cubicBezTo>
                  <a:pt x="426" y="374"/>
                  <a:pt x="409" y="391"/>
                  <a:pt x="389" y="391"/>
                </a:cubicBezTo>
                <a:lnTo>
                  <a:pt x="148" y="391"/>
                </a:lnTo>
                <a:lnTo>
                  <a:pt x="148" y="1111"/>
                </a:lnTo>
                <a:cubicBezTo>
                  <a:pt x="148" y="1138"/>
                  <a:pt x="169" y="1159"/>
                  <a:pt x="196" y="1159"/>
                </a:cubicBezTo>
                <a:lnTo>
                  <a:pt x="647" y="1159"/>
                </a:lnTo>
                <a:cubicBezTo>
                  <a:pt x="632" y="1208"/>
                  <a:pt x="619" y="1257"/>
                  <a:pt x="610" y="1307"/>
                </a:cubicBezTo>
                <a:lnTo>
                  <a:pt x="196" y="1307"/>
                </a:lnTo>
                <a:cubicBezTo>
                  <a:pt x="88" y="1307"/>
                  <a:pt x="0" y="1219"/>
                  <a:pt x="0" y="1111"/>
                </a:cubicBezTo>
                <a:lnTo>
                  <a:pt x="0" y="308"/>
                </a:lnTo>
                <a:lnTo>
                  <a:pt x="308" y="0"/>
                </a:lnTo>
                <a:close/>
                <a:moveTo>
                  <a:pt x="1246" y="478"/>
                </a:moveTo>
                <a:cubicBezTo>
                  <a:pt x="1266" y="490"/>
                  <a:pt x="1279" y="509"/>
                  <a:pt x="1284" y="536"/>
                </a:cubicBezTo>
                <a:cubicBezTo>
                  <a:pt x="1322" y="546"/>
                  <a:pt x="1359" y="571"/>
                  <a:pt x="1386" y="619"/>
                </a:cubicBezTo>
                <a:cubicBezTo>
                  <a:pt x="1404" y="661"/>
                  <a:pt x="1397" y="720"/>
                  <a:pt x="1372" y="765"/>
                </a:cubicBezTo>
                <a:cubicBezTo>
                  <a:pt x="1330" y="843"/>
                  <a:pt x="1273" y="938"/>
                  <a:pt x="1222" y="1016"/>
                </a:cubicBezTo>
                <a:cubicBezTo>
                  <a:pt x="1190" y="1029"/>
                  <a:pt x="1196" y="961"/>
                  <a:pt x="1208" y="944"/>
                </a:cubicBezTo>
                <a:cubicBezTo>
                  <a:pt x="1249" y="882"/>
                  <a:pt x="1284" y="824"/>
                  <a:pt x="1317" y="713"/>
                </a:cubicBezTo>
                <a:cubicBezTo>
                  <a:pt x="1324" y="661"/>
                  <a:pt x="1300" y="637"/>
                  <a:pt x="1284" y="614"/>
                </a:cubicBezTo>
                <a:cubicBezTo>
                  <a:pt x="1283" y="618"/>
                  <a:pt x="1282" y="623"/>
                  <a:pt x="1281" y="628"/>
                </a:cubicBezTo>
                <a:cubicBezTo>
                  <a:pt x="1250" y="614"/>
                  <a:pt x="1220" y="599"/>
                  <a:pt x="1189" y="582"/>
                </a:cubicBezTo>
                <a:cubicBezTo>
                  <a:pt x="1158" y="565"/>
                  <a:pt x="1129" y="543"/>
                  <a:pt x="1099" y="523"/>
                </a:cubicBezTo>
                <a:cubicBezTo>
                  <a:pt x="1157" y="473"/>
                  <a:pt x="1207" y="456"/>
                  <a:pt x="1246" y="478"/>
                </a:cubicBezTo>
                <a:close/>
                <a:moveTo>
                  <a:pt x="1268" y="683"/>
                </a:moveTo>
                <a:cubicBezTo>
                  <a:pt x="1242" y="770"/>
                  <a:pt x="1192" y="879"/>
                  <a:pt x="1121" y="1002"/>
                </a:cubicBezTo>
                <a:cubicBezTo>
                  <a:pt x="1086" y="1064"/>
                  <a:pt x="1045" y="1123"/>
                  <a:pt x="1003" y="1178"/>
                </a:cubicBezTo>
                <a:cubicBezTo>
                  <a:pt x="964" y="1159"/>
                  <a:pt x="925" y="1138"/>
                  <a:pt x="885" y="1116"/>
                </a:cubicBezTo>
                <a:cubicBezTo>
                  <a:pt x="843" y="1094"/>
                  <a:pt x="804" y="1066"/>
                  <a:pt x="764" y="1039"/>
                </a:cubicBezTo>
                <a:cubicBezTo>
                  <a:pt x="790" y="976"/>
                  <a:pt x="821" y="911"/>
                  <a:pt x="857" y="849"/>
                </a:cubicBezTo>
                <a:cubicBezTo>
                  <a:pt x="927" y="727"/>
                  <a:pt x="996" y="628"/>
                  <a:pt x="1058" y="562"/>
                </a:cubicBezTo>
                <a:cubicBezTo>
                  <a:pt x="1091" y="584"/>
                  <a:pt x="1124" y="608"/>
                  <a:pt x="1159" y="628"/>
                </a:cubicBezTo>
                <a:cubicBezTo>
                  <a:pt x="1195" y="649"/>
                  <a:pt x="1232" y="664"/>
                  <a:pt x="1268" y="683"/>
                </a:cubicBezTo>
                <a:close/>
                <a:moveTo>
                  <a:pt x="968" y="1222"/>
                </a:moveTo>
                <a:cubicBezTo>
                  <a:pt x="839" y="1379"/>
                  <a:pt x="708" y="1483"/>
                  <a:pt x="678" y="1466"/>
                </a:cubicBezTo>
                <a:cubicBezTo>
                  <a:pt x="648" y="1448"/>
                  <a:pt x="672" y="1283"/>
                  <a:pt x="743" y="1092"/>
                </a:cubicBezTo>
                <a:cubicBezTo>
                  <a:pt x="779" y="1116"/>
                  <a:pt x="816" y="1140"/>
                  <a:pt x="854" y="1162"/>
                </a:cubicBezTo>
                <a:cubicBezTo>
                  <a:pt x="892" y="1184"/>
                  <a:pt x="930" y="1202"/>
                  <a:pt x="968" y="1222"/>
                </a:cubicBezTo>
                <a:close/>
                <a:moveTo>
                  <a:pt x="508" y="258"/>
                </a:moveTo>
                <a:lnTo>
                  <a:pt x="833" y="258"/>
                </a:lnTo>
                <a:lnTo>
                  <a:pt x="833" y="333"/>
                </a:lnTo>
                <a:lnTo>
                  <a:pt x="508" y="333"/>
                </a:lnTo>
                <a:lnTo>
                  <a:pt x="508" y="258"/>
                </a:lnTo>
                <a:close/>
                <a:moveTo>
                  <a:pt x="256" y="756"/>
                </a:moveTo>
                <a:lnTo>
                  <a:pt x="446" y="756"/>
                </a:lnTo>
                <a:lnTo>
                  <a:pt x="446" y="831"/>
                </a:lnTo>
                <a:lnTo>
                  <a:pt x="256" y="831"/>
                </a:lnTo>
                <a:lnTo>
                  <a:pt x="256" y="756"/>
                </a:lnTo>
                <a:close/>
                <a:moveTo>
                  <a:pt x="256" y="583"/>
                </a:moveTo>
                <a:lnTo>
                  <a:pt x="833" y="583"/>
                </a:lnTo>
                <a:lnTo>
                  <a:pt x="833" y="658"/>
                </a:lnTo>
                <a:lnTo>
                  <a:pt x="256" y="658"/>
                </a:lnTo>
                <a:lnTo>
                  <a:pt x="256" y="583"/>
                </a:lnTo>
                <a:close/>
                <a:moveTo>
                  <a:pt x="256" y="423"/>
                </a:moveTo>
                <a:lnTo>
                  <a:pt x="833" y="423"/>
                </a:lnTo>
                <a:lnTo>
                  <a:pt x="833" y="498"/>
                </a:lnTo>
                <a:lnTo>
                  <a:pt x="256" y="498"/>
                </a:lnTo>
                <a:lnTo>
                  <a:pt x="256" y="423"/>
                </a:lnTo>
                <a:close/>
                <a:moveTo>
                  <a:pt x="192" y="323"/>
                </a:moveTo>
                <a:lnTo>
                  <a:pt x="334" y="323"/>
                </a:lnTo>
                <a:cubicBezTo>
                  <a:pt x="347" y="323"/>
                  <a:pt x="359" y="312"/>
                  <a:pt x="359" y="299"/>
                </a:cubicBezTo>
                <a:lnTo>
                  <a:pt x="359" y="157"/>
                </a:lnTo>
                <a:lnTo>
                  <a:pt x="192" y="323"/>
                </a:lnTo>
                <a:close/>
              </a:path>
            </a:pathLst>
          </a:custGeom>
          <a:solidFill>
            <a:srgbClr val="113E6A"/>
          </a:solidFill>
          <a:ln w="9525">
            <a:noFill/>
          </a:ln>
        </p:spPr>
        <p:txBody>
          <a:bodyPr/>
          <a:lstStyle/>
          <a:p>
            <a:endParaRPr lang="zh-CN" altLang="en-US"/>
          </a:p>
        </p:txBody>
      </p:sp>
      <p:sp>
        <p:nvSpPr>
          <p:cNvPr id="10244" name="Line 12"/>
          <p:cNvSpPr/>
          <p:nvPr/>
        </p:nvSpPr>
        <p:spPr>
          <a:xfrm>
            <a:off x="4195763" y="2740025"/>
            <a:ext cx="3808412" cy="0"/>
          </a:xfrm>
          <a:prstGeom prst="line">
            <a:avLst/>
          </a:prstGeom>
          <a:ln w="12700" cap="flat" cmpd="sng">
            <a:solidFill>
              <a:schemeClr val="bg2"/>
            </a:solidFill>
            <a:prstDash val="solid"/>
            <a:round/>
            <a:headEnd type="none" w="med" len="med"/>
            <a:tailEnd type="none" w="med" len="med"/>
          </a:ln>
        </p:spPr>
      </p:sp>
      <p:sp>
        <p:nvSpPr>
          <p:cNvPr id="10245" name="TextBox 77"/>
          <p:cNvSpPr txBox="1"/>
          <p:nvPr/>
        </p:nvSpPr>
        <p:spPr>
          <a:xfrm>
            <a:off x="4548188" y="3068638"/>
            <a:ext cx="3168650" cy="768350"/>
          </a:xfrm>
          <a:prstGeom prst="rect">
            <a:avLst/>
          </a:prstGeom>
          <a:noFill/>
          <a:ln w="9525">
            <a:noFill/>
          </a:ln>
        </p:spPr>
        <p:txBody>
          <a:bodyPr anchor="t">
            <a:spAutoFit/>
          </a:bodyPr>
          <a:lstStyle/>
          <a:p>
            <a:pPr algn="ctr"/>
            <a:r>
              <a:rPr lang="zh-CN" altLang="en-US" sz="4400" b="1" dirty="0">
                <a:solidFill>
                  <a:srgbClr val="363636"/>
                </a:solidFill>
                <a:latin typeface="微软雅黑" panose="020B0503020204020204" pitchFamily="34" charset="-122"/>
                <a:ea typeface="微软雅黑" panose="020B0503020204020204" pitchFamily="34" charset="-122"/>
              </a:rPr>
              <a:t>摘要</a:t>
            </a:r>
            <a:endParaRPr lang="zh-CN" altLang="en-US" sz="4400" b="1" dirty="0">
              <a:solidFill>
                <a:srgbClr val="363636"/>
              </a:solidFill>
              <a:latin typeface="微软雅黑" panose="020B0503020204020204" pitchFamily="34" charset="-122"/>
              <a:ea typeface="微软雅黑" panose="020B0503020204020204" pitchFamily="34" charset="-122"/>
            </a:endParaRPr>
          </a:p>
        </p:txBody>
      </p:sp>
      <p:sp>
        <p:nvSpPr>
          <p:cNvPr id="10246" name="Rectangle 14"/>
          <p:cNvSpPr/>
          <p:nvPr/>
        </p:nvSpPr>
        <p:spPr>
          <a:xfrm>
            <a:off x="5634038" y="2255838"/>
            <a:ext cx="930275" cy="400050"/>
          </a:xfrm>
          <a:prstGeom prst="rect">
            <a:avLst/>
          </a:prstGeom>
          <a:noFill/>
          <a:ln w="9525">
            <a:noFill/>
          </a:ln>
        </p:spPr>
        <p:txBody>
          <a:bodyPr wrap="none" lIns="0" tIns="0" rIns="0" bIns="0" anchor="t">
            <a:spAutoFit/>
          </a:bodyPr>
          <a:lstStyle/>
          <a:p>
            <a:r>
              <a:rPr lang="zh-CN" altLang="en-US" sz="2600" dirty="0">
                <a:solidFill>
                  <a:srgbClr val="363636"/>
                </a:solidFill>
                <a:latin typeface="微软雅黑" panose="020B0503020204020204" pitchFamily="34" charset="-122"/>
                <a:ea typeface="微软雅黑" panose="020B0503020204020204" pitchFamily="34" charset="-122"/>
              </a:rPr>
              <a:t>Part 1</a:t>
            </a:r>
            <a:endParaRPr lang="zh-CN" altLang="en-US" sz="2600" dirty="0">
              <a:solidFill>
                <a:srgbClr val="363636"/>
              </a:solidFill>
              <a:latin typeface="微软雅黑" panose="020B0503020204020204" pitchFamily="34" charset="-122"/>
              <a:ea typeface="微软雅黑" panose="020B0503020204020204" pitchFamily="34" charset="-122"/>
            </a:endParaRPr>
          </a:p>
        </p:txBody>
      </p:sp>
      <p:pic>
        <p:nvPicPr>
          <p:cNvPr id="19" name="图片 1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8741" y="91674"/>
            <a:ext cx="2646380" cy="503185"/>
          </a:xfrm>
          <a:prstGeom prst="rect">
            <a:avLst/>
          </a:prstGeom>
        </p:spPr>
      </p:pic>
    </p:spTree>
  </p:cSld>
  <p:clrMapOvr>
    <a:masterClrMapping/>
  </p:clrMapOvr>
  <p:transition advTm="856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wheel(1)">
                                      <p:cBhvr>
                                        <p:cTn id="7" dur="2000"/>
                                        <p:tgtEl>
                                          <p:spTgt spid="10242"/>
                                        </p:tgtEl>
                                      </p:cBhvr>
                                    </p:animEffect>
                                  </p:childTnLst>
                                </p:cTn>
                              </p:par>
                            </p:childTnLst>
                          </p:cTn>
                        </p:par>
                        <p:par>
                          <p:cTn id="8" fill="hold">
                            <p:stCondLst>
                              <p:cond delay="2000"/>
                            </p:stCondLst>
                            <p:childTnLst>
                              <p:par>
                                <p:cTn id="9" presetID="31" presetClass="entr" presetSubtype="0" fill="hold" nodeType="afterEffect">
                                  <p:stCondLst>
                                    <p:cond delay="0"/>
                                  </p:stCondLst>
                                  <p:childTnLst>
                                    <p:set>
                                      <p:cBhvr>
                                        <p:cTn id="10" dur="1" fill="hold">
                                          <p:stCondLst>
                                            <p:cond delay="0"/>
                                          </p:stCondLst>
                                        </p:cTn>
                                        <p:tgtEl>
                                          <p:spTgt spid="10243"/>
                                        </p:tgtEl>
                                        <p:attrNameLst>
                                          <p:attrName>style.visibility</p:attrName>
                                        </p:attrNameLst>
                                      </p:cBhvr>
                                      <p:to>
                                        <p:strVal val="visible"/>
                                      </p:to>
                                    </p:set>
                                    <p:anim calcmode="lin" valueType="num">
                                      <p:cBhvr>
                                        <p:cTn id="11" dur="400" fill="hold"/>
                                        <p:tgtEl>
                                          <p:spTgt spid="10243"/>
                                        </p:tgtEl>
                                        <p:attrNameLst>
                                          <p:attrName>ppt_w</p:attrName>
                                        </p:attrNameLst>
                                      </p:cBhvr>
                                      <p:tavLst>
                                        <p:tav tm="0">
                                          <p:val>
                                            <p:fltVal val="0"/>
                                          </p:val>
                                        </p:tav>
                                        <p:tav tm="100000">
                                          <p:val>
                                            <p:strVal val="#ppt_w"/>
                                          </p:val>
                                        </p:tav>
                                      </p:tavLst>
                                    </p:anim>
                                    <p:anim calcmode="lin" valueType="num">
                                      <p:cBhvr>
                                        <p:cTn id="12" dur="400" fill="hold"/>
                                        <p:tgtEl>
                                          <p:spTgt spid="10243"/>
                                        </p:tgtEl>
                                        <p:attrNameLst>
                                          <p:attrName>ppt_h</p:attrName>
                                        </p:attrNameLst>
                                      </p:cBhvr>
                                      <p:tavLst>
                                        <p:tav tm="0">
                                          <p:val>
                                            <p:fltVal val="0"/>
                                          </p:val>
                                        </p:tav>
                                        <p:tav tm="100000">
                                          <p:val>
                                            <p:strVal val="#ppt_h"/>
                                          </p:val>
                                        </p:tav>
                                      </p:tavLst>
                                    </p:anim>
                                    <p:anim calcmode="lin" valueType="num">
                                      <p:cBhvr>
                                        <p:cTn id="13" dur="400" fill="hold"/>
                                        <p:tgtEl>
                                          <p:spTgt spid="10243"/>
                                        </p:tgtEl>
                                        <p:attrNameLst>
                                          <p:attrName>style.rotation</p:attrName>
                                        </p:attrNameLst>
                                      </p:cBhvr>
                                      <p:tavLst>
                                        <p:tav tm="0">
                                          <p:val>
                                            <p:fltVal val="90"/>
                                          </p:val>
                                        </p:tav>
                                        <p:tav tm="100000">
                                          <p:val>
                                            <p:fltVal val="0"/>
                                          </p:val>
                                        </p:tav>
                                      </p:tavLst>
                                    </p:anim>
                                    <p:animEffect transition="in" filter="fade">
                                      <p:cBhvr>
                                        <p:cTn id="14" dur="400"/>
                                        <p:tgtEl>
                                          <p:spTgt spid="10243"/>
                                        </p:tgtEl>
                                      </p:cBhvr>
                                    </p:animEffect>
                                  </p:childTnLst>
                                </p:cTn>
                              </p:par>
                            </p:childTnLst>
                          </p:cTn>
                        </p:par>
                        <p:par>
                          <p:cTn id="15" fill="hold">
                            <p:stCondLst>
                              <p:cond delay="2500"/>
                            </p:stCondLst>
                            <p:childTnLst>
                              <p:par>
                                <p:cTn id="16" presetID="16" presetClass="entr" presetSubtype="21" fill="hold" nodeType="afterEffect">
                                  <p:stCondLst>
                                    <p:cond delay="0"/>
                                  </p:stCondLst>
                                  <p:childTnLst>
                                    <p:set>
                                      <p:cBhvr>
                                        <p:cTn id="17" dur="1" fill="hold">
                                          <p:stCondLst>
                                            <p:cond delay="0"/>
                                          </p:stCondLst>
                                        </p:cTn>
                                        <p:tgtEl>
                                          <p:spTgt spid="10244"/>
                                        </p:tgtEl>
                                        <p:attrNameLst>
                                          <p:attrName>style.visibility</p:attrName>
                                        </p:attrNameLst>
                                      </p:cBhvr>
                                      <p:to>
                                        <p:strVal val="visible"/>
                                      </p:to>
                                    </p:set>
                                    <p:animEffect transition="in" filter="barn(inVertical)">
                                      <p:cBhvr>
                                        <p:cTn id="18" dur="500"/>
                                        <p:tgtEl>
                                          <p:spTgt spid="10244"/>
                                        </p:tgtEl>
                                      </p:cBhvr>
                                    </p:animEffect>
                                  </p:childTnLst>
                                </p:cTn>
                              </p:par>
                            </p:childTnLst>
                          </p:cTn>
                        </p:par>
                        <p:par>
                          <p:cTn id="19" fill="hold">
                            <p:stCondLst>
                              <p:cond delay="3000"/>
                            </p:stCondLst>
                            <p:childTnLst>
                              <p:par>
                                <p:cTn id="20" presetID="22" presetClass="entr" presetSubtype="1" fill="hold" grpId="0" nodeType="afterEffect">
                                  <p:stCondLst>
                                    <p:cond delay="0"/>
                                  </p:stCondLst>
                                  <p:childTnLst>
                                    <p:set>
                                      <p:cBhvr>
                                        <p:cTn id="21" dur="1" fill="hold">
                                          <p:stCondLst>
                                            <p:cond delay="0"/>
                                          </p:stCondLst>
                                        </p:cTn>
                                        <p:tgtEl>
                                          <p:spTgt spid="10245"/>
                                        </p:tgtEl>
                                        <p:attrNameLst>
                                          <p:attrName>style.visibility</p:attrName>
                                        </p:attrNameLst>
                                      </p:cBhvr>
                                      <p:to>
                                        <p:strVal val="visible"/>
                                      </p:to>
                                    </p:set>
                                    <p:animEffect transition="in" filter="wipe(up)">
                                      <p:cBhvr>
                                        <p:cTn id="22" dur="500"/>
                                        <p:tgtEl>
                                          <p:spTgt spid="10245"/>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0246"/>
                                        </p:tgtEl>
                                        <p:attrNameLst>
                                          <p:attrName>style.visibility</p:attrName>
                                        </p:attrNameLst>
                                      </p:cBhvr>
                                      <p:to>
                                        <p:strVal val="visible"/>
                                      </p:to>
                                    </p:set>
                                    <p:animEffect transition="in" filter="wipe(down)">
                                      <p:cBhvr>
                                        <p:cTn id="25" dur="500"/>
                                        <p:tgtEl>
                                          <p:spTgt spid="102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animBg="1"/>
      <p:bldP spid="10245" grpId="0"/>
      <p:bldP spid="1024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944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摘要</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pic>
        <p:nvPicPr>
          <p:cNvPr id="15364" name="Picture 2" descr="F:\快盘\商务图片\png\2531170_084420255000_2.png"/>
          <p:cNvPicPr>
            <a:picLocks noChangeAspect="1"/>
          </p:cNvPicPr>
          <p:nvPr/>
        </p:nvPicPr>
        <p:blipFill>
          <a:blip r:embed="rId1" cstate="print"/>
          <a:stretch>
            <a:fillRect/>
          </a:stretch>
        </p:blipFill>
        <p:spPr>
          <a:xfrm>
            <a:off x="8042910" y="1124585"/>
            <a:ext cx="3575050" cy="4467225"/>
          </a:xfrm>
          <a:prstGeom prst="rect">
            <a:avLst/>
          </a:prstGeom>
          <a:noFill/>
          <a:ln w="9525">
            <a:noFill/>
          </a:ln>
        </p:spPr>
      </p:pic>
      <p:sp>
        <p:nvSpPr>
          <p:cNvPr id="2" name="文本框 1"/>
          <p:cNvSpPr txBox="1"/>
          <p:nvPr/>
        </p:nvSpPr>
        <p:spPr>
          <a:xfrm>
            <a:off x="913765" y="1052830"/>
            <a:ext cx="7028180" cy="2089785"/>
          </a:xfrm>
          <a:prstGeom prst="rect">
            <a:avLst/>
          </a:prstGeom>
          <a:noFill/>
        </p:spPr>
        <p:txBody>
          <a:bodyPr wrap="square" rtlCol="0">
            <a:no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大型语言模型的推理速度受到其逐个 Token 生成模式的严重限制，导致推理过程呈现出极高的延迟和较低的计算带宽利用率</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a:p>
          <a:p>
            <a:pPr>
              <a:lnSpc>
                <a:spcPct val="150000"/>
              </a:lnSpc>
            </a:pPr>
            <a:r>
              <a:rPr lang="zh-CN" altLang="en-US" dirty="0">
                <a:solidFill>
                  <a:schemeClr val="accent1"/>
                </a:solidFill>
                <a:latin typeface="微软雅黑" panose="020B0503020204020204" pitchFamily="34" charset="-122"/>
                <a:ea typeface="微软雅黑" panose="020B0503020204020204" pitchFamily="34" charset="-122"/>
                <a:cs typeface="+mn-ea"/>
                <a:sym typeface="+mn-ea"/>
              </a:rPr>
              <a:t>本文提出了一种名为 MEDUSA 的简单架构，旨在加速 LLM 的推理</a:t>
            </a:r>
            <a:endParaRPr lang="zh-CN" altLang="en-US"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par>
                          <p:cTn id="19" fill="hold">
                            <p:stCondLst>
                              <p:cond delay="740"/>
                            </p:stCondLst>
                            <p:childTnLst>
                              <p:par>
                                <p:cTn id="20" presetID="42" presetClass="entr" presetSubtype="0" fill="hold" nodeType="afterEffect">
                                  <p:stCondLst>
                                    <p:cond delay="0"/>
                                  </p:stCondLst>
                                  <p:childTnLst>
                                    <p:set>
                                      <p:cBhvr>
                                        <p:cTn id="21" dur="1" fill="hold">
                                          <p:stCondLst>
                                            <p:cond delay="0"/>
                                          </p:stCondLst>
                                        </p:cTn>
                                        <p:tgtEl>
                                          <p:spTgt spid="15364"/>
                                        </p:tgtEl>
                                        <p:attrNameLst>
                                          <p:attrName>style.visibility</p:attrName>
                                        </p:attrNameLst>
                                      </p:cBhvr>
                                      <p:to>
                                        <p:strVal val="visible"/>
                                      </p:to>
                                    </p:set>
                                    <p:animEffect transition="in" filter="fade">
                                      <p:cBhvr>
                                        <p:cTn id="22" dur="1000"/>
                                        <p:tgtEl>
                                          <p:spTgt spid="15364"/>
                                        </p:tgtEl>
                                      </p:cBhvr>
                                    </p:animEffect>
                                    <p:anim calcmode="lin" valueType="num">
                                      <p:cBhvr>
                                        <p:cTn id="23" dur="1000" fill="hold"/>
                                        <p:tgtEl>
                                          <p:spTgt spid="15364"/>
                                        </p:tgtEl>
                                        <p:attrNameLst>
                                          <p:attrName>ppt_x</p:attrName>
                                        </p:attrNameLst>
                                      </p:cBhvr>
                                      <p:tavLst>
                                        <p:tav tm="0">
                                          <p:val>
                                            <p:strVal val="#ppt_x"/>
                                          </p:val>
                                        </p:tav>
                                        <p:tav tm="100000">
                                          <p:val>
                                            <p:strVal val="#ppt_x"/>
                                          </p:val>
                                        </p:tav>
                                      </p:tavLst>
                                    </p:anim>
                                    <p:anim calcmode="lin" valueType="num">
                                      <p:cBhvr>
                                        <p:cTn id="24" dur="1000" fill="hold"/>
                                        <p:tgtEl>
                                          <p:spTgt spid="1536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944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摘要</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pic>
        <p:nvPicPr>
          <p:cNvPr id="15364" name="Picture 2" descr="F:\快盘\商务图片\png\2531170_084420255000_2.png"/>
          <p:cNvPicPr>
            <a:picLocks noChangeAspect="1"/>
          </p:cNvPicPr>
          <p:nvPr/>
        </p:nvPicPr>
        <p:blipFill>
          <a:blip r:embed="rId1" cstate="print"/>
          <a:stretch>
            <a:fillRect/>
          </a:stretch>
        </p:blipFill>
        <p:spPr>
          <a:xfrm>
            <a:off x="8042910" y="1124585"/>
            <a:ext cx="3575050" cy="4467225"/>
          </a:xfrm>
          <a:prstGeom prst="rect">
            <a:avLst/>
          </a:prstGeom>
          <a:noFill/>
          <a:ln w="9525">
            <a:noFill/>
          </a:ln>
        </p:spPr>
      </p:pic>
      <p:sp>
        <p:nvSpPr>
          <p:cNvPr id="2" name="文本框 1"/>
          <p:cNvSpPr txBox="1"/>
          <p:nvPr/>
        </p:nvSpPr>
        <p:spPr>
          <a:xfrm>
            <a:off x="913765" y="1052830"/>
            <a:ext cx="7412990" cy="4939030"/>
          </a:xfrm>
          <a:prstGeom prst="rect">
            <a:avLst/>
          </a:prstGeom>
          <a:noFill/>
        </p:spPr>
        <p:txBody>
          <a:bodyPr wrap="square" rtlCol="0">
            <a:no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sym typeface="+mn-ea"/>
              </a:rPr>
              <a:t>MEDUSA </a:t>
            </a:r>
            <a:r>
              <a:rPr lang="zh-CN" altLang="en-US" sz="1800" dirty="0">
                <a:solidFill>
                  <a:schemeClr val="accent1"/>
                </a:solidFill>
                <a:latin typeface="微软雅黑" panose="020B0503020204020204" pitchFamily="34" charset="-122"/>
                <a:ea typeface="微软雅黑" panose="020B0503020204020204" pitchFamily="34" charset="-122"/>
                <a:cs typeface="+mn-ea"/>
              </a:rPr>
              <a:t>在原始 LLM 顶层额外增加多个 MEDUSA 解码头，实现对未来多个位置 Token 的并行预测</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采用 Tree Attention 机制同时验证多个候选路径，有效利用了 GPU 的并行计算能力</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针对缺乏原始训练数据或经过对齐（RLHF）的模型，提出了两阶段微调（MEDUSA-2）和自蒸馏流程，在保持模型原有智力的同时实现加速</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par>
                          <p:cTn id="19" fill="hold">
                            <p:stCondLst>
                              <p:cond delay="740"/>
                            </p:stCondLst>
                            <p:childTnLst>
                              <p:par>
                                <p:cTn id="20" presetID="42" presetClass="entr" presetSubtype="0" fill="hold" nodeType="afterEffect">
                                  <p:stCondLst>
                                    <p:cond delay="0"/>
                                  </p:stCondLst>
                                  <p:childTnLst>
                                    <p:set>
                                      <p:cBhvr>
                                        <p:cTn id="21" dur="1" fill="hold">
                                          <p:stCondLst>
                                            <p:cond delay="0"/>
                                          </p:stCondLst>
                                        </p:cTn>
                                        <p:tgtEl>
                                          <p:spTgt spid="15364"/>
                                        </p:tgtEl>
                                        <p:attrNameLst>
                                          <p:attrName>style.visibility</p:attrName>
                                        </p:attrNameLst>
                                      </p:cBhvr>
                                      <p:to>
                                        <p:strVal val="visible"/>
                                      </p:to>
                                    </p:set>
                                    <p:animEffect transition="in" filter="fade">
                                      <p:cBhvr>
                                        <p:cTn id="22" dur="1000"/>
                                        <p:tgtEl>
                                          <p:spTgt spid="15364"/>
                                        </p:tgtEl>
                                      </p:cBhvr>
                                    </p:animEffect>
                                    <p:anim calcmode="lin" valueType="num">
                                      <p:cBhvr>
                                        <p:cTn id="23" dur="1000" fill="hold"/>
                                        <p:tgtEl>
                                          <p:spTgt spid="15364"/>
                                        </p:tgtEl>
                                        <p:attrNameLst>
                                          <p:attrName>ppt_x</p:attrName>
                                        </p:attrNameLst>
                                      </p:cBhvr>
                                      <p:tavLst>
                                        <p:tav tm="0">
                                          <p:val>
                                            <p:strVal val="#ppt_x"/>
                                          </p:val>
                                        </p:tav>
                                        <p:tav tm="100000">
                                          <p:val>
                                            <p:strVal val="#ppt_x"/>
                                          </p:val>
                                        </p:tav>
                                      </p:tavLst>
                                    </p:anim>
                                    <p:anim calcmode="lin" valueType="num">
                                      <p:cBhvr>
                                        <p:cTn id="24" dur="1000" fill="hold"/>
                                        <p:tgtEl>
                                          <p:spTgt spid="1536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944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摘要</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pic>
        <p:nvPicPr>
          <p:cNvPr id="15364" name="Picture 2" descr="F:\快盘\商务图片\png\2531170_084420255000_2.png"/>
          <p:cNvPicPr>
            <a:picLocks noChangeAspect="1"/>
          </p:cNvPicPr>
          <p:nvPr/>
        </p:nvPicPr>
        <p:blipFill>
          <a:blip r:embed="rId1" cstate="print"/>
          <a:stretch>
            <a:fillRect/>
          </a:stretch>
        </p:blipFill>
        <p:spPr>
          <a:xfrm>
            <a:off x="8042910" y="1124585"/>
            <a:ext cx="3575050" cy="4467225"/>
          </a:xfrm>
          <a:prstGeom prst="rect">
            <a:avLst/>
          </a:prstGeom>
          <a:noFill/>
          <a:ln w="9525">
            <a:noFill/>
          </a:ln>
        </p:spPr>
      </p:pic>
      <p:sp>
        <p:nvSpPr>
          <p:cNvPr id="2" name="文本框 1"/>
          <p:cNvSpPr txBox="1"/>
          <p:nvPr/>
        </p:nvSpPr>
        <p:spPr>
          <a:xfrm>
            <a:off x="913765" y="1052830"/>
            <a:ext cx="7412990" cy="4939030"/>
          </a:xfrm>
          <a:prstGeom prst="rect">
            <a:avLst/>
          </a:prstGeom>
          <a:noFill/>
        </p:spPr>
        <p:txBody>
          <a:bodyPr wrap="square" rtlCol="0">
            <a:no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实验表明，</a:t>
            </a:r>
            <a:r>
              <a:rPr lang="en-US" altLang="zh-CN" sz="1800" dirty="0">
                <a:solidFill>
                  <a:schemeClr val="accent1"/>
                </a:solidFill>
                <a:latin typeface="微软雅黑" panose="020B0503020204020204" pitchFamily="34" charset="-122"/>
                <a:ea typeface="微软雅黑" panose="020B0503020204020204" pitchFamily="34" charset="-122"/>
                <a:cs typeface="+mn-ea"/>
              </a:rPr>
              <a:t>MEDUSA </a:t>
            </a:r>
            <a:r>
              <a:rPr lang="zh-CN" altLang="en-US" sz="1800" dirty="0">
                <a:solidFill>
                  <a:schemeClr val="accent1"/>
                </a:solidFill>
                <a:latin typeface="微软雅黑" panose="020B0503020204020204" pitchFamily="34" charset="-122"/>
                <a:ea typeface="微软雅黑" panose="020B0503020204020204" pitchFamily="34" charset="-122"/>
                <a:cs typeface="+mn-ea"/>
              </a:rPr>
              <a:t>在不损害模型输出质量的前提下，能将推理速度提升 2.2 倍至 3.6 倍。由于其不需要额外训练草稿模型</a:t>
            </a:r>
            <a:r>
              <a:rPr lang="en-US" altLang="zh-CN" sz="1800" dirty="0">
                <a:solidFill>
                  <a:schemeClr val="accent1"/>
                </a:solidFill>
                <a:latin typeface="微软雅黑" panose="020B0503020204020204" pitchFamily="34" charset="-122"/>
                <a:ea typeface="微软雅黑" panose="020B0503020204020204" pitchFamily="34" charset="-122"/>
                <a:cs typeface="+mn-ea"/>
              </a:rPr>
              <a:t>，</a:t>
            </a:r>
            <a:r>
              <a:rPr lang="zh-CN" altLang="en-US" sz="1800" dirty="0">
                <a:solidFill>
                  <a:schemeClr val="accent1"/>
                </a:solidFill>
                <a:latin typeface="微软雅黑" panose="020B0503020204020204" pitchFamily="34" charset="-122"/>
                <a:ea typeface="微软雅黑" panose="020B0503020204020204" pitchFamily="34" charset="-122"/>
                <a:cs typeface="+mn-ea"/>
              </a:rPr>
              <a:t>该方案在部署上具有极高的灵活性与兼容性</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par>
                          <p:cTn id="19" fill="hold">
                            <p:stCondLst>
                              <p:cond delay="740"/>
                            </p:stCondLst>
                            <p:childTnLst>
                              <p:par>
                                <p:cTn id="20" presetID="42" presetClass="entr" presetSubtype="0" fill="hold" nodeType="afterEffect">
                                  <p:stCondLst>
                                    <p:cond delay="0"/>
                                  </p:stCondLst>
                                  <p:childTnLst>
                                    <p:set>
                                      <p:cBhvr>
                                        <p:cTn id="21" dur="1" fill="hold">
                                          <p:stCondLst>
                                            <p:cond delay="0"/>
                                          </p:stCondLst>
                                        </p:cTn>
                                        <p:tgtEl>
                                          <p:spTgt spid="15364"/>
                                        </p:tgtEl>
                                        <p:attrNameLst>
                                          <p:attrName>style.visibility</p:attrName>
                                        </p:attrNameLst>
                                      </p:cBhvr>
                                      <p:to>
                                        <p:strVal val="visible"/>
                                      </p:to>
                                    </p:set>
                                    <p:animEffect transition="in" filter="fade">
                                      <p:cBhvr>
                                        <p:cTn id="22" dur="1000"/>
                                        <p:tgtEl>
                                          <p:spTgt spid="15364"/>
                                        </p:tgtEl>
                                      </p:cBhvr>
                                    </p:animEffect>
                                    <p:anim calcmode="lin" valueType="num">
                                      <p:cBhvr>
                                        <p:cTn id="23" dur="1000" fill="hold"/>
                                        <p:tgtEl>
                                          <p:spTgt spid="15364"/>
                                        </p:tgtEl>
                                        <p:attrNameLst>
                                          <p:attrName>ppt_x</p:attrName>
                                        </p:attrNameLst>
                                      </p:cBhvr>
                                      <p:tavLst>
                                        <p:tav tm="0">
                                          <p:val>
                                            <p:strVal val="#ppt_x"/>
                                          </p:val>
                                        </p:tav>
                                        <p:tav tm="100000">
                                          <p:val>
                                            <p:strVal val="#ppt_x"/>
                                          </p:val>
                                        </p:tav>
                                      </p:tavLst>
                                    </p:anim>
                                    <p:anim calcmode="lin" valueType="num">
                                      <p:cBhvr>
                                        <p:cTn id="24" dur="1000" fill="hold"/>
                                        <p:tgtEl>
                                          <p:spTgt spid="1536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0">
          <a:blip r:embed="rId1" cstate="print"/>
          <a:stretch>
            <a:fillRect/>
          </a:stretch>
        </a:blipFill>
        <a:effectLst/>
      </p:bgPr>
    </p:bg>
    <p:spTree>
      <p:nvGrpSpPr>
        <p:cNvPr id="1" name=""/>
        <p:cNvGrpSpPr/>
        <p:nvPr/>
      </p:nvGrpSpPr>
      <p:grpSpPr>
        <a:xfrm>
          <a:off x="0" y="0"/>
          <a:ext cx="0" cy="0"/>
          <a:chOff x="0" y="0"/>
          <a:chExt cx="0" cy="0"/>
        </a:xfrm>
      </p:grpSpPr>
      <p:sp>
        <p:nvSpPr>
          <p:cNvPr id="17410" name="Oval 5"/>
          <p:cNvSpPr/>
          <p:nvPr/>
        </p:nvSpPr>
        <p:spPr>
          <a:xfrm>
            <a:off x="4062413" y="627063"/>
            <a:ext cx="4141787" cy="4144962"/>
          </a:xfrm>
          <a:prstGeom prst="ellipse">
            <a:avLst/>
          </a:prstGeom>
          <a:solidFill>
            <a:srgbClr val="FFFFFF"/>
          </a:solidFill>
          <a:ln w="9525">
            <a:noFill/>
          </a:ln>
        </p:spPr>
        <p:txBody>
          <a:bodyPr anchor="t"/>
          <a:lstStyle/>
          <a:p>
            <a:endParaRPr lang="zh-CN" altLang="en-US" sz="1800" dirty="0">
              <a:solidFill>
                <a:srgbClr val="004C54"/>
              </a:solidFill>
              <a:latin typeface="Arial" panose="020B0604020202020204" pitchFamily="34" charset="0"/>
              <a:ea typeface="宋体" panose="02010600030101010101" pitchFamily="2" charset="-122"/>
            </a:endParaRPr>
          </a:p>
        </p:txBody>
      </p:sp>
      <p:sp>
        <p:nvSpPr>
          <p:cNvPr id="17411" name="Line 12"/>
          <p:cNvSpPr/>
          <p:nvPr/>
        </p:nvSpPr>
        <p:spPr>
          <a:xfrm>
            <a:off x="4195763" y="2740025"/>
            <a:ext cx="3808412" cy="0"/>
          </a:xfrm>
          <a:prstGeom prst="line">
            <a:avLst/>
          </a:prstGeom>
          <a:ln w="12700" cap="flat" cmpd="sng">
            <a:solidFill>
              <a:schemeClr val="bg2"/>
            </a:solidFill>
            <a:prstDash val="solid"/>
            <a:round/>
            <a:headEnd type="none" w="med" len="med"/>
            <a:tailEnd type="none" w="med" len="med"/>
          </a:ln>
        </p:spPr>
      </p:sp>
      <p:sp>
        <p:nvSpPr>
          <p:cNvPr id="17412" name="TextBox 77"/>
          <p:cNvSpPr txBox="1"/>
          <p:nvPr/>
        </p:nvSpPr>
        <p:spPr>
          <a:xfrm>
            <a:off x="4602163" y="2852738"/>
            <a:ext cx="3168650" cy="768350"/>
          </a:xfrm>
          <a:prstGeom prst="rect">
            <a:avLst/>
          </a:prstGeom>
          <a:noFill/>
          <a:ln w="9525">
            <a:noFill/>
          </a:ln>
        </p:spPr>
        <p:txBody>
          <a:bodyPr anchor="t">
            <a:spAutoFit/>
          </a:bodyPr>
          <a:lstStyle/>
          <a:p>
            <a:pPr algn="ctr"/>
            <a:r>
              <a:rPr lang="zh-CN" altLang="en-US" sz="4400" b="1" dirty="0">
                <a:solidFill>
                  <a:srgbClr val="363636"/>
                </a:solidFill>
                <a:latin typeface="微软雅黑" panose="020B0503020204020204" pitchFamily="34" charset="-122"/>
                <a:ea typeface="微软雅黑" panose="020B0503020204020204" pitchFamily="34" charset="-122"/>
              </a:rPr>
              <a:t>背景</a:t>
            </a:r>
            <a:endParaRPr lang="zh-CN" altLang="en-US" sz="4400" b="1" dirty="0">
              <a:solidFill>
                <a:srgbClr val="363636"/>
              </a:solidFill>
              <a:latin typeface="微软雅黑" panose="020B0503020204020204" pitchFamily="34" charset="-122"/>
              <a:ea typeface="微软雅黑" panose="020B0503020204020204" pitchFamily="34" charset="-122"/>
            </a:endParaRPr>
          </a:p>
        </p:txBody>
      </p:sp>
      <p:sp>
        <p:nvSpPr>
          <p:cNvPr id="17413" name="Rectangle 14"/>
          <p:cNvSpPr/>
          <p:nvPr/>
        </p:nvSpPr>
        <p:spPr>
          <a:xfrm>
            <a:off x="5634038" y="2255838"/>
            <a:ext cx="930275" cy="400050"/>
          </a:xfrm>
          <a:prstGeom prst="rect">
            <a:avLst/>
          </a:prstGeom>
          <a:noFill/>
          <a:ln w="9525">
            <a:noFill/>
          </a:ln>
        </p:spPr>
        <p:txBody>
          <a:bodyPr wrap="none" lIns="0" tIns="0" rIns="0" bIns="0" anchor="t">
            <a:spAutoFit/>
          </a:bodyPr>
          <a:lstStyle/>
          <a:p>
            <a:r>
              <a:rPr lang="zh-CN" altLang="en-US" sz="2600" dirty="0">
                <a:solidFill>
                  <a:srgbClr val="363636"/>
                </a:solidFill>
                <a:latin typeface="微软雅黑" panose="020B0503020204020204" pitchFamily="34" charset="-122"/>
                <a:ea typeface="微软雅黑" panose="020B0503020204020204" pitchFamily="34" charset="-122"/>
              </a:rPr>
              <a:t>Part </a:t>
            </a:r>
            <a:r>
              <a:rPr lang="en-US" altLang="zh-CN" sz="2600" dirty="0">
                <a:solidFill>
                  <a:srgbClr val="363636"/>
                </a:solidFill>
                <a:latin typeface="微软雅黑" panose="020B0503020204020204" pitchFamily="34" charset="-122"/>
                <a:ea typeface="微软雅黑" panose="020B0503020204020204" pitchFamily="34" charset="-122"/>
              </a:rPr>
              <a:t>2</a:t>
            </a:r>
            <a:endParaRPr lang="zh-CN" altLang="en-US" sz="2600" dirty="0">
              <a:solidFill>
                <a:srgbClr val="363636"/>
              </a:solidFill>
              <a:latin typeface="微软雅黑" panose="020B0503020204020204" pitchFamily="34" charset="-122"/>
              <a:ea typeface="微软雅黑" panose="020B0503020204020204" pitchFamily="34" charset="-122"/>
            </a:endParaRPr>
          </a:p>
        </p:txBody>
      </p:sp>
      <p:sp>
        <p:nvSpPr>
          <p:cNvPr id="17422" name="Freeform 13"/>
          <p:cNvSpPr>
            <a:spLocks noEditPoints="1"/>
          </p:cNvSpPr>
          <p:nvPr/>
        </p:nvSpPr>
        <p:spPr>
          <a:xfrm>
            <a:off x="5441950" y="830263"/>
            <a:ext cx="1489075" cy="1398587"/>
          </a:xfrm>
          <a:custGeom>
            <a:avLst/>
            <a:gdLst/>
            <a:ahLst/>
            <a:cxnLst>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957" h="885">
                <a:moveTo>
                  <a:pt x="0" y="155"/>
                </a:moveTo>
                <a:cubicBezTo>
                  <a:pt x="0" y="278"/>
                  <a:pt x="0" y="400"/>
                  <a:pt x="0" y="523"/>
                </a:cubicBezTo>
                <a:cubicBezTo>
                  <a:pt x="0" y="533"/>
                  <a:pt x="161" y="687"/>
                  <a:pt x="181" y="707"/>
                </a:cubicBezTo>
                <a:cubicBezTo>
                  <a:pt x="202" y="728"/>
                  <a:pt x="355" y="885"/>
                  <a:pt x="368" y="885"/>
                </a:cubicBezTo>
                <a:cubicBezTo>
                  <a:pt x="442" y="885"/>
                  <a:pt x="516" y="885"/>
                  <a:pt x="589" y="885"/>
                </a:cubicBezTo>
                <a:cubicBezTo>
                  <a:pt x="620" y="885"/>
                  <a:pt x="632" y="856"/>
                  <a:pt x="645" y="837"/>
                </a:cubicBezTo>
                <a:cubicBezTo>
                  <a:pt x="645" y="684"/>
                  <a:pt x="645" y="532"/>
                  <a:pt x="645" y="380"/>
                </a:cubicBezTo>
                <a:cubicBezTo>
                  <a:pt x="631" y="385"/>
                  <a:pt x="590" y="368"/>
                  <a:pt x="582" y="391"/>
                </a:cubicBezTo>
                <a:cubicBezTo>
                  <a:pt x="577" y="401"/>
                  <a:pt x="582" y="573"/>
                  <a:pt x="582" y="608"/>
                </a:cubicBezTo>
                <a:cubicBezTo>
                  <a:pt x="582" y="643"/>
                  <a:pt x="592" y="822"/>
                  <a:pt x="567" y="822"/>
                </a:cubicBezTo>
                <a:cubicBezTo>
                  <a:pt x="507" y="822"/>
                  <a:pt x="447" y="822"/>
                  <a:pt x="387" y="822"/>
                </a:cubicBezTo>
                <a:cubicBezTo>
                  <a:pt x="368" y="822"/>
                  <a:pt x="376" y="760"/>
                  <a:pt x="376" y="741"/>
                </a:cubicBezTo>
                <a:cubicBezTo>
                  <a:pt x="376" y="710"/>
                  <a:pt x="376" y="679"/>
                  <a:pt x="376" y="649"/>
                </a:cubicBezTo>
                <a:cubicBezTo>
                  <a:pt x="376" y="565"/>
                  <a:pt x="376" y="551"/>
                  <a:pt x="324" y="516"/>
                </a:cubicBezTo>
                <a:cubicBezTo>
                  <a:pt x="300" y="516"/>
                  <a:pt x="301" y="509"/>
                  <a:pt x="280" y="509"/>
                </a:cubicBezTo>
                <a:cubicBezTo>
                  <a:pt x="209" y="509"/>
                  <a:pt x="137" y="509"/>
                  <a:pt x="66" y="509"/>
                </a:cubicBezTo>
                <a:cubicBezTo>
                  <a:pt x="66" y="398"/>
                  <a:pt x="66" y="287"/>
                  <a:pt x="66" y="177"/>
                </a:cubicBezTo>
                <a:cubicBezTo>
                  <a:pt x="66" y="168"/>
                  <a:pt x="69" y="169"/>
                  <a:pt x="74" y="162"/>
                </a:cubicBezTo>
                <a:cubicBezTo>
                  <a:pt x="155" y="162"/>
                  <a:pt x="236" y="162"/>
                  <a:pt x="317" y="162"/>
                </a:cubicBezTo>
                <a:cubicBezTo>
                  <a:pt x="333" y="151"/>
                  <a:pt x="375" y="115"/>
                  <a:pt x="376" y="92"/>
                </a:cubicBezTo>
                <a:cubicBezTo>
                  <a:pt x="274" y="92"/>
                  <a:pt x="172" y="92"/>
                  <a:pt x="70" y="92"/>
                </a:cubicBezTo>
                <a:cubicBezTo>
                  <a:pt x="42" y="92"/>
                  <a:pt x="0" y="131"/>
                  <a:pt x="0" y="155"/>
                </a:cubicBezTo>
                <a:close/>
                <a:moveTo>
                  <a:pt x="505" y="215"/>
                </a:moveTo>
                <a:lnTo>
                  <a:pt x="538" y="182"/>
                </a:lnTo>
                <a:lnTo>
                  <a:pt x="505" y="149"/>
                </a:lnTo>
                <a:cubicBezTo>
                  <a:pt x="504" y="148"/>
                  <a:pt x="504" y="146"/>
                  <a:pt x="505" y="145"/>
                </a:cubicBezTo>
                <a:lnTo>
                  <a:pt x="527" y="123"/>
                </a:lnTo>
                <a:cubicBezTo>
                  <a:pt x="528" y="122"/>
                  <a:pt x="530" y="122"/>
                  <a:pt x="531" y="123"/>
                </a:cubicBezTo>
                <a:lnTo>
                  <a:pt x="564" y="156"/>
                </a:lnTo>
                <a:lnTo>
                  <a:pt x="597" y="123"/>
                </a:lnTo>
                <a:cubicBezTo>
                  <a:pt x="599" y="122"/>
                  <a:pt x="601" y="122"/>
                  <a:pt x="602" y="123"/>
                </a:cubicBezTo>
                <a:lnTo>
                  <a:pt x="624" y="145"/>
                </a:lnTo>
                <a:cubicBezTo>
                  <a:pt x="625" y="146"/>
                  <a:pt x="625" y="148"/>
                  <a:pt x="624" y="149"/>
                </a:cubicBezTo>
                <a:lnTo>
                  <a:pt x="591" y="182"/>
                </a:lnTo>
                <a:lnTo>
                  <a:pt x="624" y="215"/>
                </a:lnTo>
                <a:cubicBezTo>
                  <a:pt x="625" y="217"/>
                  <a:pt x="625" y="219"/>
                  <a:pt x="624" y="220"/>
                </a:cubicBezTo>
                <a:lnTo>
                  <a:pt x="602" y="242"/>
                </a:lnTo>
                <a:cubicBezTo>
                  <a:pt x="601" y="243"/>
                  <a:pt x="599" y="243"/>
                  <a:pt x="597" y="242"/>
                </a:cubicBezTo>
                <a:lnTo>
                  <a:pt x="564" y="209"/>
                </a:lnTo>
                <a:lnTo>
                  <a:pt x="531" y="242"/>
                </a:lnTo>
                <a:cubicBezTo>
                  <a:pt x="530" y="243"/>
                  <a:pt x="528" y="243"/>
                  <a:pt x="527" y="242"/>
                </a:cubicBezTo>
                <a:lnTo>
                  <a:pt x="505" y="220"/>
                </a:lnTo>
                <a:cubicBezTo>
                  <a:pt x="504" y="219"/>
                  <a:pt x="504" y="217"/>
                  <a:pt x="505" y="215"/>
                </a:cubicBezTo>
                <a:close/>
                <a:moveTo>
                  <a:pt x="780" y="332"/>
                </a:moveTo>
                <a:lnTo>
                  <a:pt x="944" y="496"/>
                </a:lnTo>
                <a:cubicBezTo>
                  <a:pt x="957" y="509"/>
                  <a:pt x="957" y="530"/>
                  <a:pt x="944" y="543"/>
                </a:cubicBezTo>
                <a:lnTo>
                  <a:pt x="925" y="562"/>
                </a:lnTo>
                <a:cubicBezTo>
                  <a:pt x="912" y="575"/>
                  <a:pt x="891" y="575"/>
                  <a:pt x="878" y="562"/>
                </a:cubicBezTo>
                <a:lnTo>
                  <a:pt x="714" y="398"/>
                </a:lnTo>
                <a:lnTo>
                  <a:pt x="780" y="332"/>
                </a:lnTo>
                <a:close/>
                <a:moveTo>
                  <a:pt x="447" y="65"/>
                </a:moveTo>
                <a:cubicBezTo>
                  <a:pt x="512" y="0"/>
                  <a:pt x="617" y="0"/>
                  <a:pt x="682" y="65"/>
                </a:cubicBezTo>
                <a:cubicBezTo>
                  <a:pt x="740" y="123"/>
                  <a:pt x="747" y="213"/>
                  <a:pt x="701" y="278"/>
                </a:cubicBezTo>
                <a:lnTo>
                  <a:pt x="754" y="331"/>
                </a:lnTo>
                <a:cubicBezTo>
                  <a:pt x="756" y="333"/>
                  <a:pt x="756" y="337"/>
                  <a:pt x="754" y="339"/>
                </a:cubicBezTo>
                <a:lnTo>
                  <a:pt x="721" y="372"/>
                </a:lnTo>
                <a:cubicBezTo>
                  <a:pt x="719" y="374"/>
                  <a:pt x="715" y="374"/>
                  <a:pt x="713" y="372"/>
                </a:cubicBezTo>
                <a:lnTo>
                  <a:pt x="660" y="319"/>
                </a:lnTo>
                <a:cubicBezTo>
                  <a:pt x="595" y="364"/>
                  <a:pt x="505" y="358"/>
                  <a:pt x="447" y="300"/>
                </a:cubicBezTo>
                <a:cubicBezTo>
                  <a:pt x="382" y="235"/>
                  <a:pt x="382" y="130"/>
                  <a:pt x="447" y="65"/>
                </a:cubicBezTo>
                <a:close/>
                <a:moveTo>
                  <a:pt x="486" y="104"/>
                </a:moveTo>
                <a:cubicBezTo>
                  <a:pt x="529" y="60"/>
                  <a:pt x="600" y="60"/>
                  <a:pt x="643" y="104"/>
                </a:cubicBezTo>
                <a:cubicBezTo>
                  <a:pt x="687" y="147"/>
                  <a:pt x="687" y="218"/>
                  <a:pt x="643" y="261"/>
                </a:cubicBezTo>
                <a:cubicBezTo>
                  <a:pt x="600" y="305"/>
                  <a:pt x="529" y="305"/>
                  <a:pt x="486" y="261"/>
                </a:cubicBezTo>
                <a:cubicBezTo>
                  <a:pt x="442" y="218"/>
                  <a:pt x="442" y="147"/>
                  <a:pt x="486" y="104"/>
                </a:cubicBezTo>
                <a:close/>
                <a:moveTo>
                  <a:pt x="306" y="770"/>
                </a:moveTo>
                <a:cubicBezTo>
                  <a:pt x="304" y="706"/>
                  <a:pt x="303" y="643"/>
                  <a:pt x="302" y="579"/>
                </a:cubicBezTo>
                <a:cubicBezTo>
                  <a:pt x="241" y="579"/>
                  <a:pt x="179" y="579"/>
                  <a:pt x="118" y="579"/>
                </a:cubicBezTo>
                <a:cubicBezTo>
                  <a:pt x="117" y="580"/>
                  <a:pt x="116" y="581"/>
                  <a:pt x="115" y="581"/>
                </a:cubicBezTo>
                <a:cubicBezTo>
                  <a:pt x="179" y="644"/>
                  <a:pt x="242" y="707"/>
                  <a:pt x="306" y="770"/>
                </a:cubicBezTo>
                <a:close/>
                <a:moveTo>
                  <a:pt x="110" y="225"/>
                </a:moveTo>
                <a:cubicBezTo>
                  <a:pt x="110" y="233"/>
                  <a:pt x="110" y="242"/>
                  <a:pt x="110" y="250"/>
                </a:cubicBezTo>
                <a:cubicBezTo>
                  <a:pt x="110" y="259"/>
                  <a:pt x="116" y="265"/>
                  <a:pt x="125" y="265"/>
                </a:cubicBezTo>
                <a:cubicBezTo>
                  <a:pt x="209" y="265"/>
                  <a:pt x="292" y="265"/>
                  <a:pt x="376" y="265"/>
                </a:cubicBezTo>
                <a:cubicBezTo>
                  <a:pt x="399" y="265"/>
                  <a:pt x="394" y="228"/>
                  <a:pt x="387" y="214"/>
                </a:cubicBezTo>
                <a:cubicBezTo>
                  <a:pt x="338" y="214"/>
                  <a:pt x="288" y="214"/>
                  <a:pt x="239" y="214"/>
                </a:cubicBezTo>
                <a:cubicBezTo>
                  <a:pt x="209" y="214"/>
                  <a:pt x="110" y="206"/>
                  <a:pt x="110" y="225"/>
                </a:cubicBezTo>
                <a:close/>
                <a:moveTo>
                  <a:pt x="110" y="405"/>
                </a:moveTo>
                <a:cubicBezTo>
                  <a:pt x="110" y="416"/>
                  <a:pt x="110" y="427"/>
                  <a:pt x="110" y="439"/>
                </a:cubicBezTo>
                <a:cubicBezTo>
                  <a:pt x="110" y="447"/>
                  <a:pt x="113" y="450"/>
                  <a:pt x="121" y="450"/>
                </a:cubicBezTo>
                <a:cubicBezTo>
                  <a:pt x="211" y="450"/>
                  <a:pt x="301" y="450"/>
                  <a:pt x="390" y="450"/>
                </a:cubicBezTo>
                <a:cubicBezTo>
                  <a:pt x="392" y="440"/>
                  <a:pt x="400" y="402"/>
                  <a:pt x="379" y="402"/>
                </a:cubicBezTo>
                <a:cubicBezTo>
                  <a:pt x="296" y="402"/>
                  <a:pt x="212" y="402"/>
                  <a:pt x="129" y="402"/>
                </a:cubicBezTo>
                <a:cubicBezTo>
                  <a:pt x="123" y="402"/>
                  <a:pt x="115" y="404"/>
                  <a:pt x="110" y="405"/>
                </a:cubicBezTo>
                <a:close/>
                <a:moveTo>
                  <a:pt x="110" y="328"/>
                </a:moveTo>
                <a:cubicBezTo>
                  <a:pt x="110" y="333"/>
                  <a:pt x="110" y="338"/>
                  <a:pt x="110" y="343"/>
                </a:cubicBezTo>
                <a:cubicBezTo>
                  <a:pt x="110" y="351"/>
                  <a:pt x="113" y="351"/>
                  <a:pt x="118" y="357"/>
                </a:cubicBezTo>
                <a:cubicBezTo>
                  <a:pt x="205" y="357"/>
                  <a:pt x="292" y="357"/>
                  <a:pt x="379" y="357"/>
                </a:cubicBezTo>
                <a:cubicBezTo>
                  <a:pt x="384" y="355"/>
                  <a:pt x="389" y="353"/>
                  <a:pt x="394" y="350"/>
                </a:cubicBezTo>
                <a:cubicBezTo>
                  <a:pt x="394" y="344"/>
                  <a:pt x="394" y="338"/>
                  <a:pt x="394" y="332"/>
                </a:cubicBezTo>
                <a:cubicBezTo>
                  <a:pt x="394" y="320"/>
                  <a:pt x="390" y="317"/>
                  <a:pt x="387" y="309"/>
                </a:cubicBezTo>
                <a:cubicBezTo>
                  <a:pt x="336" y="309"/>
                  <a:pt x="286" y="309"/>
                  <a:pt x="236" y="309"/>
                </a:cubicBezTo>
                <a:cubicBezTo>
                  <a:pt x="211" y="309"/>
                  <a:pt x="187" y="309"/>
                  <a:pt x="162" y="309"/>
                </a:cubicBezTo>
                <a:cubicBezTo>
                  <a:pt x="131" y="310"/>
                  <a:pt x="110" y="299"/>
                  <a:pt x="110" y="328"/>
                </a:cubicBezTo>
                <a:close/>
              </a:path>
            </a:pathLst>
          </a:custGeom>
          <a:solidFill>
            <a:srgbClr val="113E6A"/>
          </a:solidFill>
          <a:ln w="9525">
            <a:noFill/>
          </a:ln>
        </p:spPr>
        <p:txBody>
          <a:bodyPr/>
          <a:lstStyle/>
          <a:p>
            <a:endParaRPr lang="zh-CN" altLang="en-US" sz="1800"/>
          </a:p>
        </p:txBody>
      </p:sp>
      <p:pic>
        <p:nvPicPr>
          <p:cNvPr id="15" name="图片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8741" y="91674"/>
            <a:ext cx="2646380" cy="503185"/>
          </a:xfrm>
          <a:prstGeom prst="rect">
            <a:avLst/>
          </a:prstGeom>
        </p:spPr>
      </p:pic>
    </p:spTree>
  </p:cSld>
  <p:clrMapOvr>
    <a:masterClrMapping/>
  </p:clrMapOvr>
  <p:transition advTm="856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7410"/>
                                        </p:tgtEl>
                                        <p:attrNameLst>
                                          <p:attrName>style.visibility</p:attrName>
                                        </p:attrNameLst>
                                      </p:cBhvr>
                                      <p:to>
                                        <p:strVal val="visible"/>
                                      </p:to>
                                    </p:set>
                                    <p:animEffect transition="in" filter="wheel(1)">
                                      <p:cBhvr>
                                        <p:cTn id="7" dur="2000"/>
                                        <p:tgtEl>
                                          <p:spTgt spid="17410"/>
                                        </p:tgtEl>
                                      </p:cBhvr>
                                    </p:animEffect>
                                  </p:childTnLst>
                                </p:cTn>
                              </p:par>
                            </p:childTnLst>
                          </p:cTn>
                        </p:par>
                        <p:par>
                          <p:cTn id="8" fill="hold">
                            <p:stCondLst>
                              <p:cond delay="2000"/>
                            </p:stCondLst>
                            <p:childTnLst>
                              <p:par>
                                <p:cTn id="9" presetID="31" presetClass="entr" presetSubtype="0" fill="hold" nodeType="afterEffect">
                                  <p:stCondLst>
                                    <p:cond delay="0"/>
                                  </p:stCondLst>
                                  <p:childTnLst>
                                    <p:set>
                                      <p:cBhvr>
                                        <p:cTn id="10" dur="1" fill="hold">
                                          <p:stCondLst>
                                            <p:cond delay="0"/>
                                          </p:stCondLst>
                                        </p:cTn>
                                        <p:tgtEl>
                                          <p:spTgt spid="17422"/>
                                        </p:tgtEl>
                                        <p:attrNameLst>
                                          <p:attrName>style.visibility</p:attrName>
                                        </p:attrNameLst>
                                      </p:cBhvr>
                                      <p:to>
                                        <p:strVal val="visible"/>
                                      </p:to>
                                    </p:set>
                                    <p:anim calcmode="lin" valueType="num">
                                      <p:cBhvr>
                                        <p:cTn id="11" dur="400" fill="hold"/>
                                        <p:tgtEl>
                                          <p:spTgt spid="17422"/>
                                        </p:tgtEl>
                                        <p:attrNameLst>
                                          <p:attrName>ppt_w</p:attrName>
                                        </p:attrNameLst>
                                      </p:cBhvr>
                                      <p:tavLst>
                                        <p:tav tm="0">
                                          <p:val>
                                            <p:fltVal val="0"/>
                                          </p:val>
                                        </p:tav>
                                        <p:tav tm="100000">
                                          <p:val>
                                            <p:strVal val="#ppt_w"/>
                                          </p:val>
                                        </p:tav>
                                      </p:tavLst>
                                    </p:anim>
                                    <p:anim calcmode="lin" valueType="num">
                                      <p:cBhvr>
                                        <p:cTn id="12" dur="400" fill="hold"/>
                                        <p:tgtEl>
                                          <p:spTgt spid="17422"/>
                                        </p:tgtEl>
                                        <p:attrNameLst>
                                          <p:attrName>ppt_h</p:attrName>
                                        </p:attrNameLst>
                                      </p:cBhvr>
                                      <p:tavLst>
                                        <p:tav tm="0">
                                          <p:val>
                                            <p:fltVal val="0"/>
                                          </p:val>
                                        </p:tav>
                                        <p:tav tm="100000">
                                          <p:val>
                                            <p:strVal val="#ppt_h"/>
                                          </p:val>
                                        </p:tav>
                                      </p:tavLst>
                                    </p:anim>
                                    <p:anim calcmode="lin" valueType="num">
                                      <p:cBhvr>
                                        <p:cTn id="13" dur="400" fill="hold"/>
                                        <p:tgtEl>
                                          <p:spTgt spid="17422"/>
                                        </p:tgtEl>
                                        <p:attrNameLst>
                                          <p:attrName>style.rotation</p:attrName>
                                        </p:attrNameLst>
                                      </p:cBhvr>
                                      <p:tavLst>
                                        <p:tav tm="0">
                                          <p:val>
                                            <p:fltVal val="90"/>
                                          </p:val>
                                        </p:tav>
                                        <p:tav tm="100000">
                                          <p:val>
                                            <p:fltVal val="0"/>
                                          </p:val>
                                        </p:tav>
                                      </p:tavLst>
                                    </p:anim>
                                    <p:animEffect transition="in" filter="fade">
                                      <p:cBhvr>
                                        <p:cTn id="14" dur="400"/>
                                        <p:tgtEl>
                                          <p:spTgt spid="17422"/>
                                        </p:tgtEl>
                                      </p:cBhvr>
                                    </p:animEffect>
                                  </p:childTnLst>
                                </p:cTn>
                              </p:par>
                            </p:childTnLst>
                          </p:cTn>
                        </p:par>
                        <p:par>
                          <p:cTn id="15" fill="hold">
                            <p:stCondLst>
                              <p:cond delay="2500"/>
                            </p:stCondLst>
                            <p:childTnLst>
                              <p:par>
                                <p:cTn id="16" presetID="16" presetClass="entr" presetSubtype="21" fill="hold" nodeType="afterEffect">
                                  <p:stCondLst>
                                    <p:cond delay="0"/>
                                  </p:stCondLst>
                                  <p:childTnLst>
                                    <p:set>
                                      <p:cBhvr>
                                        <p:cTn id="17" dur="1" fill="hold">
                                          <p:stCondLst>
                                            <p:cond delay="0"/>
                                          </p:stCondLst>
                                        </p:cTn>
                                        <p:tgtEl>
                                          <p:spTgt spid="17411"/>
                                        </p:tgtEl>
                                        <p:attrNameLst>
                                          <p:attrName>style.visibility</p:attrName>
                                        </p:attrNameLst>
                                      </p:cBhvr>
                                      <p:to>
                                        <p:strVal val="visible"/>
                                      </p:to>
                                    </p:set>
                                    <p:animEffect transition="in" filter="barn(inVertical)">
                                      <p:cBhvr>
                                        <p:cTn id="18" dur="500"/>
                                        <p:tgtEl>
                                          <p:spTgt spid="17411"/>
                                        </p:tgtEl>
                                      </p:cBhvr>
                                    </p:animEffect>
                                  </p:childTnLst>
                                </p:cTn>
                              </p:par>
                            </p:childTnLst>
                          </p:cTn>
                        </p:par>
                        <p:par>
                          <p:cTn id="19" fill="hold">
                            <p:stCondLst>
                              <p:cond delay="3000"/>
                            </p:stCondLst>
                            <p:childTnLst>
                              <p:par>
                                <p:cTn id="20" presetID="22" presetClass="entr" presetSubtype="1" fill="hold" grpId="0" nodeType="afterEffect">
                                  <p:stCondLst>
                                    <p:cond delay="0"/>
                                  </p:stCondLst>
                                  <p:childTnLst>
                                    <p:set>
                                      <p:cBhvr>
                                        <p:cTn id="21" dur="1" fill="hold">
                                          <p:stCondLst>
                                            <p:cond delay="0"/>
                                          </p:stCondLst>
                                        </p:cTn>
                                        <p:tgtEl>
                                          <p:spTgt spid="17412"/>
                                        </p:tgtEl>
                                        <p:attrNameLst>
                                          <p:attrName>style.visibility</p:attrName>
                                        </p:attrNameLst>
                                      </p:cBhvr>
                                      <p:to>
                                        <p:strVal val="visible"/>
                                      </p:to>
                                    </p:set>
                                    <p:animEffect transition="in" filter="wipe(up)">
                                      <p:cBhvr>
                                        <p:cTn id="22" dur="500"/>
                                        <p:tgtEl>
                                          <p:spTgt spid="17412"/>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7413"/>
                                        </p:tgtEl>
                                        <p:attrNameLst>
                                          <p:attrName>style.visibility</p:attrName>
                                        </p:attrNameLst>
                                      </p:cBhvr>
                                      <p:to>
                                        <p:strVal val="visible"/>
                                      </p:to>
                                    </p:set>
                                    <p:animEffect transition="in" filter="wipe(down)">
                                      <p:cBhvr>
                                        <p:cTn id="25" dur="500"/>
                                        <p:tgtEl>
                                          <p:spTgt spid="174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bldLvl="0" animBg="1"/>
      <p:bldP spid="17412" grpId="0"/>
      <p:bldP spid="174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p:nvPr/>
        </p:nvSpPr>
        <p:spPr>
          <a:xfrm>
            <a:off x="1012825" y="176213"/>
            <a:ext cx="944880" cy="553085"/>
          </a:xfrm>
          <a:prstGeom prst="rect">
            <a:avLst/>
          </a:prstGeom>
          <a:noFill/>
          <a:ln w="9525">
            <a:noFill/>
          </a:ln>
        </p:spPr>
        <p:txBody>
          <a:bodyPr wrap="none" anchor="t">
            <a:spAutoFit/>
          </a:bodyPr>
          <a:lstStyle/>
          <a:p>
            <a:r>
              <a:rPr lang="zh-CN" altLang="en-US" sz="3000" b="1" dirty="0">
                <a:solidFill>
                  <a:schemeClr val="accent1"/>
                </a:solidFill>
                <a:latin typeface="微软雅黑" panose="020B0503020204020204" pitchFamily="34" charset="-122"/>
                <a:ea typeface="微软雅黑" panose="020B0503020204020204" pitchFamily="34" charset="-122"/>
              </a:rPr>
              <a:t>背景</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229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12311" name="矩形 23"/>
          <p:cNvSpPr/>
          <p:nvPr/>
        </p:nvSpPr>
        <p:spPr>
          <a:xfrm>
            <a:off x="8978900" y="1124268"/>
            <a:ext cx="1728788" cy="1062037"/>
          </a:xfrm>
          <a:prstGeom prst="rect">
            <a:avLst/>
          </a:prstGeom>
          <a:blipFill rotWithShape="1">
            <a:blip r:embed="rId1" cstate="print"/>
            <a:stretch>
              <a:fillRect/>
            </a:stretch>
          </a:blipFill>
          <a:ln w="9525" cap="flat" cmpd="sng">
            <a:solidFill>
              <a:schemeClr val="tx1"/>
            </a:solidFill>
            <a:prstDash val="solid"/>
            <a:bevel/>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12312" name="矩形 24"/>
          <p:cNvSpPr/>
          <p:nvPr/>
        </p:nvSpPr>
        <p:spPr>
          <a:xfrm>
            <a:off x="8978900" y="3108643"/>
            <a:ext cx="1728788" cy="1063625"/>
          </a:xfrm>
          <a:prstGeom prst="rect">
            <a:avLst/>
          </a:prstGeom>
          <a:blipFill rotWithShape="1">
            <a:blip r:embed="rId2" cstate="print"/>
            <a:stretch>
              <a:fillRect/>
            </a:stretch>
          </a:blipFill>
          <a:ln w="9525" cap="flat" cmpd="sng">
            <a:solidFill>
              <a:schemeClr val="tx1"/>
            </a:solidFill>
            <a:prstDash val="solid"/>
            <a:bevel/>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12313" name="矩形 25"/>
          <p:cNvSpPr/>
          <p:nvPr/>
        </p:nvSpPr>
        <p:spPr>
          <a:xfrm>
            <a:off x="8978900" y="4994593"/>
            <a:ext cx="1728788" cy="1063625"/>
          </a:xfrm>
          <a:prstGeom prst="rect">
            <a:avLst/>
          </a:prstGeom>
          <a:blipFill rotWithShape="1">
            <a:blip r:embed="rId3" cstate="print"/>
            <a:stretch>
              <a:fillRect/>
            </a:stretch>
          </a:blipFill>
          <a:ln w="9525" cap="flat" cmpd="sng">
            <a:solidFill>
              <a:schemeClr val="tx1"/>
            </a:solidFill>
            <a:prstDash val="solid"/>
            <a:bevel/>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2" name="文本框 1"/>
          <p:cNvSpPr txBox="1"/>
          <p:nvPr/>
        </p:nvSpPr>
        <p:spPr>
          <a:xfrm>
            <a:off x="697865" y="1196340"/>
            <a:ext cx="7252970" cy="4819015"/>
          </a:xfrm>
          <a:prstGeom prst="rect">
            <a:avLst/>
          </a:prstGeom>
          <a:noFill/>
        </p:spPr>
        <p:txBody>
          <a:bodyPr wrap="square" rtlCol="0">
            <a:noAutofit/>
          </a:bodyPr>
          <a:p>
            <a:pPr algn="l">
              <a:lnSpc>
                <a:spcPct val="150000"/>
              </a:lnSpc>
              <a:buClrTx/>
              <a:buSzTx/>
              <a:buNone/>
            </a:pPr>
            <a:r>
              <a:rPr lang="zh-CN" altLang="en-US" sz="1800" dirty="0">
                <a:solidFill>
                  <a:schemeClr val="accent1"/>
                </a:solidFill>
                <a:latin typeface="微软雅黑" panose="020B0503020204020204" pitchFamily="34" charset="-122"/>
                <a:ea typeface="微软雅黑" panose="020B0503020204020204" pitchFamily="34" charset="-122"/>
                <a:cs typeface="+mn-ea"/>
              </a:rPr>
              <a:t>大语言模型的自回归解码，在生成每个 Token 时，GPU 必须将庞大的模型参数和 KV Cache 从显存加载至计算核心。由于一次仅生成单个 Token，导致昂贵的算力资源在等待数据搬运的过程中被浪费</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childTnLst>
                          </p:cTn>
                        </p:par>
                        <p:par>
                          <p:cTn id="19" fill="hold">
                            <p:stCondLst>
                              <p:cond delay="740"/>
                            </p:stCondLst>
                            <p:childTnLst>
                              <p:par>
                                <p:cTn id="20" presetID="2" presetClass="entr" presetSubtype="12" fill="hold" grpId="0" nodeType="afterEffect">
                                  <p:stCondLst>
                                    <p:cond delay="0"/>
                                  </p:stCondLst>
                                  <p:childTnLst>
                                    <p:set>
                                      <p:cBhvr>
                                        <p:cTn id="21" dur="1" fill="hold">
                                          <p:stCondLst>
                                            <p:cond delay="0"/>
                                          </p:stCondLst>
                                        </p:cTn>
                                        <p:tgtEl>
                                          <p:spTgt spid="12311"/>
                                        </p:tgtEl>
                                        <p:attrNameLst>
                                          <p:attrName>style.visibility</p:attrName>
                                        </p:attrNameLst>
                                      </p:cBhvr>
                                      <p:to>
                                        <p:strVal val="visible"/>
                                      </p:to>
                                    </p:set>
                                    <p:anim calcmode="lin" valueType="num">
                                      <p:cBhvr additive="base">
                                        <p:cTn id="22" dur="500" fill="hold"/>
                                        <p:tgtEl>
                                          <p:spTgt spid="12311"/>
                                        </p:tgtEl>
                                        <p:attrNameLst>
                                          <p:attrName>ppt_x</p:attrName>
                                        </p:attrNameLst>
                                      </p:cBhvr>
                                      <p:tavLst>
                                        <p:tav tm="0">
                                          <p:val>
                                            <p:strVal val="0-#ppt_w/2"/>
                                          </p:val>
                                        </p:tav>
                                        <p:tav tm="100000">
                                          <p:val>
                                            <p:strVal val="#ppt_x"/>
                                          </p:val>
                                        </p:tav>
                                      </p:tavLst>
                                    </p:anim>
                                    <p:anim calcmode="lin" valueType="num">
                                      <p:cBhvr additive="base">
                                        <p:cTn id="23" dur="500" fill="hold"/>
                                        <p:tgtEl>
                                          <p:spTgt spid="12311"/>
                                        </p:tgtEl>
                                        <p:attrNameLst>
                                          <p:attrName>ppt_y</p:attrName>
                                        </p:attrNameLst>
                                      </p:cBhvr>
                                      <p:tavLst>
                                        <p:tav tm="0">
                                          <p:val>
                                            <p:strVal val="1+#ppt_h/2"/>
                                          </p:val>
                                        </p:tav>
                                        <p:tav tm="100000">
                                          <p:val>
                                            <p:strVal val="#ppt_y"/>
                                          </p:val>
                                        </p:tav>
                                      </p:tavLst>
                                    </p:anim>
                                  </p:childTnLst>
                                </p:cTn>
                              </p:par>
                              <p:par>
                                <p:cTn id="24" presetID="2" presetClass="entr" presetSubtype="12" fill="hold" grpId="0" nodeType="withEffect">
                                  <p:stCondLst>
                                    <p:cond delay="200"/>
                                  </p:stCondLst>
                                  <p:childTnLst>
                                    <p:set>
                                      <p:cBhvr>
                                        <p:cTn id="25" dur="1" fill="hold">
                                          <p:stCondLst>
                                            <p:cond delay="0"/>
                                          </p:stCondLst>
                                        </p:cTn>
                                        <p:tgtEl>
                                          <p:spTgt spid="12312"/>
                                        </p:tgtEl>
                                        <p:attrNameLst>
                                          <p:attrName>style.visibility</p:attrName>
                                        </p:attrNameLst>
                                      </p:cBhvr>
                                      <p:to>
                                        <p:strVal val="visible"/>
                                      </p:to>
                                    </p:set>
                                    <p:anim calcmode="lin" valueType="num">
                                      <p:cBhvr additive="base">
                                        <p:cTn id="26" dur="500" fill="hold"/>
                                        <p:tgtEl>
                                          <p:spTgt spid="12312"/>
                                        </p:tgtEl>
                                        <p:attrNameLst>
                                          <p:attrName>ppt_x</p:attrName>
                                        </p:attrNameLst>
                                      </p:cBhvr>
                                      <p:tavLst>
                                        <p:tav tm="0">
                                          <p:val>
                                            <p:strVal val="0-#ppt_w/2"/>
                                          </p:val>
                                        </p:tav>
                                        <p:tav tm="100000">
                                          <p:val>
                                            <p:strVal val="#ppt_x"/>
                                          </p:val>
                                        </p:tav>
                                      </p:tavLst>
                                    </p:anim>
                                    <p:anim calcmode="lin" valueType="num">
                                      <p:cBhvr additive="base">
                                        <p:cTn id="27" dur="500" fill="hold"/>
                                        <p:tgtEl>
                                          <p:spTgt spid="12312"/>
                                        </p:tgtEl>
                                        <p:attrNameLst>
                                          <p:attrName>ppt_y</p:attrName>
                                        </p:attrNameLst>
                                      </p:cBhvr>
                                      <p:tavLst>
                                        <p:tav tm="0">
                                          <p:val>
                                            <p:strVal val="1+#ppt_h/2"/>
                                          </p:val>
                                        </p:tav>
                                        <p:tav tm="100000">
                                          <p:val>
                                            <p:strVal val="#ppt_y"/>
                                          </p:val>
                                        </p:tav>
                                      </p:tavLst>
                                    </p:anim>
                                  </p:childTnLst>
                                </p:cTn>
                              </p:par>
                              <p:par>
                                <p:cTn id="28" presetID="2" presetClass="entr" presetSubtype="12" fill="hold" grpId="0" nodeType="withEffect">
                                  <p:stCondLst>
                                    <p:cond delay="400"/>
                                  </p:stCondLst>
                                  <p:childTnLst>
                                    <p:set>
                                      <p:cBhvr>
                                        <p:cTn id="29" dur="1" fill="hold">
                                          <p:stCondLst>
                                            <p:cond delay="0"/>
                                          </p:stCondLst>
                                        </p:cTn>
                                        <p:tgtEl>
                                          <p:spTgt spid="12313"/>
                                        </p:tgtEl>
                                        <p:attrNameLst>
                                          <p:attrName>style.visibility</p:attrName>
                                        </p:attrNameLst>
                                      </p:cBhvr>
                                      <p:to>
                                        <p:strVal val="visible"/>
                                      </p:to>
                                    </p:set>
                                    <p:anim calcmode="lin" valueType="num">
                                      <p:cBhvr additive="base">
                                        <p:cTn id="30" dur="500" fill="hold"/>
                                        <p:tgtEl>
                                          <p:spTgt spid="12313"/>
                                        </p:tgtEl>
                                        <p:attrNameLst>
                                          <p:attrName>ppt_x</p:attrName>
                                        </p:attrNameLst>
                                      </p:cBhvr>
                                      <p:tavLst>
                                        <p:tav tm="0">
                                          <p:val>
                                            <p:strVal val="0-#ppt_w/2"/>
                                          </p:val>
                                        </p:tav>
                                        <p:tav tm="100000">
                                          <p:val>
                                            <p:strVal val="#ppt_x"/>
                                          </p:val>
                                        </p:tav>
                                      </p:tavLst>
                                    </p:anim>
                                    <p:anim calcmode="lin" valueType="num">
                                      <p:cBhvr additive="base">
                                        <p:cTn id="31" dur="500" fill="hold"/>
                                        <p:tgtEl>
                                          <p:spTgt spid="123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P spid="12311" grpId="0" bldLvl="0" animBg="1"/>
      <p:bldP spid="12312" grpId="0" bldLvl="0" animBg="1"/>
      <p:bldP spid="12313"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p:nvPr/>
        </p:nvSpPr>
        <p:spPr>
          <a:xfrm>
            <a:off x="1012825" y="176213"/>
            <a:ext cx="944880" cy="553085"/>
          </a:xfrm>
          <a:prstGeom prst="rect">
            <a:avLst/>
          </a:prstGeom>
          <a:noFill/>
          <a:ln w="9525">
            <a:noFill/>
          </a:ln>
        </p:spPr>
        <p:txBody>
          <a:bodyPr wrap="none" anchor="t">
            <a:spAutoFit/>
          </a:bodyPr>
          <a:lstStyle/>
          <a:p>
            <a:r>
              <a:rPr lang="zh-CN" altLang="en-US" sz="3000" b="1" dirty="0">
                <a:solidFill>
                  <a:schemeClr val="accent1"/>
                </a:solidFill>
                <a:latin typeface="微软雅黑" panose="020B0503020204020204" pitchFamily="34" charset="-122"/>
                <a:ea typeface="微软雅黑" panose="020B0503020204020204" pitchFamily="34" charset="-122"/>
              </a:rPr>
              <a:t>背景</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229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12311" name="矩形 23"/>
          <p:cNvSpPr/>
          <p:nvPr/>
        </p:nvSpPr>
        <p:spPr>
          <a:xfrm>
            <a:off x="8978900" y="1124268"/>
            <a:ext cx="1728788" cy="1062037"/>
          </a:xfrm>
          <a:prstGeom prst="rect">
            <a:avLst/>
          </a:prstGeom>
          <a:blipFill rotWithShape="1">
            <a:blip r:embed="rId1" cstate="print"/>
            <a:stretch>
              <a:fillRect/>
            </a:stretch>
          </a:blipFill>
          <a:ln w="9525" cap="flat" cmpd="sng">
            <a:solidFill>
              <a:schemeClr val="tx1"/>
            </a:solidFill>
            <a:prstDash val="solid"/>
            <a:bevel/>
            <a:headEnd type="none" w="med" len="med"/>
            <a:tailEnd type="none" w="med" len="med"/>
          </a:ln>
        </p:spPr>
        <p:txBody>
          <a:bodyPr anchor="t"/>
          <a:lstStyle/>
          <a:p>
            <a:endParaRPr lang="zh-CN" altLang="en-US" sz="1800" dirty="0">
              <a:latin typeface="Arial" panose="020B0604020202020204" pitchFamily="34" charset="0"/>
              <a:ea typeface="宋体" panose="02010600030101010101" pitchFamily="2" charset="-122"/>
            </a:endParaRPr>
          </a:p>
        </p:txBody>
      </p:sp>
      <p:sp>
        <p:nvSpPr>
          <p:cNvPr id="12312" name="矩形 24"/>
          <p:cNvSpPr/>
          <p:nvPr/>
        </p:nvSpPr>
        <p:spPr>
          <a:xfrm>
            <a:off x="8978900" y="3108643"/>
            <a:ext cx="1728788" cy="1063625"/>
          </a:xfrm>
          <a:prstGeom prst="rect">
            <a:avLst/>
          </a:prstGeom>
          <a:blipFill rotWithShape="1">
            <a:blip r:embed="rId2" cstate="print"/>
            <a:stretch>
              <a:fillRect/>
            </a:stretch>
          </a:blipFill>
          <a:ln w="9525" cap="flat" cmpd="sng">
            <a:solidFill>
              <a:schemeClr val="tx1"/>
            </a:solidFill>
            <a:prstDash val="solid"/>
            <a:bevel/>
            <a:headEnd type="none" w="med" len="med"/>
            <a:tailEnd type="none" w="med" len="med"/>
          </a:ln>
        </p:spPr>
        <p:txBody>
          <a:bodyPr anchor="t"/>
          <a:lstStyle/>
          <a:p>
            <a:endParaRPr lang="zh-CN" altLang="en-US" sz="1800" dirty="0">
              <a:latin typeface="Arial" panose="020B0604020202020204" pitchFamily="34" charset="0"/>
              <a:ea typeface="宋体" panose="02010600030101010101" pitchFamily="2" charset="-122"/>
            </a:endParaRPr>
          </a:p>
        </p:txBody>
      </p:sp>
      <p:sp>
        <p:nvSpPr>
          <p:cNvPr id="12313" name="矩形 25"/>
          <p:cNvSpPr/>
          <p:nvPr/>
        </p:nvSpPr>
        <p:spPr>
          <a:xfrm>
            <a:off x="8978900" y="4994593"/>
            <a:ext cx="1728788" cy="1063625"/>
          </a:xfrm>
          <a:prstGeom prst="rect">
            <a:avLst/>
          </a:prstGeom>
          <a:blipFill rotWithShape="1">
            <a:blip r:embed="rId3" cstate="print"/>
            <a:stretch>
              <a:fillRect/>
            </a:stretch>
          </a:blipFill>
          <a:ln w="9525" cap="flat" cmpd="sng">
            <a:solidFill>
              <a:schemeClr val="tx1"/>
            </a:solidFill>
            <a:prstDash val="solid"/>
            <a:bevel/>
            <a:headEnd type="none" w="med" len="med"/>
            <a:tailEnd type="none" w="med" len="med"/>
          </a:ln>
        </p:spPr>
        <p:txBody>
          <a:bodyPr anchor="t"/>
          <a:lstStyle/>
          <a:p>
            <a:endParaRPr lang="zh-CN" altLang="en-US" sz="1800" dirty="0">
              <a:latin typeface="Arial" panose="020B0604020202020204" pitchFamily="34" charset="0"/>
              <a:ea typeface="宋体" panose="02010600030101010101" pitchFamily="2" charset="-122"/>
            </a:endParaRPr>
          </a:p>
        </p:txBody>
      </p:sp>
      <p:sp>
        <p:nvSpPr>
          <p:cNvPr id="2" name="文本框 1"/>
          <p:cNvSpPr txBox="1"/>
          <p:nvPr/>
        </p:nvSpPr>
        <p:spPr>
          <a:xfrm>
            <a:off x="697865" y="1196340"/>
            <a:ext cx="7252970" cy="4819015"/>
          </a:xfrm>
          <a:prstGeom prst="rect">
            <a:avLst/>
          </a:prstGeom>
          <a:noFill/>
        </p:spPr>
        <p:txBody>
          <a:bodyPr wrap="square" rtlCol="0">
            <a:noAutofit/>
          </a:bodyPr>
          <a:p>
            <a:pPr algn="l">
              <a:lnSpc>
                <a:spcPct val="150000"/>
              </a:lnSpc>
              <a:buClrTx/>
              <a:buSzTx/>
              <a:buNone/>
            </a:pPr>
            <a:r>
              <a:rPr lang="zh-CN" altLang="en-US" sz="1800" dirty="0">
                <a:solidFill>
                  <a:schemeClr val="accent1"/>
                </a:solidFill>
                <a:latin typeface="微软雅黑" panose="020B0503020204020204" pitchFamily="34" charset="-122"/>
                <a:ea typeface="微软雅黑" panose="020B0503020204020204" pitchFamily="34" charset="-122"/>
                <a:cs typeface="+mn-ea"/>
              </a:rPr>
              <a:t>传统的推测解码通过引入一个小参数量的“草稿模型</a:t>
            </a:r>
            <a:r>
              <a:rPr lang="en-US" altLang="zh-CN" sz="1800" dirty="0">
                <a:solidFill>
                  <a:schemeClr val="accent1"/>
                </a:solidFill>
                <a:latin typeface="微软雅黑" panose="020B0503020204020204" pitchFamily="34" charset="-122"/>
                <a:ea typeface="微软雅黑" panose="020B0503020204020204" pitchFamily="34" charset="-122"/>
                <a:cs typeface="+mn-ea"/>
              </a:rPr>
              <a:t>”</a:t>
            </a:r>
            <a:r>
              <a:rPr lang="zh-CN" altLang="en-US" sz="1800" dirty="0">
                <a:solidFill>
                  <a:schemeClr val="accent1"/>
                </a:solidFill>
                <a:latin typeface="微软雅黑" panose="020B0503020204020204" pitchFamily="34" charset="-122"/>
                <a:ea typeface="微软雅黑" panose="020B0503020204020204" pitchFamily="34" charset="-122"/>
                <a:cs typeface="+mn-ea"/>
              </a:rPr>
              <a:t>来缓解上述问题。然而，草稿模型与目标模型必须具有高度的分布相似性，否则较低的接受率会引发频繁的回退重启</a:t>
            </a: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lang="zh-CN" altLang="en-US" sz="1800" dirty="0">
                <a:solidFill>
                  <a:schemeClr val="accent1"/>
                </a:solidFill>
                <a:latin typeface="微软雅黑" panose="020B0503020204020204" pitchFamily="34" charset="-122"/>
                <a:ea typeface="微软雅黑" panose="020B0503020204020204" pitchFamily="34" charset="-122"/>
                <a:cs typeface="+mn-ea"/>
              </a:rPr>
              <a:t>并且在生产环境中，管理、同步和协同调度两个独立的模型会产生额外的通信延迟和显存碎片，尤其在分布式推理场景下，跨卡通信的开销往往会抵消加速增益</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childTnLst>
                          </p:cTn>
                        </p:par>
                        <p:par>
                          <p:cTn id="19" fill="hold">
                            <p:stCondLst>
                              <p:cond delay="740"/>
                            </p:stCondLst>
                            <p:childTnLst>
                              <p:par>
                                <p:cTn id="20" presetID="2" presetClass="entr" presetSubtype="12" fill="hold" grpId="0" nodeType="afterEffect">
                                  <p:stCondLst>
                                    <p:cond delay="0"/>
                                  </p:stCondLst>
                                  <p:childTnLst>
                                    <p:set>
                                      <p:cBhvr>
                                        <p:cTn id="21" dur="1" fill="hold">
                                          <p:stCondLst>
                                            <p:cond delay="0"/>
                                          </p:stCondLst>
                                        </p:cTn>
                                        <p:tgtEl>
                                          <p:spTgt spid="12311"/>
                                        </p:tgtEl>
                                        <p:attrNameLst>
                                          <p:attrName>style.visibility</p:attrName>
                                        </p:attrNameLst>
                                      </p:cBhvr>
                                      <p:to>
                                        <p:strVal val="visible"/>
                                      </p:to>
                                    </p:set>
                                    <p:anim calcmode="lin" valueType="num">
                                      <p:cBhvr additive="base">
                                        <p:cTn id="22" dur="500" fill="hold"/>
                                        <p:tgtEl>
                                          <p:spTgt spid="12311"/>
                                        </p:tgtEl>
                                        <p:attrNameLst>
                                          <p:attrName>ppt_x</p:attrName>
                                        </p:attrNameLst>
                                      </p:cBhvr>
                                      <p:tavLst>
                                        <p:tav tm="0">
                                          <p:val>
                                            <p:strVal val="0-#ppt_w/2"/>
                                          </p:val>
                                        </p:tav>
                                        <p:tav tm="100000">
                                          <p:val>
                                            <p:strVal val="#ppt_x"/>
                                          </p:val>
                                        </p:tav>
                                      </p:tavLst>
                                    </p:anim>
                                    <p:anim calcmode="lin" valueType="num">
                                      <p:cBhvr additive="base">
                                        <p:cTn id="23" dur="500" fill="hold"/>
                                        <p:tgtEl>
                                          <p:spTgt spid="12311"/>
                                        </p:tgtEl>
                                        <p:attrNameLst>
                                          <p:attrName>ppt_y</p:attrName>
                                        </p:attrNameLst>
                                      </p:cBhvr>
                                      <p:tavLst>
                                        <p:tav tm="0">
                                          <p:val>
                                            <p:strVal val="1+#ppt_h/2"/>
                                          </p:val>
                                        </p:tav>
                                        <p:tav tm="100000">
                                          <p:val>
                                            <p:strVal val="#ppt_y"/>
                                          </p:val>
                                        </p:tav>
                                      </p:tavLst>
                                    </p:anim>
                                  </p:childTnLst>
                                </p:cTn>
                              </p:par>
                              <p:par>
                                <p:cTn id="24" presetID="2" presetClass="entr" presetSubtype="12" fill="hold" grpId="0" nodeType="withEffect">
                                  <p:stCondLst>
                                    <p:cond delay="200"/>
                                  </p:stCondLst>
                                  <p:childTnLst>
                                    <p:set>
                                      <p:cBhvr>
                                        <p:cTn id="25" dur="1" fill="hold">
                                          <p:stCondLst>
                                            <p:cond delay="0"/>
                                          </p:stCondLst>
                                        </p:cTn>
                                        <p:tgtEl>
                                          <p:spTgt spid="12312"/>
                                        </p:tgtEl>
                                        <p:attrNameLst>
                                          <p:attrName>style.visibility</p:attrName>
                                        </p:attrNameLst>
                                      </p:cBhvr>
                                      <p:to>
                                        <p:strVal val="visible"/>
                                      </p:to>
                                    </p:set>
                                    <p:anim calcmode="lin" valueType="num">
                                      <p:cBhvr additive="base">
                                        <p:cTn id="26" dur="500" fill="hold"/>
                                        <p:tgtEl>
                                          <p:spTgt spid="12312"/>
                                        </p:tgtEl>
                                        <p:attrNameLst>
                                          <p:attrName>ppt_x</p:attrName>
                                        </p:attrNameLst>
                                      </p:cBhvr>
                                      <p:tavLst>
                                        <p:tav tm="0">
                                          <p:val>
                                            <p:strVal val="0-#ppt_w/2"/>
                                          </p:val>
                                        </p:tav>
                                        <p:tav tm="100000">
                                          <p:val>
                                            <p:strVal val="#ppt_x"/>
                                          </p:val>
                                        </p:tav>
                                      </p:tavLst>
                                    </p:anim>
                                    <p:anim calcmode="lin" valueType="num">
                                      <p:cBhvr additive="base">
                                        <p:cTn id="27" dur="500" fill="hold"/>
                                        <p:tgtEl>
                                          <p:spTgt spid="12312"/>
                                        </p:tgtEl>
                                        <p:attrNameLst>
                                          <p:attrName>ppt_y</p:attrName>
                                        </p:attrNameLst>
                                      </p:cBhvr>
                                      <p:tavLst>
                                        <p:tav tm="0">
                                          <p:val>
                                            <p:strVal val="1+#ppt_h/2"/>
                                          </p:val>
                                        </p:tav>
                                        <p:tav tm="100000">
                                          <p:val>
                                            <p:strVal val="#ppt_y"/>
                                          </p:val>
                                        </p:tav>
                                      </p:tavLst>
                                    </p:anim>
                                  </p:childTnLst>
                                </p:cTn>
                              </p:par>
                              <p:par>
                                <p:cTn id="28" presetID="2" presetClass="entr" presetSubtype="12" fill="hold" grpId="0" nodeType="withEffect">
                                  <p:stCondLst>
                                    <p:cond delay="400"/>
                                  </p:stCondLst>
                                  <p:childTnLst>
                                    <p:set>
                                      <p:cBhvr>
                                        <p:cTn id="29" dur="1" fill="hold">
                                          <p:stCondLst>
                                            <p:cond delay="0"/>
                                          </p:stCondLst>
                                        </p:cTn>
                                        <p:tgtEl>
                                          <p:spTgt spid="12313"/>
                                        </p:tgtEl>
                                        <p:attrNameLst>
                                          <p:attrName>style.visibility</p:attrName>
                                        </p:attrNameLst>
                                      </p:cBhvr>
                                      <p:to>
                                        <p:strVal val="visible"/>
                                      </p:to>
                                    </p:set>
                                    <p:anim calcmode="lin" valueType="num">
                                      <p:cBhvr additive="base">
                                        <p:cTn id="30" dur="500" fill="hold"/>
                                        <p:tgtEl>
                                          <p:spTgt spid="12313"/>
                                        </p:tgtEl>
                                        <p:attrNameLst>
                                          <p:attrName>ppt_x</p:attrName>
                                        </p:attrNameLst>
                                      </p:cBhvr>
                                      <p:tavLst>
                                        <p:tav tm="0">
                                          <p:val>
                                            <p:strVal val="0-#ppt_w/2"/>
                                          </p:val>
                                        </p:tav>
                                        <p:tav tm="100000">
                                          <p:val>
                                            <p:strVal val="#ppt_x"/>
                                          </p:val>
                                        </p:tav>
                                      </p:tavLst>
                                    </p:anim>
                                    <p:anim calcmode="lin" valueType="num">
                                      <p:cBhvr additive="base">
                                        <p:cTn id="31" dur="500" fill="hold"/>
                                        <p:tgtEl>
                                          <p:spTgt spid="123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P spid="12311" grpId="0" bldLvl="0" animBg="1"/>
      <p:bldP spid="12312" grpId="0" bldLvl="0" animBg="1"/>
      <p:bldP spid="12313"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p:nvPr/>
        </p:nvSpPr>
        <p:spPr>
          <a:xfrm>
            <a:off x="1012825" y="176213"/>
            <a:ext cx="944880" cy="553085"/>
          </a:xfrm>
          <a:prstGeom prst="rect">
            <a:avLst/>
          </a:prstGeom>
          <a:noFill/>
          <a:ln w="9525">
            <a:noFill/>
          </a:ln>
        </p:spPr>
        <p:txBody>
          <a:bodyPr wrap="none" anchor="t">
            <a:spAutoFit/>
          </a:bodyPr>
          <a:lstStyle/>
          <a:p>
            <a:r>
              <a:rPr lang="zh-CN" altLang="en-US" sz="3000" b="1" dirty="0">
                <a:solidFill>
                  <a:schemeClr val="accent1"/>
                </a:solidFill>
                <a:latin typeface="微软雅黑" panose="020B0503020204020204" pitchFamily="34" charset="-122"/>
                <a:ea typeface="微软雅黑" panose="020B0503020204020204" pitchFamily="34" charset="-122"/>
              </a:rPr>
              <a:t>背景</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229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12311" name="矩形 23"/>
          <p:cNvSpPr/>
          <p:nvPr/>
        </p:nvSpPr>
        <p:spPr>
          <a:xfrm>
            <a:off x="8978900" y="1124268"/>
            <a:ext cx="1728788" cy="1062037"/>
          </a:xfrm>
          <a:prstGeom prst="rect">
            <a:avLst/>
          </a:prstGeom>
          <a:blipFill rotWithShape="1">
            <a:blip r:embed="rId1" cstate="print"/>
            <a:stretch>
              <a:fillRect/>
            </a:stretch>
          </a:blipFill>
          <a:ln w="9525" cap="flat" cmpd="sng">
            <a:solidFill>
              <a:schemeClr val="tx1"/>
            </a:solidFill>
            <a:prstDash val="solid"/>
            <a:bevel/>
            <a:headEnd type="none" w="med" len="med"/>
            <a:tailEnd type="none" w="med" len="med"/>
          </a:ln>
        </p:spPr>
        <p:txBody>
          <a:bodyPr anchor="t"/>
          <a:lstStyle/>
          <a:p>
            <a:endParaRPr lang="zh-CN" altLang="en-US" sz="1800" dirty="0">
              <a:latin typeface="Arial" panose="020B0604020202020204" pitchFamily="34" charset="0"/>
              <a:ea typeface="宋体" panose="02010600030101010101" pitchFamily="2" charset="-122"/>
            </a:endParaRPr>
          </a:p>
        </p:txBody>
      </p:sp>
      <p:sp>
        <p:nvSpPr>
          <p:cNvPr id="12312" name="矩形 24"/>
          <p:cNvSpPr/>
          <p:nvPr/>
        </p:nvSpPr>
        <p:spPr>
          <a:xfrm>
            <a:off x="8978900" y="3108643"/>
            <a:ext cx="1728788" cy="1063625"/>
          </a:xfrm>
          <a:prstGeom prst="rect">
            <a:avLst/>
          </a:prstGeom>
          <a:blipFill rotWithShape="1">
            <a:blip r:embed="rId2" cstate="print"/>
            <a:stretch>
              <a:fillRect/>
            </a:stretch>
          </a:blipFill>
          <a:ln w="9525" cap="flat" cmpd="sng">
            <a:solidFill>
              <a:schemeClr val="tx1"/>
            </a:solidFill>
            <a:prstDash val="solid"/>
            <a:bevel/>
            <a:headEnd type="none" w="med" len="med"/>
            <a:tailEnd type="none" w="med" len="med"/>
          </a:ln>
        </p:spPr>
        <p:txBody>
          <a:bodyPr anchor="t"/>
          <a:lstStyle/>
          <a:p>
            <a:endParaRPr lang="zh-CN" altLang="en-US" sz="1800" dirty="0">
              <a:latin typeface="Arial" panose="020B0604020202020204" pitchFamily="34" charset="0"/>
              <a:ea typeface="宋体" panose="02010600030101010101" pitchFamily="2" charset="-122"/>
            </a:endParaRPr>
          </a:p>
        </p:txBody>
      </p:sp>
      <p:sp>
        <p:nvSpPr>
          <p:cNvPr id="12313" name="矩形 25"/>
          <p:cNvSpPr/>
          <p:nvPr/>
        </p:nvSpPr>
        <p:spPr>
          <a:xfrm>
            <a:off x="8978900" y="4994593"/>
            <a:ext cx="1728788" cy="1063625"/>
          </a:xfrm>
          <a:prstGeom prst="rect">
            <a:avLst/>
          </a:prstGeom>
          <a:blipFill rotWithShape="1">
            <a:blip r:embed="rId3" cstate="print"/>
            <a:stretch>
              <a:fillRect/>
            </a:stretch>
          </a:blipFill>
          <a:ln w="9525" cap="flat" cmpd="sng">
            <a:solidFill>
              <a:schemeClr val="tx1"/>
            </a:solidFill>
            <a:prstDash val="solid"/>
            <a:bevel/>
            <a:headEnd type="none" w="med" len="med"/>
            <a:tailEnd type="none" w="med" len="med"/>
          </a:ln>
        </p:spPr>
        <p:txBody>
          <a:bodyPr anchor="t"/>
          <a:lstStyle/>
          <a:p>
            <a:endParaRPr lang="zh-CN" altLang="en-US" sz="1800" dirty="0">
              <a:latin typeface="Arial" panose="020B0604020202020204" pitchFamily="34" charset="0"/>
              <a:ea typeface="宋体" panose="02010600030101010101" pitchFamily="2" charset="-122"/>
            </a:endParaRPr>
          </a:p>
        </p:txBody>
      </p:sp>
      <p:sp>
        <p:nvSpPr>
          <p:cNvPr id="2" name="文本框 1"/>
          <p:cNvSpPr txBox="1"/>
          <p:nvPr/>
        </p:nvSpPr>
        <p:spPr>
          <a:xfrm>
            <a:off x="697865" y="1268730"/>
            <a:ext cx="7252970" cy="4819015"/>
          </a:xfrm>
          <a:prstGeom prst="rect">
            <a:avLst/>
          </a:prstGeom>
          <a:noFill/>
        </p:spPr>
        <p:txBody>
          <a:bodyPr wrap="square" rtlCol="0">
            <a:noAutofit/>
          </a:bodyPr>
          <a:p>
            <a:pPr algn="l">
              <a:lnSpc>
                <a:spcPct val="150000"/>
              </a:lnSpc>
              <a:buClrTx/>
              <a:buSzTx/>
              <a:buNone/>
            </a:pPr>
            <a:r>
              <a:rPr lang="en-US" altLang="zh-CN" sz="1800" dirty="0">
                <a:solidFill>
                  <a:schemeClr val="accent1"/>
                </a:solidFill>
                <a:latin typeface="微软雅黑" panose="020B0503020204020204" pitchFamily="34" charset="-122"/>
                <a:ea typeface="微软雅黑" panose="020B0503020204020204" pitchFamily="34" charset="-122"/>
                <a:cs typeface="+mn-ea"/>
              </a:rPr>
              <a:t>MEDUSA </a:t>
            </a:r>
            <a:r>
              <a:rPr lang="zh-CN" altLang="en-US" sz="1800" dirty="0">
                <a:solidFill>
                  <a:schemeClr val="accent1"/>
                </a:solidFill>
                <a:latin typeface="微软雅黑" panose="020B0503020204020204" pitchFamily="34" charset="-122"/>
                <a:ea typeface="微软雅黑" panose="020B0503020204020204" pitchFamily="34" charset="-122"/>
                <a:cs typeface="+mn-ea"/>
              </a:rPr>
              <a:t>的核心动机是将预测任务从外部模型迁移至模型内部，利用 </a:t>
            </a:r>
            <a:r>
              <a:rPr lang="en-US" altLang="zh-CN" sz="1800" dirty="0">
                <a:solidFill>
                  <a:schemeClr val="accent1"/>
                </a:solidFill>
                <a:latin typeface="微软雅黑" panose="020B0503020204020204" pitchFamily="34" charset="-122"/>
                <a:ea typeface="微软雅黑" panose="020B0503020204020204" pitchFamily="34" charset="-122"/>
                <a:cs typeface="+mn-ea"/>
              </a:rPr>
              <a:t>LLM </a:t>
            </a:r>
            <a:r>
              <a:rPr lang="zh-CN" altLang="en-US" sz="1800" dirty="0">
                <a:solidFill>
                  <a:schemeClr val="accent1"/>
                </a:solidFill>
                <a:latin typeface="微软雅黑" panose="020B0503020204020204" pitchFamily="34" charset="-122"/>
                <a:ea typeface="微软雅黑" panose="020B0503020204020204" pitchFamily="34" charset="-122"/>
                <a:cs typeface="+mn-ea"/>
              </a:rPr>
              <a:t>顶层隐藏状态丰富的语义冗余信息</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lang="zh-CN" altLang="en-US" sz="1800" dirty="0">
                <a:solidFill>
                  <a:schemeClr val="accent1"/>
                </a:solidFill>
                <a:latin typeface="微软雅黑" panose="020B0503020204020204" pitchFamily="34" charset="-122"/>
                <a:ea typeface="微软雅黑" panose="020B0503020204020204" pitchFamily="34" charset="-122"/>
                <a:cs typeface="+mn-ea"/>
              </a:rPr>
              <a:t>论文指出，当前位置的隐藏向量已经隐式包含了后续多个步长的语义倾向</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lang="zh-CN" altLang="en-US" sz="1800" dirty="0">
                <a:solidFill>
                  <a:schemeClr val="accent1"/>
                </a:solidFill>
                <a:latin typeface="微软雅黑" panose="020B0503020204020204" pitchFamily="34" charset="-122"/>
                <a:ea typeface="微软雅黑" panose="020B0503020204020204" pitchFamily="34" charset="-122"/>
                <a:cs typeface="+mn-ea"/>
              </a:rPr>
              <a:t>通过在骨干网络上附加多个轻量级多层感知机（</a:t>
            </a:r>
            <a:r>
              <a:rPr lang="en-US" altLang="zh-CN" sz="1800" dirty="0">
                <a:solidFill>
                  <a:schemeClr val="accent1"/>
                </a:solidFill>
                <a:latin typeface="微软雅黑" panose="020B0503020204020204" pitchFamily="34" charset="-122"/>
                <a:ea typeface="微软雅黑" panose="020B0503020204020204" pitchFamily="34" charset="-122"/>
                <a:cs typeface="+mn-ea"/>
              </a:rPr>
              <a:t>MLP）</a:t>
            </a:r>
            <a:r>
              <a:rPr lang="zh-CN" altLang="en-US" sz="1800" dirty="0">
                <a:solidFill>
                  <a:schemeClr val="accent1"/>
                </a:solidFill>
                <a:latin typeface="微软雅黑" panose="020B0503020204020204" pitchFamily="34" charset="-122"/>
                <a:ea typeface="微软雅黑" panose="020B0503020204020204" pitchFamily="34" charset="-122"/>
                <a:cs typeface="+mn-ea"/>
              </a:rPr>
              <a:t>作为解码头，</a:t>
            </a:r>
            <a:r>
              <a:rPr lang="en-US" altLang="zh-CN" sz="1800" dirty="0">
                <a:solidFill>
                  <a:schemeClr val="accent1"/>
                </a:solidFill>
                <a:latin typeface="微软雅黑" panose="020B0503020204020204" pitchFamily="34" charset="-122"/>
                <a:ea typeface="微软雅黑" panose="020B0503020204020204" pitchFamily="34" charset="-122"/>
                <a:cs typeface="+mn-ea"/>
              </a:rPr>
              <a:t>MEDUSA </a:t>
            </a:r>
            <a:r>
              <a:rPr lang="zh-CN" altLang="en-US" sz="1800" dirty="0">
                <a:solidFill>
                  <a:schemeClr val="accent1"/>
                </a:solidFill>
                <a:latin typeface="微软雅黑" panose="020B0503020204020204" pitchFamily="34" charset="-122"/>
                <a:ea typeface="微软雅黑" panose="020B0503020204020204" pitchFamily="34" charset="-122"/>
                <a:cs typeface="+mn-ea"/>
              </a:rPr>
              <a:t>将“串行预测”转化为“并行猜测 + 验证”，从而在单次前向传播中大幅提升硬件的计算负载，优化带宽利用率</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childTnLst>
                          </p:cTn>
                        </p:par>
                        <p:par>
                          <p:cTn id="19" fill="hold">
                            <p:stCondLst>
                              <p:cond delay="740"/>
                            </p:stCondLst>
                            <p:childTnLst>
                              <p:par>
                                <p:cTn id="20" presetID="2" presetClass="entr" presetSubtype="12" fill="hold" grpId="0" nodeType="afterEffect">
                                  <p:stCondLst>
                                    <p:cond delay="0"/>
                                  </p:stCondLst>
                                  <p:childTnLst>
                                    <p:set>
                                      <p:cBhvr>
                                        <p:cTn id="21" dur="1" fill="hold">
                                          <p:stCondLst>
                                            <p:cond delay="0"/>
                                          </p:stCondLst>
                                        </p:cTn>
                                        <p:tgtEl>
                                          <p:spTgt spid="12311"/>
                                        </p:tgtEl>
                                        <p:attrNameLst>
                                          <p:attrName>style.visibility</p:attrName>
                                        </p:attrNameLst>
                                      </p:cBhvr>
                                      <p:to>
                                        <p:strVal val="visible"/>
                                      </p:to>
                                    </p:set>
                                    <p:anim calcmode="lin" valueType="num">
                                      <p:cBhvr additive="base">
                                        <p:cTn id="22" dur="500" fill="hold"/>
                                        <p:tgtEl>
                                          <p:spTgt spid="12311"/>
                                        </p:tgtEl>
                                        <p:attrNameLst>
                                          <p:attrName>ppt_x</p:attrName>
                                        </p:attrNameLst>
                                      </p:cBhvr>
                                      <p:tavLst>
                                        <p:tav tm="0">
                                          <p:val>
                                            <p:strVal val="0-#ppt_w/2"/>
                                          </p:val>
                                        </p:tav>
                                        <p:tav tm="100000">
                                          <p:val>
                                            <p:strVal val="#ppt_x"/>
                                          </p:val>
                                        </p:tav>
                                      </p:tavLst>
                                    </p:anim>
                                    <p:anim calcmode="lin" valueType="num">
                                      <p:cBhvr additive="base">
                                        <p:cTn id="23" dur="500" fill="hold"/>
                                        <p:tgtEl>
                                          <p:spTgt spid="12311"/>
                                        </p:tgtEl>
                                        <p:attrNameLst>
                                          <p:attrName>ppt_y</p:attrName>
                                        </p:attrNameLst>
                                      </p:cBhvr>
                                      <p:tavLst>
                                        <p:tav tm="0">
                                          <p:val>
                                            <p:strVal val="1+#ppt_h/2"/>
                                          </p:val>
                                        </p:tav>
                                        <p:tav tm="100000">
                                          <p:val>
                                            <p:strVal val="#ppt_y"/>
                                          </p:val>
                                        </p:tav>
                                      </p:tavLst>
                                    </p:anim>
                                  </p:childTnLst>
                                </p:cTn>
                              </p:par>
                              <p:par>
                                <p:cTn id="24" presetID="2" presetClass="entr" presetSubtype="12" fill="hold" grpId="0" nodeType="withEffect">
                                  <p:stCondLst>
                                    <p:cond delay="200"/>
                                  </p:stCondLst>
                                  <p:childTnLst>
                                    <p:set>
                                      <p:cBhvr>
                                        <p:cTn id="25" dur="1" fill="hold">
                                          <p:stCondLst>
                                            <p:cond delay="0"/>
                                          </p:stCondLst>
                                        </p:cTn>
                                        <p:tgtEl>
                                          <p:spTgt spid="12312"/>
                                        </p:tgtEl>
                                        <p:attrNameLst>
                                          <p:attrName>style.visibility</p:attrName>
                                        </p:attrNameLst>
                                      </p:cBhvr>
                                      <p:to>
                                        <p:strVal val="visible"/>
                                      </p:to>
                                    </p:set>
                                    <p:anim calcmode="lin" valueType="num">
                                      <p:cBhvr additive="base">
                                        <p:cTn id="26" dur="500" fill="hold"/>
                                        <p:tgtEl>
                                          <p:spTgt spid="12312"/>
                                        </p:tgtEl>
                                        <p:attrNameLst>
                                          <p:attrName>ppt_x</p:attrName>
                                        </p:attrNameLst>
                                      </p:cBhvr>
                                      <p:tavLst>
                                        <p:tav tm="0">
                                          <p:val>
                                            <p:strVal val="0-#ppt_w/2"/>
                                          </p:val>
                                        </p:tav>
                                        <p:tav tm="100000">
                                          <p:val>
                                            <p:strVal val="#ppt_x"/>
                                          </p:val>
                                        </p:tav>
                                      </p:tavLst>
                                    </p:anim>
                                    <p:anim calcmode="lin" valueType="num">
                                      <p:cBhvr additive="base">
                                        <p:cTn id="27" dur="500" fill="hold"/>
                                        <p:tgtEl>
                                          <p:spTgt spid="12312"/>
                                        </p:tgtEl>
                                        <p:attrNameLst>
                                          <p:attrName>ppt_y</p:attrName>
                                        </p:attrNameLst>
                                      </p:cBhvr>
                                      <p:tavLst>
                                        <p:tav tm="0">
                                          <p:val>
                                            <p:strVal val="1+#ppt_h/2"/>
                                          </p:val>
                                        </p:tav>
                                        <p:tav tm="100000">
                                          <p:val>
                                            <p:strVal val="#ppt_y"/>
                                          </p:val>
                                        </p:tav>
                                      </p:tavLst>
                                    </p:anim>
                                  </p:childTnLst>
                                </p:cTn>
                              </p:par>
                              <p:par>
                                <p:cTn id="28" presetID="2" presetClass="entr" presetSubtype="12" fill="hold" grpId="0" nodeType="withEffect">
                                  <p:stCondLst>
                                    <p:cond delay="400"/>
                                  </p:stCondLst>
                                  <p:childTnLst>
                                    <p:set>
                                      <p:cBhvr>
                                        <p:cTn id="29" dur="1" fill="hold">
                                          <p:stCondLst>
                                            <p:cond delay="0"/>
                                          </p:stCondLst>
                                        </p:cTn>
                                        <p:tgtEl>
                                          <p:spTgt spid="12313"/>
                                        </p:tgtEl>
                                        <p:attrNameLst>
                                          <p:attrName>style.visibility</p:attrName>
                                        </p:attrNameLst>
                                      </p:cBhvr>
                                      <p:to>
                                        <p:strVal val="visible"/>
                                      </p:to>
                                    </p:set>
                                    <p:anim calcmode="lin" valueType="num">
                                      <p:cBhvr additive="base">
                                        <p:cTn id="30" dur="500" fill="hold"/>
                                        <p:tgtEl>
                                          <p:spTgt spid="12313"/>
                                        </p:tgtEl>
                                        <p:attrNameLst>
                                          <p:attrName>ppt_x</p:attrName>
                                        </p:attrNameLst>
                                      </p:cBhvr>
                                      <p:tavLst>
                                        <p:tav tm="0">
                                          <p:val>
                                            <p:strVal val="0-#ppt_w/2"/>
                                          </p:val>
                                        </p:tav>
                                        <p:tav tm="100000">
                                          <p:val>
                                            <p:strVal val="#ppt_x"/>
                                          </p:val>
                                        </p:tav>
                                      </p:tavLst>
                                    </p:anim>
                                    <p:anim calcmode="lin" valueType="num">
                                      <p:cBhvr additive="base">
                                        <p:cTn id="31" dur="500" fill="hold"/>
                                        <p:tgtEl>
                                          <p:spTgt spid="123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P spid="12311" grpId="0" bldLvl="0" animBg="1"/>
      <p:bldP spid="12312" grpId="0" bldLvl="0" animBg="1"/>
      <p:bldP spid="12313"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0">
          <a:blip r:embed="rId1" cstate="print"/>
          <a:stretch>
            <a:fillRect/>
          </a:stretch>
        </a:blipFill>
        <a:effectLst/>
      </p:bgPr>
    </p:bg>
    <p:spTree>
      <p:nvGrpSpPr>
        <p:cNvPr id="1" name=""/>
        <p:cNvGrpSpPr/>
        <p:nvPr/>
      </p:nvGrpSpPr>
      <p:grpSpPr>
        <a:xfrm>
          <a:off x="0" y="0"/>
          <a:ext cx="0" cy="0"/>
          <a:chOff x="0" y="0"/>
          <a:chExt cx="0" cy="0"/>
        </a:xfrm>
      </p:grpSpPr>
      <p:sp>
        <p:nvSpPr>
          <p:cNvPr id="22530" name="Oval 5"/>
          <p:cNvSpPr/>
          <p:nvPr/>
        </p:nvSpPr>
        <p:spPr>
          <a:xfrm>
            <a:off x="4062413" y="627063"/>
            <a:ext cx="4141787" cy="4144962"/>
          </a:xfrm>
          <a:prstGeom prst="ellipse">
            <a:avLst/>
          </a:prstGeom>
          <a:solidFill>
            <a:srgbClr val="FFFFFF"/>
          </a:solidFill>
          <a:ln w="9525">
            <a:noFill/>
          </a:ln>
        </p:spPr>
        <p:txBody>
          <a:bodyPr anchor="t"/>
          <a:lstStyle/>
          <a:p>
            <a:endParaRPr lang="zh-CN" altLang="en-US" sz="1800" dirty="0">
              <a:solidFill>
                <a:srgbClr val="004C54"/>
              </a:solidFill>
              <a:latin typeface="Arial" panose="020B0604020202020204" pitchFamily="34" charset="0"/>
              <a:ea typeface="宋体" panose="02010600030101010101" pitchFamily="2" charset="-122"/>
            </a:endParaRPr>
          </a:p>
        </p:txBody>
      </p:sp>
      <p:sp>
        <p:nvSpPr>
          <p:cNvPr id="22531" name="Line 12"/>
          <p:cNvSpPr/>
          <p:nvPr/>
        </p:nvSpPr>
        <p:spPr>
          <a:xfrm>
            <a:off x="4195763" y="2740025"/>
            <a:ext cx="3808412" cy="0"/>
          </a:xfrm>
          <a:prstGeom prst="line">
            <a:avLst/>
          </a:prstGeom>
          <a:ln w="12700" cap="flat" cmpd="sng">
            <a:solidFill>
              <a:schemeClr val="bg2"/>
            </a:solidFill>
            <a:prstDash val="solid"/>
            <a:round/>
            <a:headEnd type="none" w="med" len="med"/>
            <a:tailEnd type="none" w="med" len="med"/>
          </a:ln>
        </p:spPr>
      </p:sp>
      <p:sp>
        <p:nvSpPr>
          <p:cNvPr id="22532" name="TextBox 77"/>
          <p:cNvSpPr txBox="1"/>
          <p:nvPr/>
        </p:nvSpPr>
        <p:spPr>
          <a:xfrm>
            <a:off x="4602163" y="2852738"/>
            <a:ext cx="3168650" cy="768350"/>
          </a:xfrm>
          <a:prstGeom prst="rect">
            <a:avLst/>
          </a:prstGeom>
          <a:noFill/>
          <a:ln w="9525">
            <a:noFill/>
          </a:ln>
        </p:spPr>
        <p:txBody>
          <a:bodyPr anchor="t">
            <a:spAutoFit/>
          </a:bodyPr>
          <a:lstStyle/>
          <a:p>
            <a:pPr algn="ctr"/>
            <a:r>
              <a:rPr lang="zh-CN" altLang="en-US" sz="4400" b="1" dirty="0">
                <a:solidFill>
                  <a:srgbClr val="363636"/>
                </a:solidFill>
                <a:latin typeface="微软雅黑" panose="020B0503020204020204" pitchFamily="34" charset="-122"/>
                <a:ea typeface="微软雅黑" panose="020B0503020204020204" pitchFamily="34" charset="-122"/>
              </a:rPr>
              <a:t>关键技术</a:t>
            </a:r>
            <a:endParaRPr lang="zh-CN" altLang="en-US" sz="4400" b="1" dirty="0">
              <a:solidFill>
                <a:srgbClr val="363636"/>
              </a:solidFill>
              <a:latin typeface="微软雅黑" panose="020B0503020204020204" pitchFamily="34" charset="-122"/>
              <a:ea typeface="微软雅黑" panose="020B0503020204020204" pitchFamily="34" charset="-122"/>
            </a:endParaRPr>
          </a:p>
        </p:txBody>
      </p:sp>
      <p:sp>
        <p:nvSpPr>
          <p:cNvPr id="22533" name="Rectangle 14"/>
          <p:cNvSpPr/>
          <p:nvPr/>
        </p:nvSpPr>
        <p:spPr>
          <a:xfrm>
            <a:off x="5634038" y="2255838"/>
            <a:ext cx="930275" cy="400050"/>
          </a:xfrm>
          <a:prstGeom prst="rect">
            <a:avLst/>
          </a:prstGeom>
          <a:noFill/>
          <a:ln w="9525">
            <a:noFill/>
          </a:ln>
        </p:spPr>
        <p:txBody>
          <a:bodyPr wrap="none" lIns="0" tIns="0" rIns="0" bIns="0" anchor="t">
            <a:spAutoFit/>
          </a:bodyPr>
          <a:lstStyle/>
          <a:p>
            <a:r>
              <a:rPr lang="zh-CN" altLang="en-US" sz="2600" dirty="0">
                <a:solidFill>
                  <a:srgbClr val="363636"/>
                </a:solidFill>
                <a:latin typeface="微软雅黑" panose="020B0503020204020204" pitchFamily="34" charset="-122"/>
                <a:ea typeface="微软雅黑" panose="020B0503020204020204" pitchFamily="34" charset="-122"/>
              </a:rPr>
              <a:t>Part </a:t>
            </a:r>
            <a:r>
              <a:rPr lang="en-US" altLang="zh-CN" sz="2600" dirty="0">
                <a:solidFill>
                  <a:srgbClr val="363636"/>
                </a:solidFill>
                <a:latin typeface="微软雅黑" panose="020B0503020204020204" pitchFamily="34" charset="-122"/>
                <a:ea typeface="微软雅黑" panose="020B0503020204020204" pitchFamily="34" charset="-122"/>
              </a:rPr>
              <a:t>3</a:t>
            </a:r>
            <a:endParaRPr lang="zh-CN" altLang="en-US" sz="2600" dirty="0">
              <a:solidFill>
                <a:srgbClr val="363636"/>
              </a:solidFill>
              <a:latin typeface="微软雅黑" panose="020B0503020204020204" pitchFamily="34" charset="-122"/>
              <a:ea typeface="微软雅黑" panose="020B0503020204020204" pitchFamily="34" charset="-122"/>
            </a:endParaRPr>
          </a:p>
        </p:txBody>
      </p:sp>
      <p:sp>
        <p:nvSpPr>
          <p:cNvPr id="22534" name="Freeform 12"/>
          <p:cNvSpPr>
            <a:spLocks noEditPoints="1"/>
          </p:cNvSpPr>
          <p:nvPr/>
        </p:nvSpPr>
        <p:spPr>
          <a:xfrm>
            <a:off x="5340350" y="798513"/>
            <a:ext cx="1517650" cy="1463675"/>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022" h="973">
                <a:moveTo>
                  <a:pt x="596" y="882"/>
                </a:moveTo>
                <a:lnTo>
                  <a:pt x="426" y="882"/>
                </a:lnTo>
                <a:cubicBezTo>
                  <a:pt x="414" y="882"/>
                  <a:pt x="403" y="892"/>
                  <a:pt x="403" y="904"/>
                </a:cubicBezTo>
                <a:cubicBezTo>
                  <a:pt x="403" y="916"/>
                  <a:pt x="414" y="926"/>
                  <a:pt x="426" y="926"/>
                </a:cubicBezTo>
                <a:lnTo>
                  <a:pt x="596" y="926"/>
                </a:lnTo>
                <a:cubicBezTo>
                  <a:pt x="609" y="926"/>
                  <a:pt x="619" y="916"/>
                  <a:pt x="619" y="904"/>
                </a:cubicBezTo>
                <a:cubicBezTo>
                  <a:pt x="619" y="892"/>
                  <a:pt x="609" y="882"/>
                  <a:pt x="596" y="882"/>
                </a:cubicBezTo>
                <a:close/>
                <a:moveTo>
                  <a:pt x="596" y="813"/>
                </a:moveTo>
                <a:lnTo>
                  <a:pt x="596" y="813"/>
                </a:lnTo>
                <a:lnTo>
                  <a:pt x="426" y="813"/>
                </a:lnTo>
                <a:cubicBezTo>
                  <a:pt x="414" y="813"/>
                  <a:pt x="403" y="823"/>
                  <a:pt x="403" y="835"/>
                </a:cubicBezTo>
                <a:cubicBezTo>
                  <a:pt x="403" y="848"/>
                  <a:pt x="414" y="858"/>
                  <a:pt x="426" y="858"/>
                </a:cubicBezTo>
                <a:lnTo>
                  <a:pt x="596" y="858"/>
                </a:lnTo>
                <a:cubicBezTo>
                  <a:pt x="609" y="858"/>
                  <a:pt x="619" y="848"/>
                  <a:pt x="619" y="835"/>
                </a:cubicBezTo>
                <a:cubicBezTo>
                  <a:pt x="619" y="823"/>
                  <a:pt x="609" y="813"/>
                  <a:pt x="596" y="813"/>
                </a:cubicBezTo>
                <a:close/>
                <a:moveTo>
                  <a:pt x="511" y="973"/>
                </a:moveTo>
                <a:lnTo>
                  <a:pt x="511" y="973"/>
                </a:lnTo>
                <a:lnTo>
                  <a:pt x="585" y="946"/>
                </a:lnTo>
                <a:lnTo>
                  <a:pt x="437" y="946"/>
                </a:lnTo>
                <a:lnTo>
                  <a:pt x="511" y="973"/>
                </a:lnTo>
                <a:close/>
                <a:moveTo>
                  <a:pt x="514" y="261"/>
                </a:moveTo>
                <a:lnTo>
                  <a:pt x="514" y="261"/>
                </a:lnTo>
                <a:lnTo>
                  <a:pt x="508" y="261"/>
                </a:lnTo>
                <a:cubicBezTo>
                  <a:pt x="384" y="261"/>
                  <a:pt x="272" y="362"/>
                  <a:pt x="272" y="486"/>
                </a:cubicBezTo>
                <a:cubicBezTo>
                  <a:pt x="272" y="611"/>
                  <a:pt x="377" y="682"/>
                  <a:pt x="388" y="721"/>
                </a:cubicBezTo>
                <a:cubicBezTo>
                  <a:pt x="398" y="759"/>
                  <a:pt x="388" y="778"/>
                  <a:pt x="416" y="787"/>
                </a:cubicBezTo>
                <a:cubicBezTo>
                  <a:pt x="444" y="796"/>
                  <a:pt x="508" y="794"/>
                  <a:pt x="508" y="794"/>
                </a:cubicBezTo>
                <a:lnTo>
                  <a:pt x="514" y="794"/>
                </a:lnTo>
                <a:cubicBezTo>
                  <a:pt x="514" y="794"/>
                  <a:pt x="578" y="796"/>
                  <a:pt x="606" y="787"/>
                </a:cubicBezTo>
                <a:cubicBezTo>
                  <a:pt x="634" y="778"/>
                  <a:pt x="624" y="759"/>
                  <a:pt x="634" y="721"/>
                </a:cubicBezTo>
                <a:cubicBezTo>
                  <a:pt x="645" y="682"/>
                  <a:pt x="750" y="611"/>
                  <a:pt x="750" y="486"/>
                </a:cubicBezTo>
                <a:cubicBezTo>
                  <a:pt x="750" y="362"/>
                  <a:pt x="638" y="261"/>
                  <a:pt x="514" y="261"/>
                </a:cubicBezTo>
                <a:close/>
                <a:moveTo>
                  <a:pt x="201" y="527"/>
                </a:moveTo>
                <a:lnTo>
                  <a:pt x="201" y="527"/>
                </a:lnTo>
                <a:cubicBezTo>
                  <a:pt x="201" y="509"/>
                  <a:pt x="183" y="495"/>
                  <a:pt x="162" y="495"/>
                </a:cubicBezTo>
                <a:lnTo>
                  <a:pt x="39" y="495"/>
                </a:lnTo>
                <a:cubicBezTo>
                  <a:pt x="17" y="495"/>
                  <a:pt x="0" y="509"/>
                  <a:pt x="0" y="527"/>
                </a:cubicBezTo>
                <a:cubicBezTo>
                  <a:pt x="0" y="544"/>
                  <a:pt x="17" y="558"/>
                  <a:pt x="39" y="558"/>
                </a:cubicBezTo>
                <a:lnTo>
                  <a:pt x="162" y="558"/>
                </a:lnTo>
                <a:cubicBezTo>
                  <a:pt x="183" y="558"/>
                  <a:pt x="201" y="544"/>
                  <a:pt x="201" y="527"/>
                </a:cubicBezTo>
                <a:close/>
                <a:moveTo>
                  <a:pt x="983" y="495"/>
                </a:moveTo>
                <a:lnTo>
                  <a:pt x="983" y="495"/>
                </a:lnTo>
                <a:lnTo>
                  <a:pt x="860" y="495"/>
                </a:lnTo>
                <a:cubicBezTo>
                  <a:pt x="839" y="495"/>
                  <a:pt x="822" y="509"/>
                  <a:pt x="822" y="527"/>
                </a:cubicBezTo>
                <a:cubicBezTo>
                  <a:pt x="822" y="544"/>
                  <a:pt x="839" y="558"/>
                  <a:pt x="860" y="558"/>
                </a:cubicBezTo>
                <a:lnTo>
                  <a:pt x="983" y="558"/>
                </a:lnTo>
                <a:cubicBezTo>
                  <a:pt x="1005" y="558"/>
                  <a:pt x="1022" y="544"/>
                  <a:pt x="1022" y="527"/>
                </a:cubicBezTo>
                <a:cubicBezTo>
                  <a:pt x="1022" y="509"/>
                  <a:pt x="1005" y="495"/>
                  <a:pt x="983" y="495"/>
                </a:cubicBezTo>
                <a:close/>
                <a:moveTo>
                  <a:pt x="782" y="296"/>
                </a:moveTo>
                <a:lnTo>
                  <a:pt x="782" y="296"/>
                </a:lnTo>
                <a:lnTo>
                  <a:pt x="869" y="209"/>
                </a:lnTo>
                <a:cubicBezTo>
                  <a:pt x="885" y="194"/>
                  <a:pt x="887" y="172"/>
                  <a:pt x="874" y="159"/>
                </a:cubicBezTo>
                <a:cubicBezTo>
                  <a:pt x="862" y="147"/>
                  <a:pt x="839" y="149"/>
                  <a:pt x="824" y="164"/>
                </a:cubicBezTo>
                <a:lnTo>
                  <a:pt x="737" y="251"/>
                </a:lnTo>
                <a:cubicBezTo>
                  <a:pt x="722" y="266"/>
                  <a:pt x="720" y="289"/>
                  <a:pt x="732" y="301"/>
                </a:cubicBezTo>
                <a:cubicBezTo>
                  <a:pt x="745" y="314"/>
                  <a:pt x="767" y="311"/>
                  <a:pt x="782" y="296"/>
                </a:cubicBezTo>
                <a:close/>
                <a:moveTo>
                  <a:pt x="508" y="201"/>
                </a:moveTo>
                <a:lnTo>
                  <a:pt x="508" y="201"/>
                </a:lnTo>
                <a:cubicBezTo>
                  <a:pt x="526" y="201"/>
                  <a:pt x="540" y="183"/>
                  <a:pt x="540" y="162"/>
                </a:cubicBezTo>
                <a:lnTo>
                  <a:pt x="540" y="39"/>
                </a:lnTo>
                <a:cubicBezTo>
                  <a:pt x="540" y="18"/>
                  <a:pt x="526" y="0"/>
                  <a:pt x="508" y="0"/>
                </a:cubicBezTo>
                <a:cubicBezTo>
                  <a:pt x="491" y="0"/>
                  <a:pt x="476" y="18"/>
                  <a:pt x="476" y="39"/>
                </a:cubicBezTo>
                <a:lnTo>
                  <a:pt x="476" y="162"/>
                </a:lnTo>
                <a:cubicBezTo>
                  <a:pt x="476" y="183"/>
                  <a:pt x="491" y="201"/>
                  <a:pt x="508" y="201"/>
                </a:cubicBezTo>
                <a:close/>
                <a:moveTo>
                  <a:pt x="229" y="283"/>
                </a:moveTo>
                <a:lnTo>
                  <a:pt x="229" y="283"/>
                </a:lnTo>
                <a:cubicBezTo>
                  <a:pt x="244" y="299"/>
                  <a:pt x="267" y="301"/>
                  <a:pt x="279" y="288"/>
                </a:cubicBezTo>
                <a:cubicBezTo>
                  <a:pt x="292" y="276"/>
                  <a:pt x="289" y="254"/>
                  <a:pt x="274" y="238"/>
                </a:cubicBezTo>
                <a:lnTo>
                  <a:pt x="187" y="151"/>
                </a:lnTo>
                <a:cubicBezTo>
                  <a:pt x="172" y="136"/>
                  <a:pt x="149" y="134"/>
                  <a:pt x="137" y="146"/>
                </a:cubicBezTo>
                <a:cubicBezTo>
                  <a:pt x="125" y="159"/>
                  <a:pt x="127" y="181"/>
                  <a:pt x="142" y="196"/>
                </a:cubicBezTo>
                <a:lnTo>
                  <a:pt x="229" y="283"/>
                </a:lnTo>
                <a:close/>
                <a:moveTo>
                  <a:pt x="240" y="756"/>
                </a:moveTo>
                <a:lnTo>
                  <a:pt x="240" y="756"/>
                </a:lnTo>
                <a:lnTo>
                  <a:pt x="153" y="843"/>
                </a:lnTo>
                <a:cubicBezTo>
                  <a:pt x="137" y="859"/>
                  <a:pt x="135" y="881"/>
                  <a:pt x="148" y="894"/>
                </a:cubicBezTo>
                <a:cubicBezTo>
                  <a:pt x="160" y="906"/>
                  <a:pt x="183" y="904"/>
                  <a:pt x="198" y="889"/>
                </a:cubicBezTo>
                <a:lnTo>
                  <a:pt x="285" y="802"/>
                </a:lnTo>
                <a:cubicBezTo>
                  <a:pt x="300" y="786"/>
                  <a:pt x="302" y="764"/>
                  <a:pt x="290" y="751"/>
                </a:cubicBezTo>
                <a:cubicBezTo>
                  <a:pt x="277" y="739"/>
                  <a:pt x="255" y="741"/>
                  <a:pt x="240" y="756"/>
                </a:cubicBezTo>
                <a:close/>
                <a:moveTo>
                  <a:pt x="793" y="769"/>
                </a:moveTo>
                <a:lnTo>
                  <a:pt x="793" y="769"/>
                </a:lnTo>
                <a:cubicBezTo>
                  <a:pt x="778" y="754"/>
                  <a:pt x="755" y="752"/>
                  <a:pt x="743" y="764"/>
                </a:cubicBezTo>
                <a:cubicBezTo>
                  <a:pt x="731" y="777"/>
                  <a:pt x="733" y="799"/>
                  <a:pt x="748" y="814"/>
                </a:cubicBezTo>
                <a:lnTo>
                  <a:pt x="835" y="901"/>
                </a:lnTo>
                <a:cubicBezTo>
                  <a:pt x="850" y="916"/>
                  <a:pt x="873" y="919"/>
                  <a:pt x="885" y="906"/>
                </a:cubicBezTo>
                <a:cubicBezTo>
                  <a:pt x="897" y="894"/>
                  <a:pt x="895" y="871"/>
                  <a:pt x="880" y="856"/>
                </a:cubicBezTo>
                <a:lnTo>
                  <a:pt x="793" y="769"/>
                </a:lnTo>
                <a:close/>
              </a:path>
            </a:pathLst>
          </a:custGeom>
          <a:solidFill>
            <a:srgbClr val="113E6A"/>
          </a:solidFill>
          <a:ln w="9525">
            <a:noFill/>
          </a:ln>
        </p:spPr>
        <p:txBody>
          <a:bodyPr/>
          <a:lstStyle/>
          <a:p>
            <a:endParaRPr lang="zh-CN" altLang="en-US" sz="1800"/>
          </a:p>
        </p:txBody>
      </p:sp>
      <p:pic>
        <p:nvPicPr>
          <p:cNvPr id="15" name="图片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8741" y="91674"/>
            <a:ext cx="2646380" cy="503185"/>
          </a:xfrm>
          <a:prstGeom prst="rect">
            <a:avLst/>
          </a:prstGeom>
        </p:spPr>
      </p:pic>
    </p:spTree>
  </p:cSld>
  <p:clrMapOvr>
    <a:masterClrMapping/>
  </p:clrMapOvr>
  <p:transition advTm="856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2530"/>
                                        </p:tgtEl>
                                        <p:attrNameLst>
                                          <p:attrName>style.visibility</p:attrName>
                                        </p:attrNameLst>
                                      </p:cBhvr>
                                      <p:to>
                                        <p:strVal val="visible"/>
                                      </p:to>
                                    </p:set>
                                    <p:animEffect transition="in" filter="wheel(1)">
                                      <p:cBhvr>
                                        <p:cTn id="7" dur="2000"/>
                                        <p:tgtEl>
                                          <p:spTgt spid="22530"/>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22531"/>
                                        </p:tgtEl>
                                        <p:attrNameLst>
                                          <p:attrName>style.visibility</p:attrName>
                                        </p:attrNameLst>
                                      </p:cBhvr>
                                      <p:to>
                                        <p:strVal val="visible"/>
                                      </p:to>
                                    </p:set>
                                    <p:animEffect transition="in" filter="barn(inVertical)">
                                      <p:cBhvr>
                                        <p:cTn id="11" dur="500"/>
                                        <p:tgtEl>
                                          <p:spTgt spid="22531"/>
                                        </p:tgtEl>
                                      </p:cBhvr>
                                    </p:animEffect>
                                  </p:childTnLst>
                                </p:cTn>
                              </p:par>
                            </p:childTnLst>
                          </p:cTn>
                        </p:par>
                        <p:par>
                          <p:cTn id="12" fill="hold">
                            <p:stCondLst>
                              <p:cond delay="2500"/>
                            </p:stCondLst>
                            <p:childTnLst>
                              <p:par>
                                <p:cTn id="13" presetID="22" presetClass="entr" presetSubtype="1" fill="hold" grpId="0" nodeType="afterEffect">
                                  <p:stCondLst>
                                    <p:cond delay="0"/>
                                  </p:stCondLst>
                                  <p:childTnLst>
                                    <p:set>
                                      <p:cBhvr>
                                        <p:cTn id="14" dur="1" fill="hold">
                                          <p:stCondLst>
                                            <p:cond delay="0"/>
                                          </p:stCondLst>
                                        </p:cTn>
                                        <p:tgtEl>
                                          <p:spTgt spid="22532"/>
                                        </p:tgtEl>
                                        <p:attrNameLst>
                                          <p:attrName>style.visibility</p:attrName>
                                        </p:attrNameLst>
                                      </p:cBhvr>
                                      <p:to>
                                        <p:strVal val="visible"/>
                                      </p:to>
                                    </p:set>
                                    <p:animEffect transition="in" filter="wipe(up)">
                                      <p:cBhvr>
                                        <p:cTn id="15" dur="500"/>
                                        <p:tgtEl>
                                          <p:spTgt spid="22532"/>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22533"/>
                                        </p:tgtEl>
                                        <p:attrNameLst>
                                          <p:attrName>style.visibility</p:attrName>
                                        </p:attrNameLst>
                                      </p:cBhvr>
                                      <p:to>
                                        <p:strVal val="visible"/>
                                      </p:to>
                                    </p:set>
                                    <p:animEffect transition="in" filter="wipe(down)">
                                      <p:cBhvr>
                                        <p:cTn id="18" dur="500"/>
                                        <p:tgtEl>
                                          <p:spTgt spid="22533"/>
                                        </p:tgtEl>
                                      </p:cBhvr>
                                    </p:animEffect>
                                  </p:childTnLst>
                                </p:cTn>
                              </p:par>
                            </p:childTnLst>
                          </p:cTn>
                        </p:par>
                        <p:par>
                          <p:cTn id="19" fill="hold">
                            <p:stCondLst>
                              <p:cond delay="3000"/>
                            </p:stCondLst>
                            <p:childTnLst>
                              <p:par>
                                <p:cTn id="20" presetID="31" presetClass="entr" presetSubtype="0" fill="hold" nodeType="afterEffect">
                                  <p:stCondLst>
                                    <p:cond delay="0"/>
                                  </p:stCondLst>
                                  <p:childTnLst>
                                    <p:set>
                                      <p:cBhvr>
                                        <p:cTn id="21" dur="1" fill="hold">
                                          <p:stCondLst>
                                            <p:cond delay="0"/>
                                          </p:stCondLst>
                                        </p:cTn>
                                        <p:tgtEl>
                                          <p:spTgt spid="22534"/>
                                        </p:tgtEl>
                                        <p:attrNameLst>
                                          <p:attrName>style.visibility</p:attrName>
                                        </p:attrNameLst>
                                      </p:cBhvr>
                                      <p:to>
                                        <p:strVal val="visible"/>
                                      </p:to>
                                    </p:set>
                                    <p:anim calcmode="lin" valueType="num">
                                      <p:cBhvr>
                                        <p:cTn id="22" dur="400" fill="hold"/>
                                        <p:tgtEl>
                                          <p:spTgt spid="22534"/>
                                        </p:tgtEl>
                                        <p:attrNameLst>
                                          <p:attrName>ppt_w</p:attrName>
                                        </p:attrNameLst>
                                      </p:cBhvr>
                                      <p:tavLst>
                                        <p:tav tm="0">
                                          <p:val>
                                            <p:fltVal val="0"/>
                                          </p:val>
                                        </p:tav>
                                        <p:tav tm="100000">
                                          <p:val>
                                            <p:strVal val="#ppt_w"/>
                                          </p:val>
                                        </p:tav>
                                      </p:tavLst>
                                    </p:anim>
                                    <p:anim calcmode="lin" valueType="num">
                                      <p:cBhvr>
                                        <p:cTn id="23" dur="400" fill="hold"/>
                                        <p:tgtEl>
                                          <p:spTgt spid="22534"/>
                                        </p:tgtEl>
                                        <p:attrNameLst>
                                          <p:attrName>ppt_h</p:attrName>
                                        </p:attrNameLst>
                                      </p:cBhvr>
                                      <p:tavLst>
                                        <p:tav tm="0">
                                          <p:val>
                                            <p:fltVal val="0"/>
                                          </p:val>
                                        </p:tav>
                                        <p:tav tm="100000">
                                          <p:val>
                                            <p:strVal val="#ppt_h"/>
                                          </p:val>
                                        </p:tav>
                                      </p:tavLst>
                                    </p:anim>
                                    <p:anim calcmode="lin" valueType="num">
                                      <p:cBhvr>
                                        <p:cTn id="24" dur="400" fill="hold"/>
                                        <p:tgtEl>
                                          <p:spTgt spid="22534"/>
                                        </p:tgtEl>
                                        <p:attrNameLst>
                                          <p:attrName>style.rotation</p:attrName>
                                        </p:attrNameLst>
                                      </p:cBhvr>
                                      <p:tavLst>
                                        <p:tav tm="0">
                                          <p:val>
                                            <p:fltVal val="90"/>
                                          </p:val>
                                        </p:tav>
                                        <p:tav tm="100000">
                                          <p:val>
                                            <p:fltVal val="0"/>
                                          </p:val>
                                        </p:tav>
                                      </p:tavLst>
                                    </p:anim>
                                    <p:animEffect transition="in" filter="fade">
                                      <p:cBhvr>
                                        <p:cTn id="25" dur="400"/>
                                        <p:tgtEl>
                                          <p:spTgt spid="225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ldLvl="0" animBg="1"/>
      <p:bldP spid="22532" grpId="0"/>
      <p:bldP spid="2253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27"/>
          <p:cNvSpPr txBox="1"/>
          <p:nvPr/>
        </p:nvSpPr>
        <p:spPr>
          <a:xfrm>
            <a:off x="1012825" y="176213"/>
            <a:ext cx="1706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关键技术</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13315"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13316" name="TextBox 3"/>
          <p:cNvSpPr txBox="1"/>
          <p:nvPr/>
        </p:nvSpPr>
        <p:spPr>
          <a:xfrm>
            <a:off x="1174750" y="-1179512"/>
            <a:ext cx="184150" cy="554037"/>
          </a:xfrm>
          <a:prstGeom prst="rect">
            <a:avLst/>
          </a:prstGeom>
          <a:noFill/>
          <a:ln w="9525">
            <a:noFill/>
          </a:ln>
        </p:spPr>
        <p:txBody>
          <a:bodyPr wrap="none" anchor="t">
            <a:spAutoFit/>
          </a:bodyPr>
          <a:lstStyle/>
          <a:p>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5234305" y="621030"/>
            <a:ext cx="6501130" cy="5174615"/>
          </a:xfrm>
          <a:prstGeom prst="rect">
            <a:avLst/>
          </a:prstGeom>
        </p:spPr>
      </p:pic>
      <p:sp>
        <p:nvSpPr>
          <p:cNvPr id="4" name="文本框 3"/>
          <p:cNvSpPr txBox="1"/>
          <p:nvPr/>
        </p:nvSpPr>
        <p:spPr>
          <a:xfrm>
            <a:off x="697865" y="1341120"/>
            <a:ext cx="4280535" cy="4603115"/>
          </a:xfrm>
          <a:prstGeom prst="rect">
            <a:avLst/>
          </a:prstGeom>
          <a:noFill/>
        </p:spPr>
        <p:txBody>
          <a:bodyPr wrap="square" rtlCol="0">
            <a:no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MEDUSA遵循与推测解码相同的框架，每个解码步骤主要由三个子步骤组成：</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(1) 生成候选序列，由</a:t>
            </a:r>
            <a:r>
              <a:rPr lang="en-US" altLang="zh-CN" sz="1800" dirty="0">
                <a:solidFill>
                  <a:schemeClr val="accent1"/>
                </a:solidFill>
                <a:latin typeface="微软雅黑" panose="020B0503020204020204" pitchFamily="34" charset="-122"/>
                <a:ea typeface="微软雅黑" panose="020B0503020204020204" pitchFamily="34" charset="-122"/>
                <a:cs typeface="+mn-ea"/>
              </a:rPr>
              <a:t>MEDUSA</a:t>
            </a:r>
            <a:r>
              <a:rPr lang="zh-CN" altLang="en-US" sz="1800" dirty="0">
                <a:solidFill>
                  <a:schemeClr val="accent1"/>
                </a:solidFill>
                <a:latin typeface="微软雅黑" panose="020B0503020204020204" pitchFamily="34" charset="-122"/>
                <a:ea typeface="微软雅黑" panose="020B0503020204020204" pitchFamily="34" charset="-122"/>
                <a:cs typeface="+mn-ea"/>
              </a:rPr>
              <a:t>头实现</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(2) 处理候选序列，由树注意力实现</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(3) 接受候选序列，采用拒绝采样或典型接受</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3315"/>
                                        </p:tgtEl>
                                        <p:attrNameLst>
                                          <p:attrName>style.visibility</p:attrName>
                                        </p:attrNameLst>
                                      </p:cBhvr>
                                      <p:to>
                                        <p:strVal val="visible"/>
                                      </p:to>
                                    </p:set>
                                    <p:anim calcmode="lin" valueType="num">
                                      <p:cBhvr>
                                        <p:cTn id="7" dur="300" fill="hold"/>
                                        <p:tgtEl>
                                          <p:spTgt spid="13315"/>
                                        </p:tgtEl>
                                        <p:attrNameLst>
                                          <p:attrName>ppt_w</p:attrName>
                                        </p:attrNameLst>
                                      </p:cBhvr>
                                      <p:tavLst>
                                        <p:tav tm="0">
                                          <p:val>
                                            <p:fltVal val="0"/>
                                          </p:val>
                                        </p:tav>
                                        <p:tav tm="100000">
                                          <p:val>
                                            <p:strVal val="#ppt_w"/>
                                          </p:val>
                                        </p:tav>
                                      </p:tavLst>
                                    </p:anim>
                                    <p:anim calcmode="lin" valueType="num">
                                      <p:cBhvr>
                                        <p:cTn id="8" dur="300" fill="hold"/>
                                        <p:tgtEl>
                                          <p:spTgt spid="13315"/>
                                        </p:tgtEl>
                                        <p:attrNameLst>
                                          <p:attrName>ppt_h</p:attrName>
                                        </p:attrNameLst>
                                      </p:cBhvr>
                                      <p:tavLst>
                                        <p:tav tm="0">
                                          <p:val>
                                            <p:fltVal val="0"/>
                                          </p:val>
                                        </p:tav>
                                        <p:tav tm="100000">
                                          <p:val>
                                            <p:strVal val="#ppt_h"/>
                                          </p:val>
                                        </p:tav>
                                      </p:tavLst>
                                    </p:anim>
                                    <p:anim calcmode="lin" valueType="num">
                                      <p:cBhvr>
                                        <p:cTn id="9" dur="300" fill="hold"/>
                                        <p:tgtEl>
                                          <p:spTgt spid="13315"/>
                                        </p:tgtEl>
                                        <p:attrNameLst>
                                          <p:attrName>style.rotation</p:attrName>
                                        </p:attrNameLst>
                                      </p:cBhvr>
                                      <p:tavLst>
                                        <p:tav tm="0">
                                          <p:val>
                                            <p:fltVal val="90"/>
                                          </p:val>
                                        </p:tav>
                                        <p:tav tm="100000">
                                          <p:val>
                                            <p:fltVal val="0"/>
                                          </p:val>
                                        </p:tav>
                                      </p:tavLst>
                                    </p:anim>
                                    <p:animEffect transition="in" filter="fade">
                                      <p:cBhvr>
                                        <p:cTn id="10" dur="300"/>
                                        <p:tgtEl>
                                          <p:spTgt spid="13315"/>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3314"/>
                                        </p:tgtEl>
                                        <p:attrNameLst>
                                          <p:attrName>style.visibility</p:attrName>
                                        </p:attrNameLst>
                                      </p:cBhvr>
                                      <p:to>
                                        <p:strVal val="visible"/>
                                      </p:to>
                                    </p:set>
                                    <p:anim calcmode="lin" valueType="num">
                                      <p:cBhvr>
                                        <p:cTn id="14" dur="400" fill="hold"/>
                                        <p:tgtEl>
                                          <p:spTgt spid="1331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3314"/>
                                        </p:tgtEl>
                                        <p:attrNameLst>
                                          <p:attrName>ppt_y</p:attrName>
                                        </p:attrNameLst>
                                      </p:cBhvr>
                                      <p:tavLst>
                                        <p:tav tm="0">
                                          <p:val>
                                            <p:strVal val="#ppt_y"/>
                                          </p:val>
                                        </p:tav>
                                        <p:tav tm="100000">
                                          <p:val>
                                            <p:strVal val="#ppt_y"/>
                                          </p:val>
                                        </p:tav>
                                      </p:tavLst>
                                    </p:anim>
                                    <p:anim calcmode="lin" valueType="num">
                                      <p:cBhvr>
                                        <p:cTn id="16" dur="400" fill="hold"/>
                                        <p:tgtEl>
                                          <p:spTgt spid="1331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331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3314"/>
                                        </p:tgtEl>
                                      </p:cBhvr>
                                    </p:animEffect>
                                  </p:childTnLst>
                                </p:cTn>
                              </p:par>
                            </p:childTnLst>
                          </p:cTn>
                        </p:par>
                        <p:par>
                          <p:cTn id="19" fill="hold">
                            <p:stCondLst>
                              <p:cond delay="819"/>
                            </p:stCondLst>
                            <p:childTnLst>
                              <p:par>
                                <p:cTn id="20" presetID="41" presetClass="entr" presetSubtype="0" fill="hold" grpId="0" nodeType="afterEffect" nodePh="1">
                                  <p:stCondLst>
                                    <p:cond delay="0"/>
                                  </p:stCondLst>
                                  <p:endCondLst>
                                    <p:cond evt="begin" delay="0">
                                      <p:tn val="20"/>
                                    </p:cond>
                                  </p:endCondLst>
                                  <p:iterate type="lt">
                                    <p:tmPct val="10000"/>
                                  </p:iterate>
                                  <p:childTnLst>
                                    <p:set>
                                      <p:cBhvr>
                                        <p:cTn id="21" dur="1" fill="hold">
                                          <p:stCondLst>
                                            <p:cond delay="0"/>
                                          </p:stCondLst>
                                        </p:cTn>
                                        <p:tgtEl>
                                          <p:spTgt spid="13316"/>
                                        </p:tgtEl>
                                        <p:attrNameLst>
                                          <p:attrName>style.visibility</p:attrName>
                                        </p:attrNameLst>
                                      </p:cBhvr>
                                      <p:to>
                                        <p:strVal val="visible"/>
                                      </p:to>
                                    </p:set>
                                    <p:anim calcmode="lin" valueType="num">
                                      <p:cBhvr>
                                        <p:cTn id="22" dur="400" fill="hold"/>
                                        <p:tgtEl>
                                          <p:spTgt spid="13316"/>
                                        </p:tgtEl>
                                        <p:attrNameLst>
                                          <p:attrName>ppt_x</p:attrName>
                                        </p:attrNameLst>
                                      </p:cBhvr>
                                      <p:tavLst>
                                        <p:tav tm="0">
                                          <p:val>
                                            <p:strVal val="#ppt_x"/>
                                          </p:val>
                                        </p:tav>
                                        <p:tav tm="50000">
                                          <p:val>
                                            <p:strVal val="#ppt_x+.1"/>
                                          </p:val>
                                        </p:tav>
                                        <p:tav tm="100000">
                                          <p:val>
                                            <p:strVal val="#ppt_x"/>
                                          </p:val>
                                        </p:tav>
                                      </p:tavLst>
                                    </p:anim>
                                    <p:anim calcmode="lin" valueType="num">
                                      <p:cBhvr>
                                        <p:cTn id="23" dur="400" fill="hold"/>
                                        <p:tgtEl>
                                          <p:spTgt spid="13316"/>
                                        </p:tgtEl>
                                        <p:attrNameLst>
                                          <p:attrName>ppt_y</p:attrName>
                                        </p:attrNameLst>
                                      </p:cBhvr>
                                      <p:tavLst>
                                        <p:tav tm="0">
                                          <p:val>
                                            <p:strVal val="#ppt_y"/>
                                          </p:val>
                                        </p:tav>
                                        <p:tav tm="100000">
                                          <p:val>
                                            <p:strVal val="#ppt_y"/>
                                          </p:val>
                                        </p:tav>
                                      </p:tavLst>
                                    </p:anim>
                                    <p:anim calcmode="lin" valueType="num">
                                      <p:cBhvr>
                                        <p:cTn id="24" dur="400" fill="hold"/>
                                        <p:tgtEl>
                                          <p:spTgt spid="13316"/>
                                        </p:tgtEl>
                                        <p:attrNameLst>
                                          <p:attrName>ppt_h</p:attrName>
                                        </p:attrNameLst>
                                      </p:cBhvr>
                                      <p:tavLst>
                                        <p:tav tm="0">
                                          <p:val>
                                            <p:strVal val="#ppt_h/10"/>
                                          </p:val>
                                        </p:tav>
                                        <p:tav tm="50000">
                                          <p:val>
                                            <p:strVal val="#ppt_h+.01"/>
                                          </p:val>
                                        </p:tav>
                                        <p:tav tm="100000">
                                          <p:val>
                                            <p:strVal val="#ppt_h"/>
                                          </p:val>
                                        </p:tav>
                                      </p:tavLst>
                                    </p:anim>
                                    <p:anim calcmode="lin" valueType="num">
                                      <p:cBhvr>
                                        <p:cTn id="25" dur="400" fill="hold"/>
                                        <p:tgtEl>
                                          <p:spTgt spid="13316"/>
                                        </p:tgtEl>
                                        <p:attrNameLst>
                                          <p:attrName>ppt_w</p:attrName>
                                        </p:attrNameLst>
                                      </p:cBhvr>
                                      <p:tavLst>
                                        <p:tav tm="0">
                                          <p:val>
                                            <p:strVal val="#ppt_w/10"/>
                                          </p:val>
                                        </p:tav>
                                        <p:tav tm="50000">
                                          <p:val>
                                            <p:strVal val="#ppt_w+.01"/>
                                          </p:val>
                                        </p:tav>
                                        <p:tav tm="100000">
                                          <p:val>
                                            <p:strVal val="#ppt_w"/>
                                          </p:val>
                                        </p:tav>
                                      </p:tavLst>
                                    </p:anim>
                                    <p:animEffect transition="in" filter="fade">
                                      <p:cBhvr>
                                        <p:cTn id="26" dur="400" tmFilter="0,0; .5, 1; 1, 1"/>
                                        <p:tgtEl>
                                          <p:spTgt spid="13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p:bldP spid="1331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27"/>
          <p:cNvSpPr txBox="1"/>
          <p:nvPr/>
        </p:nvSpPr>
        <p:spPr>
          <a:xfrm>
            <a:off x="1012825" y="176213"/>
            <a:ext cx="2286635" cy="553085"/>
          </a:xfrm>
          <a:prstGeom prst="rect">
            <a:avLst/>
          </a:prstGeom>
          <a:noFill/>
          <a:ln w="9525">
            <a:noFill/>
          </a:ln>
        </p:spPr>
        <p:txBody>
          <a:bodyPr wrap="none" anchor="t">
            <a:spAutoFit/>
          </a:bodyPr>
          <a:lstStyle/>
          <a:p>
            <a:pPr algn="l"/>
            <a:r>
              <a:rPr lang="en-US" altLang="zh-CN" sz="3000" b="1" dirty="0">
                <a:solidFill>
                  <a:schemeClr val="accent1"/>
                </a:solidFill>
                <a:latin typeface="微软雅黑" panose="020B0503020204020204" pitchFamily="34" charset="-122"/>
                <a:ea typeface="微软雅黑" panose="020B0503020204020204" pitchFamily="34" charset="-122"/>
              </a:rPr>
              <a:t>MEDUSA</a:t>
            </a:r>
            <a:r>
              <a:rPr lang="zh-CN" altLang="en-US" sz="3000" b="1" dirty="0">
                <a:solidFill>
                  <a:schemeClr val="accent1"/>
                </a:solidFill>
                <a:latin typeface="微软雅黑" panose="020B0503020204020204" pitchFamily="34" charset="-122"/>
                <a:ea typeface="微软雅黑" panose="020B0503020204020204" pitchFamily="34" charset="-122"/>
              </a:rPr>
              <a:t>头</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3315"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13316" name="TextBox 3"/>
          <p:cNvSpPr txBox="1"/>
          <p:nvPr/>
        </p:nvSpPr>
        <p:spPr>
          <a:xfrm>
            <a:off x="1174750" y="-1179512"/>
            <a:ext cx="184150" cy="554037"/>
          </a:xfrm>
          <a:prstGeom prst="rect">
            <a:avLst/>
          </a:prstGeom>
          <a:noFill/>
          <a:ln w="9525">
            <a:noFill/>
          </a:ln>
        </p:spPr>
        <p:txBody>
          <a:bodyPr wrap="none" anchor="t">
            <a:spAutoFit/>
          </a:bodyPr>
          <a:lstStyle/>
          <a:p>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5234305" y="621030"/>
            <a:ext cx="6501130" cy="5174615"/>
          </a:xfrm>
          <a:prstGeom prst="rect">
            <a:avLst/>
          </a:prstGeom>
        </p:spPr>
      </p:pic>
      <p:sp>
        <p:nvSpPr>
          <p:cNvPr id="4" name="文本框 3"/>
          <p:cNvSpPr txBox="1"/>
          <p:nvPr/>
        </p:nvSpPr>
        <p:spPr>
          <a:xfrm>
            <a:off x="697865" y="1341120"/>
            <a:ext cx="4280535" cy="4603115"/>
          </a:xfrm>
          <a:prstGeom prst="rect">
            <a:avLst/>
          </a:prstGeom>
          <a:noFill/>
        </p:spPr>
        <p:txBody>
          <a:bodyPr wrap="square" rtlCol="0">
            <a:no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具体来说，给定位置 </a:t>
            </a:r>
            <a:r>
              <a:rPr lang="en-US" altLang="zh-CN" sz="1800" dirty="0">
                <a:solidFill>
                  <a:schemeClr val="accent1"/>
                </a:solidFill>
                <a:latin typeface="微软雅黑" panose="020B0503020204020204" pitchFamily="34" charset="-122"/>
                <a:ea typeface="微软雅黑" panose="020B0503020204020204" pitchFamily="34" charset="-122"/>
                <a:cs typeface="+mn-ea"/>
              </a:rPr>
              <a:t>t </a:t>
            </a:r>
            <a:r>
              <a:rPr lang="zh-CN" altLang="en-US" sz="1800" dirty="0">
                <a:solidFill>
                  <a:schemeClr val="accent1"/>
                </a:solidFill>
                <a:latin typeface="微软雅黑" panose="020B0503020204020204" pitchFamily="34" charset="-122"/>
                <a:ea typeface="微软雅黑" panose="020B0503020204020204" pitchFamily="34" charset="-122"/>
                <a:cs typeface="+mn-ea"/>
              </a:rPr>
              <a:t>处原始模型的最后隐藏状态 </a:t>
            </a:r>
            <a:r>
              <a:rPr lang="en-US" altLang="zh-CN" sz="1800" dirty="0">
                <a:solidFill>
                  <a:schemeClr val="accent1"/>
                </a:solidFill>
                <a:latin typeface="微软雅黑" panose="020B0503020204020204" pitchFamily="34" charset="-122"/>
                <a:ea typeface="微软雅黑" panose="020B0503020204020204" pitchFamily="34" charset="-122"/>
                <a:cs typeface="+mn-ea"/>
              </a:rPr>
              <a:t>h_t，</a:t>
            </a:r>
            <a:r>
              <a:rPr lang="zh-CN" altLang="en-US" sz="1800" dirty="0">
                <a:solidFill>
                  <a:schemeClr val="accent1"/>
                </a:solidFill>
                <a:latin typeface="微软雅黑" panose="020B0503020204020204" pitchFamily="34" charset="-122"/>
                <a:ea typeface="微软雅黑" panose="020B0503020204020204" pitchFamily="34" charset="-122"/>
                <a:cs typeface="+mn-ea"/>
              </a:rPr>
              <a:t>我们向 </a:t>
            </a:r>
            <a:r>
              <a:rPr lang="en-US" altLang="zh-CN" sz="1800" dirty="0">
                <a:solidFill>
                  <a:schemeClr val="accent1"/>
                </a:solidFill>
                <a:latin typeface="微软雅黑" panose="020B0503020204020204" pitchFamily="34" charset="-122"/>
                <a:ea typeface="微软雅黑" panose="020B0503020204020204" pitchFamily="34" charset="-122"/>
                <a:cs typeface="+mn-ea"/>
              </a:rPr>
              <a:t>h_t </a:t>
            </a:r>
            <a:r>
              <a:rPr lang="zh-CN" altLang="en-US" sz="1800" dirty="0">
                <a:solidFill>
                  <a:schemeClr val="accent1"/>
                </a:solidFill>
                <a:latin typeface="微软雅黑" panose="020B0503020204020204" pitchFamily="34" charset="-122"/>
                <a:ea typeface="微软雅黑" panose="020B0503020204020204" pitchFamily="34" charset="-122"/>
                <a:cs typeface="+mn-ea"/>
              </a:rPr>
              <a:t>添加 </a:t>
            </a:r>
            <a:r>
              <a:rPr lang="en-US" altLang="zh-CN" sz="1800" dirty="0">
                <a:solidFill>
                  <a:schemeClr val="accent1"/>
                </a:solidFill>
                <a:latin typeface="微软雅黑" panose="020B0503020204020204" pitchFamily="34" charset="-122"/>
                <a:ea typeface="微软雅黑" panose="020B0503020204020204" pitchFamily="34" charset="-122"/>
                <a:cs typeface="+mn-ea"/>
              </a:rPr>
              <a:t>K </a:t>
            </a:r>
            <a:r>
              <a:rPr lang="zh-CN" altLang="en-US" sz="1800" dirty="0">
                <a:solidFill>
                  <a:schemeClr val="accent1"/>
                </a:solidFill>
                <a:latin typeface="微软雅黑" panose="020B0503020204020204" pitchFamily="34" charset="-122"/>
                <a:ea typeface="微软雅黑" panose="020B0503020204020204" pitchFamily="34" charset="-122"/>
                <a:cs typeface="+mn-ea"/>
              </a:rPr>
              <a:t>个解码头 。第 </a:t>
            </a:r>
            <a:r>
              <a:rPr lang="en-US" altLang="zh-CN" sz="1800" dirty="0">
                <a:solidFill>
                  <a:schemeClr val="accent1"/>
                </a:solidFill>
                <a:latin typeface="微软雅黑" panose="020B0503020204020204" pitchFamily="34" charset="-122"/>
                <a:ea typeface="微软雅黑" panose="020B0503020204020204" pitchFamily="34" charset="-122"/>
                <a:cs typeface="+mn-ea"/>
              </a:rPr>
              <a:t>k </a:t>
            </a:r>
            <a:r>
              <a:rPr lang="zh-CN" altLang="en-US" sz="1800" dirty="0">
                <a:solidFill>
                  <a:schemeClr val="accent1"/>
                </a:solidFill>
                <a:latin typeface="微软雅黑" panose="020B0503020204020204" pitchFamily="34" charset="-122"/>
                <a:ea typeface="微软雅黑" panose="020B0503020204020204" pitchFamily="34" charset="-122"/>
                <a:cs typeface="+mn-ea"/>
              </a:rPr>
              <a:t>个头用于预测下一个令牌中第 (</a:t>
            </a:r>
            <a:r>
              <a:rPr lang="en-US" altLang="zh-CN" sz="1800" dirty="0">
                <a:solidFill>
                  <a:schemeClr val="accent1"/>
                </a:solidFill>
                <a:latin typeface="微软雅黑" panose="020B0503020204020204" pitchFamily="34" charset="-122"/>
                <a:ea typeface="微软雅黑" panose="020B0503020204020204" pitchFamily="34" charset="-122"/>
                <a:cs typeface="+mn-ea"/>
              </a:rPr>
              <a:t>t + k + 1) </a:t>
            </a:r>
            <a:r>
              <a:rPr lang="zh-CN" altLang="en-US" sz="1800" dirty="0">
                <a:solidFill>
                  <a:schemeClr val="accent1"/>
                </a:solidFill>
                <a:latin typeface="微软雅黑" panose="020B0503020204020204" pitchFamily="34" charset="-122"/>
                <a:ea typeface="微软雅黑" panose="020B0503020204020204" pitchFamily="34" charset="-122"/>
                <a:cs typeface="+mn-ea"/>
              </a:rPr>
              <a:t>个位置的令牌（原始语言模型头用于预测第 (</a:t>
            </a:r>
            <a:r>
              <a:rPr lang="en-US" altLang="zh-CN" sz="1800" dirty="0">
                <a:solidFill>
                  <a:schemeClr val="accent1"/>
                </a:solidFill>
                <a:latin typeface="微软雅黑" panose="020B0503020204020204" pitchFamily="34" charset="-122"/>
                <a:ea typeface="微软雅黑" panose="020B0503020204020204" pitchFamily="34" charset="-122"/>
                <a:cs typeface="+mn-ea"/>
              </a:rPr>
              <a:t>t + 1) </a:t>
            </a:r>
            <a:r>
              <a:rPr lang="zh-CN" altLang="en-US" sz="1800" dirty="0">
                <a:solidFill>
                  <a:schemeClr val="accent1"/>
                </a:solidFill>
                <a:latin typeface="微软雅黑" panose="020B0503020204020204" pitchFamily="34" charset="-122"/>
                <a:ea typeface="微软雅黑" panose="020B0503020204020204" pitchFamily="34" charset="-122"/>
                <a:cs typeface="+mn-ea"/>
              </a:rPr>
              <a:t>个位置）</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3315"/>
                                        </p:tgtEl>
                                        <p:attrNameLst>
                                          <p:attrName>style.visibility</p:attrName>
                                        </p:attrNameLst>
                                      </p:cBhvr>
                                      <p:to>
                                        <p:strVal val="visible"/>
                                      </p:to>
                                    </p:set>
                                    <p:anim calcmode="lin" valueType="num">
                                      <p:cBhvr>
                                        <p:cTn id="7" dur="300" fill="hold"/>
                                        <p:tgtEl>
                                          <p:spTgt spid="13315"/>
                                        </p:tgtEl>
                                        <p:attrNameLst>
                                          <p:attrName>ppt_w</p:attrName>
                                        </p:attrNameLst>
                                      </p:cBhvr>
                                      <p:tavLst>
                                        <p:tav tm="0">
                                          <p:val>
                                            <p:fltVal val="0"/>
                                          </p:val>
                                        </p:tav>
                                        <p:tav tm="100000">
                                          <p:val>
                                            <p:strVal val="#ppt_w"/>
                                          </p:val>
                                        </p:tav>
                                      </p:tavLst>
                                    </p:anim>
                                    <p:anim calcmode="lin" valueType="num">
                                      <p:cBhvr>
                                        <p:cTn id="8" dur="300" fill="hold"/>
                                        <p:tgtEl>
                                          <p:spTgt spid="13315"/>
                                        </p:tgtEl>
                                        <p:attrNameLst>
                                          <p:attrName>ppt_h</p:attrName>
                                        </p:attrNameLst>
                                      </p:cBhvr>
                                      <p:tavLst>
                                        <p:tav tm="0">
                                          <p:val>
                                            <p:fltVal val="0"/>
                                          </p:val>
                                        </p:tav>
                                        <p:tav tm="100000">
                                          <p:val>
                                            <p:strVal val="#ppt_h"/>
                                          </p:val>
                                        </p:tav>
                                      </p:tavLst>
                                    </p:anim>
                                    <p:anim calcmode="lin" valueType="num">
                                      <p:cBhvr>
                                        <p:cTn id="9" dur="300" fill="hold"/>
                                        <p:tgtEl>
                                          <p:spTgt spid="13315"/>
                                        </p:tgtEl>
                                        <p:attrNameLst>
                                          <p:attrName>style.rotation</p:attrName>
                                        </p:attrNameLst>
                                      </p:cBhvr>
                                      <p:tavLst>
                                        <p:tav tm="0">
                                          <p:val>
                                            <p:fltVal val="90"/>
                                          </p:val>
                                        </p:tav>
                                        <p:tav tm="100000">
                                          <p:val>
                                            <p:fltVal val="0"/>
                                          </p:val>
                                        </p:tav>
                                      </p:tavLst>
                                    </p:anim>
                                    <p:animEffect transition="in" filter="fade">
                                      <p:cBhvr>
                                        <p:cTn id="10" dur="300"/>
                                        <p:tgtEl>
                                          <p:spTgt spid="13315"/>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3314"/>
                                        </p:tgtEl>
                                        <p:attrNameLst>
                                          <p:attrName>style.visibility</p:attrName>
                                        </p:attrNameLst>
                                      </p:cBhvr>
                                      <p:to>
                                        <p:strVal val="visible"/>
                                      </p:to>
                                    </p:set>
                                    <p:anim calcmode="lin" valueType="num">
                                      <p:cBhvr>
                                        <p:cTn id="14" dur="400" fill="hold"/>
                                        <p:tgtEl>
                                          <p:spTgt spid="1331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3314"/>
                                        </p:tgtEl>
                                        <p:attrNameLst>
                                          <p:attrName>ppt_y</p:attrName>
                                        </p:attrNameLst>
                                      </p:cBhvr>
                                      <p:tavLst>
                                        <p:tav tm="0">
                                          <p:val>
                                            <p:strVal val="#ppt_y"/>
                                          </p:val>
                                        </p:tav>
                                        <p:tav tm="100000">
                                          <p:val>
                                            <p:strVal val="#ppt_y"/>
                                          </p:val>
                                        </p:tav>
                                      </p:tavLst>
                                    </p:anim>
                                    <p:anim calcmode="lin" valueType="num">
                                      <p:cBhvr>
                                        <p:cTn id="16" dur="400" fill="hold"/>
                                        <p:tgtEl>
                                          <p:spTgt spid="1331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331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3314"/>
                                        </p:tgtEl>
                                      </p:cBhvr>
                                    </p:animEffect>
                                  </p:childTnLst>
                                </p:cTn>
                              </p:par>
                            </p:childTnLst>
                          </p:cTn>
                        </p:par>
                        <p:par>
                          <p:cTn id="19" fill="hold">
                            <p:stCondLst>
                              <p:cond delay="939"/>
                            </p:stCondLst>
                            <p:childTnLst>
                              <p:par>
                                <p:cTn id="20" presetID="41" presetClass="entr" presetSubtype="0" fill="hold" grpId="0" nodeType="afterEffect" nodePh="1">
                                  <p:stCondLst>
                                    <p:cond delay="0"/>
                                  </p:stCondLst>
                                  <p:endCondLst>
                                    <p:cond evt="begin" delay="0">
                                      <p:tn val="20"/>
                                    </p:cond>
                                  </p:endCondLst>
                                  <p:iterate type="lt">
                                    <p:tmPct val="10000"/>
                                  </p:iterate>
                                  <p:childTnLst>
                                    <p:set>
                                      <p:cBhvr>
                                        <p:cTn id="21" dur="1" fill="hold">
                                          <p:stCondLst>
                                            <p:cond delay="0"/>
                                          </p:stCondLst>
                                        </p:cTn>
                                        <p:tgtEl>
                                          <p:spTgt spid="13316"/>
                                        </p:tgtEl>
                                        <p:attrNameLst>
                                          <p:attrName>style.visibility</p:attrName>
                                        </p:attrNameLst>
                                      </p:cBhvr>
                                      <p:to>
                                        <p:strVal val="visible"/>
                                      </p:to>
                                    </p:set>
                                    <p:anim calcmode="lin" valueType="num">
                                      <p:cBhvr>
                                        <p:cTn id="22" dur="400" fill="hold"/>
                                        <p:tgtEl>
                                          <p:spTgt spid="13316"/>
                                        </p:tgtEl>
                                        <p:attrNameLst>
                                          <p:attrName>ppt_x</p:attrName>
                                        </p:attrNameLst>
                                      </p:cBhvr>
                                      <p:tavLst>
                                        <p:tav tm="0">
                                          <p:val>
                                            <p:strVal val="#ppt_x"/>
                                          </p:val>
                                        </p:tav>
                                        <p:tav tm="50000">
                                          <p:val>
                                            <p:strVal val="#ppt_x+.1"/>
                                          </p:val>
                                        </p:tav>
                                        <p:tav tm="100000">
                                          <p:val>
                                            <p:strVal val="#ppt_x"/>
                                          </p:val>
                                        </p:tav>
                                      </p:tavLst>
                                    </p:anim>
                                    <p:anim calcmode="lin" valueType="num">
                                      <p:cBhvr>
                                        <p:cTn id="23" dur="400" fill="hold"/>
                                        <p:tgtEl>
                                          <p:spTgt spid="13316"/>
                                        </p:tgtEl>
                                        <p:attrNameLst>
                                          <p:attrName>ppt_y</p:attrName>
                                        </p:attrNameLst>
                                      </p:cBhvr>
                                      <p:tavLst>
                                        <p:tav tm="0">
                                          <p:val>
                                            <p:strVal val="#ppt_y"/>
                                          </p:val>
                                        </p:tav>
                                        <p:tav tm="100000">
                                          <p:val>
                                            <p:strVal val="#ppt_y"/>
                                          </p:val>
                                        </p:tav>
                                      </p:tavLst>
                                    </p:anim>
                                    <p:anim calcmode="lin" valueType="num">
                                      <p:cBhvr>
                                        <p:cTn id="24" dur="400" fill="hold"/>
                                        <p:tgtEl>
                                          <p:spTgt spid="13316"/>
                                        </p:tgtEl>
                                        <p:attrNameLst>
                                          <p:attrName>ppt_h</p:attrName>
                                        </p:attrNameLst>
                                      </p:cBhvr>
                                      <p:tavLst>
                                        <p:tav tm="0">
                                          <p:val>
                                            <p:strVal val="#ppt_h/10"/>
                                          </p:val>
                                        </p:tav>
                                        <p:tav tm="50000">
                                          <p:val>
                                            <p:strVal val="#ppt_h+.01"/>
                                          </p:val>
                                        </p:tav>
                                        <p:tav tm="100000">
                                          <p:val>
                                            <p:strVal val="#ppt_h"/>
                                          </p:val>
                                        </p:tav>
                                      </p:tavLst>
                                    </p:anim>
                                    <p:anim calcmode="lin" valueType="num">
                                      <p:cBhvr>
                                        <p:cTn id="25" dur="400" fill="hold"/>
                                        <p:tgtEl>
                                          <p:spTgt spid="13316"/>
                                        </p:tgtEl>
                                        <p:attrNameLst>
                                          <p:attrName>ppt_w</p:attrName>
                                        </p:attrNameLst>
                                      </p:cBhvr>
                                      <p:tavLst>
                                        <p:tav tm="0">
                                          <p:val>
                                            <p:strVal val="#ppt_w/10"/>
                                          </p:val>
                                        </p:tav>
                                        <p:tav tm="50000">
                                          <p:val>
                                            <p:strVal val="#ppt_w+.01"/>
                                          </p:val>
                                        </p:tav>
                                        <p:tav tm="100000">
                                          <p:val>
                                            <p:strVal val="#ppt_w"/>
                                          </p:val>
                                        </p:tav>
                                      </p:tavLst>
                                    </p:anim>
                                    <p:animEffect transition="in" filter="fade">
                                      <p:cBhvr>
                                        <p:cTn id="26" dur="400" tmFilter="0,0; .5, 1; 1, 1"/>
                                        <p:tgtEl>
                                          <p:spTgt spid="13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p:bldP spid="1331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27"/>
          <p:cNvSpPr txBox="1"/>
          <p:nvPr/>
        </p:nvSpPr>
        <p:spPr>
          <a:xfrm>
            <a:off x="1012825" y="176213"/>
            <a:ext cx="2286635" cy="553085"/>
          </a:xfrm>
          <a:prstGeom prst="rect">
            <a:avLst/>
          </a:prstGeom>
          <a:noFill/>
          <a:ln w="9525">
            <a:noFill/>
          </a:ln>
        </p:spPr>
        <p:txBody>
          <a:bodyPr wrap="none" anchor="t">
            <a:spAutoFit/>
          </a:bodyPr>
          <a:lstStyle/>
          <a:p>
            <a:pPr algn="l"/>
            <a:r>
              <a:rPr lang="en-US" altLang="zh-CN" sz="3000" b="1" dirty="0">
                <a:solidFill>
                  <a:schemeClr val="accent1"/>
                </a:solidFill>
                <a:latin typeface="微软雅黑" panose="020B0503020204020204" pitchFamily="34" charset="-122"/>
                <a:ea typeface="微软雅黑" panose="020B0503020204020204" pitchFamily="34" charset="-122"/>
              </a:rPr>
              <a:t>MEDUSA</a:t>
            </a:r>
            <a:r>
              <a:rPr lang="zh-CN" altLang="en-US" sz="3000" b="1" dirty="0">
                <a:solidFill>
                  <a:schemeClr val="accent1"/>
                </a:solidFill>
                <a:latin typeface="微软雅黑" panose="020B0503020204020204" pitchFamily="34" charset="-122"/>
                <a:ea typeface="微软雅黑" panose="020B0503020204020204" pitchFamily="34" charset="-122"/>
              </a:rPr>
              <a:t>头</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3315"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13316" name="TextBox 3"/>
          <p:cNvSpPr txBox="1"/>
          <p:nvPr/>
        </p:nvSpPr>
        <p:spPr>
          <a:xfrm>
            <a:off x="1174750" y="-1179512"/>
            <a:ext cx="184150" cy="554037"/>
          </a:xfrm>
          <a:prstGeom prst="rect">
            <a:avLst/>
          </a:prstGeom>
          <a:noFill/>
          <a:ln w="9525">
            <a:noFill/>
          </a:ln>
        </p:spPr>
        <p:txBody>
          <a:bodyPr wrap="none" anchor="t">
            <a:spAutoFit/>
          </a:bodyPr>
          <a:lstStyle/>
          <a:p>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769620" y="1127760"/>
            <a:ext cx="10119360" cy="4603115"/>
          </a:xfrm>
          <a:prstGeom prst="rect">
            <a:avLst/>
          </a:prstGeom>
          <a:noFill/>
        </p:spPr>
        <p:txBody>
          <a:bodyPr wrap="square" rtlCol="0">
            <a:no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我们为每个头使用一个带有残差连接的单层前馈网络 。我们发现这种简单的设计足以获得令人满意的性能 。第 </a:t>
            </a:r>
            <a:r>
              <a:rPr lang="en-US" altLang="zh-CN" sz="1800" dirty="0">
                <a:solidFill>
                  <a:schemeClr val="accent1"/>
                </a:solidFill>
                <a:latin typeface="微软雅黑" panose="020B0503020204020204" pitchFamily="34" charset="-122"/>
                <a:ea typeface="微软雅黑" panose="020B0503020204020204" pitchFamily="34" charset="-122"/>
                <a:cs typeface="+mn-ea"/>
              </a:rPr>
              <a:t>k </a:t>
            </a:r>
            <a:r>
              <a:rPr lang="zh-CN" altLang="en-US" sz="1800" dirty="0">
                <a:solidFill>
                  <a:schemeClr val="accent1"/>
                </a:solidFill>
                <a:latin typeface="微软雅黑" panose="020B0503020204020204" pitchFamily="34" charset="-122"/>
                <a:ea typeface="微软雅黑" panose="020B0503020204020204" pitchFamily="34" charset="-122"/>
                <a:cs typeface="+mn-ea"/>
              </a:rPr>
              <a:t>个头的定义如下：  </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1"/>
          <a:stretch>
            <a:fillRect/>
          </a:stretch>
        </p:blipFill>
        <p:spPr>
          <a:xfrm>
            <a:off x="1417955" y="2349500"/>
            <a:ext cx="8705850" cy="561975"/>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3315"/>
                                        </p:tgtEl>
                                        <p:attrNameLst>
                                          <p:attrName>style.visibility</p:attrName>
                                        </p:attrNameLst>
                                      </p:cBhvr>
                                      <p:to>
                                        <p:strVal val="visible"/>
                                      </p:to>
                                    </p:set>
                                    <p:anim calcmode="lin" valueType="num">
                                      <p:cBhvr>
                                        <p:cTn id="7" dur="300" fill="hold"/>
                                        <p:tgtEl>
                                          <p:spTgt spid="13315"/>
                                        </p:tgtEl>
                                        <p:attrNameLst>
                                          <p:attrName>ppt_w</p:attrName>
                                        </p:attrNameLst>
                                      </p:cBhvr>
                                      <p:tavLst>
                                        <p:tav tm="0">
                                          <p:val>
                                            <p:fltVal val="0"/>
                                          </p:val>
                                        </p:tav>
                                        <p:tav tm="100000">
                                          <p:val>
                                            <p:strVal val="#ppt_w"/>
                                          </p:val>
                                        </p:tav>
                                      </p:tavLst>
                                    </p:anim>
                                    <p:anim calcmode="lin" valueType="num">
                                      <p:cBhvr>
                                        <p:cTn id="8" dur="300" fill="hold"/>
                                        <p:tgtEl>
                                          <p:spTgt spid="13315"/>
                                        </p:tgtEl>
                                        <p:attrNameLst>
                                          <p:attrName>ppt_h</p:attrName>
                                        </p:attrNameLst>
                                      </p:cBhvr>
                                      <p:tavLst>
                                        <p:tav tm="0">
                                          <p:val>
                                            <p:fltVal val="0"/>
                                          </p:val>
                                        </p:tav>
                                        <p:tav tm="100000">
                                          <p:val>
                                            <p:strVal val="#ppt_h"/>
                                          </p:val>
                                        </p:tav>
                                      </p:tavLst>
                                    </p:anim>
                                    <p:anim calcmode="lin" valueType="num">
                                      <p:cBhvr>
                                        <p:cTn id="9" dur="300" fill="hold"/>
                                        <p:tgtEl>
                                          <p:spTgt spid="13315"/>
                                        </p:tgtEl>
                                        <p:attrNameLst>
                                          <p:attrName>style.rotation</p:attrName>
                                        </p:attrNameLst>
                                      </p:cBhvr>
                                      <p:tavLst>
                                        <p:tav tm="0">
                                          <p:val>
                                            <p:fltVal val="90"/>
                                          </p:val>
                                        </p:tav>
                                        <p:tav tm="100000">
                                          <p:val>
                                            <p:fltVal val="0"/>
                                          </p:val>
                                        </p:tav>
                                      </p:tavLst>
                                    </p:anim>
                                    <p:animEffect transition="in" filter="fade">
                                      <p:cBhvr>
                                        <p:cTn id="10" dur="300"/>
                                        <p:tgtEl>
                                          <p:spTgt spid="13315"/>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3314"/>
                                        </p:tgtEl>
                                        <p:attrNameLst>
                                          <p:attrName>style.visibility</p:attrName>
                                        </p:attrNameLst>
                                      </p:cBhvr>
                                      <p:to>
                                        <p:strVal val="visible"/>
                                      </p:to>
                                    </p:set>
                                    <p:anim calcmode="lin" valueType="num">
                                      <p:cBhvr>
                                        <p:cTn id="14" dur="400" fill="hold"/>
                                        <p:tgtEl>
                                          <p:spTgt spid="1331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3314"/>
                                        </p:tgtEl>
                                        <p:attrNameLst>
                                          <p:attrName>ppt_y</p:attrName>
                                        </p:attrNameLst>
                                      </p:cBhvr>
                                      <p:tavLst>
                                        <p:tav tm="0">
                                          <p:val>
                                            <p:strVal val="#ppt_y"/>
                                          </p:val>
                                        </p:tav>
                                        <p:tav tm="100000">
                                          <p:val>
                                            <p:strVal val="#ppt_y"/>
                                          </p:val>
                                        </p:tav>
                                      </p:tavLst>
                                    </p:anim>
                                    <p:anim calcmode="lin" valueType="num">
                                      <p:cBhvr>
                                        <p:cTn id="16" dur="400" fill="hold"/>
                                        <p:tgtEl>
                                          <p:spTgt spid="1331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331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3314"/>
                                        </p:tgtEl>
                                      </p:cBhvr>
                                    </p:animEffect>
                                  </p:childTnLst>
                                </p:cTn>
                              </p:par>
                            </p:childTnLst>
                          </p:cTn>
                        </p:par>
                        <p:par>
                          <p:cTn id="19" fill="hold">
                            <p:stCondLst>
                              <p:cond delay="939"/>
                            </p:stCondLst>
                            <p:childTnLst>
                              <p:par>
                                <p:cTn id="20" presetID="41" presetClass="entr" presetSubtype="0" fill="hold" grpId="0" nodeType="afterEffect" nodePh="1">
                                  <p:stCondLst>
                                    <p:cond delay="0"/>
                                  </p:stCondLst>
                                  <p:endCondLst>
                                    <p:cond evt="begin" delay="0">
                                      <p:tn val="20"/>
                                    </p:cond>
                                  </p:endCondLst>
                                  <p:iterate type="lt">
                                    <p:tmPct val="10000"/>
                                  </p:iterate>
                                  <p:childTnLst>
                                    <p:set>
                                      <p:cBhvr>
                                        <p:cTn id="21" dur="1" fill="hold">
                                          <p:stCondLst>
                                            <p:cond delay="0"/>
                                          </p:stCondLst>
                                        </p:cTn>
                                        <p:tgtEl>
                                          <p:spTgt spid="13316"/>
                                        </p:tgtEl>
                                        <p:attrNameLst>
                                          <p:attrName>style.visibility</p:attrName>
                                        </p:attrNameLst>
                                      </p:cBhvr>
                                      <p:to>
                                        <p:strVal val="visible"/>
                                      </p:to>
                                    </p:set>
                                    <p:anim calcmode="lin" valueType="num">
                                      <p:cBhvr>
                                        <p:cTn id="22" dur="400" fill="hold"/>
                                        <p:tgtEl>
                                          <p:spTgt spid="13316"/>
                                        </p:tgtEl>
                                        <p:attrNameLst>
                                          <p:attrName>ppt_x</p:attrName>
                                        </p:attrNameLst>
                                      </p:cBhvr>
                                      <p:tavLst>
                                        <p:tav tm="0">
                                          <p:val>
                                            <p:strVal val="#ppt_x"/>
                                          </p:val>
                                        </p:tav>
                                        <p:tav tm="50000">
                                          <p:val>
                                            <p:strVal val="#ppt_x+.1"/>
                                          </p:val>
                                        </p:tav>
                                        <p:tav tm="100000">
                                          <p:val>
                                            <p:strVal val="#ppt_x"/>
                                          </p:val>
                                        </p:tav>
                                      </p:tavLst>
                                    </p:anim>
                                    <p:anim calcmode="lin" valueType="num">
                                      <p:cBhvr>
                                        <p:cTn id="23" dur="400" fill="hold"/>
                                        <p:tgtEl>
                                          <p:spTgt spid="13316"/>
                                        </p:tgtEl>
                                        <p:attrNameLst>
                                          <p:attrName>ppt_y</p:attrName>
                                        </p:attrNameLst>
                                      </p:cBhvr>
                                      <p:tavLst>
                                        <p:tav tm="0">
                                          <p:val>
                                            <p:strVal val="#ppt_y"/>
                                          </p:val>
                                        </p:tav>
                                        <p:tav tm="100000">
                                          <p:val>
                                            <p:strVal val="#ppt_y"/>
                                          </p:val>
                                        </p:tav>
                                      </p:tavLst>
                                    </p:anim>
                                    <p:anim calcmode="lin" valueType="num">
                                      <p:cBhvr>
                                        <p:cTn id="24" dur="400" fill="hold"/>
                                        <p:tgtEl>
                                          <p:spTgt spid="13316"/>
                                        </p:tgtEl>
                                        <p:attrNameLst>
                                          <p:attrName>ppt_h</p:attrName>
                                        </p:attrNameLst>
                                      </p:cBhvr>
                                      <p:tavLst>
                                        <p:tav tm="0">
                                          <p:val>
                                            <p:strVal val="#ppt_h/10"/>
                                          </p:val>
                                        </p:tav>
                                        <p:tav tm="50000">
                                          <p:val>
                                            <p:strVal val="#ppt_h+.01"/>
                                          </p:val>
                                        </p:tav>
                                        <p:tav tm="100000">
                                          <p:val>
                                            <p:strVal val="#ppt_h"/>
                                          </p:val>
                                        </p:tav>
                                      </p:tavLst>
                                    </p:anim>
                                    <p:anim calcmode="lin" valueType="num">
                                      <p:cBhvr>
                                        <p:cTn id="25" dur="400" fill="hold"/>
                                        <p:tgtEl>
                                          <p:spTgt spid="13316"/>
                                        </p:tgtEl>
                                        <p:attrNameLst>
                                          <p:attrName>ppt_w</p:attrName>
                                        </p:attrNameLst>
                                      </p:cBhvr>
                                      <p:tavLst>
                                        <p:tav tm="0">
                                          <p:val>
                                            <p:strVal val="#ppt_w/10"/>
                                          </p:val>
                                        </p:tav>
                                        <p:tav tm="50000">
                                          <p:val>
                                            <p:strVal val="#ppt_w+.01"/>
                                          </p:val>
                                        </p:tav>
                                        <p:tav tm="100000">
                                          <p:val>
                                            <p:strVal val="#ppt_w"/>
                                          </p:val>
                                        </p:tav>
                                      </p:tavLst>
                                    </p:anim>
                                    <p:animEffect transition="in" filter="fade">
                                      <p:cBhvr>
                                        <p:cTn id="26" dur="400" tmFilter="0,0; .5, 1; 1, 1"/>
                                        <p:tgtEl>
                                          <p:spTgt spid="13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p:bldP spid="1331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27"/>
          <p:cNvSpPr txBox="1"/>
          <p:nvPr/>
        </p:nvSpPr>
        <p:spPr>
          <a:xfrm>
            <a:off x="1012825" y="176213"/>
            <a:ext cx="1706880" cy="553085"/>
          </a:xfrm>
          <a:prstGeom prst="rect">
            <a:avLst/>
          </a:prstGeom>
          <a:noFill/>
          <a:ln w="9525">
            <a:noFill/>
          </a:ln>
        </p:spPr>
        <p:txBody>
          <a:bodyPr wrap="none" anchor="t">
            <a:spAutoFit/>
          </a:bodyPr>
          <a:lstStyle/>
          <a:p>
            <a:pPr algn="l"/>
            <a:r>
              <a:rPr lang="zh-CN" altLang="en-US" sz="3000" b="1" dirty="0">
                <a:solidFill>
                  <a:schemeClr val="accent1"/>
                </a:solidFill>
                <a:latin typeface="微软雅黑" panose="020B0503020204020204" pitchFamily="34" charset="-122"/>
                <a:ea typeface="微软雅黑" panose="020B0503020204020204" pitchFamily="34" charset="-122"/>
              </a:rPr>
              <a:t>树注意力</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3315"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13316" name="TextBox 3"/>
          <p:cNvSpPr txBox="1"/>
          <p:nvPr/>
        </p:nvSpPr>
        <p:spPr>
          <a:xfrm>
            <a:off x="1174750" y="-1179512"/>
            <a:ext cx="184150" cy="554037"/>
          </a:xfrm>
          <a:prstGeom prst="rect">
            <a:avLst/>
          </a:prstGeom>
          <a:noFill/>
          <a:ln w="9525">
            <a:noFill/>
          </a:ln>
        </p:spPr>
        <p:txBody>
          <a:bodyPr wrap="none" anchor="t">
            <a:spAutoFit/>
          </a:bodyPr>
          <a:lstStyle/>
          <a:p>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769620" y="1127760"/>
            <a:ext cx="4661535" cy="4829810"/>
          </a:xfrm>
          <a:prstGeom prst="rect">
            <a:avLst/>
          </a:prstGeom>
          <a:noFill/>
        </p:spPr>
        <p:txBody>
          <a:bodyPr wrap="square" rtlCol="0">
            <a:no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密集树构建方式：笛卡尔积</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pic>
        <p:nvPicPr>
          <p:cNvPr id="3" name="图片 2"/>
          <p:cNvPicPr>
            <a:picLocks noChangeAspect="1"/>
          </p:cNvPicPr>
          <p:nvPr/>
        </p:nvPicPr>
        <p:blipFill>
          <a:blip r:embed="rId1"/>
          <a:stretch>
            <a:fillRect/>
          </a:stretch>
        </p:blipFill>
        <p:spPr>
          <a:xfrm>
            <a:off x="5420360" y="1146175"/>
            <a:ext cx="6294755" cy="4146550"/>
          </a:xfrm>
          <a:prstGeom prst="rect">
            <a:avLst/>
          </a:prstGeom>
        </p:spPr>
      </p:pic>
      <p:pic>
        <p:nvPicPr>
          <p:cNvPr id="5" name="图片 4"/>
          <p:cNvPicPr>
            <a:picLocks noChangeAspect="1"/>
          </p:cNvPicPr>
          <p:nvPr/>
        </p:nvPicPr>
        <p:blipFill>
          <a:blip r:embed="rId2"/>
          <a:stretch>
            <a:fillRect/>
          </a:stretch>
        </p:blipFill>
        <p:spPr>
          <a:xfrm>
            <a:off x="1367155" y="2205355"/>
            <a:ext cx="2505075" cy="1228725"/>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3315"/>
                                        </p:tgtEl>
                                        <p:attrNameLst>
                                          <p:attrName>style.visibility</p:attrName>
                                        </p:attrNameLst>
                                      </p:cBhvr>
                                      <p:to>
                                        <p:strVal val="visible"/>
                                      </p:to>
                                    </p:set>
                                    <p:anim calcmode="lin" valueType="num">
                                      <p:cBhvr>
                                        <p:cTn id="7" dur="300" fill="hold"/>
                                        <p:tgtEl>
                                          <p:spTgt spid="13315"/>
                                        </p:tgtEl>
                                        <p:attrNameLst>
                                          <p:attrName>ppt_w</p:attrName>
                                        </p:attrNameLst>
                                      </p:cBhvr>
                                      <p:tavLst>
                                        <p:tav tm="0">
                                          <p:val>
                                            <p:fltVal val="0"/>
                                          </p:val>
                                        </p:tav>
                                        <p:tav tm="100000">
                                          <p:val>
                                            <p:strVal val="#ppt_w"/>
                                          </p:val>
                                        </p:tav>
                                      </p:tavLst>
                                    </p:anim>
                                    <p:anim calcmode="lin" valueType="num">
                                      <p:cBhvr>
                                        <p:cTn id="8" dur="300" fill="hold"/>
                                        <p:tgtEl>
                                          <p:spTgt spid="13315"/>
                                        </p:tgtEl>
                                        <p:attrNameLst>
                                          <p:attrName>ppt_h</p:attrName>
                                        </p:attrNameLst>
                                      </p:cBhvr>
                                      <p:tavLst>
                                        <p:tav tm="0">
                                          <p:val>
                                            <p:fltVal val="0"/>
                                          </p:val>
                                        </p:tav>
                                        <p:tav tm="100000">
                                          <p:val>
                                            <p:strVal val="#ppt_h"/>
                                          </p:val>
                                        </p:tav>
                                      </p:tavLst>
                                    </p:anim>
                                    <p:anim calcmode="lin" valueType="num">
                                      <p:cBhvr>
                                        <p:cTn id="9" dur="300" fill="hold"/>
                                        <p:tgtEl>
                                          <p:spTgt spid="13315"/>
                                        </p:tgtEl>
                                        <p:attrNameLst>
                                          <p:attrName>style.rotation</p:attrName>
                                        </p:attrNameLst>
                                      </p:cBhvr>
                                      <p:tavLst>
                                        <p:tav tm="0">
                                          <p:val>
                                            <p:fltVal val="90"/>
                                          </p:val>
                                        </p:tav>
                                        <p:tav tm="100000">
                                          <p:val>
                                            <p:fltVal val="0"/>
                                          </p:val>
                                        </p:tav>
                                      </p:tavLst>
                                    </p:anim>
                                    <p:animEffect transition="in" filter="fade">
                                      <p:cBhvr>
                                        <p:cTn id="10" dur="300"/>
                                        <p:tgtEl>
                                          <p:spTgt spid="13315"/>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3314"/>
                                        </p:tgtEl>
                                        <p:attrNameLst>
                                          <p:attrName>style.visibility</p:attrName>
                                        </p:attrNameLst>
                                      </p:cBhvr>
                                      <p:to>
                                        <p:strVal val="visible"/>
                                      </p:to>
                                    </p:set>
                                    <p:anim calcmode="lin" valueType="num">
                                      <p:cBhvr>
                                        <p:cTn id="14" dur="400" fill="hold"/>
                                        <p:tgtEl>
                                          <p:spTgt spid="1331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3314"/>
                                        </p:tgtEl>
                                        <p:attrNameLst>
                                          <p:attrName>ppt_y</p:attrName>
                                        </p:attrNameLst>
                                      </p:cBhvr>
                                      <p:tavLst>
                                        <p:tav tm="0">
                                          <p:val>
                                            <p:strVal val="#ppt_y"/>
                                          </p:val>
                                        </p:tav>
                                        <p:tav tm="100000">
                                          <p:val>
                                            <p:strVal val="#ppt_y"/>
                                          </p:val>
                                        </p:tav>
                                      </p:tavLst>
                                    </p:anim>
                                    <p:anim calcmode="lin" valueType="num">
                                      <p:cBhvr>
                                        <p:cTn id="16" dur="400" fill="hold"/>
                                        <p:tgtEl>
                                          <p:spTgt spid="1331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331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3314"/>
                                        </p:tgtEl>
                                      </p:cBhvr>
                                    </p:animEffect>
                                  </p:childTnLst>
                                </p:cTn>
                              </p:par>
                            </p:childTnLst>
                          </p:cTn>
                        </p:par>
                        <p:par>
                          <p:cTn id="19" fill="hold">
                            <p:stCondLst>
                              <p:cond delay="819"/>
                            </p:stCondLst>
                            <p:childTnLst>
                              <p:par>
                                <p:cTn id="20" presetID="41" presetClass="entr" presetSubtype="0" fill="hold" grpId="0" nodeType="afterEffect" nodePh="1">
                                  <p:stCondLst>
                                    <p:cond delay="0"/>
                                  </p:stCondLst>
                                  <p:endCondLst>
                                    <p:cond evt="begin" delay="0">
                                      <p:tn val="20"/>
                                    </p:cond>
                                  </p:endCondLst>
                                  <p:iterate type="lt">
                                    <p:tmPct val="10000"/>
                                  </p:iterate>
                                  <p:childTnLst>
                                    <p:set>
                                      <p:cBhvr>
                                        <p:cTn id="21" dur="1" fill="hold">
                                          <p:stCondLst>
                                            <p:cond delay="0"/>
                                          </p:stCondLst>
                                        </p:cTn>
                                        <p:tgtEl>
                                          <p:spTgt spid="13316"/>
                                        </p:tgtEl>
                                        <p:attrNameLst>
                                          <p:attrName>style.visibility</p:attrName>
                                        </p:attrNameLst>
                                      </p:cBhvr>
                                      <p:to>
                                        <p:strVal val="visible"/>
                                      </p:to>
                                    </p:set>
                                    <p:anim calcmode="lin" valueType="num">
                                      <p:cBhvr>
                                        <p:cTn id="22" dur="400" fill="hold"/>
                                        <p:tgtEl>
                                          <p:spTgt spid="13316"/>
                                        </p:tgtEl>
                                        <p:attrNameLst>
                                          <p:attrName>ppt_x</p:attrName>
                                        </p:attrNameLst>
                                      </p:cBhvr>
                                      <p:tavLst>
                                        <p:tav tm="0">
                                          <p:val>
                                            <p:strVal val="#ppt_x"/>
                                          </p:val>
                                        </p:tav>
                                        <p:tav tm="50000">
                                          <p:val>
                                            <p:strVal val="#ppt_x+.1"/>
                                          </p:val>
                                        </p:tav>
                                        <p:tav tm="100000">
                                          <p:val>
                                            <p:strVal val="#ppt_x"/>
                                          </p:val>
                                        </p:tav>
                                      </p:tavLst>
                                    </p:anim>
                                    <p:anim calcmode="lin" valueType="num">
                                      <p:cBhvr>
                                        <p:cTn id="23" dur="400" fill="hold"/>
                                        <p:tgtEl>
                                          <p:spTgt spid="13316"/>
                                        </p:tgtEl>
                                        <p:attrNameLst>
                                          <p:attrName>ppt_y</p:attrName>
                                        </p:attrNameLst>
                                      </p:cBhvr>
                                      <p:tavLst>
                                        <p:tav tm="0">
                                          <p:val>
                                            <p:strVal val="#ppt_y"/>
                                          </p:val>
                                        </p:tav>
                                        <p:tav tm="100000">
                                          <p:val>
                                            <p:strVal val="#ppt_y"/>
                                          </p:val>
                                        </p:tav>
                                      </p:tavLst>
                                    </p:anim>
                                    <p:anim calcmode="lin" valueType="num">
                                      <p:cBhvr>
                                        <p:cTn id="24" dur="400" fill="hold"/>
                                        <p:tgtEl>
                                          <p:spTgt spid="13316"/>
                                        </p:tgtEl>
                                        <p:attrNameLst>
                                          <p:attrName>ppt_h</p:attrName>
                                        </p:attrNameLst>
                                      </p:cBhvr>
                                      <p:tavLst>
                                        <p:tav tm="0">
                                          <p:val>
                                            <p:strVal val="#ppt_h/10"/>
                                          </p:val>
                                        </p:tav>
                                        <p:tav tm="50000">
                                          <p:val>
                                            <p:strVal val="#ppt_h+.01"/>
                                          </p:val>
                                        </p:tav>
                                        <p:tav tm="100000">
                                          <p:val>
                                            <p:strVal val="#ppt_h"/>
                                          </p:val>
                                        </p:tav>
                                      </p:tavLst>
                                    </p:anim>
                                    <p:anim calcmode="lin" valueType="num">
                                      <p:cBhvr>
                                        <p:cTn id="25" dur="400" fill="hold"/>
                                        <p:tgtEl>
                                          <p:spTgt spid="13316"/>
                                        </p:tgtEl>
                                        <p:attrNameLst>
                                          <p:attrName>ppt_w</p:attrName>
                                        </p:attrNameLst>
                                      </p:cBhvr>
                                      <p:tavLst>
                                        <p:tav tm="0">
                                          <p:val>
                                            <p:strVal val="#ppt_w/10"/>
                                          </p:val>
                                        </p:tav>
                                        <p:tav tm="50000">
                                          <p:val>
                                            <p:strVal val="#ppt_w+.01"/>
                                          </p:val>
                                        </p:tav>
                                        <p:tav tm="100000">
                                          <p:val>
                                            <p:strVal val="#ppt_w"/>
                                          </p:val>
                                        </p:tav>
                                      </p:tavLst>
                                    </p:anim>
                                    <p:animEffect transition="in" filter="fade">
                                      <p:cBhvr>
                                        <p:cTn id="26" dur="400" tmFilter="0,0; .5, 1; 1, 1"/>
                                        <p:tgtEl>
                                          <p:spTgt spid="13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p:bldP spid="1331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27"/>
          <p:cNvSpPr txBox="1"/>
          <p:nvPr/>
        </p:nvSpPr>
        <p:spPr>
          <a:xfrm>
            <a:off x="1012825" y="176213"/>
            <a:ext cx="1706880" cy="553085"/>
          </a:xfrm>
          <a:prstGeom prst="rect">
            <a:avLst/>
          </a:prstGeom>
          <a:noFill/>
          <a:ln w="9525">
            <a:noFill/>
          </a:ln>
        </p:spPr>
        <p:txBody>
          <a:bodyPr wrap="none" anchor="t">
            <a:spAutoFit/>
          </a:bodyPr>
          <a:lstStyle/>
          <a:p>
            <a:pPr algn="l"/>
            <a:r>
              <a:rPr lang="zh-CN" altLang="en-US" sz="3000" b="1" dirty="0">
                <a:solidFill>
                  <a:schemeClr val="accent1"/>
                </a:solidFill>
                <a:latin typeface="微软雅黑" panose="020B0503020204020204" pitchFamily="34" charset="-122"/>
                <a:ea typeface="微软雅黑" panose="020B0503020204020204" pitchFamily="34" charset="-122"/>
              </a:rPr>
              <a:t>树注意力</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3315"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13316" name="TextBox 3"/>
          <p:cNvSpPr txBox="1"/>
          <p:nvPr/>
        </p:nvSpPr>
        <p:spPr>
          <a:xfrm>
            <a:off x="1174750" y="-1179512"/>
            <a:ext cx="184150" cy="554037"/>
          </a:xfrm>
          <a:prstGeom prst="rect">
            <a:avLst/>
          </a:prstGeom>
          <a:noFill/>
          <a:ln w="9525">
            <a:noFill/>
          </a:ln>
        </p:spPr>
        <p:txBody>
          <a:bodyPr wrap="none" anchor="t">
            <a:spAutoFit/>
          </a:bodyPr>
          <a:lstStyle/>
          <a:p>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769620" y="1127760"/>
            <a:ext cx="4661535" cy="4829810"/>
          </a:xfrm>
          <a:prstGeom prst="rect">
            <a:avLst/>
          </a:prstGeom>
          <a:noFill/>
        </p:spPr>
        <p:txBody>
          <a:bodyPr wrap="square" rtlCol="0">
            <a:no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掩码设计：一个 </a:t>
            </a:r>
            <a:r>
              <a:rPr lang="en-US" altLang="zh-CN" sz="1800" dirty="0">
                <a:solidFill>
                  <a:schemeClr val="accent1"/>
                </a:solidFill>
                <a:latin typeface="微软雅黑" panose="020B0503020204020204" pitchFamily="34" charset="-122"/>
                <a:ea typeface="微软雅黑" panose="020B0503020204020204" pitchFamily="34" charset="-122"/>
                <a:cs typeface="+mn-ea"/>
              </a:rPr>
              <a:t>token </a:t>
            </a:r>
            <a:r>
              <a:rPr lang="zh-CN" altLang="en-US" sz="1800" dirty="0">
                <a:solidFill>
                  <a:schemeClr val="accent1"/>
                </a:solidFill>
                <a:latin typeface="微软雅黑" panose="020B0503020204020204" pitchFamily="34" charset="-122"/>
                <a:ea typeface="微软雅黑" panose="020B0503020204020204" pitchFamily="34" charset="-122"/>
                <a:cs typeface="+mn-ea"/>
              </a:rPr>
              <a:t>只能看到从根到该 </a:t>
            </a:r>
            <a:r>
              <a:rPr lang="en-US" altLang="zh-CN" sz="1800" dirty="0">
                <a:solidFill>
                  <a:schemeClr val="accent1"/>
                </a:solidFill>
                <a:latin typeface="微软雅黑" panose="020B0503020204020204" pitchFamily="34" charset="-122"/>
                <a:ea typeface="微软雅黑" panose="020B0503020204020204" pitchFamily="34" charset="-122"/>
                <a:cs typeface="+mn-ea"/>
              </a:rPr>
              <a:t>token </a:t>
            </a:r>
            <a:r>
              <a:rPr lang="zh-CN" altLang="en-US" sz="1800" dirty="0">
                <a:solidFill>
                  <a:schemeClr val="accent1"/>
                </a:solidFill>
                <a:latin typeface="微软雅黑" panose="020B0503020204020204" pitchFamily="34" charset="-122"/>
                <a:ea typeface="微软雅黑" panose="020B0503020204020204" pitchFamily="34" charset="-122"/>
                <a:cs typeface="+mn-ea"/>
              </a:rPr>
              <a:t>所在路径上的祖先节点，不能看到同一层其他分支的 </a:t>
            </a:r>
            <a:r>
              <a:rPr lang="en-US" altLang="zh-CN" sz="1800" dirty="0">
                <a:solidFill>
                  <a:schemeClr val="accent1"/>
                </a:solidFill>
                <a:latin typeface="微软雅黑" panose="020B0503020204020204" pitchFamily="34" charset="-122"/>
                <a:ea typeface="微软雅黑" panose="020B0503020204020204" pitchFamily="34" charset="-122"/>
                <a:cs typeface="+mn-ea"/>
              </a:rPr>
              <a:t>token</a:t>
            </a: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在注意力掩码矩阵中，如果节点 </a:t>
            </a:r>
            <a:r>
              <a:rPr lang="en-US" altLang="zh-CN" sz="1800" dirty="0">
                <a:solidFill>
                  <a:schemeClr val="accent1"/>
                </a:solidFill>
                <a:latin typeface="微软雅黑" panose="020B0503020204020204" pitchFamily="34" charset="-122"/>
                <a:ea typeface="微软雅黑" panose="020B0503020204020204" pitchFamily="34" charset="-122"/>
                <a:cs typeface="+mn-ea"/>
              </a:rPr>
              <a:t>j </a:t>
            </a:r>
            <a:r>
              <a:rPr lang="zh-CN" altLang="en-US" sz="1800" dirty="0">
                <a:solidFill>
                  <a:schemeClr val="accent1"/>
                </a:solidFill>
                <a:latin typeface="微软雅黑" panose="020B0503020204020204" pitchFamily="34" charset="-122"/>
                <a:ea typeface="微软雅黑" panose="020B0503020204020204" pitchFamily="34" charset="-122"/>
                <a:cs typeface="+mn-ea"/>
              </a:rPr>
              <a:t>是节点 </a:t>
            </a:r>
            <a:r>
              <a:rPr lang="en-US" altLang="zh-CN" sz="1800" dirty="0">
                <a:solidFill>
                  <a:schemeClr val="accent1"/>
                </a:solidFill>
                <a:latin typeface="微软雅黑" panose="020B0503020204020204" pitchFamily="34" charset="-122"/>
                <a:ea typeface="微软雅黑" panose="020B0503020204020204" pitchFamily="34" charset="-122"/>
                <a:cs typeface="+mn-ea"/>
              </a:rPr>
              <a:t>i </a:t>
            </a:r>
            <a:r>
              <a:rPr lang="zh-CN" altLang="en-US" sz="1800" dirty="0">
                <a:solidFill>
                  <a:schemeClr val="accent1"/>
                </a:solidFill>
                <a:latin typeface="微软雅黑" panose="020B0503020204020204" pitchFamily="34" charset="-122"/>
                <a:ea typeface="微软雅黑" panose="020B0503020204020204" pitchFamily="34" charset="-122"/>
                <a:cs typeface="+mn-ea"/>
              </a:rPr>
              <a:t>的祖先（或自身），则掩码中 (</a:t>
            </a:r>
            <a:r>
              <a:rPr lang="en-US" altLang="zh-CN" sz="1800" dirty="0">
                <a:solidFill>
                  <a:schemeClr val="accent1"/>
                </a:solidFill>
                <a:latin typeface="微软雅黑" panose="020B0503020204020204" pitchFamily="34" charset="-122"/>
                <a:ea typeface="微软雅黑" panose="020B0503020204020204" pitchFamily="34" charset="-122"/>
                <a:cs typeface="+mn-ea"/>
              </a:rPr>
              <a:t>i, j) </a:t>
            </a:r>
            <a:r>
              <a:rPr lang="zh-CN" altLang="en-US" sz="1800" dirty="0">
                <a:solidFill>
                  <a:schemeClr val="accent1"/>
                </a:solidFill>
                <a:latin typeface="微软雅黑" panose="020B0503020204020204" pitchFamily="34" charset="-122"/>
                <a:ea typeface="微软雅黑" panose="020B0503020204020204" pitchFamily="34" charset="-122"/>
                <a:cs typeface="+mn-ea"/>
              </a:rPr>
              <a:t>位置为 1（允许注意力）；否则为 0</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pic>
        <p:nvPicPr>
          <p:cNvPr id="3" name="图片 2"/>
          <p:cNvPicPr>
            <a:picLocks noChangeAspect="1"/>
          </p:cNvPicPr>
          <p:nvPr/>
        </p:nvPicPr>
        <p:blipFill>
          <a:blip r:embed="rId1"/>
          <a:stretch>
            <a:fillRect/>
          </a:stretch>
        </p:blipFill>
        <p:spPr>
          <a:xfrm>
            <a:off x="5420360" y="1146175"/>
            <a:ext cx="6294755" cy="4146550"/>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3315"/>
                                        </p:tgtEl>
                                        <p:attrNameLst>
                                          <p:attrName>style.visibility</p:attrName>
                                        </p:attrNameLst>
                                      </p:cBhvr>
                                      <p:to>
                                        <p:strVal val="visible"/>
                                      </p:to>
                                    </p:set>
                                    <p:anim calcmode="lin" valueType="num">
                                      <p:cBhvr>
                                        <p:cTn id="7" dur="300" fill="hold"/>
                                        <p:tgtEl>
                                          <p:spTgt spid="13315"/>
                                        </p:tgtEl>
                                        <p:attrNameLst>
                                          <p:attrName>ppt_w</p:attrName>
                                        </p:attrNameLst>
                                      </p:cBhvr>
                                      <p:tavLst>
                                        <p:tav tm="0">
                                          <p:val>
                                            <p:fltVal val="0"/>
                                          </p:val>
                                        </p:tav>
                                        <p:tav tm="100000">
                                          <p:val>
                                            <p:strVal val="#ppt_w"/>
                                          </p:val>
                                        </p:tav>
                                      </p:tavLst>
                                    </p:anim>
                                    <p:anim calcmode="lin" valueType="num">
                                      <p:cBhvr>
                                        <p:cTn id="8" dur="300" fill="hold"/>
                                        <p:tgtEl>
                                          <p:spTgt spid="13315"/>
                                        </p:tgtEl>
                                        <p:attrNameLst>
                                          <p:attrName>ppt_h</p:attrName>
                                        </p:attrNameLst>
                                      </p:cBhvr>
                                      <p:tavLst>
                                        <p:tav tm="0">
                                          <p:val>
                                            <p:fltVal val="0"/>
                                          </p:val>
                                        </p:tav>
                                        <p:tav tm="100000">
                                          <p:val>
                                            <p:strVal val="#ppt_h"/>
                                          </p:val>
                                        </p:tav>
                                      </p:tavLst>
                                    </p:anim>
                                    <p:anim calcmode="lin" valueType="num">
                                      <p:cBhvr>
                                        <p:cTn id="9" dur="300" fill="hold"/>
                                        <p:tgtEl>
                                          <p:spTgt spid="13315"/>
                                        </p:tgtEl>
                                        <p:attrNameLst>
                                          <p:attrName>style.rotation</p:attrName>
                                        </p:attrNameLst>
                                      </p:cBhvr>
                                      <p:tavLst>
                                        <p:tav tm="0">
                                          <p:val>
                                            <p:fltVal val="90"/>
                                          </p:val>
                                        </p:tav>
                                        <p:tav tm="100000">
                                          <p:val>
                                            <p:fltVal val="0"/>
                                          </p:val>
                                        </p:tav>
                                      </p:tavLst>
                                    </p:anim>
                                    <p:animEffect transition="in" filter="fade">
                                      <p:cBhvr>
                                        <p:cTn id="10" dur="300"/>
                                        <p:tgtEl>
                                          <p:spTgt spid="13315"/>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3314"/>
                                        </p:tgtEl>
                                        <p:attrNameLst>
                                          <p:attrName>style.visibility</p:attrName>
                                        </p:attrNameLst>
                                      </p:cBhvr>
                                      <p:to>
                                        <p:strVal val="visible"/>
                                      </p:to>
                                    </p:set>
                                    <p:anim calcmode="lin" valueType="num">
                                      <p:cBhvr>
                                        <p:cTn id="14" dur="400" fill="hold"/>
                                        <p:tgtEl>
                                          <p:spTgt spid="1331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3314"/>
                                        </p:tgtEl>
                                        <p:attrNameLst>
                                          <p:attrName>ppt_y</p:attrName>
                                        </p:attrNameLst>
                                      </p:cBhvr>
                                      <p:tavLst>
                                        <p:tav tm="0">
                                          <p:val>
                                            <p:strVal val="#ppt_y"/>
                                          </p:val>
                                        </p:tav>
                                        <p:tav tm="100000">
                                          <p:val>
                                            <p:strVal val="#ppt_y"/>
                                          </p:val>
                                        </p:tav>
                                      </p:tavLst>
                                    </p:anim>
                                    <p:anim calcmode="lin" valueType="num">
                                      <p:cBhvr>
                                        <p:cTn id="16" dur="400" fill="hold"/>
                                        <p:tgtEl>
                                          <p:spTgt spid="1331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331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3314"/>
                                        </p:tgtEl>
                                      </p:cBhvr>
                                    </p:animEffect>
                                  </p:childTnLst>
                                </p:cTn>
                              </p:par>
                            </p:childTnLst>
                          </p:cTn>
                        </p:par>
                        <p:par>
                          <p:cTn id="19" fill="hold">
                            <p:stCondLst>
                              <p:cond delay="819"/>
                            </p:stCondLst>
                            <p:childTnLst>
                              <p:par>
                                <p:cTn id="20" presetID="41" presetClass="entr" presetSubtype="0" fill="hold" grpId="0" nodeType="afterEffect" nodePh="1">
                                  <p:stCondLst>
                                    <p:cond delay="0"/>
                                  </p:stCondLst>
                                  <p:endCondLst>
                                    <p:cond evt="begin" delay="0">
                                      <p:tn val="20"/>
                                    </p:cond>
                                  </p:endCondLst>
                                  <p:iterate type="lt">
                                    <p:tmPct val="10000"/>
                                  </p:iterate>
                                  <p:childTnLst>
                                    <p:set>
                                      <p:cBhvr>
                                        <p:cTn id="21" dur="1" fill="hold">
                                          <p:stCondLst>
                                            <p:cond delay="0"/>
                                          </p:stCondLst>
                                        </p:cTn>
                                        <p:tgtEl>
                                          <p:spTgt spid="13316"/>
                                        </p:tgtEl>
                                        <p:attrNameLst>
                                          <p:attrName>style.visibility</p:attrName>
                                        </p:attrNameLst>
                                      </p:cBhvr>
                                      <p:to>
                                        <p:strVal val="visible"/>
                                      </p:to>
                                    </p:set>
                                    <p:anim calcmode="lin" valueType="num">
                                      <p:cBhvr>
                                        <p:cTn id="22" dur="400" fill="hold"/>
                                        <p:tgtEl>
                                          <p:spTgt spid="13316"/>
                                        </p:tgtEl>
                                        <p:attrNameLst>
                                          <p:attrName>ppt_x</p:attrName>
                                        </p:attrNameLst>
                                      </p:cBhvr>
                                      <p:tavLst>
                                        <p:tav tm="0">
                                          <p:val>
                                            <p:strVal val="#ppt_x"/>
                                          </p:val>
                                        </p:tav>
                                        <p:tav tm="50000">
                                          <p:val>
                                            <p:strVal val="#ppt_x+.1"/>
                                          </p:val>
                                        </p:tav>
                                        <p:tav tm="100000">
                                          <p:val>
                                            <p:strVal val="#ppt_x"/>
                                          </p:val>
                                        </p:tav>
                                      </p:tavLst>
                                    </p:anim>
                                    <p:anim calcmode="lin" valueType="num">
                                      <p:cBhvr>
                                        <p:cTn id="23" dur="400" fill="hold"/>
                                        <p:tgtEl>
                                          <p:spTgt spid="13316"/>
                                        </p:tgtEl>
                                        <p:attrNameLst>
                                          <p:attrName>ppt_y</p:attrName>
                                        </p:attrNameLst>
                                      </p:cBhvr>
                                      <p:tavLst>
                                        <p:tav tm="0">
                                          <p:val>
                                            <p:strVal val="#ppt_y"/>
                                          </p:val>
                                        </p:tav>
                                        <p:tav tm="100000">
                                          <p:val>
                                            <p:strVal val="#ppt_y"/>
                                          </p:val>
                                        </p:tav>
                                      </p:tavLst>
                                    </p:anim>
                                    <p:anim calcmode="lin" valueType="num">
                                      <p:cBhvr>
                                        <p:cTn id="24" dur="400" fill="hold"/>
                                        <p:tgtEl>
                                          <p:spTgt spid="13316"/>
                                        </p:tgtEl>
                                        <p:attrNameLst>
                                          <p:attrName>ppt_h</p:attrName>
                                        </p:attrNameLst>
                                      </p:cBhvr>
                                      <p:tavLst>
                                        <p:tav tm="0">
                                          <p:val>
                                            <p:strVal val="#ppt_h/10"/>
                                          </p:val>
                                        </p:tav>
                                        <p:tav tm="50000">
                                          <p:val>
                                            <p:strVal val="#ppt_h+.01"/>
                                          </p:val>
                                        </p:tav>
                                        <p:tav tm="100000">
                                          <p:val>
                                            <p:strVal val="#ppt_h"/>
                                          </p:val>
                                        </p:tav>
                                      </p:tavLst>
                                    </p:anim>
                                    <p:anim calcmode="lin" valueType="num">
                                      <p:cBhvr>
                                        <p:cTn id="25" dur="400" fill="hold"/>
                                        <p:tgtEl>
                                          <p:spTgt spid="13316"/>
                                        </p:tgtEl>
                                        <p:attrNameLst>
                                          <p:attrName>ppt_w</p:attrName>
                                        </p:attrNameLst>
                                      </p:cBhvr>
                                      <p:tavLst>
                                        <p:tav tm="0">
                                          <p:val>
                                            <p:strVal val="#ppt_w/10"/>
                                          </p:val>
                                        </p:tav>
                                        <p:tav tm="50000">
                                          <p:val>
                                            <p:strVal val="#ppt_w+.01"/>
                                          </p:val>
                                        </p:tav>
                                        <p:tav tm="100000">
                                          <p:val>
                                            <p:strVal val="#ppt_w"/>
                                          </p:val>
                                        </p:tav>
                                      </p:tavLst>
                                    </p:anim>
                                    <p:animEffect transition="in" filter="fade">
                                      <p:cBhvr>
                                        <p:cTn id="26" dur="400" tmFilter="0,0; .5, 1; 1, 1"/>
                                        <p:tgtEl>
                                          <p:spTgt spid="13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p:bldP spid="1331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27"/>
          <p:cNvSpPr txBox="1"/>
          <p:nvPr/>
        </p:nvSpPr>
        <p:spPr>
          <a:xfrm>
            <a:off x="1012825" y="176213"/>
            <a:ext cx="1706880" cy="553085"/>
          </a:xfrm>
          <a:prstGeom prst="rect">
            <a:avLst/>
          </a:prstGeom>
          <a:noFill/>
          <a:ln w="9525">
            <a:noFill/>
          </a:ln>
        </p:spPr>
        <p:txBody>
          <a:bodyPr wrap="none" anchor="t">
            <a:spAutoFit/>
          </a:bodyPr>
          <a:lstStyle/>
          <a:p>
            <a:pPr algn="l"/>
            <a:r>
              <a:rPr lang="zh-CN" altLang="en-US" sz="3000" b="1" dirty="0">
                <a:solidFill>
                  <a:schemeClr val="accent1"/>
                </a:solidFill>
                <a:latin typeface="微软雅黑" panose="020B0503020204020204" pitchFamily="34" charset="-122"/>
                <a:ea typeface="微软雅黑" panose="020B0503020204020204" pitchFamily="34" charset="-122"/>
              </a:rPr>
              <a:t>树注意力</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3315"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13316" name="TextBox 3"/>
          <p:cNvSpPr txBox="1"/>
          <p:nvPr/>
        </p:nvSpPr>
        <p:spPr>
          <a:xfrm>
            <a:off x="1174750" y="-1179512"/>
            <a:ext cx="184150" cy="554037"/>
          </a:xfrm>
          <a:prstGeom prst="rect">
            <a:avLst/>
          </a:prstGeom>
          <a:noFill/>
          <a:ln w="9525">
            <a:noFill/>
          </a:ln>
        </p:spPr>
        <p:txBody>
          <a:bodyPr wrap="none" anchor="t">
            <a:spAutoFit/>
          </a:bodyPr>
          <a:lstStyle/>
          <a:p>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769620" y="1127760"/>
            <a:ext cx="4661535" cy="4829810"/>
          </a:xfrm>
          <a:prstGeom prst="rect">
            <a:avLst/>
          </a:prstGeom>
          <a:noFill/>
        </p:spPr>
        <p:txBody>
          <a:bodyPr wrap="square" rtlCol="0">
            <a:noAutofit/>
          </a:bodyPr>
          <a:p>
            <a:pPr>
              <a:lnSpc>
                <a:spcPct val="150000"/>
              </a:lnSpc>
            </a:pPr>
            <a:r>
              <a:rPr lang="en-US" altLang="zh-CN" sz="1800" dirty="0">
                <a:solidFill>
                  <a:schemeClr val="accent1"/>
                </a:solidFill>
                <a:latin typeface="微软雅黑" panose="020B0503020204020204" pitchFamily="34" charset="-122"/>
                <a:ea typeface="微软雅黑" panose="020B0503020204020204" pitchFamily="34" charset="-122"/>
                <a:cs typeface="+mn-ea"/>
              </a:rPr>
              <a:t>Transformer </a:t>
            </a:r>
            <a:r>
              <a:rPr lang="zh-CN" altLang="en-US" sz="1800" dirty="0">
                <a:solidFill>
                  <a:schemeClr val="accent1"/>
                </a:solidFill>
                <a:latin typeface="微软雅黑" panose="020B0503020204020204" pitchFamily="34" charset="-122"/>
                <a:ea typeface="微软雅黑" panose="020B0503020204020204" pitchFamily="34" charset="-122"/>
                <a:cs typeface="+mn-ea"/>
              </a:rPr>
              <a:t>的位置编码通常依赖于 </a:t>
            </a:r>
            <a:r>
              <a:rPr lang="en-US" altLang="zh-CN" sz="1800" dirty="0">
                <a:solidFill>
                  <a:schemeClr val="accent1"/>
                </a:solidFill>
                <a:latin typeface="微软雅黑" panose="020B0503020204020204" pitchFamily="34" charset="-122"/>
                <a:ea typeface="微软雅黑" panose="020B0503020204020204" pitchFamily="34" charset="-122"/>
                <a:cs typeface="+mn-ea"/>
              </a:rPr>
              <a:t>token </a:t>
            </a:r>
            <a:r>
              <a:rPr lang="zh-CN" altLang="en-US" sz="1800" dirty="0">
                <a:solidFill>
                  <a:schemeClr val="accent1"/>
                </a:solidFill>
                <a:latin typeface="微软雅黑" panose="020B0503020204020204" pitchFamily="34" charset="-122"/>
                <a:ea typeface="微软雅黑" panose="020B0503020204020204" pitchFamily="34" charset="-122"/>
                <a:cs typeface="+mn-ea"/>
              </a:rPr>
              <a:t>在序列中的绝对或相对位置。树注意力中，同一层的不同 </a:t>
            </a:r>
            <a:r>
              <a:rPr lang="en-US" altLang="zh-CN" sz="1800" dirty="0">
                <a:solidFill>
                  <a:schemeClr val="accent1"/>
                </a:solidFill>
                <a:latin typeface="微软雅黑" panose="020B0503020204020204" pitchFamily="34" charset="-122"/>
                <a:ea typeface="微软雅黑" panose="020B0503020204020204" pitchFamily="34" charset="-122"/>
                <a:cs typeface="+mn-ea"/>
              </a:rPr>
              <a:t>token </a:t>
            </a:r>
            <a:r>
              <a:rPr lang="zh-CN" altLang="en-US" sz="1800" dirty="0">
                <a:solidFill>
                  <a:schemeClr val="accent1"/>
                </a:solidFill>
                <a:latin typeface="微软雅黑" panose="020B0503020204020204" pitchFamily="34" charset="-122"/>
                <a:ea typeface="微软雅黑" panose="020B0503020204020204" pitchFamily="34" charset="-122"/>
                <a:cs typeface="+mn-ea"/>
              </a:rPr>
              <a:t>在原始序列中的逻辑位置是相同的，因此，应该按照在树中的深度来设置</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每个 </a:t>
            </a:r>
            <a:r>
              <a:rPr lang="en-US" altLang="zh-CN" sz="1800" dirty="0">
                <a:solidFill>
                  <a:schemeClr val="accent1"/>
                </a:solidFill>
                <a:latin typeface="微软雅黑" panose="020B0503020204020204" pitchFamily="34" charset="-122"/>
                <a:ea typeface="微软雅黑" panose="020B0503020204020204" pitchFamily="34" charset="-122"/>
                <a:cs typeface="+mn-ea"/>
              </a:rPr>
              <a:t>token </a:t>
            </a:r>
            <a:r>
              <a:rPr lang="zh-CN" altLang="en-US" sz="1800" dirty="0">
                <a:solidFill>
                  <a:schemeClr val="accent1"/>
                </a:solidFill>
                <a:latin typeface="微软雅黑" panose="020B0503020204020204" pitchFamily="34" charset="-122"/>
                <a:ea typeface="微软雅黑" panose="020B0503020204020204" pitchFamily="34" charset="-122"/>
                <a:cs typeface="+mn-ea"/>
              </a:rPr>
              <a:t>的位置索引等于它在树中的层级深度，所有同一层的 </a:t>
            </a:r>
            <a:r>
              <a:rPr lang="en-US" altLang="zh-CN" sz="1800" dirty="0">
                <a:solidFill>
                  <a:schemeClr val="accent1"/>
                </a:solidFill>
                <a:latin typeface="微软雅黑" panose="020B0503020204020204" pitchFamily="34" charset="-122"/>
                <a:ea typeface="微软雅黑" panose="020B0503020204020204" pitchFamily="34" charset="-122"/>
                <a:cs typeface="+mn-ea"/>
              </a:rPr>
              <a:t>token </a:t>
            </a:r>
            <a:r>
              <a:rPr lang="zh-CN" altLang="en-US" sz="1800" dirty="0">
                <a:solidFill>
                  <a:schemeClr val="accent1"/>
                </a:solidFill>
                <a:latin typeface="微软雅黑" panose="020B0503020204020204" pitchFamily="34" charset="-122"/>
                <a:ea typeface="微软雅黑" panose="020B0503020204020204" pitchFamily="34" charset="-122"/>
                <a:cs typeface="+mn-ea"/>
              </a:rPr>
              <a:t>共享相同的位置索引</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p:txBody>
      </p:sp>
      <p:pic>
        <p:nvPicPr>
          <p:cNvPr id="3" name="图片 2"/>
          <p:cNvPicPr>
            <a:picLocks noChangeAspect="1"/>
          </p:cNvPicPr>
          <p:nvPr/>
        </p:nvPicPr>
        <p:blipFill>
          <a:blip r:embed="rId1"/>
          <a:stretch>
            <a:fillRect/>
          </a:stretch>
        </p:blipFill>
        <p:spPr>
          <a:xfrm>
            <a:off x="5420360" y="1146175"/>
            <a:ext cx="6294755" cy="4146550"/>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3315"/>
                                        </p:tgtEl>
                                        <p:attrNameLst>
                                          <p:attrName>style.visibility</p:attrName>
                                        </p:attrNameLst>
                                      </p:cBhvr>
                                      <p:to>
                                        <p:strVal val="visible"/>
                                      </p:to>
                                    </p:set>
                                    <p:anim calcmode="lin" valueType="num">
                                      <p:cBhvr>
                                        <p:cTn id="7" dur="300" fill="hold"/>
                                        <p:tgtEl>
                                          <p:spTgt spid="13315"/>
                                        </p:tgtEl>
                                        <p:attrNameLst>
                                          <p:attrName>ppt_w</p:attrName>
                                        </p:attrNameLst>
                                      </p:cBhvr>
                                      <p:tavLst>
                                        <p:tav tm="0">
                                          <p:val>
                                            <p:fltVal val="0"/>
                                          </p:val>
                                        </p:tav>
                                        <p:tav tm="100000">
                                          <p:val>
                                            <p:strVal val="#ppt_w"/>
                                          </p:val>
                                        </p:tav>
                                      </p:tavLst>
                                    </p:anim>
                                    <p:anim calcmode="lin" valueType="num">
                                      <p:cBhvr>
                                        <p:cTn id="8" dur="300" fill="hold"/>
                                        <p:tgtEl>
                                          <p:spTgt spid="13315"/>
                                        </p:tgtEl>
                                        <p:attrNameLst>
                                          <p:attrName>ppt_h</p:attrName>
                                        </p:attrNameLst>
                                      </p:cBhvr>
                                      <p:tavLst>
                                        <p:tav tm="0">
                                          <p:val>
                                            <p:fltVal val="0"/>
                                          </p:val>
                                        </p:tav>
                                        <p:tav tm="100000">
                                          <p:val>
                                            <p:strVal val="#ppt_h"/>
                                          </p:val>
                                        </p:tav>
                                      </p:tavLst>
                                    </p:anim>
                                    <p:anim calcmode="lin" valueType="num">
                                      <p:cBhvr>
                                        <p:cTn id="9" dur="300" fill="hold"/>
                                        <p:tgtEl>
                                          <p:spTgt spid="13315"/>
                                        </p:tgtEl>
                                        <p:attrNameLst>
                                          <p:attrName>style.rotation</p:attrName>
                                        </p:attrNameLst>
                                      </p:cBhvr>
                                      <p:tavLst>
                                        <p:tav tm="0">
                                          <p:val>
                                            <p:fltVal val="90"/>
                                          </p:val>
                                        </p:tav>
                                        <p:tav tm="100000">
                                          <p:val>
                                            <p:fltVal val="0"/>
                                          </p:val>
                                        </p:tav>
                                      </p:tavLst>
                                    </p:anim>
                                    <p:animEffect transition="in" filter="fade">
                                      <p:cBhvr>
                                        <p:cTn id="10" dur="300"/>
                                        <p:tgtEl>
                                          <p:spTgt spid="13315"/>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3314"/>
                                        </p:tgtEl>
                                        <p:attrNameLst>
                                          <p:attrName>style.visibility</p:attrName>
                                        </p:attrNameLst>
                                      </p:cBhvr>
                                      <p:to>
                                        <p:strVal val="visible"/>
                                      </p:to>
                                    </p:set>
                                    <p:anim calcmode="lin" valueType="num">
                                      <p:cBhvr>
                                        <p:cTn id="14" dur="400" fill="hold"/>
                                        <p:tgtEl>
                                          <p:spTgt spid="1331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3314"/>
                                        </p:tgtEl>
                                        <p:attrNameLst>
                                          <p:attrName>ppt_y</p:attrName>
                                        </p:attrNameLst>
                                      </p:cBhvr>
                                      <p:tavLst>
                                        <p:tav tm="0">
                                          <p:val>
                                            <p:strVal val="#ppt_y"/>
                                          </p:val>
                                        </p:tav>
                                        <p:tav tm="100000">
                                          <p:val>
                                            <p:strVal val="#ppt_y"/>
                                          </p:val>
                                        </p:tav>
                                      </p:tavLst>
                                    </p:anim>
                                    <p:anim calcmode="lin" valueType="num">
                                      <p:cBhvr>
                                        <p:cTn id="16" dur="400" fill="hold"/>
                                        <p:tgtEl>
                                          <p:spTgt spid="1331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331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3314"/>
                                        </p:tgtEl>
                                      </p:cBhvr>
                                    </p:animEffect>
                                  </p:childTnLst>
                                </p:cTn>
                              </p:par>
                            </p:childTnLst>
                          </p:cTn>
                        </p:par>
                        <p:par>
                          <p:cTn id="19" fill="hold">
                            <p:stCondLst>
                              <p:cond delay="819"/>
                            </p:stCondLst>
                            <p:childTnLst>
                              <p:par>
                                <p:cTn id="20" presetID="41" presetClass="entr" presetSubtype="0" fill="hold" grpId="0" nodeType="afterEffect" nodePh="1">
                                  <p:stCondLst>
                                    <p:cond delay="0"/>
                                  </p:stCondLst>
                                  <p:endCondLst>
                                    <p:cond evt="begin" delay="0">
                                      <p:tn val="20"/>
                                    </p:cond>
                                  </p:endCondLst>
                                  <p:iterate type="lt">
                                    <p:tmPct val="10000"/>
                                  </p:iterate>
                                  <p:childTnLst>
                                    <p:set>
                                      <p:cBhvr>
                                        <p:cTn id="21" dur="1" fill="hold">
                                          <p:stCondLst>
                                            <p:cond delay="0"/>
                                          </p:stCondLst>
                                        </p:cTn>
                                        <p:tgtEl>
                                          <p:spTgt spid="13316"/>
                                        </p:tgtEl>
                                        <p:attrNameLst>
                                          <p:attrName>style.visibility</p:attrName>
                                        </p:attrNameLst>
                                      </p:cBhvr>
                                      <p:to>
                                        <p:strVal val="visible"/>
                                      </p:to>
                                    </p:set>
                                    <p:anim calcmode="lin" valueType="num">
                                      <p:cBhvr>
                                        <p:cTn id="22" dur="400" fill="hold"/>
                                        <p:tgtEl>
                                          <p:spTgt spid="13316"/>
                                        </p:tgtEl>
                                        <p:attrNameLst>
                                          <p:attrName>ppt_x</p:attrName>
                                        </p:attrNameLst>
                                      </p:cBhvr>
                                      <p:tavLst>
                                        <p:tav tm="0">
                                          <p:val>
                                            <p:strVal val="#ppt_x"/>
                                          </p:val>
                                        </p:tav>
                                        <p:tav tm="50000">
                                          <p:val>
                                            <p:strVal val="#ppt_x+.1"/>
                                          </p:val>
                                        </p:tav>
                                        <p:tav tm="100000">
                                          <p:val>
                                            <p:strVal val="#ppt_x"/>
                                          </p:val>
                                        </p:tav>
                                      </p:tavLst>
                                    </p:anim>
                                    <p:anim calcmode="lin" valueType="num">
                                      <p:cBhvr>
                                        <p:cTn id="23" dur="400" fill="hold"/>
                                        <p:tgtEl>
                                          <p:spTgt spid="13316"/>
                                        </p:tgtEl>
                                        <p:attrNameLst>
                                          <p:attrName>ppt_y</p:attrName>
                                        </p:attrNameLst>
                                      </p:cBhvr>
                                      <p:tavLst>
                                        <p:tav tm="0">
                                          <p:val>
                                            <p:strVal val="#ppt_y"/>
                                          </p:val>
                                        </p:tav>
                                        <p:tav tm="100000">
                                          <p:val>
                                            <p:strVal val="#ppt_y"/>
                                          </p:val>
                                        </p:tav>
                                      </p:tavLst>
                                    </p:anim>
                                    <p:anim calcmode="lin" valueType="num">
                                      <p:cBhvr>
                                        <p:cTn id="24" dur="400" fill="hold"/>
                                        <p:tgtEl>
                                          <p:spTgt spid="13316"/>
                                        </p:tgtEl>
                                        <p:attrNameLst>
                                          <p:attrName>ppt_h</p:attrName>
                                        </p:attrNameLst>
                                      </p:cBhvr>
                                      <p:tavLst>
                                        <p:tav tm="0">
                                          <p:val>
                                            <p:strVal val="#ppt_h/10"/>
                                          </p:val>
                                        </p:tav>
                                        <p:tav tm="50000">
                                          <p:val>
                                            <p:strVal val="#ppt_h+.01"/>
                                          </p:val>
                                        </p:tav>
                                        <p:tav tm="100000">
                                          <p:val>
                                            <p:strVal val="#ppt_h"/>
                                          </p:val>
                                        </p:tav>
                                      </p:tavLst>
                                    </p:anim>
                                    <p:anim calcmode="lin" valueType="num">
                                      <p:cBhvr>
                                        <p:cTn id="25" dur="400" fill="hold"/>
                                        <p:tgtEl>
                                          <p:spTgt spid="13316"/>
                                        </p:tgtEl>
                                        <p:attrNameLst>
                                          <p:attrName>ppt_w</p:attrName>
                                        </p:attrNameLst>
                                      </p:cBhvr>
                                      <p:tavLst>
                                        <p:tav tm="0">
                                          <p:val>
                                            <p:strVal val="#ppt_w/10"/>
                                          </p:val>
                                        </p:tav>
                                        <p:tav tm="50000">
                                          <p:val>
                                            <p:strVal val="#ppt_w+.01"/>
                                          </p:val>
                                        </p:tav>
                                        <p:tav tm="100000">
                                          <p:val>
                                            <p:strVal val="#ppt_w"/>
                                          </p:val>
                                        </p:tav>
                                      </p:tavLst>
                                    </p:anim>
                                    <p:animEffect transition="in" filter="fade">
                                      <p:cBhvr>
                                        <p:cTn id="26" dur="400" tmFilter="0,0; .5, 1; 1, 1"/>
                                        <p:tgtEl>
                                          <p:spTgt spid="13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p:bldP spid="1331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27"/>
          <p:cNvSpPr txBox="1"/>
          <p:nvPr/>
        </p:nvSpPr>
        <p:spPr>
          <a:xfrm>
            <a:off x="1012825" y="176213"/>
            <a:ext cx="1706880" cy="553085"/>
          </a:xfrm>
          <a:prstGeom prst="rect">
            <a:avLst/>
          </a:prstGeom>
          <a:noFill/>
          <a:ln w="9525">
            <a:noFill/>
          </a:ln>
        </p:spPr>
        <p:txBody>
          <a:bodyPr wrap="none" anchor="t">
            <a:spAutoFit/>
          </a:bodyPr>
          <a:lstStyle/>
          <a:p>
            <a:pPr algn="l"/>
            <a:r>
              <a:rPr lang="zh-CN" altLang="en-US" sz="3000" b="1" dirty="0">
                <a:solidFill>
                  <a:schemeClr val="accent1"/>
                </a:solidFill>
                <a:latin typeface="微软雅黑" panose="020B0503020204020204" pitchFamily="34" charset="-122"/>
                <a:ea typeface="微软雅黑" panose="020B0503020204020204" pitchFamily="34" charset="-122"/>
              </a:rPr>
              <a:t>树注意力</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3315"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13316" name="TextBox 3"/>
          <p:cNvSpPr txBox="1"/>
          <p:nvPr/>
        </p:nvSpPr>
        <p:spPr>
          <a:xfrm>
            <a:off x="1174750" y="-1179512"/>
            <a:ext cx="184150" cy="554037"/>
          </a:xfrm>
          <a:prstGeom prst="rect">
            <a:avLst/>
          </a:prstGeom>
          <a:noFill/>
          <a:ln w="9525">
            <a:noFill/>
          </a:ln>
        </p:spPr>
        <p:txBody>
          <a:bodyPr wrap="none" anchor="t">
            <a:spAutoFit/>
          </a:bodyPr>
          <a:lstStyle/>
          <a:p>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769620" y="4279900"/>
            <a:ext cx="10753725" cy="1677670"/>
          </a:xfrm>
          <a:prstGeom prst="rect">
            <a:avLst/>
          </a:prstGeom>
          <a:noFill/>
        </p:spPr>
        <p:txBody>
          <a:bodyPr wrap="square" rtlCol="0">
            <a:noAutofit/>
          </a:bodyPr>
          <a:p>
            <a:pPr>
              <a:lnSpc>
                <a:spcPct val="150000"/>
              </a:lnSpc>
            </a:pPr>
            <a:r>
              <a:rPr lang="zh-CN" sz="1800" dirty="0">
                <a:solidFill>
                  <a:schemeClr val="accent1"/>
                </a:solidFill>
                <a:latin typeface="微软雅黑" panose="020B0503020204020204" pitchFamily="34" charset="-122"/>
                <a:ea typeface="微软雅黑" panose="020B0503020204020204" pitchFamily="34" charset="-122"/>
                <a:cs typeface="+mn-ea"/>
              </a:rPr>
              <a:t>优化：稀疏树</a:t>
            </a:r>
            <a:endParaRPr 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从训练集（如 </a:t>
            </a:r>
            <a:r>
              <a:rPr lang="en-US" altLang="zh-CN" sz="1800" dirty="0">
                <a:solidFill>
                  <a:schemeClr val="accent1"/>
                </a:solidFill>
                <a:latin typeface="微软雅黑" panose="020B0503020204020204" pitchFamily="34" charset="-122"/>
                <a:ea typeface="微软雅黑" panose="020B0503020204020204" pitchFamily="34" charset="-122"/>
                <a:cs typeface="+mn-ea"/>
              </a:rPr>
              <a:t>ShareGPT）</a:t>
            </a:r>
            <a:r>
              <a:rPr lang="zh-CN" altLang="en-US" sz="1800" dirty="0">
                <a:solidFill>
                  <a:schemeClr val="accent1"/>
                </a:solidFill>
                <a:latin typeface="微软雅黑" panose="020B0503020204020204" pitchFamily="34" charset="-122"/>
                <a:ea typeface="微软雅黑" panose="020B0503020204020204" pitchFamily="34" charset="-122"/>
                <a:cs typeface="+mn-ea"/>
              </a:rPr>
              <a:t>中抽取约 1,000 个样本。对于每一个预测头 </a:t>
            </a:r>
            <a:r>
              <a:rPr lang="en-US" altLang="zh-CN" sz="1800" dirty="0">
                <a:solidFill>
                  <a:schemeClr val="accent1"/>
                </a:solidFill>
                <a:latin typeface="微软雅黑" panose="020B0503020204020204" pitchFamily="34" charset="-122"/>
                <a:ea typeface="微软雅黑" panose="020B0503020204020204" pitchFamily="34" charset="-122"/>
                <a:cs typeface="+mn-ea"/>
              </a:rPr>
              <a:t>k </a:t>
            </a:r>
            <a:r>
              <a:rPr lang="zh-CN" altLang="en-US" sz="1800" dirty="0">
                <a:solidFill>
                  <a:schemeClr val="accent1"/>
                </a:solidFill>
                <a:latin typeface="微软雅黑" panose="020B0503020204020204" pitchFamily="34" charset="-122"/>
                <a:ea typeface="微软雅黑" panose="020B0503020204020204" pitchFamily="34" charset="-122"/>
                <a:cs typeface="+mn-ea"/>
              </a:rPr>
              <a:t>及其对应的候选词排名 </a:t>
            </a:r>
            <a:r>
              <a:rPr lang="en-US" altLang="zh-CN" sz="1800" dirty="0">
                <a:solidFill>
                  <a:schemeClr val="accent1"/>
                </a:solidFill>
                <a:latin typeface="微软雅黑" panose="020B0503020204020204" pitchFamily="34" charset="-122"/>
                <a:ea typeface="微软雅黑" panose="020B0503020204020204" pitchFamily="34" charset="-122"/>
                <a:cs typeface="+mn-ea"/>
              </a:rPr>
              <a:t>i_k，</a:t>
            </a:r>
            <a:r>
              <a:rPr lang="zh-CN" altLang="en-US" sz="1800" dirty="0">
                <a:solidFill>
                  <a:schemeClr val="accent1"/>
                </a:solidFill>
                <a:latin typeface="微软雅黑" panose="020B0503020204020204" pitchFamily="34" charset="-122"/>
                <a:ea typeface="微软雅黑" panose="020B0503020204020204" pitchFamily="34" charset="-122"/>
                <a:cs typeface="+mn-ea"/>
              </a:rPr>
              <a:t>计算其在校准集上的经验接受频率</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定义一条路径为一组索引 (</a:t>
            </a:r>
            <a:r>
              <a:rPr lang="en-US" altLang="zh-CN" sz="1800" dirty="0">
                <a:solidFill>
                  <a:schemeClr val="accent1"/>
                </a:solidFill>
                <a:latin typeface="微软雅黑" panose="020B0503020204020204" pitchFamily="34" charset="-122"/>
                <a:ea typeface="微软雅黑" panose="020B0503020204020204" pitchFamily="34" charset="-122"/>
                <a:cs typeface="+mn-ea"/>
              </a:rPr>
              <a:t>i_1, i_2, ..., i_k)，</a:t>
            </a:r>
            <a:r>
              <a:rPr lang="zh-CN" altLang="en-US" sz="1800" dirty="0">
                <a:solidFill>
                  <a:schemeClr val="accent1"/>
                </a:solidFill>
                <a:latin typeface="微软雅黑" panose="020B0503020204020204" pitchFamily="34" charset="-122"/>
                <a:ea typeface="微软雅黑" panose="020B0503020204020204" pitchFamily="34" charset="-122"/>
                <a:cs typeface="+mn-ea"/>
              </a:rPr>
              <a:t>表示第 1 个头取第 </a:t>
            </a:r>
            <a:r>
              <a:rPr lang="en-US" altLang="zh-CN" sz="1800" dirty="0">
                <a:solidFill>
                  <a:schemeClr val="accent1"/>
                </a:solidFill>
                <a:latin typeface="微软雅黑" panose="020B0503020204020204" pitchFamily="34" charset="-122"/>
                <a:ea typeface="微软雅黑" panose="020B0503020204020204" pitchFamily="34" charset="-122"/>
                <a:cs typeface="+mn-ea"/>
              </a:rPr>
              <a:t>i_1 </a:t>
            </a:r>
            <a:r>
              <a:rPr lang="zh-CN" altLang="en-US" sz="1800" dirty="0">
                <a:solidFill>
                  <a:schemeClr val="accent1"/>
                </a:solidFill>
                <a:latin typeface="微软雅黑" panose="020B0503020204020204" pitchFamily="34" charset="-122"/>
                <a:ea typeface="微软雅黑" panose="020B0503020204020204" pitchFamily="34" charset="-122"/>
                <a:cs typeface="+mn-ea"/>
              </a:rPr>
              <a:t>个候选词，第 2 个头取第 </a:t>
            </a:r>
            <a:r>
              <a:rPr lang="en-US" altLang="zh-CN" sz="1800" dirty="0">
                <a:solidFill>
                  <a:schemeClr val="accent1"/>
                </a:solidFill>
                <a:latin typeface="微软雅黑" panose="020B0503020204020204" pitchFamily="34" charset="-122"/>
                <a:ea typeface="微软雅黑" panose="020B0503020204020204" pitchFamily="34" charset="-122"/>
                <a:cs typeface="+mn-ea"/>
              </a:rPr>
              <a:t>i_2 </a:t>
            </a:r>
            <a:r>
              <a:rPr lang="zh-CN" altLang="en-US" sz="1800" dirty="0">
                <a:solidFill>
                  <a:schemeClr val="accent1"/>
                </a:solidFill>
                <a:latin typeface="微软雅黑" panose="020B0503020204020204" pitchFamily="34" charset="-122"/>
                <a:ea typeface="微软雅黑" panose="020B0503020204020204" pitchFamily="34" charset="-122"/>
                <a:cs typeface="+mn-ea"/>
              </a:rPr>
              <a:t>个候选词，依此类推。通过运行模型，记录下大模型实际接受这些组合的概率分布</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1"/>
          <a:stretch>
            <a:fillRect/>
          </a:stretch>
        </p:blipFill>
        <p:spPr>
          <a:xfrm>
            <a:off x="2929890" y="405130"/>
            <a:ext cx="6998970" cy="3566160"/>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3315"/>
                                        </p:tgtEl>
                                        <p:attrNameLst>
                                          <p:attrName>style.visibility</p:attrName>
                                        </p:attrNameLst>
                                      </p:cBhvr>
                                      <p:to>
                                        <p:strVal val="visible"/>
                                      </p:to>
                                    </p:set>
                                    <p:anim calcmode="lin" valueType="num">
                                      <p:cBhvr>
                                        <p:cTn id="7" dur="300" fill="hold"/>
                                        <p:tgtEl>
                                          <p:spTgt spid="13315"/>
                                        </p:tgtEl>
                                        <p:attrNameLst>
                                          <p:attrName>ppt_w</p:attrName>
                                        </p:attrNameLst>
                                      </p:cBhvr>
                                      <p:tavLst>
                                        <p:tav tm="0">
                                          <p:val>
                                            <p:fltVal val="0"/>
                                          </p:val>
                                        </p:tav>
                                        <p:tav tm="100000">
                                          <p:val>
                                            <p:strVal val="#ppt_w"/>
                                          </p:val>
                                        </p:tav>
                                      </p:tavLst>
                                    </p:anim>
                                    <p:anim calcmode="lin" valueType="num">
                                      <p:cBhvr>
                                        <p:cTn id="8" dur="300" fill="hold"/>
                                        <p:tgtEl>
                                          <p:spTgt spid="13315"/>
                                        </p:tgtEl>
                                        <p:attrNameLst>
                                          <p:attrName>ppt_h</p:attrName>
                                        </p:attrNameLst>
                                      </p:cBhvr>
                                      <p:tavLst>
                                        <p:tav tm="0">
                                          <p:val>
                                            <p:fltVal val="0"/>
                                          </p:val>
                                        </p:tav>
                                        <p:tav tm="100000">
                                          <p:val>
                                            <p:strVal val="#ppt_h"/>
                                          </p:val>
                                        </p:tav>
                                      </p:tavLst>
                                    </p:anim>
                                    <p:anim calcmode="lin" valueType="num">
                                      <p:cBhvr>
                                        <p:cTn id="9" dur="300" fill="hold"/>
                                        <p:tgtEl>
                                          <p:spTgt spid="13315"/>
                                        </p:tgtEl>
                                        <p:attrNameLst>
                                          <p:attrName>style.rotation</p:attrName>
                                        </p:attrNameLst>
                                      </p:cBhvr>
                                      <p:tavLst>
                                        <p:tav tm="0">
                                          <p:val>
                                            <p:fltVal val="90"/>
                                          </p:val>
                                        </p:tav>
                                        <p:tav tm="100000">
                                          <p:val>
                                            <p:fltVal val="0"/>
                                          </p:val>
                                        </p:tav>
                                      </p:tavLst>
                                    </p:anim>
                                    <p:animEffect transition="in" filter="fade">
                                      <p:cBhvr>
                                        <p:cTn id="10" dur="300"/>
                                        <p:tgtEl>
                                          <p:spTgt spid="13315"/>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3314"/>
                                        </p:tgtEl>
                                        <p:attrNameLst>
                                          <p:attrName>style.visibility</p:attrName>
                                        </p:attrNameLst>
                                      </p:cBhvr>
                                      <p:to>
                                        <p:strVal val="visible"/>
                                      </p:to>
                                    </p:set>
                                    <p:anim calcmode="lin" valueType="num">
                                      <p:cBhvr>
                                        <p:cTn id="14" dur="400" fill="hold"/>
                                        <p:tgtEl>
                                          <p:spTgt spid="1331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3314"/>
                                        </p:tgtEl>
                                        <p:attrNameLst>
                                          <p:attrName>ppt_y</p:attrName>
                                        </p:attrNameLst>
                                      </p:cBhvr>
                                      <p:tavLst>
                                        <p:tav tm="0">
                                          <p:val>
                                            <p:strVal val="#ppt_y"/>
                                          </p:val>
                                        </p:tav>
                                        <p:tav tm="100000">
                                          <p:val>
                                            <p:strVal val="#ppt_y"/>
                                          </p:val>
                                        </p:tav>
                                      </p:tavLst>
                                    </p:anim>
                                    <p:anim calcmode="lin" valueType="num">
                                      <p:cBhvr>
                                        <p:cTn id="16" dur="400" fill="hold"/>
                                        <p:tgtEl>
                                          <p:spTgt spid="1331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331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3314"/>
                                        </p:tgtEl>
                                      </p:cBhvr>
                                    </p:animEffect>
                                  </p:childTnLst>
                                </p:cTn>
                              </p:par>
                            </p:childTnLst>
                          </p:cTn>
                        </p:par>
                        <p:par>
                          <p:cTn id="19" fill="hold">
                            <p:stCondLst>
                              <p:cond delay="819"/>
                            </p:stCondLst>
                            <p:childTnLst>
                              <p:par>
                                <p:cTn id="20" presetID="41" presetClass="entr" presetSubtype="0" fill="hold" grpId="0" nodeType="afterEffect" nodePh="1">
                                  <p:stCondLst>
                                    <p:cond delay="0"/>
                                  </p:stCondLst>
                                  <p:endCondLst>
                                    <p:cond evt="begin" delay="0">
                                      <p:tn val="20"/>
                                    </p:cond>
                                  </p:endCondLst>
                                  <p:iterate type="lt">
                                    <p:tmPct val="10000"/>
                                  </p:iterate>
                                  <p:childTnLst>
                                    <p:set>
                                      <p:cBhvr>
                                        <p:cTn id="21" dur="1" fill="hold">
                                          <p:stCondLst>
                                            <p:cond delay="0"/>
                                          </p:stCondLst>
                                        </p:cTn>
                                        <p:tgtEl>
                                          <p:spTgt spid="13316"/>
                                        </p:tgtEl>
                                        <p:attrNameLst>
                                          <p:attrName>style.visibility</p:attrName>
                                        </p:attrNameLst>
                                      </p:cBhvr>
                                      <p:to>
                                        <p:strVal val="visible"/>
                                      </p:to>
                                    </p:set>
                                    <p:anim calcmode="lin" valueType="num">
                                      <p:cBhvr>
                                        <p:cTn id="22" dur="400" fill="hold"/>
                                        <p:tgtEl>
                                          <p:spTgt spid="13316"/>
                                        </p:tgtEl>
                                        <p:attrNameLst>
                                          <p:attrName>ppt_x</p:attrName>
                                        </p:attrNameLst>
                                      </p:cBhvr>
                                      <p:tavLst>
                                        <p:tav tm="0">
                                          <p:val>
                                            <p:strVal val="#ppt_x"/>
                                          </p:val>
                                        </p:tav>
                                        <p:tav tm="50000">
                                          <p:val>
                                            <p:strVal val="#ppt_x+.1"/>
                                          </p:val>
                                        </p:tav>
                                        <p:tav tm="100000">
                                          <p:val>
                                            <p:strVal val="#ppt_x"/>
                                          </p:val>
                                        </p:tav>
                                      </p:tavLst>
                                    </p:anim>
                                    <p:anim calcmode="lin" valueType="num">
                                      <p:cBhvr>
                                        <p:cTn id="23" dur="400" fill="hold"/>
                                        <p:tgtEl>
                                          <p:spTgt spid="13316"/>
                                        </p:tgtEl>
                                        <p:attrNameLst>
                                          <p:attrName>ppt_y</p:attrName>
                                        </p:attrNameLst>
                                      </p:cBhvr>
                                      <p:tavLst>
                                        <p:tav tm="0">
                                          <p:val>
                                            <p:strVal val="#ppt_y"/>
                                          </p:val>
                                        </p:tav>
                                        <p:tav tm="100000">
                                          <p:val>
                                            <p:strVal val="#ppt_y"/>
                                          </p:val>
                                        </p:tav>
                                      </p:tavLst>
                                    </p:anim>
                                    <p:anim calcmode="lin" valueType="num">
                                      <p:cBhvr>
                                        <p:cTn id="24" dur="400" fill="hold"/>
                                        <p:tgtEl>
                                          <p:spTgt spid="13316"/>
                                        </p:tgtEl>
                                        <p:attrNameLst>
                                          <p:attrName>ppt_h</p:attrName>
                                        </p:attrNameLst>
                                      </p:cBhvr>
                                      <p:tavLst>
                                        <p:tav tm="0">
                                          <p:val>
                                            <p:strVal val="#ppt_h/10"/>
                                          </p:val>
                                        </p:tav>
                                        <p:tav tm="50000">
                                          <p:val>
                                            <p:strVal val="#ppt_h+.01"/>
                                          </p:val>
                                        </p:tav>
                                        <p:tav tm="100000">
                                          <p:val>
                                            <p:strVal val="#ppt_h"/>
                                          </p:val>
                                        </p:tav>
                                      </p:tavLst>
                                    </p:anim>
                                    <p:anim calcmode="lin" valueType="num">
                                      <p:cBhvr>
                                        <p:cTn id="25" dur="400" fill="hold"/>
                                        <p:tgtEl>
                                          <p:spTgt spid="13316"/>
                                        </p:tgtEl>
                                        <p:attrNameLst>
                                          <p:attrName>ppt_w</p:attrName>
                                        </p:attrNameLst>
                                      </p:cBhvr>
                                      <p:tavLst>
                                        <p:tav tm="0">
                                          <p:val>
                                            <p:strVal val="#ppt_w/10"/>
                                          </p:val>
                                        </p:tav>
                                        <p:tav tm="50000">
                                          <p:val>
                                            <p:strVal val="#ppt_w+.01"/>
                                          </p:val>
                                        </p:tav>
                                        <p:tav tm="100000">
                                          <p:val>
                                            <p:strVal val="#ppt_w"/>
                                          </p:val>
                                        </p:tav>
                                      </p:tavLst>
                                    </p:anim>
                                    <p:animEffect transition="in" filter="fade">
                                      <p:cBhvr>
                                        <p:cTn id="26" dur="400" tmFilter="0,0; .5, 1; 1, 1"/>
                                        <p:tgtEl>
                                          <p:spTgt spid="13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p:bldP spid="133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27"/>
          <p:cNvSpPr txBox="1"/>
          <p:nvPr/>
        </p:nvSpPr>
        <p:spPr>
          <a:xfrm>
            <a:off x="1012825" y="176213"/>
            <a:ext cx="1706880" cy="553085"/>
          </a:xfrm>
          <a:prstGeom prst="rect">
            <a:avLst/>
          </a:prstGeom>
          <a:noFill/>
          <a:ln w="9525">
            <a:noFill/>
          </a:ln>
        </p:spPr>
        <p:txBody>
          <a:bodyPr wrap="none" anchor="t">
            <a:spAutoFit/>
          </a:bodyPr>
          <a:lstStyle/>
          <a:p>
            <a:pPr algn="l"/>
            <a:r>
              <a:rPr lang="zh-CN" altLang="en-US" sz="3000" b="1" dirty="0">
                <a:solidFill>
                  <a:schemeClr val="accent1"/>
                </a:solidFill>
                <a:latin typeface="微软雅黑" panose="020B0503020204020204" pitchFamily="34" charset="-122"/>
                <a:ea typeface="微软雅黑" panose="020B0503020204020204" pitchFamily="34" charset="-122"/>
              </a:rPr>
              <a:t>树注意力</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3315"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13316" name="TextBox 3"/>
          <p:cNvSpPr txBox="1"/>
          <p:nvPr/>
        </p:nvSpPr>
        <p:spPr>
          <a:xfrm>
            <a:off x="1174750" y="-1179512"/>
            <a:ext cx="184150" cy="554037"/>
          </a:xfrm>
          <a:prstGeom prst="rect">
            <a:avLst/>
          </a:prstGeom>
          <a:noFill/>
          <a:ln w="9525">
            <a:noFill/>
          </a:ln>
        </p:spPr>
        <p:txBody>
          <a:bodyPr wrap="none" anchor="t">
            <a:spAutoFit/>
          </a:bodyPr>
          <a:lstStyle/>
          <a:p>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769620" y="4345940"/>
            <a:ext cx="10807700" cy="1852295"/>
          </a:xfrm>
          <a:prstGeom prst="rect">
            <a:avLst/>
          </a:prstGeom>
          <a:noFill/>
        </p:spPr>
        <p:txBody>
          <a:bodyPr wrap="square" rtlCol="0">
            <a:noAutofit/>
          </a:bodyPr>
          <a:p>
            <a:pPr algn="l">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稀疏树的目标是在固定节点预算 </a:t>
            </a:r>
            <a:r>
              <a:rPr lang="en-US" altLang="zh-CN" sz="1800" dirty="0">
                <a:solidFill>
                  <a:schemeClr val="accent1"/>
                </a:solidFill>
                <a:latin typeface="微软雅黑" panose="020B0503020204020204" pitchFamily="34" charset="-122"/>
                <a:ea typeface="微软雅黑" panose="020B0503020204020204" pitchFamily="34" charset="-122"/>
                <a:cs typeface="+mn-ea"/>
              </a:rPr>
              <a:t>N（</a:t>
            </a:r>
            <a:r>
              <a:rPr lang="zh-CN" altLang="en-US" sz="1800" dirty="0">
                <a:solidFill>
                  <a:schemeClr val="accent1"/>
                </a:solidFill>
                <a:latin typeface="微软雅黑" panose="020B0503020204020204" pitchFamily="34" charset="-122"/>
                <a:ea typeface="微软雅黑" panose="020B0503020204020204" pitchFamily="34" charset="-122"/>
                <a:cs typeface="+mn-ea"/>
              </a:rPr>
              <a:t>如 64）的约束下，最大化单步生成的期望接受长度</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gn="l">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首先遍历所有可能的候选项（即尚未加入树的预测头索引组合）</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gn="l">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计算如果将该候选项作为某个现有节点的子节点，能为整棵树增加多少“期望接受长度</a:t>
            </a:r>
            <a:r>
              <a:rPr lang="en-US" altLang="zh-CN" sz="1800" dirty="0">
                <a:solidFill>
                  <a:schemeClr val="accent1"/>
                </a:solidFill>
                <a:latin typeface="微软雅黑" panose="020B0503020204020204" pitchFamily="34" charset="-122"/>
                <a:ea typeface="微软雅黑" panose="020B0503020204020204" pitchFamily="34" charset="-122"/>
                <a:cs typeface="+mn-ea"/>
              </a:rPr>
              <a:t>”</a:t>
            </a:r>
            <a:r>
              <a:rPr lang="zh-CN" altLang="en-US" sz="1800" dirty="0">
                <a:solidFill>
                  <a:schemeClr val="accent1"/>
                </a:solidFill>
                <a:latin typeface="微软雅黑" panose="020B0503020204020204" pitchFamily="34" charset="-122"/>
                <a:ea typeface="微软雅黑" panose="020B0503020204020204" pitchFamily="34" charset="-122"/>
                <a:cs typeface="+mn-ea"/>
              </a:rPr>
              <a:t>。每次选择能带来最大增益的候选项加入树中，直到节点总数达到预设阈值 </a:t>
            </a:r>
            <a:r>
              <a:rPr lang="en-US" altLang="zh-CN" sz="1800" dirty="0">
                <a:solidFill>
                  <a:schemeClr val="accent1"/>
                </a:solidFill>
                <a:latin typeface="微软雅黑" panose="020B0503020204020204" pitchFamily="34" charset="-122"/>
                <a:ea typeface="微软雅黑" panose="020B0503020204020204" pitchFamily="34" charset="-122"/>
                <a:cs typeface="+mn-ea"/>
              </a:rPr>
              <a:t>N</a:t>
            </a: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1"/>
          <a:stretch>
            <a:fillRect/>
          </a:stretch>
        </p:blipFill>
        <p:spPr>
          <a:xfrm>
            <a:off x="3218180" y="513715"/>
            <a:ext cx="6775450" cy="3452495"/>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3315"/>
                                        </p:tgtEl>
                                        <p:attrNameLst>
                                          <p:attrName>style.visibility</p:attrName>
                                        </p:attrNameLst>
                                      </p:cBhvr>
                                      <p:to>
                                        <p:strVal val="visible"/>
                                      </p:to>
                                    </p:set>
                                    <p:anim calcmode="lin" valueType="num">
                                      <p:cBhvr>
                                        <p:cTn id="7" dur="300" fill="hold"/>
                                        <p:tgtEl>
                                          <p:spTgt spid="13315"/>
                                        </p:tgtEl>
                                        <p:attrNameLst>
                                          <p:attrName>ppt_w</p:attrName>
                                        </p:attrNameLst>
                                      </p:cBhvr>
                                      <p:tavLst>
                                        <p:tav tm="0">
                                          <p:val>
                                            <p:fltVal val="0"/>
                                          </p:val>
                                        </p:tav>
                                        <p:tav tm="100000">
                                          <p:val>
                                            <p:strVal val="#ppt_w"/>
                                          </p:val>
                                        </p:tav>
                                      </p:tavLst>
                                    </p:anim>
                                    <p:anim calcmode="lin" valueType="num">
                                      <p:cBhvr>
                                        <p:cTn id="8" dur="300" fill="hold"/>
                                        <p:tgtEl>
                                          <p:spTgt spid="13315"/>
                                        </p:tgtEl>
                                        <p:attrNameLst>
                                          <p:attrName>ppt_h</p:attrName>
                                        </p:attrNameLst>
                                      </p:cBhvr>
                                      <p:tavLst>
                                        <p:tav tm="0">
                                          <p:val>
                                            <p:fltVal val="0"/>
                                          </p:val>
                                        </p:tav>
                                        <p:tav tm="100000">
                                          <p:val>
                                            <p:strVal val="#ppt_h"/>
                                          </p:val>
                                        </p:tav>
                                      </p:tavLst>
                                    </p:anim>
                                    <p:anim calcmode="lin" valueType="num">
                                      <p:cBhvr>
                                        <p:cTn id="9" dur="300" fill="hold"/>
                                        <p:tgtEl>
                                          <p:spTgt spid="13315"/>
                                        </p:tgtEl>
                                        <p:attrNameLst>
                                          <p:attrName>style.rotation</p:attrName>
                                        </p:attrNameLst>
                                      </p:cBhvr>
                                      <p:tavLst>
                                        <p:tav tm="0">
                                          <p:val>
                                            <p:fltVal val="90"/>
                                          </p:val>
                                        </p:tav>
                                        <p:tav tm="100000">
                                          <p:val>
                                            <p:fltVal val="0"/>
                                          </p:val>
                                        </p:tav>
                                      </p:tavLst>
                                    </p:anim>
                                    <p:animEffect transition="in" filter="fade">
                                      <p:cBhvr>
                                        <p:cTn id="10" dur="300"/>
                                        <p:tgtEl>
                                          <p:spTgt spid="13315"/>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3314"/>
                                        </p:tgtEl>
                                        <p:attrNameLst>
                                          <p:attrName>style.visibility</p:attrName>
                                        </p:attrNameLst>
                                      </p:cBhvr>
                                      <p:to>
                                        <p:strVal val="visible"/>
                                      </p:to>
                                    </p:set>
                                    <p:anim calcmode="lin" valueType="num">
                                      <p:cBhvr>
                                        <p:cTn id="14" dur="400" fill="hold"/>
                                        <p:tgtEl>
                                          <p:spTgt spid="1331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3314"/>
                                        </p:tgtEl>
                                        <p:attrNameLst>
                                          <p:attrName>ppt_y</p:attrName>
                                        </p:attrNameLst>
                                      </p:cBhvr>
                                      <p:tavLst>
                                        <p:tav tm="0">
                                          <p:val>
                                            <p:strVal val="#ppt_y"/>
                                          </p:val>
                                        </p:tav>
                                        <p:tav tm="100000">
                                          <p:val>
                                            <p:strVal val="#ppt_y"/>
                                          </p:val>
                                        </p:tav>
                                      </p:tavLst>
                                    </p:anim>
                                    <p:anim calcmode="lin" valueType="num">
                                      <p:cBhvr>
                                        <p:cTn id="16" dur="400" fill="hold"/>
                                        <p:tgtEl>
                                          <p:spTgt spid="1331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331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3314"/>
                                        </p:tgtEl>
                                      </p:cBhvr>
                                    </p:animEffect>
                                  </p:childTnLst>
                                </p:cTn>
                              </p:par>
                            </p:childTnLst>
                          </p:cTn>
                        </p:par>
                        <p:par>
                          <p:cTn id="19" fill="hold">
                            <p:stCondLst>
                              <p:cond delay="819"/>
                            </p:stCondLst>
                            <p:childTnLst>
                              <p:par>
                                <p:cTn id="20" presetID="41" presetClass="entr" presetSubtype="0" fill="hold" grpId="0" nodeType="afterEffect" nodePh="1">
                                  <p:stCondLst>
                                    <p:cond delay="0"/>
                                  </p:stCondLst>
                                  <p:endCondLst>
                                    <p:cond evt="begin" delay="0">
                                      <p:tn val="20"/>
                                    </p:cond>
                                  </p:endCondLst>
                                  <p:iterate type="lt">
                                    <p:tmPct val="10000"/>
                                  </p:iterate>
                                  <p:childTnLst>
                                    <p:set>
                                      <p:cBhvr>
                                        <p:cTn id="21" dur="1" fill="hold">
                                          <p:stCondLst>
                                            <p:cond delay="0"/>
                                          </p:stCondLst>
                                        </p:cTn>
                                        <p:tgtEl>
                                          <p:spTgt spid="13316"/>
                                        </p:tgtEl>
                                        <p:attrNameLst>
                                          <p:attrName>style.visibility</p:attrName>
                                        </p:attrNameLst>
                                      </p:cBhvr>
                                      <p:to>
                                        <p:strVal val="visible"/>
                                      </p:to>
                                    </p:set>
                                    <p:anim calcmode="lin" valueType="num">
                                      <p:cBhvr>
                                        <p:cTn id="22" dur="400" fill="hold"/>
                                        <p:tgtEl>
                                          <p:spTgt spid="13316"/>
                                        </p:tgtEl>
                                        <p:attrNameLst>
                                          <p:attrName>ppt_x</p:attrName>
                                        </p:attrNameLst>
                                      </p:cBhvr>
                                      <p:tavLst>
                                        <p:tav tm="0">
                                          <p:val>
                                            <p:strVal val="#ppt_x"/>
                                          </p:val>
                                        </p:tav>
                                        <p:tav tm="50000">
                                          <p:val>
                                            <p:strVal val="#ppt_x+.1"/>
                                          </p:val>
                                        </p:tav>
                                        <p:tav tm="100000">
                                          <p:val>
                                            <p:strVal val="#ppt_x"/>
                                          </p:val>
                                        </p:tav>
                                      </p:tavLst>
                                    </p:anim>
                                    <p:anim calcmode="lin" valueType="num">
                                      <p:cBhvr>
                                        <p:cTn id="23" dur="400" fill="hold"/>
                                        <p:tgtEl>
                                          <p:spTgt spid="13316"/>
                                        </p:tgtEl>
                                        <p:attrNameLst>
                                          <p:attrName>ppt_y</p:attrName>
                                        </p:attrNameLst>
                                      </p:cBhvr>
                                      <p:tavLst>
                                        <p:tav tm="0">
                                          <p:val>
                                            <p:strVal val="#ppt_y"/>
                                          </p:val>
                                        </p:tav>
                                        <p:tav tm="100000">
                                          <p:val>
                                            <p:strVal val="#ppt_y"/>
                                          </p:val>
                                        </p:tav>
                                      </p:tavLst>
                                    </p:anim>
                                    <p:anim calcmode="lin" valueType="num">
                                      <p:cBhvr>
                                        <p:cTn id="24" dur="400" fill="hold"/>
                                        <p:tgtEl>
                                          <p:spTgt spid="13316"/>
                                        </p:tgtEl>
                                        <p:attrNameLst>
                                          <p:attrName>ppt_h</p:attrName>
                                        </p:attrNameLst>
                                      </p:cBhvr>
                                      <p:tavLst>
                                        <p:tav tm="0">
                                          <p:val>
                                            <p:strVal val="#ppt_h/10"/>
                                          </p:val>
                                        </p:tav>
                                        <p:tav tm="50000">
                                          <p:val>
                                            <p:strVal val="#ppt_h+.01"/>
                                          </p:val>
                                        </p:tav>
                                        <p:tav tm="100000">
                                          <p:val>
                                            <p:strVal val="#ppt_h"/>
                                          </p:val>
                                        </p:tav>
                                      </p:tavLst>
                                    </p:anim>
                                    <p:anim calcmode="lin" valueType="num">
                                      <p:cBhvr>
                                        <p:cTn id="25" dur="400" fill="hold"/>
                                        <p:tgtEl>
                                          <p:spTgt spid="13316"/>
                                        </p:tgtEl>
                                        <p:attrNameLst>
                                          <p:attrName>ppt_w</p:attrName>
                                        </p:attrNameLst>
                                      </p:cBhvr>
                                      <p:tavLst>
                                        <p:tav tm="0">
                                          <p:val>
                                            <p:strVal val="#ppt_w/10"/>
                                          </p:val>
                                        </p:tav>
                                        <p:tav tm="50000">
                                          <p:val>
                                            <p:strVal val="#ppt_w+.01"/>
                                          </p:val>
                                        </p:tav>
                                        <p:tav tm="100000">
                                          <p:val>
                                            <p:strVal val="#ppt_w"/>
                                          </p:val>
                                        </p:tav>
                                      </p:tavLst>
                                    </p:anim>
                                    <p:animEffect transition="in" filter="fade">
                                      <p:cBhvr>
                                        <p:cTn id="26" dur="400" tmFilter="0,0; .5, 1; 1, 1"/>
                                        <p:tgtEl>
                                          <p:spTgt spid="13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p:bldP spid="1331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27"/>
          <p:cNvSpPr txBox="1"/>
          <p:nvPr/>
        </p:nvSpPr>
        <p:spPr>
          <a:xfrm>
            <a:off x="1012825" y="176213"/>
            <a:ext cx="1706880" cy="553085"/>
          </a:xfrm>
          <a:prstGeom prst="rect">
            <a:avLst/>
          </a:prstGeom>
          <a:noFill/>
          <a:ln w="9525">
            <a:noFill/>
          </a:ln>
        </p:spPr>
        <p:txBody>
          <a:bodyPr wrap="none" anchor="t">
            <a:spAutoFit/>
          </a:bodyPr>
          <a:lstStyle/>
          <a:p>
            <a:pPr algn="l"/>
            <a:r>
              <a:rPr lang="zh-CN" altLang="en-US" sz="3000" b="1" dirty="0">
                <a:solidFill>
                  <a:schemeClr val="accent1"/>
                </a:solidFill>
                <a:latin typeface="微软雅黑" panose="020B0503020204020204" pitchFamily="34" charset="-122"/>
                <a:ea typeface="微软雅黑" panose="020B0503020204020204" pitchFamily="34" charset="-122"/>
              </a:rPr>
              <a:t>典型接受</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3315"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13316" name="TextBox 3"/>
          <p:cNvSpPr txBox="1"/>
          <p:nvPr/>
        </p:nvSpPr>
        <p:spPr>
          <a:xfrm>
            <a:off x="1174750" y="-1179512"/>
            <a:ext cx="184150" cy="554037"/>
          </a:xfrm>
          <a:prstGeom prst="rect">
            <a:avLst/>
          </a:prstGeom>
          <a:noFill/>
          <a:ln w="9525">
            <a:noFill/>
          </a:ln>
        </p:spPr>
        <p:txBody>
          <a:bodyPr wrap="none" anchor="t">
            <a:spAutoFit/>
          </a:bodyPr>
          <a:lstStyle/>
          <a:p>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769620" y="1127760"/>
            <a:ext cx="10323830" cy="4987290"/>
          </a:xfrm>
          <a:prstGeom prst="rect">
            <a:avLst/>
          </a:prstGeom>
          <a:noFill/>
        </p:spPr>
        <p:txBody>
          <a:bodyPr wrap="square" rtlCol="0">
            <a:no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在推测解码论文中，作者使用拒绝采样来产生与原始模型分布一致的不同输出。然而，后续实现表明，随着采样温度升高，该采样策略会导致效率降低</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在现实场景中，从语言模型中采样通常用于生成多样化的响应，温度参数仅用于调节响应的创造性。因此，较高的温度应该会使原始模型有更多机会接受草稿模型的输出</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3315"/>
                                        </p:tgtEl>
                                        <p:attrNameLst>
                                          <p:attrName>style.visibility</p:attrName>
                                        </p:attrNameLst>
                                      </p:cBhvr>
                                      <p:to>
                                        <p:strVal val="visible"/>
                                      </p:to>
                                    </p:set>
                                    <p:anim calcmode="lin" valueType="num">
                                      <p:cBhvr>
                                        <p:cTn id="7" dur="300" fill="hold"/>
                                        <p:tgtEl>
                                          <p:spTgt spid="13315"/>
                                        </p:tgtEl>
                                        <p:attrNameLst>
                                          <p:attrName>ppt_w</p:attrName>
                                        </p:attrNameLst>
                                      </p:cBhvr>
                                      <p:tavLst>
                                        <p:tav tm="0">
                                          <p:val>
                                            <p:fltVal val="0"/>
                                          </p:val>
                                        </p:tav>
                                        <p:tav tm="100000">
                                          <p:val>
                                            <p:strVal val="#ppt_w"/>
                                          </p:val>
                                        </p:tav>
                                      </p:tavLst>
                                    </p:anim>
                                    <p:anim calcmode="lin" valueType="num">
                                      <p:cBhvr>
                                        <p:cTn id="8" dur="300" fill="hold"/>
                                        <p:tgtEl>
                                          <p:spTgt spid="13315"/>
                                        </p:tgtEl>
                                        <p:attrNameLst>
                                          <p:attrName>ppt_h</p:attrName>
                                        </p:attrNameLst>
                                      </p:cBhvr>
                                      <p:tavLst>
                                        <p:tav tm="0">
                                          <p:val>
                                            <p:fltVal val="0"/>
                                          </p:val>
                                        </p:tav>
                                        <p:tav tm="100000">
                                          <p:val>
                                            <p:strVal val="#ppt_h"/>
                                          </p:val>
                                        </p:tav>
                                      </p:tavLst>
                                    </p:anim>
                                    <p:anim calcmode="lin" valueType="num">
                                      <p:cBhvr>
                                        <p:cTn id="9" dur="300" fill="hold"/>
                                        <p:tgtEl>
                                          <p:spTgt spid="13315"/>
                                        </p:tgtEl>
                                        <p:attrNameLst>
                                          <p:attrName>style.rotation</p:attrName>
                                        </p:attrNameLst>
                                      </p:cBhvr>
                                      <p:tavLst>
                                        <p:tav tm="0">
                                          <p:val>
                                            <p:fltVal val="90"/>
                                          </p:val>
                                        </p:tav>
                                        <p:tav tm="100000">
                                          <p:val>
                                            <p:fltVal val="0"/>
                                          </p:val>
                                        </p:tav>
                                      </p:tavLst>
                                    </p:anim>
                                    <p:animEffect transition="in" filter="fade">
                                      <p:cBhvr>
                                        <p:cTn id="10" dur="300"/>
                                        <p:tgtEl>
                                          <p:spTgt spid="13315"/>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3314"/>
                                        </p:tgtEl>
                                        <p:attrNameLst>
                                          <p:attrName>style.visibility</p:attrName>
                                        </p:attrNameLst>
                                      </p:cBhvr>
                                      <p:to>
                                        <p:strVal val="visible"/>
                                      </p:to>
                                    </p:set>
                                    <p:anim calcmode="lin" valueType="num">
                                      <p:cBhvr>
                                        <p:cTn id="14" dur="400" fill="hold"/>
                                        <p:tgtEl>
                                          <p:spTgt spid="1331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3314"/>
                                        </p:tgtEl>
                                        <p:attrNameLst>
                                          <p:attrName>ppt_y</p:attrName>
                                        </p:attrNameLst>
                                      </p:cBhvr>
                                      <p:tavLst>
                                        <p:tav tm="0">
                                          <p:val>
                                            <p:strVal val="#ppt_y"/>
                                          </p:val>
                                        </p:tav>
                                        <p:tav tm="100000">
                                          <p:val>
                                            <p:strVal val="#ppt_y"/>
                                          </p:val>
                                        </p:tav>
                                      </p:tavLst>
                                    </p:anim>
                                    <p:anim calcmode="lin" valueType="num">
                                      <p:cBhvr>
                                        <p:cTn id="16" dur="400" fill="hold"/>
                                        <p:tgtEl>
                                          <p:spTgt spid="1331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331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3314"/>
                                        </p:tgtEl>
                                      </p:cBhvr>
                                    </p:animEffect>
                                  </p:childTnLst>
                                </p:cTn>
                              </p:par>
                            </p:childTnLst>
                          </p:cTn>
                        </p:par>
                        <p:par>
                          <p:cTn id="19" fill="hold">
                            <p:stCondLst>
                              <p:cond delay="819"/>
                            </p:stCondLst>
                            <p:childTnLst>
                              <p:par>
                                <p:cTn id="20" presetID="41" presetClass="entr" presetSubtype="0" fill="hold" grpId="0" nodeType="afterEffect" nodePh="1">
                                  <p:stCondLst>
                                    <p:cond delay="0"/>
                                  </p:stCondLst>
                                  <p:endCondLst>
                                    <p:cond evt="begin" delay="0">
                                      <p:tn val="20"/>
                                    </p:cond>
                                  </p:endCondLst>
                                  <p:iterate type="lt">
                                    <p:tmPct val="10000"/>
                                  </p:iterate>
                                  <p:childTnLst>
                                    <p:set>
                                      <p:cBhvr>
                                        <p:cTn id="21" dur="1" fill="hold">
                                          <p:stCondLst>
                                            <p:cond delay="0"/>
                                          </p:stCondLst>
                                        </p:cTn>
                                        <p:tgtEl>
                                          <p:spTgt spid="13316"/>
                                        </p:tgtEl>
                                        <p:attrNameLst>
                                          <p:attrName>style.visibility</p:attrName>
                                        </p:attrNameLst>
                                      </p:cBhvr>
                                      <p:to>
                                        <p:strVal val="visible"/>
                                      </p:to>
                                    </p:set>
                                    <p:anim calcmode="lin" valueType="num">
                                      <p:cBhvr>
                                        <p:cTn id="22" dur="400" fill="hold"/>
                                        <p:tgtEl>
                                          <p:spTgt spid="13316"/>
                                        </p:tgtEl>
                                        <p:attrNameLst>
                                          <p:attrName>ppt_x</p:attrName>
                                        </p:attrNameLst>
                                      </p:cBhvr>
                                      <p:tavLst>
                                        <p:tav tm="0">
                                          <p:val>
                                            <p:strVal val="#ppt_x"/>
                                          </p:val>
                                        </p:tav>
                                        <p:tav tm="50000">
                                          <p:val>
                                            <p:strVal val="#ppt_x+.1"/>
                                          </p:val>
                                        </p:tav>
                                        <p:tav tm="100000">
                                          <p:val>
                                            <p:strVal val="#ppt_x"/>
                                          </p:val>
                                        </p:tav>
                                      </p:tavLst>
                                    </p:anim>
                                    <p:anim calcmode="lin" valueType="num">
                                      <p:cBhvr>
                                        <p:cTn id="23" dur="400" fill="hold"/>
                                        <p:tgtEl>
                                          <p:spTgt spid="13316"/>
                                        </p:tgtEl>
                                        <p:attrNameLst>
                                          <p:attrName>ppt_y</p:attrName>
                                        </p:attrNameLst>
                                      </p:cBhvr>
                                      <p:tavLst>
                                        <p:tav tm="0">
                                          <p:val>
                                            <p:strVal val="#ppt_y"/>
                                          </p:val>
                                        </p:tav>
                                        <p:tav tm="100000">
                                          <p:val>
                                            <p:strVal val="#ppt_y"/>
                                          </p:val>
                                        </p:tav>
                                      </p:tavLst>
                                    </p:anim>
                                    <p:anim calcmode="lin" valueType="num">
                                      <p:cBhvr>
                                        <p:cTn id="24" dur="400" fill="hold"/>
                                        <p:tgtEl>
                                          <p:spTgt spid="13316"/>
                                        </p:tgtEl>
                                        <p:attrNameLst>
                                          <p:attrName>ppt_h</p:attrName>
                                        </p:attrNameLst>
                                      </p:cBhvr>
                                      <p:tavLst>
                                        <p:tav tm="0">
                                          <p:val>
                                            <p:strVal val="#ppt_h/10"/>
                                          </p:val>
                                        </p:tav>
                                        <p:tav tm="50000">
                                          <p:val>
                                            <p:strVal val="#ppt_h+.01"/>
                                          </p:val>
                                        </p:tav>
                                        <p:tav tm="100000">
                                          <p:val>
                                            <p:strVal val="#ppt_h"/>
                                          </p:val>
                                        </p:tav>
                                      </p:tavLst>
                                    </p:anim>
                                    <p:anim calcmode="lin" valueType="num">
                                      <p:cBhvr>
                                        <p:cTn id="25" dur="400" fill="hold"/>
                                        <p:tgtEl>
                                          <p:spTgt spid="13316"/>
                                        </p:tgtEl>
                                        <p:attrNameLst>
                                          <p:attrName>ppt_w</p:attrName>
                                        </p:attrNameLst>
                                      </p:cBhvr>
                                      <p:tavLst>
                                        <p:tav tm="0">
                                          <p:val>
                                            <p:strVal val="#ppt_w/10"/>
                                          </p:val>
                                        </p:tav>
                                        <p:tav tm="50000">
                                          <p:val>
                                            <p:strVal val="#ppt_w+.01"/>
                                          </p:val>
                                        </p:tav>
                                        <p:tav tm="100000">
                                          <p:val>
                                            <p:strVal val="#ppt_w"/>
                                          </p:val>
                                        </p:tav>
                                      </p:tavLst>
                                    </p:anim>
                                    <p:animEffect transition="in" filter="fade">
                                      <p:cBhvr>
                                        <p:cTn id="26" dur="400" tmFilter="0,0; .5, 1; 1, 1"/>
                                        <p:tgtEl>
                                          <p:spTgt spid="13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p:bldP spid="1331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27"/>
          <p:cNvSpPr txBox="1"/>
          <p:nvPr/>
        </p:nvSpPr>
        <p:spPr>
          <a:xfrm>
            <a:off x="1012825" y="176213"/>
            <a:ext cx="1706880" cy="553085"/>
          </a:xfrm>
          <a:prstGeom prst="rect">
            <a:avLst/>
          </a:prstGeom>
          <a:noFill/>
          <a:ln w="9525">
            <a:noFill/>
          </a:ln>
        </p:spPr>
        <p:txBody>
          <a:bodyPr wrap="none" anchor="t">
            <a:spAutoFit/>
          </a:bodyPr>
          <a:lstStyle/>
          <a:p>
            <a:pPr algn="l"/>
            <a:r>
              <a:rPr lang="zh-CN" altLang="en-US" sz="3000" b="1" dirty="0">
                <a:solidFill>
                  <a:schemeClr val="accent1"/>
                </a:solidFill>
                <a:latin typeface="微软雅黑" panose="020B0503020204020204" pitchFamily="34" charset="-122"/>
                <a:ea typeface="微软雅黑" panose="020B0503020204020204" pitchFamily="34" charset="-122"/>
              </a:rPr>
              <a:t>典型接受</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3315"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13316" name="TextBox 3"/>
          <p:cNvSpPr txBox="1"/>
          <p:nvPr/>
        </p:nvSpPr>
        <p:spPr>
          <a:xfrm>
            <a:off x="1174750" y="-1179512"/>
            <a:ext cx="184150" cy="554037"/>
          </a:xfrm>
          <a:prstGeom prst="rect">
            <a:avLst/>
          </a:prstGeom>
          <a:noFill/>
          <a:ln w="9525">
            <a:noFill/>
          </a:ln>
        </p:spPr>
        <p:txBody>
          <a:bodyPr wrap="none" anchor="t">
            <a:spAutoFit/>
          </a:bodyPr>
          <a:lstStyle/>
          <a:p>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769620" y="1127760"/>
            <a:ext cx="10323830" cy="4987290"/>
          </a:xfrm>
          <a:prstGeom prst="rect">
            <a:avLst/>
          </a:prstGeom>
          <a:noFill/>
        </p:spPr>
        <p:txBody>
          <a:bodyPr wrap="square" rtlCol="0">
            <a:noAutofit/>
          </a:bodyPr>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1"/>
          <a:stretch>
            <a:fillRect/>
          </a:stretch>
        </p:blipFill>
        <p:spPr>
          <a:xfrm>
            <a:off x="553720" y="1196975"/>
            <a:ext cx="11548110" cy="1314450"/>
          </a:xfrm>
          <a:prstGeom prst="rect">
            <a:avLst/>
          </a:prstGeom>
        </p:spPr>
      </p:pic>
      <p:sp>
        <p:nvSpPr>
          <p:cNvPr id="3" name="文本框 2"/>
          <p:cNvSpPr txBox="1"/>
          <p:nvPr/>
        </p:nvSpPr>
        <p:spPr>
          <a:xfrm>
            <a:off x="779145" y="2786380"/>
            <a:ext cx="11102340" cy="3034665"/>
          </a:xfrm>
          <a:prstGeom prst="rect">
            <a:avLst/>
          </a:prstGeom>
        </p:spPr>
        <p:txBody>
          <a:bodyPr>
            <a:noAutofit/>
          </a:bodyPr>
          <a:p>
            <a:pPr marL="0" lvl="1">
              <a:lnSpc>
                <a:spcPct val="150000"/>
              </a:lnSpc>
              <a:spcBef>
                <a:spcPct val="0"/>
              </a:spcBef>
              <a:spcAft>
                <a:spcPct val="0"/>
              </a:spcAft>
              <a:buFont typeface="Arial" panose="020B0604020202020204"/>
            </a:pPr>
            <a:r>
              <a:rPr lang="zh-CN" altLang="en-US" sz="1800" b="0" i="0" dirty="0">
                <a:solidFill>
                  <a:schemeClr val="accent1"/>
                </a:solidFill>
                <a:latin typeface="微软雅黑" panose="020B0503020204020204" pitchFamily="34" charset="-122"/>
                <a:ea typeface="微软雅黑" panose="020B0503020204020204" pitchFamily="34" charset="-122"/>
                <a:cs typeface="+mn-ea"/>
              </a:rPr>
              <a:t>ε：一个固定的硬阈值（例如 0.01～0.25，实验中可变）</a:t>
            </a:r>
            <a:endParaRPr lang="zh-CN" altLang="en-US" sz="1800" b="0" i="0" dirty="0">
              <a:solidFill>
                <a:schemeClr val="accent1"/>
              </a:solidFill>
              <a:latin typeface="微软雅黑" panose="020B0503020204020204" pitchFamily="34" charset="-122"/>
              <a:ea typeface="微软雅黑" panose="020B0503020204020204" pitchFamily="34" charset="-122"/>
              <a:cs typeface="+mn-ea"/>
            </a:endParaRPr>
          </a:p>
          <a:p>
            <a:pPr marL="0" lvl="1">
              <a:lnSpc>
                <a:spcPct val="150000"/>
              </a:lnSpc>
              <a:spcBef>
                <a:spcPct val="0"/>
              </a:spcBef>
              <a:spcAft>
                <a:spcPct val="0"/>
              </a:spcAft>
              <a:buFont typeface="Arial" panose="020B0604020202020204"/>
            </a:pPr>
            <a:r>
              <a:rPr lang="zh-CN" altLang="en-US" sz="1800" b="0" i="0" dirty="0">
                <a:solidFill>
                  <a:schemeClr val="accent1"/>
                </a:solidFill>
                <a:latin typeface="微软雅黑" panose="020B0503020204020204" pitchFamily="34" charset="-122"/>
                <a:ea typeface="微软雅黑" panose="020B0503020204020204" pitchFamily="34" charset="-122"/>
                <a:cs typeface="+mn-ea"/>
              </a:rPr>
              <a:t>δ·exp(-H)：一个依赖熵的阈值，其中 H 是原始模型在当前上下文下预测分布的熵，δ 是一个缩放超参数</a:t>
            </a:r>
            <a:endParaRPr lang="zh-CN" altLang="en-US" sz="1800" b="0" i="0" dirty="0">
              <a:solidFill>
                <a:schemeClr val="accent1"/>
              </a:solidFill>
              <a:latin typeface="微软雅黑" panose="020B0503020204020204" pitchFamily="34" charset="-122"/>
              <a:ea typeface="微软雅黑" panose="020B0503020204020204" pitchFamily="34" charset="-122"/>
              <a:cs typeface="+mn-ea"/>
            </a:endParaRPr>
          </a:p>
          <a:p>
            <a:pPr marL="0" indent="0">
              <a:lnSpc>
                <a:spcPct val="150000"/>
              </a:lnSpc>
              <a:spcBef>
                <a:spcPts val="900"/>
              </a:spcBef>
              <a:spcAft>
                <a:spcPts val="900"/>
              </a:spcAft>
            </a:pPr>
            <a:r>
              <a:rPr lang="zh-CN" altLang="en-US" sz="1800" b="0" i="0" dirty="0">
                <a:solidFill>
                  <a:schemeClr val="accent1"/>
                </a:solidFill>
                <a:latin typeface="微软雅黑" panose="020B0503020204020204" pitchFamily="34" charset="-122"/>
                <a:ea typeface="微软雅黑" panose="020B0503020204020204" pitchFamily="34" charset="-122"/>
                <a:cs typeface="+mn-ea"/>
              </a:rPr>
              <a:t>条件成立时，接受该令牌。 只有候选序列中的每个令牌都满足此条件，整个前缀才会被接受</a:t>
            </a:r>
            <a:endParaRPr lang="zh-CN" altLang="en-US" sz="1800" b="0" i="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3315"/>
                                        </p:tgtEl>
                                        <p:attrNameLst>
                                          <p:attrName>style.visibility</p:attrName>
                                        </p:attrNameLst>
                                      </p:cBhvr>
                                      <p:to>
                                        <p:strVal val="visible"/>
                                      </p:to>
                                    </p:set>
                                    <p:anim calcmode="lin" valueType="num">
                                      <p:cBhvr>
                                        <p:cTn id="7" dur="300" fill="hold"/>
                                        <p:tgtEl>
                                          <p:spTgt spid="13315"/>
                                        </p:tgtEl>
                                        <p:attrNameLst>
                                          <p:attrName>ppt_w</p:attrName>
                                        </p:attrNameLst>
                                      </p:cBhvr>
                                      <p:tavLst>
                                        <p:tav tm="0">
                                          <p:val>
                                            <p:fltVal val="0"/>
                                          </p:val>
                                        </p:tav>
                                        <p:tav tm="100000">
                                          <p:val>
                                            <p:strVal val="#ppt_w"/>
                                          </p:val>
                                        </p:tav>
                                      </p:tavLst>
                                    </p:anim>
                                    <p:anim calcmode="lin" valueType="num">
                                      <p:cBhvr>
                                        <p:cTn id="8" dur="300" fill="hold"/>
                                        <p:tgtEl>
                                          <p:spTgt spid="13315"/>
                                        </p:tgtEl>
                                        <p:attrNameLst>
                                          <p:attrName>ppt_h</p:attrName>
                                        </p:attrNameLst>
                                      </p:cBhvr>
                                      <p:tavLst>
                                        <p:tav tm="0">
                                          <p:val>
                                            <p:fltVal val="0"/>
                                          </p:val>
                                        </p:tav>
                                        <p:tav tm="100000">
                                          <p:val>
                                            <p:strVal val="#ppt_h"/>
                                          </p:val>
                                        </p:tav>
                                      </p:tavLst>
                                    </p:anim>
                                    <p:anim calcmode="lin" valueType="num">
                                      <p:cBhvr>
                                        <p:cTn id="9" dur="300" fill="hold"/>
                                        <p:tgtEl>
                                          <p:spTgt spid="13315"/>
                                        </p:tgtEl>
                                        <p:attrNameLst>
                                          <p:attrName>style.rotation</p:attrName>
                                        </p:attrNameLst>
                                      </p:cBhvr>
                                      <p:tavLst>
                                        <p:tav tm="0">
                                          <p:val>
                                            <p:fltVal val="90"/>
                                          </p:val>
                                        </p:tav>
                                        <p:tav tm="100000">
                                          <p:val>
                                            <p:fltVal val="0"/>
                                          </p:val>
                                        </p:tav>
                                      </p:tavLst>
                                    </p:anim>
                                    <p:animEffect transition="in" filter="fade">
                                      <p:cBhvr>
                                        <p:cTn id="10" dur="300"/>
                                        <p:tgtEl>
                                          <p:spTgt spid="13315"/>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3314"/>
                                        </p:tgtEl>
                                        <p:attrNameLst>
                                          <p:attrName>style.visibility</p:attrName>
                                        </p:attrNameLst>
                                      </p:cBhvr>
                                      <p:to>
                                        <p:strVal val="visible"/>
                                      </p:to>
                                    </p:set>
                                    <p:anim calcmode="lin" valueType="num">
                                      <p:cBhvr>
                                        <p:cTn id="14" dur="400" fill="hold"/>
                                        <p:tgtEl>
                                          <p:spTgt spid="1331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3314"/>
                                        </p:tgtEl>
                                        <p:attrNameLst>
                                          <p:attrName>ppt_y</p:attrName>
                                        </p:attrNameLst>
                                      </p:cBhvr>
                                      <p:tavLst>
                                        <p:tav tm="0">
                                          <p:val>
                                            <p:strVal val="#ppt_y"/>
                                          </p:val>
                                        </p:tav>
                                        <p:tav tm="100000">
                                          <p:val>
                                            <p:strVal val="#ppt_y"/>
                                          </p:val>
                                        </p:tav>
                                      </p:tavLst>
                                    </p:anim>
                                    <p:anim calcmode="lin" valueType="num">
                                      <p:cBhvr>
                                        <p:cTn id="16" dur="400" fill="hold"/>
                                        <p:tgtEl>
                                          <p:spTgt spid="1331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331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3314"/>
                                        </p:tgtEl>
                                      </p:cBhvr>
                                    </p:animEffect>
                                  </p:childTnLst>
                                </p:cTn>
                              </p:par>
                            </p:childTnLst>
                          </p:cTn>
                        </p:par>
                        <p:par>
                          <p:cTn id="19" fill="hold">
                            <p:stCondLst>
                              <p:cond delay="819"/>
                            </p:stCondLst>
                            <p:childTnLst>
                              <p:par>
                                <p:cTn id="20" presetID="41" presetClass="entr" presetSubtype="0" fill="hold" grpId="0" nodeType="afterEffect" nodePh="1">
                                  <p:stCondLst>
                                    <p:cond delay="0"/>
                                  </p:stCondLst>
                                  <p:endCondLst>
                                    <p:cond evt="begin" delay="0">
                                      <p:tn val="20"/>
                                    </p:cond>
                                  </p:endCondLst>
                                  <p:iterate type="lt">
                                    <p:tmPct val="10000"/>
                                  </p:iterate>
                                  <p:childTnLst>
                                    <p:set>
                                      <p:cBhvr>
                                        <p:cTn id="21" dur="1" fill="hold">
                                          <p:stCondLst>
                                            <p:cond delay="0"/>
                                          </p:stCondLst>
                                        </p:cTn>
                                        <p:tgtEl>
                                          <p:spTgt spid="13316"/>
                                        </p:tgtEl>
                                        <p:attrNameLst>
                                          <p:attrName>style.visibility</p:attrName>
                                        </p:attrNameLst>
                                      </p:cBhvr>
                                      <p:to>
                                        <p:strVal val="visible"/>
                                      </p:to>
                                    </p:set>
                                    <p:anim calcmode="lin" valueType="num">
                                      <p:cBhvr>
                                        <p:cTn id="22" dur="400" fill="hold"/>
                                        <p:tgtEl>
                                          <p:spTgt spid="13316"/>
                                        </p:tgtEl>
                                        <p:attrNameLst>
                                          <p:attrName>ppt_x</p:attrName>
                                        </p:attrNameLst>
                                      </p:cBhvr>
                                      <p:tavLst>
                                        <p:tav tm="0">
                                          <p:val>
                                            <p:strVal val="#ppt_x"/>
                                          </p:val>
                                        </p:tav>
                                        <p:tav tm="50000">
                                          <p:val>
                                            <p:strVal val="#ppt_x+.1"/>
                                          </p:val>
                                        </p:tav>
                                        <p:tav tm="100000">
                                          <p:val>
                                            <p:strVal val="#ppt_x"/>
                                          </p:val>
                                        </p:tav>
                                      </p:tavLst>
                                    </p:anim>
                                    <p:anim calcmode="lin" valueType="num">
                                      <p:cBhvr>
                                        <p:cTn id="23" dur="400" fill="hold"/>
                                        <p:tgtEl>
                                          <p:spTgt spid="13316"/>
                                        </p:tgtEl>
                                        <p:attrNameLst>
                                          <p:attrName>ppt_y</p:attrName>
                                        </p:attrNameLst>
                                      </p:cBhvr>
                                      <p:tavLst>
                                        <p:tav tm="0">
                                          <p:val>
                                            <p:strVal val="#ppt_y"/>
                                          </p:val>
                                        </p:tav>
                                        <p:tav tm="100000">
                                          <p:val>
                                            <p:strVal val="#ppt_y"/>
                                          </p:val>
                                        </p:tav>
                                      </p:tavLst>
                                    </p:anim>
                                    <p:anim calcmode="lin" valueType="num">
                                      <p:cBhvr>
                                        <p:cTn id="24" dur="400" fill="hold"/>
                                        <p:tgtEl>
                                          <p:spTgt spid="13316"/>
                                        </p:tgtEl>
                                        <p:attrNameLst>
                                          <p:attrName>ppt_h</p:attrName>
                                        </p:attrNameLst>
                                      </p:cBhvr>
                                      <p:tavLst>
                                        <p:tav tm="0">
                                          <p:val>
                                            <p:strVal val="#ppt_h/10"/>
                                          </p:val>
                                        </p:tav>
                                        <p:tav tm="50000">
                                          <p:val>
                                            <p:strVal val="#ppt_h+.01"/>
                                          </p:val>
                                        </p:tav>
                                        <p:tav tm="100000">
                                          <p:val>
                                            <p:strVal val="#ppt_h"/>
                                          </p:val>
                                        </p:tav>
                                      </p:tavLst>
                                    </p:anim>
                                    <p:anim calcmode="lin" valueType="num">
                                      <p:cBhvr>
                                        <p:cTn id="25" dur="400" fill="hold"/>
                                        <p:tgtEl>
                                          <p:spTgt spid="13316"/>
                                        </p:tgtEl>
                                        <p:attrNameLst>
                                          <p:attrName>ppt_w</p:attrName>
                                        </p:attrNameLst>
                                      </p:cBhvr>
                                      <p:tavLst>
                                        <p:tav tm="0">
                                          <p:val>
                                            <p:strVal val="#ppt_w/10"/>
                                          </p:val>
                                        </p:tav>
                                        <p:tav tm="50000">
                                          <p:val>
                                            <p:strVal val="#ppt_w+.01"/>
                                          </p:val>
                                        </p:tav>
                                        <p:tav tm="100000">
                                          <p:val>
                                            <p:strVal val="#ppt_w"/>
                                          </p:val>
                                        </p:tav>
                                      </p:tavLst>
                                    </p:anim>
                                    <p:animEffect transition="in" filter="fade">
                                      <p:cBhvr>
                                        <p:cTn id="26" dur="400" tmFilter="0,0; .5, 1; 1, 1"/>
                                        <p:tgtEl>
                                          <p:spTgt spid="13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p:bldP spid="133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27"/>
          <p:cNvSpPr txBox="1"/>
          <p:nvPr/>
        </p:nvSpPr>
        <p:spPr>
          <a:xfrm>
            <a:off x="1012825" y="176213"/>
            <a:ext cx="1706880" cy="553085"/>
          </a:xfrm>
          <a:prstGeom prst="rect">
            <a:avLst/>
          </a:prstGeom>
          <a:noFill/>
          <a:ln w="9525">
            <a:noFill/>
          </a:ln>
        </p:spPr>
        <p:txBody>
          <a:bodyPr wrap="none" anchor="t">
            <a:spAutoFit/>
          </a:bodyPr>
          <a:lstStyle/>
          <a:p>
            <a:pPr algn="l"/>
            <a:r>
              <a:rPr lang="zh-CN" altLang="en-US" sz="3000" b="1" dirty="0">
                <a:solidFill>
                  <a:schemeClr val="accent1"/>
                </a:solidFill>
                <a:latin typeface="微软雅黑" panose="020B0503020204020204" pitchFamily="34" charset="-122"/>
                <a:ea typeface="微软雅黑" panose="020B0503020204020204" pitchFamily="34" charset="-122"/>
              </a:rPr>
              <a:t>典型接受</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3315"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13316" name="TextBox 3"/>
          <p:cNvSpPr txBox="1"/>
          <p:nvPr/>
        </p:nvSpPr>
        <p:spPr>
          <a:xfrm>
            <a:off x="1174750" y="-1179512"/>
            <a:ext cx="184150" cy="554037"/>
          </a:xfrm>
          <a:prstGeom prst="rect">
            <a:avLst/>
          </a:prstGeom>
          <a:noFill/>
          <a:ln w="9525">
            <a:noFill/>
          </a:ln>
        </p:spPr>
        <p:txBody>
          <a:bodyPr wrap="none" anchor="t">
            <a:spAutoFit/>
          </a:bodyPr>
          <a:lstStyle/>
          <a:p>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769620" y="1127760"/>
            <a:ext cx="10323830" cy="4987290"/>
          </a:xfrm>
          <a:prstGeom prst="rect">
            <a:avLst/>
          </a:prstGeom>
          <a:noFill/>
        </p:spPr>
        <p:txBody>
          <a:bodyPr wrap="square" rtlCol="0">
            <a:noAutofit/>
          </a:bodyPr>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1"/>
          <a:stretch>
            <a:fillRect/>
          </a:stretch>
        </p:blipFill>
        <p:spPr>
          <a:xfrm>
            <a:off x="553720" y="1196975"/>
            <a:ext cx="11548110" cy="1314450"/>
          </a:xfrm>
          <a:prstGeom prst="rect">
            <a:avLst/>
          </a:prstGeom>
        </p:spPr>
      </p:pic>
      <p:sp>
        <p:nvSpPr>
          <p:cNvPr id="3" name="文本框 2"/>
          <p:cNvSpPr txBox="1"/>
          <p:nvPr/>
        </p:nvSpPr>
        <p:spPr>
          <a:xfrm>
            <a:off x="697865" y="2786380"/>
            <a:ext cx="11102340" cy="3034665"/>
          </a:xfrm>
          <a:prstGeom prst="rect">
            <a:avLst/>
          </a:prstGeom>
        </p:spPr>
        <p:txBody>
          <a:bodyPr>
            <a:noAutofit/>
          </a:bodyPr>
          <a:p>
            <a:pPr marL="0" lvl="1">
              <a:lnSpc>
                <a:spcPct val="150000"/>
              </a:lnSpc>
              <a:spcBef>
                <a:spcPct val="0"/>
              </a:spcBef>
              <a:spcAft>
                <a:spcPct val="0"/>
              </a:spcAft>
              <a:buFont typeface="Arial" panose="020B0604020202020204"/>
            </a:pPr>
            <a:r>
              <a:rPr lang="zh-CN" altLang="en-US" sz="1800" b="0" i="0" dirty="0">
                <a:solidFill>
                  <a:schemeClr val="accent1"/>
                </a:solidFill>
                <a:latin typeface="微软雅黑" panose="020B0503020204020204" pitchFamily="34" charset="-122"/>
                <a:ea typeface="微软雅黑" panose="020B0503020204020204" pitchFamily="34" charset="-122"/>
                <a:cs typeface="+mn-ea"/>
              </a:rPr>
              <a:t>硬阈值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ε </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的作用：保证绝对低概率的令牌永远不会被接受。例如设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ε = 0.01，</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那么概率低于 1% 的令牌直接拒绝，避免出现明显错误或无意义的词</a:t>
            </a:r>
            <a:endParaRPr lang="zh-CN" altLang="en-US" sz="1800" b="0" i="0" dirty="0">
              <a:solidFill>
                <a:schemeClr val="accent1"/>
              </a:solidFill>
              <a:latin typeface="微软雅黑" panose="020B0503020204020204" pitchFamily="34" charset="-122"/>
              <a:ea typeface="微软雅黑" panose="020B0503020204020204" pitchFamily="34" charset="-122"/>
              <a:cs typeface="+mn-ea"/>
            </a:endParaRPr>
          </a:p>
          <a:p>
            <a:pPr marL="0" lvl="1">
              <a:lnSpc>
                <a:spcPct val="150000"/>
              </a:lnSpc>
              <a:spcBef>
                <a:spcPct val="0"/>
              </a:spcBef>
              <a:spcAft>
                <a:spcPct val="0"/>
              </a:spcAft>
              <a:buFont typeface="Arial" panose="020B0604020202020204"/>
            </a:pPr>
            <a:r>
              <a:rPr lang="zh-CN" altLang="en-US" sz="1800" b="0" i="0" dirty="0">
                <a:solidFill>
                  <a:schemeClr val="accent1"/>
                </a:solidFill>
                <a:latin typeface="微软雅黑" panose="020B0503020204020204" pitchFamily="34" charset="-122"/>
                <a:ea typeface="微软雅黑" panose="020B0503020204020204" pitchFamily="34" charset="-122"/>
                <a:cs typeface="+mn-ea"/>
              </a:rPr>
              <a:t>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δ·exp(-H)</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的作用：</a:t>
            </a:r>
            <a:endParaRPr lang="zh-CN" altLang="en-US" sz="1800" b="0" i="0" dirty="0">
              <a:solidFill>
                <a:schemeClr val="accent1"/>
              </a:solidFill>
              <a:latin typeface="微软雅黑" panose="020B0503020204020204" pitchFamily="34" charset="-122"/>
              <a:ea typeface="微软雅黑" panose="020B0503020204020204" pitchFamily="34" charset="-122"/>
              <a:cs typeface="+mn-ea"/>
            </a:endParaRPr>
          </a:p>
          <a:p>
            <a:pPr marL="0" lvl="1">
              <a:lnSpc>
                <a:spcPct val="150000"/>
              </a:lnSpc>
              <a:spcBef>
                <a:spcPct val="0"/>
              </a:spcBef>
              <a:spcAft>
                <a:spcPct val="0"/>
              </a:spcAft>
              <a:buFont typeface="Arial" panose="020B0604020202020204"/>
            </a:pPr>
            <a:r>
              <a:rPr lang="en-US" altLang="zh-CN" sz="1800" b="0" i="0" dirty="0">
                <a:solidFill>
                  <a:schemeClr val="accent1"/>
                </a:solidFill>
                <a:latin typeface="微软雅黑" panose="020B0503020204020204" pitchFamily="34" charset="-122"/>
                <a:ea typeface="微软雅黑" panose="020B0503020204020204" pitchFamily="34" charset="-122"/>
                <a:cs typeface="+mn-ea"/>
              </a:rPr>
              <a:t>H </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大 → 分布平坦 → 模型不确定哪个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token </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最好 → 很多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token </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都有合理概率 → 阈值应降低（因为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exp(-H) </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变小），从而更容易接受更多候选</a:t>
            </a:r>
            <a:endParaRPr lang="en-US" altLang="zh-CN" sz="1800" b="0" i="0" dirty="0">
              <a:solidFill>
                <a:schemeClr val="accent1"/>
              </a:solidFill>
              <a:latin typeface="微软雅黑" panose="020B0503020204020204" pitchFamily="34" charset="-122"/>
              <a:ea typeface="微软雅黑" panose="020B0503020204020204" pitchFamily="34" charset="-122"/>
              <a:cs typeface="+mn-ea"/>
            </a:endParaRPr>
          </a:p>
          <a:p>
            <a:pPr marL="0" lvl="1">
              <a:lnSpc>
                <a:spcPct val="150000"/>
              </a:lnSpc>
              <a:spcBef>
                <a:spcPct val="0"/>
              </a:spcBef>
              <a:spcAft>
                <a:spcPct val="0"/>
              </a:spcAft>
              <a:buFont typeface="Arial" panose="020B0604020202020204"/>
            </a:pPr>
            <a:r>
              <a:rPr lang="en-US" altLang="zh-CN" sz="1800" b="0" i="0" dirty="0">
                <a:solidFill>
                  <a:schemeClr val="accent1"/>
                </a:solidFill>
                <a:latin typeface="微软雅黑" panose="020B0503020204020204" pitchFamily="34" charset="-122"/>
                <a:ea typeface="微软雅黑" panose="020B0503020204020204" pitchFamily="34" charset="-122"/>
                <a:cs typeface="+mn-ea"/>
              </a:rPr>
              <a:t>H </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小 → 分布尖锐 → 模型非常确定 → 阈值应升高（因为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exp(-H) </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变大），只接受高概率的 </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token</a:t>
            </a:r>
            <a:endParaRPr lang="en-US" altLang="zh-CN" sz="1800" b="0" i="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3315"/>
                                        </p:tgtEl>
                                        <p:attrNameLst>
                                          <p:attrName>style.visibility</p:attrName>
                                        </p:attrNameLst>
                                      </p:cBhvr>
                                      <p:to>
                                        <p:strVal val="visible"/>
                                      </p:to>
                                    </p:set>
                                    <p:anim calcmode="lin" valueType="num">
                                      <p:cBhvr>
                                        <p:cTn id="7" dur="300" fill="hold"/>
                                        <p:tgtEl>
                                          <p:spTgt spid="13315"/>
                                        </p:tgtEl>
                                        <p:attrNameLst>
                                          <p:attrName>ppt_w</p:attrName>
                                        </p:attrNameLst>
                                      </p:cBhvr>
                                      <p:tavLst>
                                        <p:tav tm="0">
                                          <p:val>
                                            <p:fltVal val="0"/>
                                          </p:val>
                                        </p:tav>
                                        <p:tav tm="100000">
                                          <p:val>
                                            <p:strVal val="#ppt_w"/>
                                          </p:val>
                                        </p:tav>
                                      </p:tavLst>
                                    </p:anim>
                                    <p:anim calcmode="lin" valueType="num">
                                      <p:cBhvr>
                                        <p:cTn id="8" dur="300" fill="hold"/>
                                        <p:tgtEl>
                                          <p:spTgt spid="13315"/>
                                        </p:tgtEl>
                                        <p:attrNameLst>
                                          <p:attrName>ppt_h</p:attrName>
                                        </p:attrNameLst>
                                      </p:cBhvr>
                                      <p:tavLst>
                                        <p:tav tm="0">
                                          <p:val>
                                            <p:fltVal val="0"/>
                                          </p:val>
                                        </p:tav>
                                        <p:tav tm="100000">
                                          <p:val>
                                            <p:strVal val="#ppt_h"/>
                                          </p:val>
                                        </p:tav>
                                      </p:tavLst>
                                    </p:anim>
                                    <p:anim calcmode="lin" valueType="num">
                                      <p:cBhvr>
                                        <p:cTn id="9" dur="300" fill="hold"/>
                                        <p:tgtEl>
                                          <p:spTgt spid="13315"/>
                                        </p:tgtEl>
                                        <p:attrNameLst>
                                          <p:attrName>style.rotation</p:attrName>
                                        </p:attrNameLst>
                                      </p:cBhvr>
                                      <p:tavLst>
                                        <p:tav tm="0">
                                          <p:val>
                                            <p:fltVal val="90"/>
                                          </p:val>
                                        </p:tav>
                                        <p:tav tm="100000">
                                          <p:val>
                                            <p:fltVal val="0"/>
                                          </p:val>
                                        </p:tav>
                                      </p:tavLst>
                                    </p:anim>
                                    <p:animEffect transition="in" filter="fade">
                                      <p:cBhvr>
                                        <p:cTn id="10" dur="300"/>
                                        <p:tgtEl>
                                          <p:spTgt spid="13315"/>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3314"/>
                                        </p:tgtEl>
                                        <p:attrNameLst>
                                          <p:attrName>style.visibility</p:attrName>
                                        </p:attrNameLst>
                                      </p:cBhvr>
                                      <p:to>
                                        <p:strVal val="visible"/>
                                      </p:to>
                                    </p:set>
                                    <p:anim calcmode="lin" valueType="num">
                                      <p:cBhvr>
                                        <p:cTn id="14" dur="400" fill="hold"/>
                                        <p:tgtEl>
                                          <p:spTgt spid="1331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3314"/>
                                        </p:tgtEl>
                                        <p:attrNameLst>
                                          <p:attrName>ppt_y</p:attrName>
                                        </p:attrNameLst>
                                      </p:cBhvr>
                                      <p:tavLst>
                                        <p:tav tm="0">
                                          <p:val>
                                            <p:strVal val="#ppt_y"/>
                                          </p:val>
                                        </p:tav>
                                        <p:tav tm="100000">
                                          <p:val>
                                            <p:strVal val="#ppt_y"/>
                                          </p:val>
                                        </p:tav>
                                      </p:tavLst>
                                    </p:anim>
                                    <p:anim calcmode="lin" valueType="num">
                                      <p:cBhvr>
                                        <p:cTn id="16" dur="400" fill="hold"/>
                                        <p:tgtEl>
                                          <p:spTgt spid="1331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331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3314"/>
                                        </p:tgtEl>
                                      </p:cBhvr>
                                    </p:animEffect>
                                  </p:childTnLst>
                                </p:cTn>
                              </p:par>
                            </p:childTnLst>
                          </p:cTn>
                        </p:par>
                        <p:par>
                          <p:cTn id="19" fill="hold">
                            <p:stCondLst>
                              <p:cond delay="819"/>
                            </p:stCondLst>
                            <p:childTnLst>
                              <p:par>
                                <p:cTn id="20" presetID="41" presetClass="entr" presetSubtype="0" fill="hold" grpId="0" nodeType="afterEffect" nodePh="1">
                                  <p:stCondLst>
                                    <p:cond delay="0"/>
                                  </p:stCondLst>
                                  <p:endCondLst>
                                    <p:cond evt="begin" delay="0">
                                      <p:tn val="20"/>
                                    </p:cond>
                                  </p:endCondLst>
                                  <p:iterate type="lt">
                                    <p:tmPct val="10000"/>
                                  </p:iterate>
                                  <p:childTnLst>
                                    <p:set>
                                      <p:cBhvr>
                                        <p:cTn id="21" dur="1" fill="hold">
                                          <p:stCondLst>
                                            <p:cond delay="0"/>
                                          </p:stCondLst>
                                        </p:cTn>
                                        <p:tgtEl>
                                          <p:spTgt spid="13316"/>
                                        </p:tgtEl>
                                        <p:attrNameLst>
                                          <p:attrName>style.visibility</p:attrName>
                                        </p:attrNameLst>
                                      </p:cBhvr>
                                      <p:to>
                                        <p:strVal val="visible"/>
                                      </p:to>
                                    </p:set>
                                    <p:anim calcmode="lin" valueType="num">
                                      <p:cBhvr>
                                        <p:cTn id="22" dur="400" fill="hold"/>
                                        <p:tgtEl>
                                          <p:spTgt spid="13316"/>
                                        </p:tgtEl>
                                        <p:attrNameLst>
                                          <p:attrName>ppt_x</p:attrName>
                                        </p:attrNameLst>
                                      </p:cBhvr>
                                      <p:tavLst>
                                        <p:tav tm="0">
                                          <p:val>
                                            <p:strVal val="#ppt_x"/>
                                          </p:val>
                                        </p:tav>
                                        <p:tav tm="50000">
                                          <p:val>
                                            <p:strVal val="#ppt_x+.1"/>
                                          </p:val>
                                        </p:tav>
                                        <p:tav tm="100000">
                                          <p:val>
                                            <p:strVal val="#ppt_x"/>
                                          </p:val>
                                        </p:tav>
                                      </p:tavLst>
                                    </p:anim>
                                    <p:anim calcmode="lin" valueType="num">
                                      <p:cBhvr>
                                        <p:cTn id="23" dur="400" fill="hold"/>
                                        <p:tgtEl>
                                          <p:spTgt spid="13316"/>
                                        </p:tgtEl>
                                        <p:attrNameLst>
                                          <p:attrName>ppt_y</p:attrName>
                                        </p:attrNameLst>
                                      </p:cBhvr>
                                      <p:tavLst>
                                        <p:tav tm="0">
                                          <p:val>
                                            <p:strVal val="#ppt_y"/>
                                          </p:val>
                                        </p:tav>
                                        <p:tav tm="100000">
                                          <p:val>
                                            <p:strVal val="#ppt_y"/>
                                          </p:val>
                                        </p:tav>
                                      </p:tavLst>
                                    </p:anim>
                                    <p:anim calcmode="lin" valueType="num">
                                      <p:cBhvr>
                                        <p:cTn id="24" dur="400" fill="hold"/>
                                        <p:tgtEl>
                                          <p:spTgt spid="13316"/>
                                        </p:tgtEl>
                                        <p:attrNameLst>
                                          <p:attrName>ppt_h</p:attrName>
                                        </p:attrNameLst>
                                      </p:cBhvr>
                                      <p:tavLst>
                                        <p:tav tm="0">
                                          <p:val>
                                            <p:strVal val="#ppt_h/10"/>
                                          </p:val>
                                        </p:tav>
                                        <p:tav tm="50000">
                                          <p:val>
                                            <p:strVal val="#ppt_h+.01"/>
                                          </p:val>
                                        </p:tav>
                                        <p:tav tm="100000">
                                          <p:val>
                                            <p:strVal val="#ppt_h"/>
                                          </p:val>
                                        </p:tav>
                                      </p:tavLst>
                                    </p:anim>
                                    <p:anim calcmode="lin" valueType="num">
                                      <p:cBhvr>
                                        <p:cTn id="25" dur="400" fill="hold"/>
                                        <p:tgtEl>
                                          <p:spTgt spid="13316"/>
                                        </p:tgtEl>
                                        <p:attrNameLst>
                                          <p:attrName>ppt_w</p:attrName>
                                        </p:attrNameLst>
                                      </p:cBhvr>
                                      <p:tavLst>
                                        <p:tav tm="0">
                                          <p:val>
                                            <p:strVal val="#ppt_w/10"/>
                                          </p:val>
                                        </p:tav>
                                        <p:tav tm="50000">
                                          <p:val>
                                            <p:strVal val="#ppt_w+.01"/>
                                          </p:val>
                                        </p:tav>
                                        <p:tav tm="100000">
                                          <p:val>
                                            <p:strVal val="#ppt_w"/>
                                          </p:val>
                                        </p:tav>
                                      </p:tavLst>
                                    </p:anim>
                                    <p:animEffect transition="in" filter="fade">
                                      <p:cBhvr>
                                        <p:cTn id="26" dur="400" tmFilter="0,0; .5, 1; 1, 1"/>
                                        <p:tgtEl>
                                          <p:spTgt spid="13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p:bldP spid="1331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27"/>
          <p:cNvSpPr txBox="1"/>
          <p:nvPr/>
        </p:nvSpPr>
        <p:spPr>
          <a:xfrm>
            <a:off x="1012825" y="176213"/>
            <a:ext cx="1706880" cy="553085"/>
          </a:xfrm>
          <a:prstGeom prst="rect">
            <a:avLst/>
          </a:prstGeom>
          <a:noFill/>
          <a:ln w="9525">
            <a:noFill/>
          </a:ln>
        </p:spPr>
        <p:txBody>
          <a:bodyPr wrap="none" anchor="t">
            <a:spAutoFit/>
          </a:bodyPr>
          <a:lstStyle/>
          <a:p>
            <a:pPr algn="l"/>
            <a:r>
              <a:rPr lang="zh-CN" altLang="en-US" sz="3000" b="1" dirty="0">
                <a:solidFill>
                  <a:schemeClr val="accent1"/>
                </a:solidFill>
                <a:latin typeface="微软雅黑" panose="020B0503020204020204" pitchFamily="34" charset="-122"/>
                <a:ea typeface="微软雅黑" panose="020B0503020204020204" pitchFamily="34" charset="-122"/>
              </a:rPr>
              <a:t>训练策略</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3315"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13316" name="TextBox 3"/>
          <p:cNvSpPr txBox="1"/>
          <p:nvPr/>
        </p:nvSpPr>
        <p:spPr>
          <a:xfrm>
            <a:off x="1174750" y="-1179512"/>
            <a:ext cx="184150" cy="554037"/>
          </a:xfrm>
          <a:prstGeom prst="rect">
            <a:avLst/>
          </a:prstGeom>
          <a:noFill/>
          <a:ln w="9525">
            <a:noFill/>
          </a:ln>
        </p:spPr>
        <p:txBody>
          <a:bodyPr wrap="none" anchor="t">
            <a:spAutoFit/>
          </a:bodyPr>
          <a:lstStyle/>
          <a:p>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769620" y="1127760"/>
            <a:ext cx="5038090" cy="4829810"/>
          </a:xfrm>
          <a:prstGeom prst="rect">
            <a:avLst/>
          </a:prstGeom>
          <a:noFill/>
        </p:spPr>
        <p:txBody>
          <a:bodyPr wrap="square" rtlCol="0">
            <a:noAutofit/>
          </a:bodyPr>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p:txBody>
      </p:sp>
      <p:sp>
        <p:nvSpPr>
          <p:cNvPr id="2" name="文本框 1"/>
          <p:cNvSpPr txBox="1"/>
          <p:nvPr/>
        </p:nvSpPr>
        <p:spPr>
          <a:xfrm>
            <a:off x="1129665" y="1125220"/>
            <a:ext cx="8815070" cy="3930015"/>
          </a:xfrm>
          <a:prstGeom prst="rect">
            <a:avLst/>
          </a:prstGeom>
        </p:spPr>
        <p:txBody>
          <a:bodyPr>
            <a:noAutofit/>
          </a:bodyPr>
          <a:p>
            <a:pPr algn="l">
              <a:lnSpc>
                <a:spcPct val="150000"/>
              </a:lnSpc>
              <a:buClrTx/>
              <a:buSzTx/>
              <a:buNone/>
            </a:pPr>
            <a:r>
              <a:rPr lang="zh-CN" altLang="en-US" sz="1800" dirty="0">
                <a:solidFill>
                  <a:schemeClr val="accent1"/>
                </a:solidFill>
                <a:latin typeface="微软雅黑" panose="020B0503020204020204" pitchFamily="34" charset="-122"/>
                <a:ea typeface="微软雅黑" panose="020B0503020204020204" pitchFamily="34" charset="-122"/>
                <a:cs typeface="+mn-ea"/>
              </a:rPr>
              <a:t>MEDUSA-1：冻结主干</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lang="zh-CN" altLang="en-US" sz="1800" dirty="0">
                <a:solidFill>
                  <a:schemeClr val="accent1"/>
                </a:solidFill>
                <a:latin typeface="微软雅黑" panose="020B0503020204020204" pitchFamily="34" charset="-122"/>
                <a:ea typeface="微软雅黑" panose="020B0503020204020204" pitchFamily="34" charset="-122"/>
                <a:cs typeface="+mn-ea"/>
              </a:rPr>
              <a:t>原始大语言模型的所有参数被完全冻结，不参与梯度更新。只训练新增加的多个 </a:t>
            </a:r>
            <a:r>
              <a:rPr lang="en-US" altLang="zh-CN" sz="1800" dirty="0">
                <a:solidFill>
                  <a:schemeClr val="accent1"/>
                </a:solidFill>
                <a:latin typeface="微软雅黑" panose="020B0503020204020204" pitchFamily="34" charset="-122"/>
                <a:ea typeface="微软雅黑" panose="020B0503020204020204" pitchFamily="34" charset="-122"/>
                <a:cs typeface="+mn-ea"/>
              </a:rPr>
              <a:t>MLP </a:t>
            </a:r>
            <a:r>
              <a:rPr lang="zh-CN" altLang="en-US" sz="1800" dirty="0">
                <a:solidFill>
                  <a:schemeClr val="accent1"/>
                </a:solidFill>
                <a:latin typeface="微软雅黑" panose="020B0503020204020204" pitchFamily="34" charset="-122"/>
                <a:ea typeface="微软雅黑" panose="020B0503020204020204" pitchFamily="34" charset="-122"/>
                <a:cs typeface="+mn-ea"/>
              </a:rPr>
              <a:t>预测头</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lang="zh-CN" altLang="en-US" sz="1800" dirty="0">
                <a:solidFill>
                  <a:schemeClr val="accent1"/>
                </a:solidFill>
                <a:latin typeface="微软雅黑" panose="020B0503020204020204" pitchFamily="34" charset="-122"/>
                <a:ea typeface="微软雅黑" panose="020B0503020204020204" pitchFamily="34" charset="-122"/>
                <a:cs typeface="+mn-ea"/>
              </a:rPr>
              <a:t>损失函数：对每个 </a:t>
            </a:r>
            <a:r>
              <a:rPr lang="en-US" altLang="zh-CN" sz="1800" dirty="0">
                <a:solidFill>
                  <a:schemeClr val="accent1"/>
                </a:solidFill>
                <a:latin typeface="微软雅黑" panose="020B0503020204020204" pitchFamily="34" charset="-122"/>
                <a:ea typeface="微软雅黑" panose="020B0503020204020204" pitchFamily="34" charset="-122"/>
                <a:cs typeface="+mn-ea"/>
              </a:rPr>
              <a:t>Medusa Head </a:t>
            </a:r>
            <a:r>
              <a:rPr lang="zh-CN" altLang="en-US" sz="1800" dirty="0">
                <a:solidFill>
                  <a:schemeClr val="accent1"/>
                </a:solidFill>
                <a:latin typeface="微软雅黑" panose="020B0503020204020204" pitchFamily="34" charset="-122"/>
                <a:ea typeface="微软雅黑" panose="020B0503020204020204" pitchFamily="34" charset="-122"/>
                <a:cs typeface="+mn-ea"/>
              </a:rPr>
              <a:t>独立计算交叉熵损失</a:t>
            </a:r>
            <a:r>
              <a:rPr lang="en-US" altLang="zh-CN" sz="1800" dirty="0">
                <a:solidFill>
                  <a:schemeClr val="accent1"/>
                </a:solidFill>
                <a:latin typeface="微软雅黑" panose="020B0503020204020204" pitchFamily="34" charset="-122"/>
                <a:ea typeface="微软雅黑" panose="020B0503020204020204" pitchFamily="34" charset="-122"/>
                <a:cs typeface="+mn-ea"/>
              </a:rPr>
              <a:t>，</a:t>
            </a:r>
            <a:r>
              <a:rPr lang="zh-CN" altLang="en-US" sz="1800" dirty="0">
                <a:solidFill>
                  <a:schemeClr val="accent1"/>
                </a:solidFill>
                <a:latin typeface="微软雅黑" panose="020B0503020204020204" pitchFamily="34" charset="-122"/>
                <a:ea typeface="微软雅黑" panose="020B0503020204020204" pitchFamily="34" charset="-122"/>
                <a:cs typeface="+mn-ea"/>
              </a:rPr>
              <a:t>并将它们求和</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lang="zh-CN" altLang="en-US" sz="1800" dirty="0">
                <a:solidFill>
                  <a:schemeClr val="accent1"/>
                </a:solidFill>
                <a:latin typeface="微软雅黑" panose="020B0503020204020204" pitchFamily="34" charset="-122"/>
                <a:ea typeface="微软雅黑" panose="020B0503020204020204" pitchFamily="34" charset="-122"/>
                <a:cs typeface="+mn-ea"/>
              </a:rPr>
              <a:t>主模型并不知道预测头的存在，因此它吐出的隐藏状态可能并不包含最佳的预测信号，加速上限受限</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3315"/>
                                        </p:tgtEl>
                                        <p:attrNameLst>
                                          <p:attrName>style.visibility</p:attrName>
                                        </p:attrNameLst>
                                      </p:cBhvr>
                                      <p:to>
                                        <p:strVal val="visible"/>
                                      </p:to>
                                    </p:set>
                                    <p:anim calcmode="lin" valueType="num">
                                      <p:cBhvr>
                                        <p:cTn id="7" dur="300" fill="hold"/>
                                        <p:tgtEl>
                                          <p:spTgt spid="13315"/>
                                        </p:tgtEl>
                                        <p:attrNameLst>
                                          <p:attrName>ppt_w</p:attrName>
                                        </p:attrNameLst>
                                      </p:cBhvr>
                                      <p:tavLst>
                                        <p:tav tm="0">
                                          <p:val>
                                            <p:fltVal val="0"/>
                                          </p:val>
                                        </p:tav>
                                        <p:tav tm="100000">
                                          <p:val>
                                            <p:strVal val="#ppt_w"/>
                                          </p:val>
                                        </p:tav>
                                      </p:tavLst>
                                    </p:anim>
                                    <p:anim calcmode="lin" valueType="num">
                                      <p:cBhvr>
                                        <p:cTn id="8" dur="300" fill="hold"/>
                                        <p:tgtEl>
                                          <p:spTgt spid="13315"/>
                                        </p:tgtEl>
                                        <p:attrNameLst>
                                          <p:attrName>ppt_h</p:attrName>
                                        </p:attrNameLst>
                                      </p:cBhvr>
                                      <p:tavLst>
                                        <p:tav tm="0">
                                          <p:val>
                                            <p:fltVal val="0"/>
                                          </p:val>
                                        </p:tav>
                                        <p:tav tm="100000">
                                          <p:val>
                                            <p:strVal val="#ppt_h"/>
                                          </p:val>
                                        </p:tav>
                                      </p:tavLst>
                                    </p:anim>
                                    <p:anim calcmode="lin" valueType="num">
                                      <p:cBhvr>
                                        <p:cTn id="9" dur="300" fill="hold"/>
                                        <p:tgtEl>
                                          <p:spTgt spid="13315"/>
                                        </p:tgtEl>
                                        <p:attrNameLst>
                                          <p:attrName>style.rotation</p:attrName>
                                        </p:attrNameLst>
                                      </p:cBhvr>
                                      <p:tavLst>
                                        <p:tav tm="0">
                                          <p:val>
                                            <p:fltVal val="90"/>
                                          </p:val>
                                        </p:tav>
                                        <p:tav tm="100000">
                                          <p:val>
                                            <p:fltVal val="0"/>
                                          </p:val>
                                        </p:tav>
                                      </p:tavLst>
                                    </p:anim>
                                    <p:animEffect transition="in" filter="fade">
                                      <p:cBhvr>
                                        <p:cTn id="10" dur="300"/>
                                        <p:tgtEl>
                                          <p:spTgt spid="13315"/>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3314"/>
                                        </p:tgtEl>
                                        <p:attrNameLst>
                                          <p:attrName>style.visibility</p:attrName>
                                        </p:attrNameLst>
                                      </p:cBhvr>
                                      <p:to>
                                        <p:strVal val="visible"/>
                                      </p:to>
                                    </p:set>
                                    <p:anim calcmode="lin" valueType="num">
                                      <p:cBhvr>
                                        <p:cTn id="14" dur="400" fill="hold"/>
                                        <p:tgtEl>
                                          <p:spTgt spid="1331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3314"/>
                                        </p:tgtEl>
                                        <p:attrNameLst>
                                          <p:attrName>ppt_y</p:attrName>
                                        </p:attrNameLst>
                                      </p:cBhvr>
                                      <p:tavLst>
                                        <p:tav tm="0">
                                          <p:val>
                                            <p:strVal val="#ppt_y"/>
                                          </p:val>
                                        </p:tav>
                                        <p:tav tm="100000">
                                          <p:val>
                                            <p:strVal val="#ppt_y"/>
                                          </p:val>
                                        </p:tav>
                                      </p:tavLst>
                                    </p:anim>
                                    <p:anim calcmode="lin" valueType="num">
                                      <p:cBhvr>
                                        <p:cTn id="16" dur="400" fill="hold"/>
                                        <p:tgtEl>
                                          <p:spTgt spid="1331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331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3314"/>
                                        </p:tgtEl>
                                      </p:cBhvr>
                                    </p:animEffect>
                                  </p:childTnLst>
                                </p:cTn>
                              </p:par>
                            </p:childTnLst>
                          </p:cTn>
                        </p:par>
                        <p:par>
                          <p:cTn id="19" fill="hold">
                            <p:stCondLst>
                              <p:cond delay="819"/>
                            </p:stCondLst>
                            <p:childTnLst>
                              <p:par>
                                <p:cTn id="20" presetID="41" presetClass="entr" presetSubtype="0" fill="hold" grpId="0" nodeType="afterEffect" nodePh="1">
                                  <p:stCondLst>
                                    <p:cond delay="0"/>
                                  </p:stCondLst>
                                  <p:endCondLst>
                                    <p:cond evt="begin" delay="0">
                                      <p:tn val="20"/>
                                    </p:cond>
                                  </p:endCondLst>
                                  <p:iterate type="lt">
                                    <p:tmPct val="10000"/>
                                  </p:iterate>
                                  <p:childTnLst>
                                    <p:set>
                                      <p:cBhvr>
                                        <p:cTn id="21" dur="1" fill="hold">
                                          <p:stCondLst>
                                            <p:cond delay="0"/>
                                          </p:stCondLst>
                                        </p:cTn>
                                        <p:tgtEl>
                                          <p:spTgt spid="13316"/>
                                        </p:tgtEl>
                                        <p:attrNameLst>
                                          <p:attrName>style.visibility</p:attrName>
                                        </p:attrNameLst>
                                      </p:cBhvr>
                                      <p:to>
                                        <p:strVal val="visible"/>
                                      </p:to>
                                    </p:set>
                                    <p:anim calcmode="lin" valueType="num">
                                      <p:cBhvr>
                                        <p:cTn id="22" dur="400" fill="hold"/>
                                        <p:tgtEl>
                                          <p:spTgt spid="13316"/>
                                        </p:tgtEl>
                                        <p:attrNameLst>
                                          <p:attrName>ppt_x</p:attrName>
                                        </p:attrNameLst>
                                      </p:cBhvr>
                                      <p:tavLst>
                                        <p:tav tm="0">
                                          <p:val>
                                            <p:strVal val="#ppt_x"/>
                                          </p:val>
                                        </p:tav>
                                        <p:tav tm="50000">
                                          <p:val>
                                            <p:strVal val="#ppt_x+.1"/>
                                          </p:val>
                                        </p:tav>
                                        <p:tav tm="100000">
                                          <p:val>
                                            <p:strVal val="#ppt_x"/>
                                          </p:val>
                                        </p:tav>
                                      </p:tavLst>
                                    </p:anim>
                                    <p:anim calcmode="lin" valueType="num">
                                      <p:cBhvr>
                                        <p:cTn id="23" dur="400" fill="hold"/>
                                        <p:tgtEl>
                                          <p:spTgt spid="13316"/>
                                        </p:tgtEl>
                                        <p:attrNameLst>
                                          <p:attrName>ppt_y</p:attrName>
                                        </p:attrNameLst>
                                      </p:cBhvr>
                                      <p:tavLst>
                                        <p:tav tm="0">
                                          <p:val>
                                            <p:strVal val="#ppt_y"/>
                                          </p:val>
                                        </p:tav>
                                        <p:tav tm="100000">
                                          <p:val>
                                            <p:strVal val="#ppt_y"/>
                                          </p:val>
                                        </p:tav>
                                      </p:tavLst>
                                    </p:anim>
                                    <p:anim calcmode="lin" valueType="num">
                                      <p:cBhvr>
                                        <p:cTn id="24" dur="400" fill="hold"/>
                                        <p:tgtEl>
                                          <p:spTgt spid="13316"/>
                                        </p:tgtEl>
                                        <p:attrNameLst>
                                          <p:attrName>ppt_h</p:attrName>
                                        </p:attrNameLst>
                                      </p:cBhvr>
                                      <p:tavLst>
                                        <p:tav tm="0">
                                          <p:val>
                                            <p:strVal val="#ppt_h/10"/>
                                          </p:val>
                                        </p:tav>
                                        <p:tav tm="50000">
                                          <p:val>
                                            <p:strVal val="#ppt_h+.01"/>
                                          </p:val>
                                        </p:tav>
                                        <p:tav tm="100000">
                                          <p:val>
                                            <p:strVal val="#ppt_h"/>
                                          </p:val>
                                        </p:tav>
                                      </p:tavLst>
                                    </p:anim>
                                    <p:anim calcmode="lin" valueType="num">
                                      <p:cBhvr>
                                        <p:cTn id="25" dur="400" fill="hold"/>
                                        <p:tgtEl>
                                          <p:spTgt spid="13316"/>
                                        </p:tgtEl>
                                        <p:attrNameLst>
                                          <p:attrName>ppt_w</p:attrName>
                                        </p:attrNameLst>
                                      </p:cBhvr>
                                      <p:tavLst>
                                        <p:tav tm="0">
                                          <p:val>
                                            <p:strVal val="#ppt_w/10"/>
                                          </p:val>
                                        </p:tav>
                                        <p:tav tm="50000">
                                          <p:val>
                                            <p:strVal val="#ppt_w+.01"/>
                                          </p:val>
                                        </p:tav>
                                        <p:tav tm="100000">
                                          <p:val>
                                            <p:strVal val="#ppt_w"/>
                                          </p:val>
                                        </p:tav>
                                      </p:tavLst>
                                    </p:anim>
                                    <p:animEffect transition="in" filter="fade">
                                      <p:cBhvr>
                                        <p:cTn id="26" dur="400" tmFilter="0,0; .5, 1; 1, 1"/>
                                        <p:tgtEl>
                                          <p:spTgt spid="13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p:bldP spid="1331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27"/>
          <p:cNvSpPr txBox="1"/>
          <p:nvPr/>
        </p:nvSpPr>
        <p:spPr>
          <a:xfrm>
            <a:off x="1012825" y="176213"/>
            <a:ext cx="1706880" cy="553085"/>
          </a:xfrm>
          <a:prstGeom prst="rect">
            <a:avLst/>
          </a:prstGeom>
          <a:noFill/>
          <a:ln w="9525">
            <a:noFill/>
          </a:ln>
        </p:spPr>
        <p:txBody>
          <a:bodyPr wrap="none" anchor="t">
            <a:spAutoFit/>
          </a:bodyPr>
          <a:lstStyle/>
          <a:p>
            <a:pPr algn="l"/>
            <a:r>
              <a:rPr lang="zh-CN" altLang="en-US" sz="3000" b="1" dirty="0">
                <a:solidFill>
                  <a:schemeClr val="accent1"/>
                </a:solidFill>
                <a:latin typeface="微软雅黑" panose="020B0503020204020204" pitchFamily="34" charset="-122"/>
                <a:ea typeface="微软雅黑" panose="020B0503020204020204" pitchFamily="34" charset="-122"/>
              </a:rPr>
              <a:t>训练策略</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3315"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13316" name="TextBox 3"/>
          <p:cNvSpPr txBox="1"/>
          <p:nvPr/>
        </p:nvSpPr>
        <p:spPr>
          <a:xfrm>
            <a:off x="1174750" y="-1179512"/>
            <a:ext cx="184150" cy="554037"/>
          </a:xfrm>
          <a:prstGeom prst="rect">
            <a:avLst/>
          </a:prstGeom>
          <a:noFill/>
          <a:ln w="9525">
            <a:noFill/>
          </a:ln>
        </p:spPr>
        <p:txBody>
          <a:bodyPr wrap="none" anchor="t">
            <a:spAutoFit/>
          </a:bodyPr>
          <a:lstStyle/>
          <a:p>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769620" y="1127760"/>
            <a:ext cx="5038090" cy="4829810"/>
          </a:xfrm>
          <a:prstGeom prst="rect">
            <a:avLst/>
          </a:prstGeom>
          <a:noFill/>
        </p:spPr>
        <p:txBody>
          <a:bodyPr wrap="square" rtlCol="0">
            <a:noAutofit/>
          </a:bodyPr>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p:txBody>
      </p:sp>
      <p:sp>
        <p:nvSpPr>
          <p:cNvPr id="2" name="文本框 1"/>
          <p:cNvSpPr txBox="1"/>
          <p:nvPr/>
        </p:nvSpPr>
        <p:spPr>
          <a:xfrm>
            <a:off x="1129665" y="1125220"/>
            <a:ext cx="8815070" cy="3930015"/>
          </a:xfrm>
          <a:prstGeom prst="rect">
            <a:avLst/>
          </a:prstGeom>
        </p:spPr>
        <p:txBody>
          <a:bodyPr>
            <a:noAutofit/>
          </a:bodyPr>
          <a:p>
            <a:pPr algn="l">
              <a:lnSpc>
                <a:spcPct val="150000"/>
              </a:lnSpc>
              <a:buClrTx/>
              <a:buSzTx/>
              <a:buNone/>
            </a:pPr>
            <a:r>
              <a:rPr lang="en-US" altLang="zh-CN" sz="1800" dirty="0">
                <a:solidFill>
                  <a:schemeClr val="accent1"/>
                </a:solidFill>
                <a:latin typeface="微软雅黑" panose="020B0503020204020204" pitchFamily="34" charset="-122"/>
                <a:ea typeface="微软雅黑" panose="020B0503020204020204" pitchFamily="34" charset="-122"/>
                <a:cs typeface="+mn-ea"/>
              </a:rPr>
              <a:t>MEDUSA-2：</a:t>
            </a:r>
            <a:r>
              <a:rPr lang="zh-CN" altLang="en-US" sz="1800" dirty="0">
                <a:solidFill>
                  <a:schemeClr val="accent1"/>
                </a:solidFill>
                <a:latin typeface="微软雅黑" panose="020B0503020204020204" pitchFamily="34" charset="-122"/>
                <a:ea typeface="微软雅黑" panose="020B0503020204020204" pitchFamily="34" charset="-122"/>
                <a:cs typeface="+mn-ea"/>
              </a:rPr>
              <a:t>联合训练与自蒸馏</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lang="zh-CN" altLang="en-US" sz="1800" dirty="0">
                <a:solidFill>
                  <a:schemeClr val="accent1"/>
                </a:solidFill>
                <a:latin typeface="微软雅黑" panose="020B0503020204020204" pitchFamily="34" charset="-122"/>
                <a:ea typeface="微软雅黑" panose="020B0503020204020204" pitchFamily="34" charset="-122"/>
                <a:cs typeface="+mn-ea"/>
              </a:rPr>
              <a:t>不仅训练预测头，还要微调主模型，使其隐藏状态更具可预测性</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lang="zh-CN" altLang="en-US" sz="1800" dirty="0">
                <a:solidFill>
                  <a:schemeClr val="accent1"/>
                </a:solidFill>
                <a:latin typeface="微软雅黑" panose="020B0503020204020204" pitchFamily="34" charset="-122"/>
                <a:ea typeface="微软雅黑" panose="020B0503020204020204" pitchFamily="34" charset="-122"/>
                <a:cs typeface="+mn-ea"/>
              </a:rPr>
              <a:t>通过这种方式，主模型学会了以一种更复合预测头的方式产生隐藏状态，大幅提升了 预测头的命中率</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3315"/>
                                        </p:tgtEl>
                                        <p:attrNameLst>
                                          <p:attrName>style.visibility</p:attrName>
                                        </p:attrNameLst>
                                      </p:cBhvr>
                                      <p:to>
                                        <p:strVal val="visible"/>
                                      </p:to>
                                    </p:set>
                                    <p:anim calcmode="lin" valueType="num">
                                      <p:cBhvr>
                                        <p:cTn id="7" dur="300" fill="hold"/>
                                        <p:tgtEl>
                                          <p:spTgt spid="13315"/>
                                        </p:tgtEl>
                                        <p:attrNameLst>
                                          <p:attrName>ppt_w</p:attrName>
                                        </p:attrNameLst>
                                      </p:cBhvr>
                                      <p:tavLst>
                                        <p:tav tm="0">
                                          <p:val>
                                            <p:fltVal val="0"/>
                                          </p:val>
                                        </p:tav>
                                        <p:tav tm="100000">
                                          <p:val>
                                            <p:strVal val="#ppt_w"/>
                                          </p:val>
                                        </p:tav>
                                      </p:tavLst>
                                    </p:anim>
                                    <p:anim calcmode="lin" valueType="num">
                                      <p:cBhvr>
                                        <p:cTn id="8" dur="300" fill="hold"/>
                                        <p:tgtEl>
                                          <p:spTgt spid="13315"/>
                                        </p:tgtEl>
                                        <p:attrNameLst>
                                          <p:attrName>ppt_h</p:attrName>
                                        </p:attrNameLst>
                                      </p:cBhvr>
                                      <p:tavLst>
                                        <p:tav tm="0">
                                          <p:val>
                                            <p:fltVal val="0"/>
                                          </p:val>
                                        </p:tav>
                                        <p:tav tm="100000">
                                          <p:val>
                                            <p:strVal val="#ppt_h"/>
                                          </p:val>
                                        </p:tav>
                                      </p:tavLst>
                                    </p:anim>
                                    <p:anim calcmode="lin" valueType="num">
                                      <p:cBhvr>
                                        <p:cTn id="9" dur="300" fill="hold"/>
                                        <p:tgtEl>
                                          <p:spTgt spid="13315"/>
                                        </p:tgtEl>
                                        <p:attrNameLst>
                                          <p:attrName>style.rotation</p:attrName>
                                        </p:attrNameLst>
                                      </p:cBhvr>
                                      <p:tavLst>
                                        <p:tav tm="0">
                                          <p:val>
                                            <p:fltVal val="90"/>
                                          </p:val>
                                        </p:tav>
                                        <p:tav tm="100000">
                                          <p:val>
                                            <p:fltVal val="0"/>
                                          </p:val>
                                        </p:tav>
                                      </p:tavLst>
                                    </p:anim>
                                    <p:animEffect transition="in" filter="fade">
                                      <p:cBhvr>
                                        <p:cTn id="10" dur="300"/>
                                        <p:tgtEl>
                                          <p:spTgt spid="13315"/>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3314"/>
                                        </p:tgtEl>
                                        <p:attrNameLst>
                                          <p:attrName>style.visibility</p:attrName>
                                        </p:attrNameLst>
                                      </p:cBhvr>
                                      <p:to>
                                        <p:strVal val="visible"/>
                                      </p:to>
                                    </p:set>
                                    <p:anim calcmode="lin" valueType="num">
                                      <p:cBhvr>
                                        <p:cTn id="14" dur="400" fill="hold"/>
                                        <p:tgtEl>
                                          <p:spTgt spid="1331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3314"/>
                                        </p:tgtEl>
                                        <p:attrNameLst>
                                          <p:attrName>ppt_y</p:attrName>
                                        </p:attrNameLst>
                                      </p:cBhvr>
                                      <p:tavLst>
                                        <p:tav tm="0">
                                          <p:val>
                                            <p:strVal val="#ppt_y"/>
                                          </p:val>
                                        </p:tav>
                                        <p:tav tm="100000">
                                          <p:val>
                                            <p:strVal val="#ppt_y"/>
                                          </p:val>
                                        </p:tav>
                                      </p:tavLst>
                                    </p:anim>
                                    <p:anim calcmode="lin" valueType="num">
                                      <p:cBhvr>
                                        <p:cTn id="16" dur="400" fill="hold"/>
                                        <p:tgtEl>
                                          <p:spTgt spid="1331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331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3314"/>
                                        </p:tgtEl>
                                      </p:cBhvr>
                                    </p:animEffect>
                                  </p:childTnLst>
                                </p:cTn>
                              </p:par>
                            </p:childTnLst>
                          </p:cTn>
                        </p:par>
                        <p:par>
                          <p:cTn id="19" fill="hold">
                            <p:stCondLst>
                              <p:cond delay="819"/>
                            </p:stCondLst>
                            <p:childTnLst>
                              <p:par>
                                <p:cTn id="20" presetID="41" presetClass="entr" presetSubtype="0" fill="hold" grpId="0" nodeType="afterEffect" nodePh="1">
                                  <p:stCondLst>
                                    <p:cond delay="0"/>
                                  </p:stCondLst>
                                  <p:endCondLst>
                                    <p:cond evt="begin" delay="0">
                                      <p:tn val="20"/>
                                    </p:cond>
                                  </p:endCondLst>
                                  <p:iterate type="lt">
                                    <p:tmPct val="10000"/>
                                  </p:iterate>
                                  <p:childTnLst>
                                    <p:set>
                                      <p:cBhvr>
                                        <p:cTn id="21" dur="1" fill="hold">
                                          <p:stCondLst>
                                            <p:cond delay="0"/>
                                          </p:stCondLst>
                                        </p:cTn>
                                        <p:tgtEl>
                                          <p:spTgt spid="13316"/>
                                        </p:tgtEl>
                                        <p:attrNameLst>
                                          <p:attrName>style.visibility</p:attrName>
                                        </p:attrNameLst>
                                      </p:cBhvr>
                                      <p:to>
                                        <p:strVal val="visible"/>
                                      </p:to>
                                    </p:set>
                                    <p:anim calcmode="lin" valueType="num">
                                      <p:cBhvr>
                                        <p:cTn id="22" dur="400" fill="hold"/>
                                        <p:tgtEl>
                                          <p:spTgt spid="13316"/>
                                        </p:tgtEl>
                                        <p:attrNameLst>
                                          <p:attrName>ppt_x</p:attrName>
                                        </p:attrNameLst>
                                      </p:cBhvr>
                                      <p:tavLst>
                                        <p:tav tm="0">
                                          <p:val>
                                            <p:strVal val="#ppt_x"/>
                                          </p:val>
                                        </p:tav>
                                        <p:tav tm="50000">
                                          <p:val>
                                            <p:strVal val="#ppt_x+.1"/>
                                          </p:val>
                                        </p:tav>
                                        <p:tav tm="100000">
                                          <p:val>
                                            <p:strVal val="#ppt_x"/>
                                          </p:val>
                                        </p:tav>
                                      </p:tavLst>
                                    </p:anim>
                                    <p:anim calcmode="lin" valueType="num">
                                      <p:cBhvr>
                                        <p:cTn id="23" dur="400" fill="hold"/>
                                        <p:tgtEl>
                                          <p:spTgt spid="13316"/>
                                        </p:tgtEl>
                                        <p:attrNameLst>
                                          <p:attrName>ppt_y</p:attrName>
                                        </p:attrNameLst>
                                      </p:cBhvr>
                                      <p:tavLst>
                                        <p:tav tm="0">
                                          <p:val>
                                            <p:strVal val="#ppt_y"/>
                                          </p:val>
                                        </p:tav>
                                        <p:tav tm="100000">
                                          <p:val>
                                            <p:strVal val="#ppt_y"/>
                                          </p:val>
                                        </p:tav>
                                      </p:tavLst>
                                    </p:anim>
                                    <p:anim calcmode="lin" valueType="num">
                                      <p:cBhvr>
                                        <p:cTn id="24" dur="400" fill="hold"/>
                                        <p:tgtEl>
                                          <p:spTgt spid="13316"/>
                                        </p:tgtEl>
                                        <p:attrNameLst>
                                          <p:attrName>ppt_h</p:attrName>
                                        </p:attrNameLst>
                                      </p:cBhvr>
                                      <p:tavLst>
                                        <p:tav tm="0">
                                          <p:val>
                                            <p:strVal val="#ppt_h/10"/>
                                          </p:val>
                                        </p:tav>
                                        <p:tav tm="50000">
                                          <p:val>
                                            <p:strVal val="#ppt_h+.01"/>
                                          </p:val>
                                        </p:tav>
                                        <p:tav tm="100000">
                                          <p:val>
                                            <p:strVal val="#ppt_h"/>
                                          </p:val>
                                        </p:tav>
                                      </p:tavLst>
                                    </p:anim>
                                    <p:anim calcmode="lin" valueType="num">
                                      <p:cBhvr>
                                        <p:cTn id="25" dur="400" fill="hold"/>
                                        <p:tgtEl>
                                          <p:spTgt spid="13316"/>
                                        </p:tgtEl>
                                        <p:attrNameLst>
                                          <p:attrName>ppt_w</p:attrName>
                                        </p:attrNameLst>
                                      </p:cBhvr>
                                      <p:tavLst>
                                        <p:tav tm="0">
                                          <p:val>
                                            <p:strVal val="#ppt_w/10"/>
                                          </p:val>
                                        </p:tav>
                                        <p:tav tm="50000">
                                          <p:val>
                                            <p:strVal val="#ppt_w+.01"/>
                                          </p:val>
                                        </p:tav>
                                        <p:tav tm="100000">
                                          <p:val>
                                            <p:strVal val="#ppt_w"/>
                                          </p:val>
                                        </p:tav>
                                      </p:tavLst>
                                    </p:anim>
                                    <p:animEffect transition="in" filter="fade">
                                      <p:cBhvr>
                                        <p:cTn id="26" dur="400" tmFilter="0,0; .5, 1; 1, 1"/>
                                        <p:tgtEl>
                                          <p:spTgt spid="13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p:bldP spid="13316"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0">
          <a:blip r:embed="rId1" cstate="print"/>
          <a:stretch>
            <a:fillRect/>
          </a:stretch>
        </a:blipFill>
        <a:effectLst/>
      </p:bgPr>
    </p:bg>
    <p:spTree>
      <p:nvGrpSpPr>
        <p:cNvPr id="1" name=""/>
        <p:cNvGrpSpPr/>
        <p:nvPr/>
      </p:nvGrpSpPr>
      <p:grpSpPr>
        <a:xfrm>
          <a:off x="0" y="0"/>
          <a:ext cx="0" cy="0"/>
          <a:chOff x="0" y="0"/>
          <a:chExt cx="0" cy="0"/>
        </a:xfrm>
      </p:grpSpPr>
      <p:sp>
        <p:nvSpPr>
          <p:cNvPr id="26626" name="Oval 5"/>
          <p:cNvSpPr/>
          <p:nvPr/>
        </p:nvSpPr>
        <p:spPr>
          <a:xfrm>
            <a:off x="4062413" y="627063"/>
            <a:ext cx="4141787" cy="4144962"/>
          </a:xfrm>
          <a:prstGeom prst="ellipse">
            <a:avLst/>
          </a:prstGeom>
          <a:solidFill>
            <a:srgbClr val="FFFFFF"/>
          </a:solidFill>
          <a:ln w="9525">
            <a:noFill/>
          </a:ln>
        </p:spPr>
        <p:txBody>
          <a:bodyPr anchor="t"/>
          <a:lstStyle/>
          <a:p>
            <a:endParaRPr lang="zh-CN" altLang="en-US" dirty="0">
              <a:solidFill>
                <a:srgbClr val="004C54"/>
              </a:solidFill>
              <a:latin typeface="Arial" panose="020B0604020202020204" pitchFamily="34" charset="0"/>
              <a:ea typeface="宋体" panose="02010600030101010101" pitchFamily="2" charset="-122"/>
            </a:endParaRPr>
          </a:p>
        </p:txBody>
      </p:sp>
      <p:sp>
        <p:nvSpPr>
          <p:cNvPr id="26627" name="Line 12"/>
          <p:cNvSpPr/>
          <p:nvPr/>
        </p:nvSpPr>
        <p:spPr>
          <a:xfrm>
            <a:off x="4195763" y="2740025"/>
            <a:ext cx="3808412" cy="0"/>
          </a:xfrm>
          <a:prstGeom prst="line">
            <a:avLst/>
          </a:prstGeom>
          <a:ln w="12700" cap="flat" cmpd="sng">
            <a:solidFill>
              <a:schemeClr val="bg2"/>
            </a:solidFill>
            <a:prstDash val="solid"/>
            <a:round/>
            <a:headEnd type="none" w="med" len="med"/>
            <a:tailEnd type="none" w="med" len="med"/>
          </a:ln>
        </p:spPr>
      </p:sp>
      <p:sp>
        <p:nvSpPr>
          <p:cNvPr id="26628" name="TextBox 77"/>
          <p:cNvSpPr txBox="1"/>
          <p:nvPr/>
        </p:nvSpPr>
        <p:spPr>
          <a:xfrm>
            <a:off x="4602163" y="2852738"/>
            <a:ext cx="3168650" cy="1445260"/>
          </a:xfrm>
          <a:prstGeom prst="rect">
            <a:avLst/>
          </a:prstGeom>
          <a:noFill/>
          <a:ln w="9525">
            <a:noFill/>
          </a:ln>
        </p:spPr>
        <p:txBody>
          <a:bodyPr anchor="t">
            <a:spAutoFit/>
          </a:bodyPr>
          <a:lstStyle/>
          <a:p>
            <a:pPr algn="ctr"/>
            <a:r>
              <a:rPr lang="zh-CN" altLang="en-US" sz="4400" b="1" dirty="0">
                <a:solidFill>
                  <a:srgbClr val="363636"/>
                </a:solidFill>
                <a:latin typeface="微软雅黑" panose="020B0503020204020204" pitchFamily="34" charset="-122"/>
                <a:ea typeface="微软雅黑" panose="020B0503020204020204" pitchFamily="34" charset="-122"/>
              </a:rPr>
              <a:t>优点和</a:t>
            </a:r>
            <a:endParaRPr lang="zh-CN" altLang="en-US" sz="4400" b="1" dirty="0">
              <a:solidFill>
                <a:srgbClr val="363636"/>
              </a:solidFill>
              <a:latin typeface="微软雅黑" panose="020B0503020204020204" pitchFamily="34" charset="-122"/>
              <a:ea typeface="微软雅黑" panose="020B0503020204020204" pitchFamily="34" charset="-122"/>
            </a:endParaRPr>
          </a:p>
          <a:p>
            <a:pPr algn="ctr"/>
            <a:r>
              <a:rPr lang="zh-CN" altLang="en-US" sz="4400" b="1" dirty="0">
                <a:solidFill>
                  <a:srgbClr val="363636"/>
                </a:solidFill>
                <a:latin typeface="微软雅黑" panose="020B0503020204020204" pitchFamily="34" charset="-122"/>
                <a:ea typeface="微软雅黑" panose="020B0503020204020204" pitchFamily="34" charset="-122"/>
              </a:rPr>
              <a:t>不足之处</a:t>
            </a:r>
            <a:endParaRPr lang="zh-CN" altLang="en-US" sz="4400" b="1" dirty="0">
              <a:solidFill>
                <a:srgbClr val="363636"/>
              </a:solidFill>
              <a:latin typeface="微软雅黑" panose="020B0503020204020204" pitchFamily="34" charset="-122"/>
              <a:ea typeface="微软雅黑" panose="020B0503020204020204" pitchFamily="34" charset="-122"/>
            </a:endParaRPr>
          </a:p>
        </p:txBody>
      </p:sp>
      <p:sp>
        <p:nvSpPr>
          <p:cNvPr id="26629" name="Rectangle 14"/>
          <p:cNvSpPr/>
          <p:nvPr/>
        </p:nvSpPr>
        <p:spPr>
          <a:xfrm>
            <a:off x="5634038" y="2255838"/>
            <a:ext cx="930275" cy="400050"/>
          </a:xfrm>
          <a:prstGeom prst="rect">
            <a:avLst/>
          </a:prstGeom>
          <a:noFill/>
          <a:ln w="9525">
            <a:noFill/>
          </a:ln>
        </p:spPr>
        <p:txBody>
          <a:bodyPr wrap="none" lIns="0" tIns="0" rIns="0" bIns="0" anchor="t">
            <a:spAutoFit/>
          </a:bodyPr>
          <a:lstStyle/>
          <a:p>
            <a:r>
              <a:rPr lang="zh-CN" altLang="en-US" sz="2600" dirty="0">
                <a:solidFill>
                  <a:srgbClr val="363636"/>
                </a:solidFill>
                <a:latin typeface="微软雅黑" panose="020B0503020204020204" pitchFamily="34" charset="-122"/>
                <a:ea typeface="微软雅黑" panose="020B0503020204020204" pitchFamily="34" charset="-122"/>
              </a:rPr>
              <a:t>Part </a:t>
            </a:r>
            <a:r>
              <a:rPr lang="en-US" altLang="zh-CN" sz="2600" dirty="0">
                <a:solidFill>
                  <a:srgbClr val="363636"/>
                </a:solidFill>
                <a:latin typeface="微软雅黑" panose="020B0503020204020204" pitchFamily="34" charset="-122"/>
                <a:ea typeface="微软雅黑" panose="020B0503020204020204" pitchFamily="34" charset="-122"/>
              </a:rPr>
              <a:t>4</a:t>
            </a:r>
            <a:endParaRPr lang="zh-CN" altLang="en-US" sz="2600" dirty="0">
              <a:solidFill>
                <a:srgbClr val="363636"/>
              </a:solidFill>
              <a:latin typeface="微软雅黑" panose="020B0503020204020204" pitchFamily="34" charset="-122"/>
              <a:ea typeface="微软雅黑" panose="020B0503020204020204" pitchFamily="34" charset="-122"/>
            </a:endParaRPr>
          </a:p>
        </p:txBody>
      </p:sp>
      <p:sp>
        <p:nvSpPr>
          <p:cNvPr id="26630" name="Freeform 11"/>
          <p:cNvSpPr>
            <a:spLocks noEditPoints="1"/>
          </p:cNvSpPr>
          <p:nvPr/>
        </p:nvSpPr>
        <p:spPr>
          <a:xfrm>
            <a:off x="5354638" y="850900"/>
            <a:ext cx="1489075" cy="1287463"/>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948" h="810">
                <a:moveTo>
                  <a:pt x="588" y="151"/>
                </a:moveTo>
                <a:cubicBezTo>
                  <a:pt x="588" y="151"/>
                  <a:pt x="588" y="152"/>
                  <a:pt x="588" y="152"/>
                </a:cubicBezTo>
                <a:cubicBezTo>
                  <a:pt x="588" y="153"/>
                  <a:pt x="589" y="154"/>
                  <a:pt x="589" y="155"/>
                </a:cubicBezTo>
                <a:cubicBezTo>
                  <a:pt x="589" y="156"/>
                  <a:pt x="589" y="156"/>
                  <a:pt x="589" y="157"/>
                </a:cubicBezTo>
                <a:cubicBezTo>
                  <a:pt x="589" y="158"/>
                  <a:pt x="589" y="159"/>
                  <a:pt x="589" y="161"/>
                </a:cubicBezTo>
                <a:cubicBezTo>
                  <a:pt x="589" y="161"/>
                  <a:pt x="589" y="161"/>
                  <a:pt x="589" y="161"/>
                </a:cubicBezTo>
                <a:cubicBezTo>
                  <a:pt x="589" y="162"/>
                  <a:pt x="589" y="164"/>
                  <a:pt x="589" y="165"/>
                </a:cubicBezTo>
                <a:cubicBezTo>
                  <a:pt x="589" y="165"/>
                  <a:pt x="589" y="166"/>
                  <a:pt x="589" y="166"/>
                </a:cubicBezTo>
                <a:cubicBezTo>
                  <a:pt x="589" y="167"/>
                  <a:pt x="589" y="168"/>
                  <a:pt x="589" y="169"/>
                </a:cubicBezTo>
                <a:cubicBezTo>
                  <a:pt x="589" y="170"/>
                  <a:pt x="589" y="170"/>
                  <a:pt x="589" y="171"/>
                </a:cubicBezTo>
                <a:cubicBezTo>
                  <a:pt x="588" y="178"/>
                  <a:pt x="586" y="185"/>
                  <a:pt x="584" y="191"/>
                </a:cubicBezTo>
                <a:cubicBezTo>
                  <a:pt x="584" y="192"/>
                  <a:pt x="583" y="193"/>
                  <a:pt x="583" y="194"/>
                </a:cubicBezTo>
                <a:cubicBezTo>
                  <a:pt x="583" y="195"/>
                  <a:pt x="583" y="195"/>
                  <a:pt x="583" y="195"/>
                </a:cubicBezTo>
                <a:cubicBezTo>
                  <a:pt x="583" y="196"/>
                  <a:pt x="582" y="197"/>
                  <a:pt x="582" y="198"/>
                </a:cubicBezTo>
                <a:cubicBezTo>
                  <a:pt x="582" y="198"/>
                  <a:pt x="582" y="198"/>
                  <a:pt x="582" y="198"/>
                </a:cubicBezTo>
                <a:cubicBezTo>
                  <a:pt x="580" y="201"/>
                  <a:pt x="579" y="204"/>
                  <a:pt x="577" y="207"/>
                </a:cubicBezTo>
                <a:cubicBezTo>
                  <a:pt x="577" y="207"/>
                  <a:pt x="577" y="207"/>
                  <a:pt x="577" y="208"/>
                </a:cubicBezTo>
                <a:cubicBezTo>
                  <a:pt x="577" y="208"/>
                  <a:pt x="576" y="209"/>
                  <a:pt x="575" y="210"/>
                </a:cubicBezTo>
                <a:cubicBezTo>
                  <a:pt x="575" y="210"/>
                  <a:pt x="575" y="211"/>
                  <a:pt x="575" y="211"/>
                </a:cubicBezTo>
                <a:cubicBezTo>
                  <a:pt x="573" y="215"/>
                  <a:pt x="570" y="218"/>
                  <a:pt x="567" y="222"/>
                </a:cubicBezTo>
                <a:cubicBezTo>
                  <a:pt x="567" y="222"/>
                  <a:pt x="567" y="222"/>
                  <a:pt x="567" y="222"/>
                </a:cubicBezTo>
                <a:cubicBezTo>
                  <a:pt x="566" y="223"/>
                  <a:pt x="566" y="224"/>
                  <a:pt x="565" y="224"/>
                </a:cubicBezTo>
                <a:cubicBezTo>
                  <a:pt x="565" y="224"/>
                  <a:pt x="565" y="225"/>
                  <a:pt x="565" y="225"/>
                </a:cubicBezTo>
                <a:cubicBezTo>
                  <a:pt x="562" y="227"/>
                  <a:pt x="560" y="230"/>
                  <a:pt x="558" y="232"/>
                </a:cubicBezTo>
                <a:cubicBezTo>
                  <a:pt x="558" y="232"/>
                  <a:pt x="557" y="232"/>
                  <a:pt x="557" y="232"/>
                </a:cubicBezTo>
                <a:cubicBezTo>
                  <a:pt x="557" y="233"/>
                  <a:pt x="556" y="233"/>
                  <a:pt x="555" y="234"/>
                </a:cubicBezTo>
                <a:cubicBezTo>
                  <a:pt x="555" y="234"/>
                  <a:pt x="555" y="234"/>
                  <a:pt x="554" y="234"/>
                </a:cubicBezTo>
                <a:cubicBezTo>
                  <a:pt x="554" y="235"/>
                  <a:pt x="553" y="236"/>
                  <a:pt x="552" y="236"/>
                </a:cubicBezTo>
                <a:cubicBezTo>
                  <a:pt x="547" y="240"/>
                  <a:pt x="543" y="243"/>
                  <a:pt x="537" y="246"/>
                </a:cubicBezTo>
                <a:cubicBezTo>
                  <a:pt x="536" y="246"/>
                  <a:pt x="535" y="247"/>
                  <a:pt x="534" y="247"/>
                </a:cubicBezTo>
                <a:cubicBezTo>
                  <a:pt x="533" y="247"/>
                  <a:pt x="533" y="248"/>
                  <a:pt x="532" y="248"/>
                </a:cubicBezTo>
                <a:cubicBezTo>
                  <a:pt x="532" y="248"/>
                  <a:pt x="531" y="249"/>
                  <a:pt x="530" y="249"/>
                </a:cubicBezTo>
                <a:cubicBezTo>
                  <a:pt x="529" y="249"/>
                  <a:pt x="529" y="249"/>
                  <a:pt x="528" y="249"/>
                </a:cubicBezTo>
                <a:cubicBezTo>
                  <a:pt x="527" y="250"/>
                  <a:pt x="526" y="250"/>
                  <a:pt x="525" y="251"/>
                </a:cubicBezTo>
                <a:cubicBezTo>
                  <a:pt x="525" y="251"/>
                  <a:pt x="525" y="251"/>
                  <a:pt x="525" y="251"/>
                </a:cubicBezTo>
                <a:cubicBezTo>
                  <a:pt x="523" y="251"/>
                  <a:pt x="522" y="252"/>
                  <a:pt x="520" y="252"/>
                </a:cubicBezTo>
                <a:cubicBezTo>
                  <a:pt x="520" y="252"/>
                  <a:pt x="520" y="252"/>
                  <a:pt x="519" y="252"/>
                </a:cubicBezTo>
                <a:cubicBezTo>
                  <a:pt x="518" y="253"/>
                  <a:pt x="517" y="253"/>
                  <a:pt x="516" y="253"/>
                </a:cubicBezTo>
                <a:cubicBezTo>
                  <a:pt x="516" y="253"/>
                  <a:pt x="515" y="253"/>
                  <a:pt x="515" y="253"/>
                </a:cubicBezTo>
                <a:cubicBezTo>
                  <a:pt x="514" y="254"/>
                  <a:pt x="512" y="254"/>
                  <a:pt x="511" y="254"/>
                </a:cubicBezTo>
                <a:cubicBezTo>
                  <a:pt x="509" y="254"/>
                  <a:pt x="508" y="255"/>
                  <a:pt x="506" y="255"/>
                </a:cubicBezTo>
                <a:cubicBezTo>
                  <a:pt x="506" y="255"/>
                  <a:pt x="506" y="255"/>
                  <a:pt x="505" y="255"/>
                </a:cubicBezTo>
                <a:cubicBezTo>
                  <a:pt x="504" y="255"/>
                  <a:pt x="503" y="255"/>
                  <a:pt x="502" y="255"/>
                </a:cubicBezTo>
                <a:cubicBezTo>
                  <a:pt x="502" y="255"/>
                  <a:pt x="501" y="255"/>
                  <a:pt x="501" y="255"/>
                </a:cubicBezTo>
                <a:cubicBezTo>
                  <a:pt x="499" y="255"/>
                  <a:pt x="498" y="255"/>
                  <a:pt x="496" y="255"/>
                </a:cubicBezTo>
                <a:cubicBezTo>
                  <a:pt x="496" y="255"/>
                  <a:pt x="496" y="255"/>
                  <a:pt x="496" y="255"/>
                </a:cubicBezTo>
                <a:cubicBezTo>
                  <a:pt x="495" y="255"/>
                  <a:pt x="494" y="255"/>
                  <a:pt x="492" y="255"/>
                </a:cubicBezTo>
                <a:cubicBezTo>
                  <a:pt x="492" y="255"/>
                  <a:pt x="491" y="255"/>
                  <a:pt x="491" y="255"/>
                </a:cubicBezTo>
                <a:cubicBezTo>
                  <a:pt x="490" y="255"/>
                  <a:pt x="489" y="255"/>
                  <a:pt x="488" y="255"/>
                </a:cubicBezTo>
                <a:cubicBezTo>
                  <a:pt x="488" y="255"/>
                  <a:pt x="487" y="255"/>
                  <a:pt x="487" y="255"/>
                </a:cubicBezTo>
                <a:cubicBezTo>
                  <a:pt x="485" y="255"/>
                  <a:pt x="484" y="255"/>
                  <a:pt x="483" y="255"/>
                </a:cubicBezTo>
                <a:cubicBezTo>
                  <a:pt x="477" y="254"/>
                  <a:pt x="471" y="253"/>
                  <a:pt x="466" y="251"/>
                </a:cubicBezTo>
                <a:cubicBezTo>
                  <a:pt x="465" y="250"/>
                  <a:pt x="464" y="250"/>
                  <a:pt x="463" y="250"/>
                </a:cubicBezTo>
                <a:cubicBezTo>
                  <a:pt x="463" y="250"/>
                  <a:pt x="462" y="250"/>
                  <a:pt x="462" y="249"/>
                </a:cubicBezTo>
                <a:cubicBezTo>
                  <a:pt x="461" y="249"/>
                  <a:pt x="460" y="249"/>
                  <a:pt x="459" y="248"/>
                </a:cubicBezTo>
                <a:cubicBezTo>
                  <a:pt x="459" y="248"/>
                  <a:pt x="459" y="248"/>
                  <a:pt x="459" y="248"/>
                </a:cubicBezTo>
                <a:cubicBezTo>
                  <a:pt x="456" y="247"/>
                  <a:pt x="453" y="245"/>
                  <a:pt x="450" y="244"/>
                </a:cubicBezTo>
                <a:cubicBezTo>
                  <a:pt x="450" y="244"/>
                  <a:pt x="450" y="244"/>
                  <a:pt x="450" y="244"/>
                </a:cubicBezTo>
                <a:cubicBezTo>
                  <a:pt x="449" y="243"/>
                  <a:pt x="448" y="243"/>
                  <a:pt x="447" y="242"/>
                </a:cubicBezTo>
                <a:cubicBezTo>
                  <a:pt x="447" y="242"/>
                  <a:pt x="447" y="242"/>
                  <a:pt x="446" y="242"/>
                </a:cubicBezTo>
                <a:cubicBezTo>
                  <a:pt x="443" y="239"/>
                  <a:pt x="439" y="237"/>
                  <a:pt x="436" y="234"/>
                </a:cubicBezTo>
                <a:cubicBezTo>
                  <a:pt x="435" y="234"/>
                  <a:pt x="435" y="234"/>
                  <a:pt x="435" y="234"/>
                </a:cubicBezTo>
                <a:cubicBezTo>
                  <a:pt x="434" y="233"/>
                  <a:pt x="434" y="232"/>
                  <a:pt x="433" y="232"/>
                </a:cubicBezTo>
                <a:cubicBezTo>
                  <a:pt x="433" y="231"/>
                  <a:pt x="433" y="231"/>
                  <a:pt x="432" y="231"/>
                </a:cubicBezTo>
                <a:cubicBezTo>
                  <a:pt x="430" y="229"/>
                  <a:pt x="428" y="227"/>
                  <a:pt x="425" y="224"/>
                </a:cubicBezTo>
                <a:cubicBezTo>
                  <a:pt x="425" y="224"/>
                  <a:pt x="425" y="224"/>
                  <a:pt x="425" y="224"/>
                </a:cubicBezTo>
                <a:cubicBezTo>
                  <a:pt x="425" y="223"/>
                  <a:pt x="424" y="222"/>
                  <a:pt x="423" y="222"/>
                </a:cubicBezTo>
                <a:cubicBezTo>
                  <a:pt x="423" y="221"/>
                  <a:pt x="423" y="221"/>
                  <a:pt x="423" y="221"/>
                </a:cubicBezTo>
                <a:cubicBezTo>
                  <a:pt x="422" y="220"/>
                  <a:pt x="421" y="219"/>
                  <a:pt x="421" y="218"/>
                </a:cubicBezTo>
                <a:cubicBezTo>
                  <a:pt x="417" y="213"/>
                  <a:pt x="413" y="207"/>
                  <a:pt x="410" y="200"/>
                </a:cubicBezTo>
                <a:cubicBezTo>
                  <a:pt x="410" y="200"/>
                  <a:pt x="410" y="199"/>
                  <a:pt x="409" y="199"/>
                </a:cubicBezTo>
                <a:cubicBezTo>
                  <a:pt x="409" y="198"/>
                  <a:pt x="409" y="197"/>
                  <a:pt x="408" y="196"/>
                </a:cubicBezTo>
                <a:cubicBezTo>
                  <a:pt x="408" y="196"/>
                  <a:pt x="408" y="195"/>
                  <a:pt x="408" y="195"/>
                </a:cubicBezTo>
                <a:cubicBezTo>
                  <a:pt x="407" y="194"/>
                  <a:pt x="407" y="193"/>
                  <a:pt x="407" y="191"/>
                </a:cubicBezTo>
                <a:cubicBezTo>
                  <a:pt x="406" y="191"/>
                  <a:pt x="406" y="191"/>
                  <a:pt x="406" y="191"/>
                </a:cubicBezTo>
                <a:cubicBezTo>
                  <a:pt x="406" y="190"/>
                  <a:pt x="406" y="188"/>
                  <a:pt x="405" y="187"/>
                </a:cubicBezTo>
                <a:cubicBezTo>
                  <a:pt x="405" y="187"/>
                  <a:pt x="405" y="186"/>
                  <a:pt x="405" y="186"/>
                </a:cubicBezTo>
                <a:cubicBezTo>
                  <a:pt x="405" y="185"/>
                  <a:pt x="404" y="184"/>
                  <a:pt x="404" y="183"/>
                </a:cubicBezTo>
                <a:cubicBezTo>
                  <a:pt x="404" y="182"/>
                  <a:pt x="404" y="182"/>
                  <a:pt x="404" y="181"/>
                </a:cubicBezTo>
                <a:cubicBezTo>
                  <a:pt x="404" y="180"/>
                  <a:pt x="403" y="179"/>
                  <a:pt x="403" y="177"/>
                </a:cubicBezTo>
                <a:cubicBezTo>
                  <a:pt x="403" y="176"/>
                  <a:pt x="403" y="174"/>
                  <a:pt x="402" y="173"/>
                </a:cubicBezTo>
                <a:cubicBezTo>
                  <a:pt x="402" y="173"/>
                  <a:pt x="402" y="172"/>
                  <a:pt x="402" y="172"/>
                </a:cubicBezTo>
                <a:cubicBezTo>
                  <a:pt x="402" y="171"/>
                  <a:pt x="402" y="170"/>
                  <a:pt x="402" y="169"/>
                </a:cubicBezTo>
                <a:cubicBezTo>
                  <a:pt x="402" y="168"/>
                  <a:pt x="402" y="168"/>
                  <a:pt x="402" y="167"/>
                </a:cubicBezTo>
                <a:cubicBezTo>
                  <a:pt x="402" y="166"/>
                  <a:pt x="402" y="164"/>
                  <a:pt x="402" y="163"/>
                </a:cubicBezTo>
                <a:cubicBezTo>
                  <a:pt x="402" y="163"/>
                  <a:pt x="402" y="163"/>
                  <a:pt x="402" y="163"/>
                </a:cubicBezTo>
                <a:cubicBezTo>
                  <a:pt x="402" y="161"/>
                  <a:pt x="402" y="160"/>
                  <a:pt x="402" y="159"/>
                </a:cubicBezTo>
                <a:cubicBezTo>
                  <a:pt x="402" y="158"/>
                  <a:pt x="402" y="158"/>
                  <a:pt x="402" y="157"/>
                </a:cubicBezTo>
                <a:cubicBezTo>
                  <a:pt x="402" y="156"/>
                  <a:pt x="402" y="156"/>
                  <a:pt x="402" y="155"/>
                </a:cubicBezTo>
                <a:cubicBezTo>
                  <a:pt x="402" y="154"/>
                  <a:pt x="402" y="154"/>
                  <a:pt x="402" y="153"/>
                </a:cubicBezTo>
                <a:cubicBezTo>
                  <a:pt x="402" y="152"/>
                  <a:pt x="402" y="151"/>
                  <a:pt x="403" y="149"/>
                </a:cubicBezTo>
                <a:cubicBezTo>
                  <a:pt x="403" y="149"/>
                  <a:pt x="403" y="149"/>
                  <a:pt x="403" y="149"/>
                </a:cubicBezTo>
                <a:cubicBezTo>
                  <a:pt x="403" y="143"/>
                  <a:pt x="405" y="138"/>
                  <a:pt x="406" y="132"/>
                </a:cubicBezTo>
                <a:cubicBezTo>
                  <a:pt x="407" y="131"/>
                  <a:pt x="407" y="130"/>
                  <a:pt x="408" y="129"/>
                </a:cubicBezTo>
                <a:cubicBezTo>
                  <a:pt x="408" y="129"/>
                  <a:pt x="408" y="129"/>
                  <a:pt x="408" y="129"/>
                </a:cubicBezTo>
                <a:cubicBezTo>
                  <a:pt x="408" y="128"/>
                  <a:pt x="409" y="127"/>
                  <a:pt x="409" y="126"/>
                </a:cubicBezTo>
                <a:cubicBezTo>
                  <a:pt x="409" y="126"/>
                  <a:pt x="409" y="126"/>
                  <a:pt x="409" y="126"/>
                </a:cubicBezTo>
                <a:cubicBezTo>
                  <a:pt x="410" y="123"/>
                  <a:pt x="412" y="120"/>
                  <a:pt x="413" y="117"/>
                </a:cubicBezTo>
                <a:cubicBezTo>
                  <a:pt x="413" y="117"/>
                  <a:pt x="414" y="116"/>
                  <a:pt x="414" y="116"/>
                </a:cubicBezTo>
                <a:cubicBezTo>
                  <a:pt x="414" y="115"/>
                  <a:pt x="415" y="114"/>
                  <a:pt x="415" y="114"/>
                </a:cubicBezTo>
                <a:cubicBezTo>
                  <a:pt x="415" y="113"/>
                  <a:pt x="415" y="113"/>
                  <a:pt x="416" y="113"/>
                </a:cubicBezTo>
                <a:cubicBezTo>
                  <a:pt x="418" y="109"/>
                  <a:pt x="420" y="106"/>
                  <a:pt x="423" y="102"/>
                </a:cubicBezTo>
                <a:cubicBezTo>
                  <a:pt x="423" y="102"/>
                  <a:pt x="423" y="102"/>
                  <a:pt x="424" y="102"/>
                </a:cubicBezTo>
                <a:cubicBezTo>
                  <a:pt x="424" y="101"/>
                  <a:pt x="425" y="100"/>
                  <a:pt x="426" y="99"/>
                </a:cubicBezTo>
                <a:cubicBezTo>
                  <a:pt x="426" y="99"/>
                  <a:pt x="426" y="99"/>
                  <a:pt x="426" y="99"/>
                </a:cubicBezTo>
                <a:cubicBezTo>
                  <a:pt x="428" y="97"/>
                  <a:pt x="431" y="94"/>
                  <a:pt x="433" y="92"/>
                </a:cubicBezTo>
                <a:cubicBezTo>
                  <a:pt x="433" y="92"/>
                  <a:pt x="433" y="92"/>
                  <a:pt x="433" y="92"/>
                </a:cubicBezTo>
                <a:cubicBezTo>
                  <a:pt x="434" y="91"/>
                  <a:pt x="435" y="90"/>
                  <a:pt x="436" y="90"/>
                </a:cubicBezTo>
                <a:cubicBezTo>
                  <a:pt x="436" y="90"/>
                  <a:pt x="436" y="89"/>
                  <a:pt x="436" y="89"/>
                </a:cubicBezTo>
                <a:cubicBezTo>
                  <a:pt x="437" y="89"/>
                  <a:pt x="438" y="88"/>
                  <a:pt x="439" y="87"/>
                </a:cubicBezTo>
                <a:cubicBezTo>
                  <a:pt x="443" y="84"/>
                  <a:pt x="448" y="81"/>
                  <a:pt x="453" y="78"/>
                </a:cubicBezTo>
                <a:cubicBezTo>
                  <a:pt x="454" y="78"/>
                  <a:pt x="456" y="77"/>
                  <a:pt x="457" y="77"/>
                </a:cubicBezTo>
                <a:cubicBezTo>
                  <a:pt x="457" y="76"/>
                  <a:pt x="458" y="76"/>
                  <a:pt x="458" y="76"/>
                </a:cubicBezTo>
                <a:cubicBezTo>
                  <a:pt x="459" y="76"/>
                  <a:pt x="460" y="75"/>
                  <a:pt x="461" y="75"/>
                </a:cubicBezTo>
                <a:cubicBezTo>
                  <a:pt x="461" y="75"/>
                  <a:pt x="462" y="74"/>
                  <a:pt x="462" y="74"/>
                </a:cubicBezTo>
                <a:cubicBezTo>
                  <a:pt x="463" y="74"/>
                  <a:pt x="465" y="73"/>
                  <a:pt x="466" y="73"/>
                </a:cubicBezTo>
                <a:cubicBezTo>
                  <a:pt x="466" y="73"/>
                  <a:pt x="466" y="73"/>
                  <a:pt x="466" y="73"/>
                </a:cubicBezTo>
                <a:cubicBezTo>
                  <a:pt x="467" y="72"/>
                  <a:pt x="469" y="72"/>
                  <a:pt x="470" y="72"/>
                </a:cubicBezTo>
                <a:cubicBezTo>
                  <a:pt x="471" y="72"/>
                  <a:pt x="471" y="71"/>
                  <a:pt x="471" y="71"/>
                </a:cubicBezTo>
                <a:cubicBezTo>
                  <a:pt x="472" y="71"/>
                  <a:pt x="473" y="71"/>
                  <a:pt x="474" y="71"/>
                </a:cubicBezTo>
                <a:cubicBezTo>
                  <a:pt x="475" y="71"/>
                  <a:pt x="475" y="70"/>
                  <a:pt x="476" y="70"/>
                </a:cubicBezTo>
                <a:cubicBezTo>
                  <a:pt x="477" y="70"/>
                  <a:pt x="479" y="70"/>
                  <a:pt x="480" y="70"/>
                </a:cubicBezTo>
                <a:cubicBezTo>
                  <a:pt x="481" y="69"/>
                  <a:pt x="483" y="69"/>
                  <a:pt x="484" y="69"/>
                </a:cubicBezTo>
                <a:cubicBezTo>
                  <a:pt x="485" y="69"/>
                  <a:pt x="485" y="69"/>
                  <a:pt x="486" y="69"/>
                </a:cubicBezTo>
                <a:cubicBezTo>
                  <a:pt x="487" y="69"/>
                  <a:pt x="488" y="69"/>
                  <a:pt x="489" y="69"/>
                </a:cubicBezTo>
                <a:cubicBezTo>
                  <a:pt x="489" y="68"/>
                  <a:pt x="490" y="68"/>
                  <a:pt x="490" y="68"/>
                </a:cubicBezTo>
                <a:cubicBezTo>
                  <a:pt x="491" y="68"/>
                  <a:pt x="493" y="68"/>
                  <a:pt x="494" y="68"/>
                </a:cubicBezTo>
                <a:cubicBezTo>
                  <a:pt x="494" y="68"/>
                  <a:pt x="494" y="68"/>
                  <a:pt x="495" y="68"/>
                </a:cubicBezTo>
                <a:cubicBezTo>
                  <a:pt x="496" y="68"/>
                  <a:pt x="497" y="68"/>
                  <a:pt x="498" y="68"/>
                </a:cubicBezTo>
                <a:cubicBezTo>
                  <a:pt x="499" y="68"/>
                  <a:pt x="499" y="68"/>
                  <a:pt x="500" y="68"/>
                </a:cubicBezTo>
                <a:cubicBezTo>
                  <a:pt x="501" y="68"/>
                  <a:pt x="502" y="68"/>
                  <a:pt x="503" y="69"/>
                </a:cubicBezTo>
                <a:cubicBezTo>
                  <a:pt x="503" y="69"/>
                  <a:pt x="504" y="69"/>
                  <a:pt x="504" y="69"/>
                </a:cubicBezTo>
                <a:cubicBezTo>
                  <a:pt x="505" y="69"/>
                  <a:pt x="507" y="69"/>
                  <a:pt x="508" y="69"/>
                </a:cubicBezTo>
                <a:cubicBezTo>
                  <a:pt x="514" y="70"/>
                  <a:pt x="519" y="71"/>
                  <a:pt x="525" y="73"/>
                </a:cubicBezTo>
                <a:cubicBezTo>
                  <a:pt x="526" y="73"/>
                  <a:pt x="527" y="74"/>
                  <a:pt x="528" y="74"/>
                </a:cubicBezTo>
                <a:cubicBezTo>
                  <a:pt x="528" y="74"/>
                  <a:pt x="528" y="74"/>
                  <a:pt x="528" y="74"/>
                </a:cubicBezTo>
                <a:cubicBezTo>
                  <a:pt x="529" y="75"/>
                  <a:pt x="530" y="75"/>
                  <a:pt x="531" y="75"/>
                </a:cubicBezTo>
                <a:cubicBezTo>
                  <a:pt x="531" y="75"/>
                  <a:pt x="532" y="76"/>
                  <a:pt x="532" y="76"/>
                </a:cubicBezTo>
                <a:cubicBezTo>
                  <a:pt x="535" y="77"/>
                  <a:pt x="538" y="78"/>
                  <a:pt x="541" y="80"/>
                </a:cubicBezTo>
                <a:cubicBezTo>
                  <a:pt x="541" y="80"/>
                  <a:pt x="541" y="80"/>
                  <a:pt x="541" y="80"/>
                </a:cubicBezTo>
                <a:cubicBezTo>
                  <a:pt x="542" y="81"/>
                  <a:pt x="543" y="81"/>
                  <a:pt x="544" y="82"/>
                </a:cubicBezTo>
                <a:cubicBezTo>
                  <a:pt x="544" y="82"/>
                  <a:pt x="544" y="82"/>
                  <a:pt x="544" y="82"/>
                </a:cubicBezTo>
                <a:cubicBezTo>
                  <a:pt x="548" y="84"/>
                  <a:pt x="552" y="87"/>
                  <a:pt x="555" y="90"/>
                </a:cubicBezTo>
                <a:cubicBezTo>
                  <a:pt x="555" y="90"/>
                  <a:pt x="555" y="90"/>
                  <a:pt x="556" y="90"/>
                </a:cubicBezTo>
                <a:cubicBezTo>
                  <a:pt x="556" y="91"/>
                  <a:pt x="557" y="92"/>
                  <a:pt x="558" y="92"/>
                </a:cubicBezTo>
                <a:cubicBezTo>
                  <a:pt x="558" y="92"/>
                  <a:pt x="558" y="92"/>
                  <a:pt x="558" y="93"/>
                </a:cubicBezTo>
                <a:cubicBezTo>
                  <a:pt x="561" y="95"/>
                  <a:pt x="563" y="97"/>
                  <a:pt x="565" y="100"/>
                </a:cubicBezTo>
                <a:cubicBezTo>
                  <a:pt x="565" y="100"/>
                  <a:pt x="565" y="100"/>
                  <a:pt x="565" y="100"/>
                </a:cubicBezTo>
                <a:cubicBezTo>
                  <a:pt x="566" y="101"/>
                  <a:pt x="567" y="101"/>
                  <a:pt x="567" y="102"/>
                </a:cubicBezTo>
                <a:cubicBezTo>
                  <a:pt x="568" y="102"/>
                  <a:pt x="568" y="103"/>
                  <a:pt x="568" y="103"/>
                </a:cubicBezTo>
                <a:cubicBezTo>
                  <a:pt x="569" y="104"/>
                  <a:pt x="569" y="104"/>
                  <a:pt x="570" y="105"/>
                </a:cubicBezTo>
                <a:cubicBezTo>
                  <a:pt x="573" y="110"/>
                  <a:pt x="576" y="115"/>
                  <a:pt x="579" y="120"/>
                </a:cubicBezTo>
                <a:cubicBezTo>
                  <a:pt x="580" y="121"/>
                  <a:pt x="580" y="122"/>
                  <a:pt x="581" y="123"/>
                </a:cubicBezTo>
                <a:cubicBezTo>
                  <a:pt x="581" y="124"/>
                  <a:pt x="581" y="124"/>
                  <a:pt x="581" y="125"/>
                </a:cubicBezTo>
                <a:cubicBezTo>
                  <a:pt x="582" y="126"/>
                  <a:pt x="582" y="127"/>
                  <a:pt x="582" y="127"/>
                </a:cubicBezTo>
                <a:cubicBezTo>
                  <a:pt x="583" y="128"/>
                  <a:pt x="583" y="128"/>
                  <a:pt x="583" y="129"/>
                </a:cubicBezTo>
                <a:cubicBezTo>
                  <a:pt x="583" y="130"/>
                  <a:pt x="584" y="131"/>
                  <a:pt x="584" y="132"/>
                </a:cubicBezTo>
                <a:cubicBezTo>
                  <a:pt x="584" y="132"/>
                  <a:pt x="584" y="133"/>
                  <a:pt x="584" y="133"/>
                </a:cubicBezTo>
                <a:cubicBezTo>
                  <a:pt x="585" y="134"/>
                  <a:pt x="585" y="135"/>
                  <a:pt x="585" y="137"/>
                </a:cubicBezTo>
                <a:lnTo>
                  <a:pt x="586" y="138"/>
                </a:lnTo>
                <a:cubicBezTo>
                  <a:pt x="586" y="139"/>
                  <a:pt x="586" y="140"/>
                  <a:pt x="587" y="141"/>
                </a:cubicBezTo>
                <a:cubicBezTo>
                  <a:pt x="587" y="141"/>
                  <a:pt x="587" y="142"/>
                  <a:pt x="587" y="142"/>
                </a:cubicBezTo>
                <a:cubicBezTo>
                  <a:pt x="587" y="144"/>
                  <a:pt x="587" y="145"/>
                  <a:pt x="588" y="147"/>
                </a:cubicBezTo>
                <a:cubicBezTo>
                  <a:pt x="588" y="148"/>
                  <a:pt x="588" y="149"/>
                  <a:pt x="588" y="151"/>
                </a:cubicBezTo>
                <a:close/>
                <a:moveTo>
                  <a:pt x="657" y="163"/>
                </a:moveTo>
                <a:lnTo>
                  <a:pt x="648" y="108"/>
                </a:lnTo>
                <a:lnTo>
                  <a:pt x="616" y="114"/>
                </a:lnTo>
                <a:cubicBezTo>
                  <a:pt x="611" y="99"/>
                  <a:pt x="602" y="86"/>
                  <a:pt x="592" y="74"/>
                </a:cubicBezTo>
                <a:lnTo>
                  <a:pt x="611" y="48"/>
                </a:lnTo>
                <a:lnTo>
                  <a:pt x="565" y="16"/>
                </a:lnTo>
                <a:lnTo>
                  <a:pt x="547" y="42"/>
                </a:lnTo>
                <a:cubicBezTo>
                  <a:pt x="533" y="36"/>
                  <a:pt x="518" y="32"/>
                  <a:pt x="502" y="32"/>
                </a:cubicBezTo>
                <a:lnTo>
                  <a:pt x="497" y="0"/>
                </a:lnTo>
                <a:lnTo>
                  <a:pt x="442" y="9"/>
                </a:lnTo>
                <a:lnTo>
                  <a:pt x="447" y="41"/>
                </a:lnTo>
                <a:cubicBezTo>
                  <a:pt x="432" y="47"/>
                  <a:pt x="419" y="55"/>
                  <a:pt x="408" y="65"/>
                </a:cubicBezTo>
                <a:lnTo>
                  <a:pt x="382" y="47"/>
                </a:lnTo>
                <a:lnTo>
                  <a:pt x="350" y="92"/>
                </a:lnTo>
                <a:lnTo>
                  <a:pt x="376" y="110"/>
                </a:lnTo>
                <a:cubicBezTo>
                  <a:pt x="370" y="124"/>
                  <a:pt x="366" y="140"/>
                  <a:pt x="365" y="155"/>
                </a:cubicBezTo>
                <a:lnTo>
                  <a:pt x="334" y="161"/>
                </a:lnTo>
                <a:lnTo>
                  <a:pt x="343" y="215"/>
                </a:lnTo>
                <a:lnTo>
                  <a:pt x="374" y="210"/>
                </a:lnTo>
                <a:cubicBezTo>
                  <a:pt x="380" y="225"/>
                  <a:pt x="388" y="238"/>
                  <a:pt x="399" y="249"/>
                </a:cubicBezTo>
                <a:lnTo>
                  <a:pt x="380" y="275"/>
                </a:lnTo>
                <a:lnTo>
                  <a:pt x="425" y="308"/>
                </a:lnTo>
                <a:lnTo>
                  <a:pt x="444" y="282"/>
                </a:lnTo>
                <a:cubicBezTo>
                  <a:pt x="458" y="288"/>
                  <a:pt x="473" y="291"/>
                  <a:pt x="489" y="292"/>
                </a:cubicBezTo>
                <a:lnTo>
                  <a:pt x="494" y="324"/>
                </a:lnTo>
                <a:lnTo>
                  <a:pt x="549" y="315"/>
                </a:lnTo>
                <a:lnTo>
                  <a:pt x="544" y="283"/>
                </a:lnTo>
                <a:cubicBezTo>
                  <a:pt x="558" y="277"/>
                  <a:pt x="571" y="269"/>
                  <a:pt x="583" y="258"/>
                </a:cubicBezTo>
                <a:lnTo>
                  <a:pt x="609" y="277"/>
                </a:lnTo>
                <a:lnTo>
                  <a:pt x="641" y="232"/>
                </a:lnTo>
                <a:lnTo>
                  <a:pt x="615" y="213"/>
                </a:lnTo>
                <a:cubicBezTo>
                  <a:pt x="621" y="199"/>
                  <a:pt x="625" y="184"/>
                  <a:pt x="625" y="168"/>
                </a:cubicBezTo>
                <a:lnTo>
                  <a:pt x="657" y="163"/>
                </a:lnTo>
                <a:close/>
                <a:moveTo>
                  <a:pt x="453" y="544"/>
                </a:moveTo>
                <a:cubicBezTo>
                  <a:pt x="453" y="545"/>
                  <a:pt x="453" y="546"/>
                  <a:pt x="453" y="547"/>
                </a:cubicBezTo>
                <a:cubicBezTo>
                  <a:pt x="452" y="548"/>
                  <a:pt x="452" y="550"/>
                  <a:pt x="452" y="552"/>
                </a:cubicBezTo>
                <a:cubicBezTo>
                  <a:pt x="452" y="553"/>
                  <a:pt x="451" y="554"/>
                  <a:pt x="451" y="554"/>
                </a:cubicBezTo>
                <a:cubicBezTo>
                  <a:pt x="451" y="557"/>
                  <a:pt x="450" y="559"/>
                  <a:pt x="450" y="562"/>
                </a:cubicBezTo>
                <a:cubicBezTo>
                  <a:pt x="450" y="562"/>
                  <a:pt x="450" y="562"/>
                  <a:pt x="449" y="562"/>
                </a:cubicBezTo>
                <a:cubicBezTo>
                  <a:pt x="449" y="565"/>
                  <a:pt x="448" y="567"/>
                  <a:pt x="448" y="569"/>
                </a:cubicBezTo>
                <a:cubicBezTo>
                  <a:pt x="447" y="570"/>
                  <a:pt x="447" y="570"/>
                  <a:pt x="447" y="571"/>
                </a:cubicBezTo>
                <a:cubicBezTo>
                  <a:pt x="447" y="573"/>
                  <a:pt x="446" y="575"/>
                  <a:pt x="445" y="576"/>
                </a:cubicBezTo>
                <a:cubicBezTo>
                  <a:pt x="445" y="577"/>
                  <a:pt x="445" y="578"/>
                  <a:pt x="445" y="579"/>
                </a:cubicBezTo>
                <a:cubicBezTo>
                  <a:pt x="440" y="591"/>
                  <a:pt x="435" y="602"/>
                  <a:pt x="428" y="612"/>
                </a:cubicBezTo>
                <a:cubicBezTo>
                  <a:pt x="427" y="614"/>
                  <a:pt x="426" y="616"/>
                  <a:pt x="425" y="617"/>
                </a:cubicBezTo>
                <a:cubicBezTo>
                  <a:pt x="424" y="617"/>
                  <a:pt x="424" y="618"/>
                  <a:pt x="424" y="618"/>
                </a:cubicBezTo>
                <a:cubicBezTo>
                  <a:pt x="423" y="620"/>
                  <a:pt x="422" y="621"/>
                  <a:pt x="421" y="623"/>
                </a:cubicBezTo>
                <a:cubicBezTo>
                  <a:pt x="421" y="623"/>
                  <a:pt x="420" y="623"/>
                  <a:pt x="420" y="623"/>
                </a:cubicBezTo>
                <a:cubicBezTo>
                  <a:pt x="417" y="628"/>
                  <a:pt x="413" y="632"/>
                  <a:pt x="409" y="637"/>
                </a:cubicBezTo>
                <a:cubicBezTo>
                  <a:pt x="409" y="637"/>
                  <a:pt x="409" y="637"/>
                  <a:pt x="408" y="637"/>
                </a:cubicBezTo>
                <a:cubicBezTo>
                  <a:pt x="407" y="639"/>
                  <a:pt x="406" y="640"/>
                  <a:pt x="404" y="641"/>
                </a:cubicBezTo>
                <a:cubicBezTo>
                  <a:pt x="404" y="641"/>
                  <a:pt x="404" y="642"/>
                  <a:pt x="404" y="642"/>
                </a:cubicBezTo>
                <a:cubicBezTo>
                  <a:pt x="398" y="648"/>
                  <a:pt x="392" y="653"/>
                  <a:pt x="386" y="657"/>
                </a:cubicBezTo>
                <a:cubicBezTo>
                  <a:pt x="385" y="657"/>
                  <a:pt x="385" y="658"/>
                  <a:pt x="385" y="658"/>
                </a:cubicBezTo>
                <a:cubicBezTo>
                  <a:pt x="383" y="659"/>
                  <a:pt x="382" y="660"/>
                  <a:pt x="380" y="661"/>
                </a:cubicBezTo>
                <a:cubicBezTo>
                  <a:pt x="380" y="661"/>
                  <a:pt x="379" y="661"/>
                  <a:pt x="379" y="662"/>
                </a:cubicBezTo>
                <a:cubicBezTo>
                  <a:pt x="374" y="665"/>
                  <a:pt x="369" y="668"/>
                  <a:pt x="364" y="670"/>
                </a:cubicBezTo>
                <a:cubicBezTo>
                  <a:pt x="364" y="671"/>
                  <a:pt x="364" y="671"/>
                  <a:pt x="363" y="671"/>
                </a:cubicBezTo>
                <a:cubicBezTo>
                  <a:pt x="362" y="672"/>
                  <a:pt x="360" y="672"/>
                  <a:pt x="358" y="673"/>
                </a:cubicBezTo>
                <a:cubicBezTo>
                  <a:pt x="358" y="673"/>
                  <a:pt x="358" y="674"/>
                  <a:pt x="357" y="674"/>
                </a:cubicBezTo>
                <a:cubicBezTo>
                  <a:pt x="356" y="675"/>
                  <a:pt x="354" y="675"/>
                  <a:pt x="352" y="676"/>
                </a:cubicBezTo>
                <a:cubicBezTo>
                  <a:pt x="343" y="680"/>
                  <a:pt x="333" y="683"/>
                  <a:pt x="323" y="685"/>
                </a:cubicBezTo>
                <a:cubicBezTo>
                  <a:pt x="321" y="686"/>
                  <a:pt x="318" y="686"/>
                  <a:pt x="316" y="687"/>
                </a:cubicBezTo>
                <a:cubicBezTo>
                  <a:pt x="315" y="687"/>
                  <a:pt x="314" y="687"/>
                  <a:pt x="313" y="687"/>
                </a:cubicBezTo>
                <a:cubicBezTo>
                  <a:pt x="312" y="687"/>
                  <a:pt x="310" y="688"/>
                  <a:pt x="308" y="688"/>
                </a:cubicBezTo>
                <a:cubicBezTo>
                  <a:pt x="307" y="688"/>
                  <a:pt x="307" y="688"/>
                  <a:pt x="306" y="688"/>
                </a:cubicBezTo>
                <a:cubicBezTo>
                  <a:pt x="304" y="688"/>
                  <a:pt x="301" y="689"/>
                  <a:pt x="299" y="689"/>
                </a:cubicBezTo>
                <a:cubicBezTo>
                  <a:pt x="299" y="689"/>
                  <a:pt x="299" y="689"/>
                  <a:pt x="298" y="689"/>
                </a:cubicBezTo>
                <a:cubicBezTo>
                  <a:pt x="296" y="689"/>
                  <a:pt x="293" y="689"/>
                  <a:pt x="291" y="689"/>
                </a:cubicBezTo>
                <a:cubicBezTo>
                  <a:pt x="290" y="689"/>
                  <a:pt x="289" y="689"/>
                  <a:pt x="289" y="689"/>
                </a:cubicBezTo>
                <a:cubicBezTo>
                  <a:pt x="287" y="689"/>
                  <a:pt x="285" y="689"/>
                  <a:pt x="283" y="689"/>
                </a:cubicBezTo>
                <a:cubicBezTo>
                  <a:pt x="282" y="689"/>
                  <a:pt x="281" y="689"/>
                  <a:pt x="281" y="689"/>
                </a:cubicBezTo>
                <a:cubicBezTo>
                  <a:pt x="278" y="689"/>
                  <a:pt x="276" y="689"/>
                  <a:pt x="273" y="689"/>
                </a:cubicBezTo>
                <a:cubicBezTo>
                  <a:pt x="270" y="688"/>
                  <a:pt x="268" y="688"/>
                  <a:pt x="265" y="688"/>
                </a:cubicBezTo>
                <a:cubicBezTo>
                  <a:pt x="265" y="688"/>
                  <a:pt x="264" y="687"/>
                  <a:pt x="263" y="687"/>
                </a:cubicBezTo>
                <a:cubicBezTo>
                  <a:pt x="261" y="687"/>
                  <a:pt x="259" y="687"/>
                  <a:pt x="257" y="686"/>
                </a:cubicBezTo>
                <a:cubicBezTo>
                  <a:pt x="257" y="686"/>
                  <a:pt x="256" y="686"/>
                  <a:pt x="255" y="686"/>
                </a:cubicBezTo>
                <a:cubicBezTo>
                  <a:pt x="253" y="686"/>
                  <a:pt x="250" y="685"/>
                  <a:pt x="248" y="684"/>
                </a:cubicBezTo>
                <a:cubicBezTo>
                  <a:pt x="248" y="684"/>
                  <a:pt x="247" y="684"/>
                  <a:pt x="247" y="684"/>
                </a:cubicBezTo>
                <a:cubicBezTo>
                  <a:pt x="245" y="684"/>
                  <a:pt x="243" y="683"/>
                  <a:pt x="241" y="683"/>
                </a:cubicBezTo>
                <a:cubicBezTo>
                  <a:pt x="240" y="682"/>
                  <a:pt x="239" y="682"/>
                  <a:pt x="238" y="682"/>
                </a:cubicBezTo>
                <a:cubicBezTo>
                  <a:pt x="237" y="681"/>
                  <a:pt x="235" y="681"/>
                  <a:pt x="233" y="680"/>
                </a:cubicBezTo>
                <a:cubicBezTo>
                  <a:pt x="233" y="680"/>
                  <a:pt x="232" y="680"/>
                  <a:pt x="231" y="679"/>
                </a:cubicBezTo>
                <a:cubicBezTo>
                  <a:pt x="229" y="679"/>
                  <a:pt x="226" y="678"/>
                  <a:pt x="224" y="677"/>
                </a:cubicBezTo>
                <a:cubicBezTo>
                  <a:pt x="215" y="673"/>
                  <a:pt x="206" y="668"/>
                  <a:pt x="197" y="663"/>
                </a:cubicBezTo>
                <a:cubicBezTo>
                  <a:pt x="196" y="662"/>
                  <a:pt x="194" y="661"/>
                  <a:pt x="192" y="660"/>
                </a:cubicBezTo>
                <a:cubicBezTo>
                  <a:pt x="192" y="659"/>
                  <a:pt x="192" y="659"/>
                  <a:pt x="191" y="659"/>
                </a:cubicBezTo>
                <a:cubicBezTo>
                  <a:pt x="190" y="658"/>
                  <a:pt x="188" y="657"/>
                  <a:pt x="187" y="656"/>
                </a:cubicBezTo>
                <a:cubicBezTo>
                  <a:pt x="187" y="655"/>
                  <a:pt x="187" y="655"/>
                  <a:pt x="186" y="655"/>
                </a:cubicBezTo>
                <a:cubicBezTo>
                  <a:pt x="182" y="652"/>
                  <a:pt x="177" y="648"/>
                  <a:pt x="173" y="644"/>
                </a:cubicBezTo>
                <a:cubicBezTo>
                  <a:pt x="173" y="644"/>
                  <a:pt x="172" y="643"/>
                  <a:pt x="172" y="643"/>
                </a:cubicBezTo>
                <a:cubicBezTo>
                  <a:pt x="171" y="642"/>
                  <a:pt x="170" y="641"/>
                  <a:pt x="168" y="639"/>
                </a:cubicBezTo>
                <a:cubicBezTo>
                  <a:pt x="168" y="639"/>
                  <a:pt x="168" y="639"/>
                  <a:pt x="167" y="638"/>
                </a:cubicBezTo>
                <a:cubicBezTo>
                  <a:pt x="162" y="633"/>
                  <a:pt x="157" y="627"/>
                  <a:pt x="152" y="620"/>
                </a:cubicBezTo>
                <a:cubicBezTo>
                  <a:pt x="152" y="620"/>
                  <a:pt x="152" y="620"/>
                  <a:pt x="151" y="619"/>
                </a:cubicBezTo>
                <a:cubicBezTo>
                  <a:pt x="150" y="618"/>
                  <a:pt x="149" y="616"/>
                  <a:pt x="148" y="615"/>
                </a:cubicBezTo>
                <a:cubicBezTo>
                  <a:pt x="148" y="615"/>
                  <a:pt x="148" y="614"/>
                  <a:pt x="148" y="614"/>
                </a:cubicBezTo>
                <a:cubicBezTo>
                  <a:pt x="145" y="609"/>
                  <a:pt x="142" y="604"/>
                  <a:pt x="139" y="599"/>
                </a:cubicBezTo>
                <a:cubicBezTo>
                  <a:pt x="139" y="599"/>
                  <a:pt x="139" y="598"/>
                  <a:pt x="139" y="598"/>
                </a:cubicBezTo>
                <a:cubicBezTo>
                  <a:pt x="138" y="597"/>
                  <a:pt x="137" y="595"/>
                  <a:pt x="136" y="593"/>
                </a:cubicBezTo>
                <a:cubicBezTo>
                  <a:pt x="136" y="593"/>
                  <a:pt x="136" y="592"/>
                  <a:pt x="136" y="592"/>
                </a:cubicBezTo>
                <a:cubicBezTo>
                  <a:pt x="135" y="590"/>
                  <a:pt x="134" y="589"/>
                  <a:pt x="133" y="587"/>
                </a:cubicBezTo>
                <a:cubicBezTo>
                  <a:pt x="129" y="575"/>
                  <a:pt x="125" y="563"/>
                  <a:pt x="123" y="551"/>
                </a:cubicBezTo>
                <a:cubicBezTo>
                  <a:pt x="123" y="550"/>
                  <a:pt x="122" y="549"/>
                  <a:pt x="122" y="548"/>
                </a:cubicBezTo>
                <a:cubicBezTo>
                  <a:pt x="122" y="547"/>
                  <a:pt x="122" y="545"/>
                  <a:pt x="122" y="543"/>
                </a:cubicBezTo>
                <a:cubicBezTo>
                  <a:pt x="122" y="542"/>
                  <a:pt x="121" y="541"/>
                  <a:pt x="121" y="541"/>
                </a:cubicBezTo>
                <a:cubicBezTo>
                  <a:pt x="121" y="538"/>
                  <a:pt x="121" y="536"/>
                  <a:pt x="121" y="534"/>
                </a:cubicBezTo>
                <a:cubicBezTo>
                  <a:pt x="121" y="534"/>
                  <a:pt x="121" y="533"/>
                  <a:pt x="121" y="533"/>
                </a:cubicBezTo>
                <a:cubicBezTo>
                  <a:pt x="120" y="531"/>
                  <a:pt x="120" y="528"/>
                  <a:pt x="120" y="526"/>
                </a:cubicBezTo>
                <a:cubicBezTo>
                  <a:pt x="120" y="525"/>
                  <a:pt x="120" y="524"/>
                  <a:pt x="120" y="523"/>
                </a:cubicBezTo>
                <a:cubicBezTo>
                  <a:pt x="120" y="522"/>
                  <a:pt x="120" y="520"/>
                  <a:pt x="120" y="518"/>
                </a:cubicBezTo>
                <a:cubicBezTo>
                  <a:pt x="120" y="517"/>
                  <a:pt x="120" y="516"/>
                  <a:pt x="120" y="515"/>
                </a:cubicBezTo>
                <a:cubicBezTo>
                  <a:pt x="121" y="513"/>
                  <a:pt x="121" y="510"/>
                  <a:pt x="121" y="508"/>
                </a:cubicBezTo>
                <a:cubicBezTo>
                  <a:pt x="121" y="505"/>
                  <a:pt x="121" y="503"/>
                  <a:pt x="122" y="500"/>
                </a:cubicBezTo>
                <a:cubicBezTo>
                  <a:pt x="122" y="499"/>
                  <a:pt x="122" y="499"/>
                  <a:pt x="122" y="498"/>
                </a:cubicBezTo>
                <a:cubicBezTo>
                  <a:pt x="122" y="496"/>
                  <a:pt x="123" y="494"/>
                  <a:pt x="123" y="492"/>
                </a:cubicBezTo>
                <a:cubicBezTo>
                  <a:pt x="123" y="492"/>
                  <a:pt x="123" y="491"/>
                  <a:pt x="123" y="490"/>
                </a:cubicBezTo>
                <a:cubicBezTo>
                  <a:pt x="124" y="488"/>
                  <a:pt x="124" y="485"/>
                  <a:pt x="125" y="483"/>
                </a:cubicBezTo>
                <a:cubicBezTo>
                  <a:pt x="125" y="482"/>
                  <a:pt x="125" y="482"/>
                  <a:pt x="125" y="482"/>
                </a:cubicBezTo>
                <a:cubicBezTo>
                  <a:pt x="126" y="480"/>
                  <a:pt x="126" y="478"/>
                  <a:pt x="127" y="475"/>
                </a:cubicBezTo>
                <a:cubicBezTo>
                  <a:pt x="127" y="475"/>
                  <a:pt x="127" y="474"/>
                  <a:pt x="128" y="473"/>
                </a:cubicBezTo>
                <a:cubicBezTo>
                  <a:pt x="128" y="471"/>
                  <a:pt x="129" y="470"/>
                  <a:pt x="129" y="468"/>
                </a:cubicBezTo>
                <a:cubicBezTo>
                  <a:pt x="130" y="467"/>
                  <a:pt x="130" y="467"/>
                  <a:pt x="130" y="466"/>
                </a:cubicBezTo>
                <a:cubicBezTo>
                  <a:pt x="131" y="464"/>
                  <a:pt x="132" y="461"/>
                  <a:pt x="133" y="459"/>
                </a:cubicBezTo>
                <a:cubicBezTo>
                  <a:pt x="133" y="459"/>
                  <a:pt x="133" y="459"/>
                  <a:pt x="133" y="459"/>
                </a:cubicBezTo>
                <a:cubicBezTo>
                  <a:pt x="136" y="450"/>
                  <a:pt x="141" y="440"/>
                  <a:pt x="147" y="432"/>
                </a:cubicBezTo>
                <a:cubicBezTo>
                  <a:pt x="148" y="430"/>
                  <a:pt x="149" y="429"/>
                  <a:pt x="150" y="427"/>
                </a:cubicBezTo>
                <a:cubicBezTo>
                  <a:pt x="150" y="427"/>
                  <a:pt x="150" y="426"/>
                  <a:pt x="151" y="426"/>
                </a:cubicBezTo>
                <a:cubicBezTo>
                  <a:pt x="152" y="425"/>
                  <a:pt x="153" y="423"/>
                  <a:pt x="154" y="422"/>
                </a:cubicBezTo>
                <a:cubicBezTo>
                  <a:pt x="154" y="422"/>
                  <a:pt x="154" y="421"/>
                  <a:pt x="154" y="421"/>
                </a:cubicBezTo>
                <a:cubicBezTo>
                  <a:pt x="158" y="416"/>
                  <a:pt x="162" y="412"/>
                  <a:pt x="166" y="408"/>
                </a:cubicBezTo>
                <a:cubicBezTo>
                  <a:pt x="166" y="407"/>
                  <a:pt x="166" y="407"/>
                  <a:pt x="166" y="407"/>
                </a:cubicBezTo>
                <a:cubicBezTo>
                  <a:pt x="168" y="406"/>
                  <a:pt x="169" y="404"/>
                  <a:pt x="170" y="403"/>
                </a:cubicBezTo>
                <a:cubicBezTo>
                  <a:pt x="170" y="403"/>
                  <a:pt x="171" y="403"/>
                  <a:pt x="171" y="402"/>
                </a:cubicBezTo>
                <a:cubicBezTo>
                  <a:pt x="177" y="397"/>
                  <a:pt x="183" y="392"/>
                  <a:pt x="189" y="387"/>
                </a:cubicBezTo>
                <a:cubicBezTo>
                  <a:pt x="189" y="387"/>
                  <a:pt x="190" y="387"/>
                  <a:pt x="190" y="386"/>
                </a:cubicBezTo>
                <a:cubicBezTo>
                  <a:pt x="192" y="385"/>
                  <a:pt x="193" y="384"/>
                  <a:pt x="195" y="383"/>
                </a:cubicBezTo>
                <a:cubicBezTo>
                  <a:pt x="195" y="383"/>
                  <a:pt x="195" y="383"/>
                  <a:pt x="195" y="383"/>
                </a:cubicBezTo>
                <a:cubicBezTo>
                  <a:pt x="200" y="379"/>
                  <a:pt x="205" y="377"/>
                  <a:pt x="211" y="374"/>
                </a:cubicBezTo>
                <a:cubicBezTo>
                  <a:pt x="211" y="374"/>
                  <a:pt x="211" y="374"/>
                  <a:pt x="211" y="373"/>
                </a:cubicBezTo>
                <a:cubicBezTo>
                  <a:pt x="213" y="373"/>
                  <a:pt x="215" y="372"/>
                  <a:pt x="216" y="371"/>
                </a:cubicBezTo>
                <a:cubicBezTo>
                  <a:pt x="217" y="371"/>
                  <a:pt x="217" y="371"/>
                  <a:pt x="217" y="371"/>
                </a:cubicBezTo>
                <a:cubicBezTo>
                  <a:pt x="219" y="370"/>
                  <a:pt x="221" y="369"/>
                  <a:pt x="223" y="368"/>
                </a:cubicBezTo>
                <a:cubicBezTo>
                  <a:pt x="232" y="364"/>
                  <a:pt x="242" y="361"/>
                  <a:pt x="252" y="359"/>
                </a:cubicBezTo>
                <a:cubicBezTo>
                  <a:pt x="254" y="358"/>
                  <a:pt x="256" y="358"/>
                  <a:pt x="259" y="358"/>
                </a:cubicBezTo>
                <a:cubicBezTo>
                  <a:pt x="260" y="357"/>
                  <a:pt x="260" y="357"/>
                  <a:pt x="261" y="357"/>
                </a:cubicBezTo>
                <a:cubicBezTo>
                  <a:pt x="263" y="357"/>
                  <a:pt x="265" y="357"/>
                  <a:pt x="266" y="356"/>
                </a:cubicBezTo>
                <a:cubicBezTo>
                  <a:pt x="267" y="356"/>
                  <a:pt x="268" y="356"/>
                  <a:pt x="269" y="356"/>
                </a:cubicBezTo>
                <a:cubicBezTo>
                  <a:pt x="271" y="356"/>
                  <a:pt x="273" y="356"/>
                  <a:pt x="276" y="356"/>
                </a:cubicBezTo>
                <a:cubicBezTo>
                  <a:pt x="276" y="355"/>
                  <a:pt x="276" y="355"/>
                  <a:pt x="276" y="355"/>
                </a:cubicBezTo>
                <a:cubicBezTo>
                  <a:pt x="279" y="355"/>
                  <a:pt x="281" y="355"/>
                  <a:pt x="284" y="355"/>
                </a:cubicBezTo>
                <a:cubicBezTo>
                  <a:pt x="285" y="355"/>
                  <a:pt x="285" y="355"/>
                  <a:pt x="286" y="355"/>
                </a:cubicBezTo>
                <a:cubicBezTo>
                  <a:pt x="288" y="355"/>
                  <a:pt x="290" y="355"/>
                  <a:pt x="292" y="355"/>
                </a:cubicBezTo>
                <a:cubicBezTo>
                  <a:pt x="292" y="355"/>
                  <a:pt x="293" y="355"/>
                  <a:pt x="294" y="355"/>
                </a:cubicBezTo>
                <a:cubicBezTo>
                  <a:pt x="297" y="355"/>
                  <a:pt x="299" y="356"/>
                  <a:pt x="302" y="356"/>
                </a:cubicBezTo>
                <a:cubicBezTo>
                  <a:pt x="304" y="356"/>
                  <a:pt x="307" y="356"/>
                  <a:pt x="309" y="357"/>
                </a:cubicBezTo>
                <a:cubicBezTo>
                  <a:pt x="310" y="357"/>
                  <a:pt x="311" y="357"/>
                  <a:pt x="312" y="357"/>
                </a:cubicBezTo>
                <a:cubicBezTo>
                  <a:pt x="314" y="357"/>
                  <a:pt x="315" y="357"/>
                  <a:pt x="317" y="358"/>
                </a:cubicBezTo>
                <a:cubicBezTo>
                  <a:pt x="318" y="358"/>
                  <a:pt x="319" y="358"/>
                  <a:pt x="319" y="358"/>
                </a:cubicBezTo>
                <a:cubicBezTo>
                  <a:pt x="322" y="359"/>
                  <a:pt x="324" y="359"/>
                  <a:pt x="327" y="360"/>
                </a:cubicBezTo>
                <a:cubicBezTo>
                  <a:pt x="327" y="360"/>
                  <a:pt x="327" y="360"/>
                  <a:pt x="328" y="360"/>
                </a:cubicBezTo>
                <a:cubicBezTo>
                  <a:pt x="330" y="361"/>
                  <a:pt x="332" y="361"/>
                  <a:pt x="334" y="362"/>
                </a:cubicBezTo>
                <a:cubicBezTo>
                  <a:pt x="335" y="362"/>
                  <a:pt x="336" y="362"/>
                  <a:pt x="336" y="363"/>
                </a:cubicBezTo>
                <a:cubicBezTo>
                  <a:pt x="338" y="363"/>
                  <a:pt x="340" y="363"/>
                  <a:pt x="341" y="364"/>
                </a:cubicBezTo>
                <a:cubicBezTo>
                  <a:pt x="342" y="364"/>
                  <a:pt x="343" y="365"/>
                  <a:pt x="344" y="365"/>
                </a:cubicBezTo>
                <a:cubicBezTo>
                  <a:pt x="346" y="366"/>
                  <a:pt x="348" y="367"/>
                  <a:pt x="350" y="367"/>
                </a:cubicBezTo>
                <a:cubicBezTo>
                  <a:pt x="360" y="371"/>
                  <a:pt x="369" y="376"/>
                  <a:pt x="378" y="382"/>
                </a:cubicBezTo>
                <a:cubicBezTo>
                  <a:pt x="379" y="383"/>
                  <a:pt x="381" y="384"/>
                  <a:pt x="382" y="385"/>
                </a:cubicBezTo>
                <a:cubicBezTo>
                  <a:pt x="383" y="385"/>
                  <a:pt x="383" y="385"/>
                  <a:pt x="383" y="385"/>
                </a:cubicBezTo>
                <a:cubicBezTo>
                  <a:pt x="385" y="387"/>
                  <a:pt x="386" y="388"/>
                  <a:pt x="388" y="389"/>
                </a:cubicBezTo>
                <a:cubicBezTo>
                  <a:pt x="388" y="389"/>
                  <a:pt x="388" y="389"/>
                  <a:pt x="388" y="389"/>
                </a:cubicBezTo>
                <a:cubicBezTo>
                  <a:pt x="393" y="393"/>
                  <a:pt x="398" y="397"/>
                  <a:pt x="402" y="401"/>
                </a:cubicBezTo>
                <a:cubicBezTo>
                  <a:pt x="402" y="401"/>
                  <a:pt x="402" y="401"/>
                  <a:pt x="402" y="401"/>
                </a:cubicBezTo>
                <a:cubicBezTo>
                  <a:pt x="404" y="402"/>
                  <a:pt x="405" y="404"/>
                  <a:pt x="406" y="405"/>
                </a:cubicBezTo>
                <a:cubicBezTo>
                  <a:pt x="407" y="405"/>
                  <a:pt x="407" y="406"/>
                  <a:pt x="407" y="406"/>
                </a:cubicBezTo>
                <a:cubicBezTo>
                  <a:pt x="413" y="412"/>
                  <a:pt x="418" y="418"/>
                  <a:pt x="422" y="424"/>
                </a:cubicBezTo>
                <a:cubicBezTo>
                  <a:pt x="423" y="424"/>
                  <a:pt x="423" y="425"/>
                  <a:pt x="423" y="425"/>
                </a:cubicBezTo>
                <a:cubicBezTo>
                  <a:pt x="424" y="426"/>
                  <a:pt x="425" y="428"/>
                  <a:pt x="426" y="429"/>
                </a:cubicBezTo>
                <a:cubicBezTo>
                  <a:pt x="426" y="430"/>
                  <a:pt x="427" y="430"/>
                  <a:pt x="427" y="430"/>
                </a:cubicBezTo>
                <a:cubicBezTo>
                  <a:pt x="430" y="435"/>
                  <a:pt x="433" y="440"/>
                  <a:pt x="436" y="445"/>
                </a:cubicBezTo>
                <a:cubicBezTo>
                  <a:pt x="436" y="446"/>
                  <a:pt x="436" y="446"/>
                  <a:pt x="436" y="446"/>
                </a:cubicBezTo>
                <a:cubicBezTo>
                  <a:pt x="437" y="448"/>
                  <a:pt x="438" y="449"/>
                  <a:pt x="438" y="451"/>
                </a:cubicBezTo>
                <a:cubicBezTo>
                  <a:pt x="439" y="451"/>
                  <a:pt x="439" y="452"/>
                  <a:pt x="439" y="452"/>
                </a:cubicBezTo>
                <a:cubicBezTo>
                  <a:pt x="440" y="454"/>
                  <a:pt x="441" y="456"/>
                  <a:pt x="441" y="457"/>
                </a:cubicBezTo>
                <a:cubicBezTo>
                  <a:pt x="445" y="467"/>
                  <a:pt x="448" y="476"/>
                  <a:pt x="451" y="487"/>
                </a:cubicBezTo>
                <a:cubicBezTo>
                  <a:pt x="451" y="489"/>
                  <a:pt x="452" y="491"/>
                  <a:pt x="452" y="494"/>
                </a:cubicBezTo>
                <a:cubicBezTo>
                  <a:pt x="452" y="494"/>
                  <a:pt x="452" y="495"/>
                  <a:pt x="452" y="496"/>
                </a:cubicBezTo>
                <a:cubicBezTo>
                  <a:pt x="453" y="498"/>
                  <a:pt x="453" y="499"/>
                  <a:pt x="453" y="501"/>
                </a:cubicBezTo>
                <a:cubicBezTo>
                  <a:pt x="453" y="502"/>
                  <a:pt x="453" y="503"/>
                  <a:pt x="453" y="504"/>
                </a:cubicBezTo>
                <a:cubicBezTo>
                  <a:pt x="454" y="506"/>
                  <a:pt x="454" y="508"/>
                  <a:pt x="454" y="510"/>
                </a:cubicBezTo>
                <a:cubicBezTo>
                  <a:pt x="454" y="511"/>
                  <a:pt x="454" y="511"/>
                  <a:pt x="454" y="511"/>
                </a:cubicBezTo>
                <a:cubicBezTo>
                  <a:pt x="454" y="514"/>
                  <a:pt x="454" y="516"/>
                  <a:pt x="454" y="519"/>
                </a:cubicBezTo>
                <a:lnTo>
                  <a:pt x="454" y="521"/>
                </a:lnTo>
                <a:cubicBezTo>
                  <a:pt x="454" y="523"/>
                  <a:pt x="454" y="525"/>
                  <a:pt x="454" y="527"/>
                </a:cubicBezTo>
                <a:cubicBezTo>
                  <a:pt x="454" y="527"/>
                  <a:pt x="454" y="528"/>
                  <a:pt x="454" y="529"/>
                </a:cubicBezTo>
                <a:cubicBezTo>
                  <a:pt x="454" y="531"/>
                  <a:pt x="454" y="534"/>
                  <a:pt x="454" y="537"/>
                </a:cubicBezTo>
                <a:cubicBezTo>
                  <a:pt x="454" y="539"/>
                  <a:pt x="453" y="542"/>
                  <a:pt x="453" y="544"/>
                </a:cubicBezTo>
                <a:close/>
                <a:moveTo>
                  <a:pt x="566" y="596"/>
                </a:moveTo>
                <a:lnTo>
                  <a:pt x="575" y="497"/>
                </a:lnTo>
                <a:lnTo>
                  <a:pt x="518" y="492"/>
                </a:lnTo>
                <a:cubicBezTo>
                  <a:pt x="514" y="464"/>
                  <a:pt x="506" y="438"/>
                  <a:pt x="493" y="414"/>
                </a:cubicBezTo>
                <a:lnTo>
                  <a:pt x="537" y="377"/>
                </a:lnTo>
                <a:lnTo>
                  <a:pt x="473" y="301"/>
                </a:lnTo>
                <a:lnTo>
                  <a:pt x="429" y="338"/>
                </a:lnTo>
                <a:cubicBezTo>
                  <a:pt x="408" y="321"/>
                  <a:pt x="383" y="308"/>
                  <a:pt x="356" y="300"/>
                </a:cubicBezTo>
                <a:lnTo>
                  <a:pt x="361" y="243"/>
                </a:lnTo>
                <a:lnTo>
                  <a:pt x="262" y="235"/>
                </a:lnTo>
                <a:lnTo>
                  <a:pt x="258" y="291"/>
                </a:lnTo>
                <a:cubicBezTo>
                  <a:pt x="230" y="295"/>
                  <a:pt x="203" y="304"/>
                  <a:pt x="179" y="316"/>
                </a:cubicBezTo>
                <a:lnTo>
                  <a:pt x="142" y="273"/>
                </a:lnTo>
                <a:lnTo>
                  <a:pt x="66" y="336"/>
                </a:lnTo>
                <a:lnTo>
                  <a:pt x="103" y="380"/>
                </a:lnTo>
                <a:cubicBezTo>
                  <a:pt x="87" y="402"/>
                  <a:pt x="73" y="426"/>
                  <a:pt x="65" y="453"/>
                </a:cubicBezTo>
                <a:lnTo>
                  <a:pt x="8" y="448"/>
                </a:lnTo>
                <a:lnTo>
                  <a:pt x="0" y="547"/>
                </a:lnTo>
                <a:lnTo>
                  <a:pt x="57" y="552"/>
                </a:lnTo>
                <a:cubicBezTo>
                  <a:pt x="60" y="580"/>
                  <a:pt x="69" y="606"/>
                  <a:pt x="82" y="631"/>
                </a:cubicBezTo>
                <a:lnTo>
                  <a:pt x="38" y="667"/>
                </a:lnTo>
                <a:lnTo>
                  <a:pt x="102" y="743"/>
                </a:lnTo>
                <a:lnTo>
                  <a:pt x="145" y="706"/>
                </a:lnTo>
                <a:cubicBezTo>
                  <a:pt x="167" y="723"/>
                  <a:pt x="192" y="736"/>
                  <a:pt x="219" y="744"/>
                </a:cubicBezTo>
                <a:lnTo>
                  <a:pt x="214" y="801"/>
                </a:lnTo>
                <a:lnTo>
                  <a:pt x="312" y="810"/>
                </a:lnTo>
                <a:lnTo>
                  <a:pt x="317" y="753"/>
                </a:lnTo>
                <a:cubicBezTo>
                  <a:pt x="345" y="749"/>
                  <a:pt x="372" y="741"/>
                  <a:pt x="396" y="728"/>
                </a:cubicBezTo>
                <a:lnTo>
                  <a:pt x="432" y="772"/>
                </a:lnTo>
                <a:lnTo>
                  <a:pt x="508" y="708"/>
                </a:lnTo>
                <a:lnTo>
                  <a:pt x="471" y="664"/>
                </a:lnTo>
                <a:cubicBezTo>
                  <a:pt x="488" y="643"/>
                  <a:pt x="501" y="618"/>
                  <a:pt x="509" y="591"/>
                </a:cubicBezTo>
                <a:lnTo>
                  <a:pt x="566" y="596"/>
                </a:lnTo>
                <a:close/>
                <a:moveTo>
                  <a:pt x="863" y="462"/>
                </a:moveTo>
                <a:cubicBezTo>
                  <a:pt x="863" y="462"/>
                  <a:pt x="862" y="463"/>
                  <a:pt x="862" y="463"/>
                </a:cubicBezTo>
                <a:cubicBezTo>
                  <a:pt x="862" y="465"/>
                  <a:pt x="862" y="466"/>
                  <a:pt x="862" y="467"/>
                </a:cubicBezTo>
                <a:cubicBezTo>
                  <a:pt x="862" y="468"/>
                  <a:pt x="862" y="468"/>
                  <a:pt x="861" y="469"/>
                </a:cubicBezTo>
                <a:cubicBezTo>
                  <a:pt x="861" y="470"/>
                  <a:pt x="861" y="472"/>
                  <a:pt x="860" y="474"/>
                </a:cubicBezTo>
                <a:cubicBezTo>
                  <a:pt x="860" y="474"/>
                  <a:pt x="860" y="474"/>
                  <a:pt x="860" y="474"/>
                </a:cubicBezTo>
                <a:cubicBezTo>
                  <a:pt x="860" y="476"/>
                  <a:pt x="859" y="477"/>
                  <a:pt x="859" y="479"/>
                </a:cubicBezTo>
                <a:cubicBezTo>
                  <a:pt x="859" y="479"/>
                  <a:pt x="859" y="480"/>
                  <a:pt x="858" y="481"/>
                </a:cubicBezTo>
                <a:cubicBezTo>
                  <a:pt x="858" y="482"/>
                  <a:pt x="858" y="483"/>
                  <a:pt x="857" y="484"/>
                </a:cubicBezTo>
                <a:cubicBezTo>
                  <a:pt x="857" y="485"/>
                  <a:pt x="857" y="485"/>
                  <a:pt x="857" y="486"/>
                </a:cubicBezTo>
                <a:cubicBezTo>
                  <a:pt x="854" y="494"/>
                  <a:pt x="850" y="502"/>
                  <a:pt x="845" y="510"/>
                </a:cubicBezTo>
                <a:cubicBezTo>
                  <a:pt x="844" y="511"/>
                  <a:pt x="844" y="512"/>
                  <a:pt x="843" y="513"/>
                </a:cubicBezTo>
                <a:cubicBezTo>
                  <a:pt x="843" y="513"/>
                  <a:pt x="842" y="513"/>
                  <a:pt x="842" y="513"/>
                </a:cubicBezTo>
                <a:cubicBezTo>
                  <a:pt x="842" y="515"/>
                  <a:pt x="841" y="516"/>
                  <a:pt x="840" y="517"/>
                </a:cubicBezTo>
                <a:cubicBezTo>
                  <a:pt x="840" y="517"/>
                  <a:pt x="840" y="517"/>
                  <a:pt x="840" y="517"/>
                </a:cubicBezTo>
                <a:cubicBezTo>
                  <a:pt x="837" y="520"/>
                  <a:pt x="835" y="524"/>
                  <a:pt x="832" y="527"/>
                </a:cubicBezTo>
                <a:cubicBezTo>
                  <a:pt x="832" y="527"/>
                  <a:pt x="831" y="527"/>
                  <a:pt x="831" y="527"/>
                </a:cubicBezTo>
                <a:cubicBezTo>
                  <a:pt x="830" y="528"/>
                  <a:pt x="829" y="529"/>
                  <a:pt x="829" y="530"/>
                </a:cubicBezTo>
                <a:cubicBezTo>
                  <a:pt x="828" y="530"/>
                  <a:pt x="828" y="530"/>
                  <a:pt x="828" y="530"/>
                </a:cubicBezTo>
                <a:cubicBezTo>
                  <a:pt x="824" y="534"/>
                  <a:pt x="820" y="538"/>
                  <a:pt x="815" y="541"/>
                </a:cubicBezTo>
                <a:cubicBezTo>
                  <a:pt x="815" y="541"/>
                  <a:pt x="815" y="541"/>
                  <a:pt x="815" y="541"/>
                </a:cubicBezTo>
                <a:cubicBezTo>
                  <a:pt x="814" y="542"/>
                  <a:pt x="812" y="543"/>
                  <a:pt x="811" y="544"/>
                </a:cubicBezTo>
                <a:cubicBezTo>
                  <a:pt x="811" y="544"/>
                  <a:pt x="811" y="544"/>
                  <a:pt x="811" y="544"/>
                </a:cubicBezTo>
                <a:cubicBezTo>
                  <a:pt x="807" y="546"/>
                  <a:pt x="804" y="548"/>
                  <a:pt x="800" y="550"/>
                </a:cubicBezTo>
                <a:cubicBezTo>
                  <a:pt x="800" y="550"/>
                  <a:pt x="800" y="550"/>
                  <a:pt x="800" y="551"/>
                </a:cubicBezTo>
                <a:cubicBezTo>
                  <a:pt x="799" y="551"/>
                  <a:pt x="797" y="552"/>
                  <a:pt x="796" y="552"/>
                </a:cubicBezTo>
                <a:cubicBezTo>
                  <a:pt x="796" y="552"/>
                  <a:pt x="796" y="552"/>
                  <a:pt x="795" y="553"/>
                </a:cubicBezTo>
                <a:cubicBezTo>
                  <a:pt x="794" y="553"/>
                  <a:pt x="793" y="554"/>
                  <a:pt x="792" y="554"/>
                </a:cubicBezTo>
                <a:cubicBezTo>
                  <a:pt x="785" y="557"/>
                  <a:pt x="778" y="559"/>
                  <a:pt x="771" y="561"/>
                </a:cubicBezTo>
                <a:cubicBezTo>
                  <a:pt x="770" y="561"/>
                  <a:pt x="768" y="561"/>
                  <a:pt x="766" y="562"/>
                </a:cubicBezTo>
                <a:cubicBezTo>
                  <a:pt x="766" y="562"/>
                  <a:pt x="765" y="562"/>
                  <a:pt x="765" y="562"/>
                </a:cubicBezTo>
                <a:cubicBezTo>
                  <a:pt x="763" y="562"/>
                  <a:pt x="762" y="562"/>
                  <a:pt x="761" y="562"/>
                </a:cubicBezTo>
                <a:cubicBezTo>
                  <a:pt x="760" y="563"/>
                  <a:pt x="760" y="563"/>
                  <a:pt x="759" y="563"/>
                </a:cubicBezTo>
                <a:cubicBezTo>
                  <a:pt x="758" y="563"/>
                  <a:pt x="756" y="563"/>
                  <a:pt x="755" y="563"/>
                </a:cubicBezTo>
                <a:cubicBezTo>
                  <a:pt x="754" y="563"/>
                  <a:pt x="754" y="563"/>
                  <a:pt x="754" y="563"/>
                </a:cubicBezTo>
                <a:cubicBezTo>
                  <a:pt x="752" y="563"/>
                  <a:pt x="751" y="563"/>
                  <a:pt x="749" y="563"/>
                </a:cubicBezTo>
                <a:cubicBezTo>
                  <a:pt x="748" y="563"/>
                  <a:pt x="748" y="563"/>
                  <a:pt x="747" y="563"/>
                </a:cubicBezTo>
                <a:cubicBezTo>
                  <a:pt x="746" y="563"/>
                  <a:pt x="745" y="563"/>
                  <a:pt x="743" y="563"/>
                </a:cubicBezTo>
                <a:cubicBezTo>
                  <a:pt x="743" y="563"/>
                  <a:pt x="742" y="563"/>
                  <a:pt x="742" y="563"/>
                </a:cubicBezTo>
                <a:cubicBezTo>
                  <a:pt x="740" y="563"/>
                  <a:pt x="738" y="563"/>
                  <a:pt x="736" y="563"/>
                </a:cubicBezTo>
                <a:cubicBezTo>
                  <a:pt x="734" y="563"/>
                  <a:pt x="733" y="563"/>
                  <a:pt x="731" y="562"/>
                </a:cubicBezTo>
                <a:cubicBezTo>
                  <a:pt x="730" y="562"/>
                  <a:pt x="730" y="562"/>
                  <a:pt x="729" y="562"/>
                </a:cubicBezTo>
                <a:cubicBezTo>
                  <a:pt x="728" y="562"/>
                  <a:pt x="727" y="562"/>
                  <a:pt x="725" y="562"/>
                </a:cubicBezTo>
                <a:cubicBezTo>
                  <a:pt x="725" y="561"/>
                  <a:pt x="724" y="561"/>
                  <a:pt x="724" y="561"/>
                </a:cubicBezTo>
                <a:cubicBezTo>
                  <a:pt x="722" y="561"/>
                  <a:pt x="720" y="561"/>
                  <a:pt x="719" y="560"/>
                </a:cubicBezTo>
                <a:cubicBezTo>
                  <a:pt x="718" y="560"/>
                  <a:pt x="718" y="560"/>
                  <a:pt x="718" y="560"/>
                </a:cubicBezTo>
                <a:cubicBezTo>
                  <a:pt x="717" y="560"/>
                  <a:pt x="715" y="559"/>
                  <a:pt x="714" y="559"/>
                </a:cubicBezTo>
                <a:cubicBezTo>
                  <a:pt x="713" y="559"/>
                  <a:pt x="712" y="558"/>
                  <a:pt x="712" y="558"/>
                </a:cubicBezTo>
                <a:cubicBezTo>
                  <a:pt x="711" y="558"/>
                  <a:pt x="710" y="558"/>
                  <a:pt x="708" y="557"/>
                </a:cubicBezTo>
                <a:cubicBezTo>
                  <a:pt x="708" y="557"/>
                  <a:pt x="707" y="557"/>
                  <a:pt x="707" y="557"/>
                </a:cubicBezTo>
                <a:cubicBezTo>
                  <a:pt x="705" y="556"/>
                  <a:pt x="704" y="555"/>
                  <a:pt x="702" y="555"/>
                </a:cubicBezTo>
                <a:cubicBezTo>
                  <a:pt x="695" y="552"/>
                  <a:pt x="689" y="549"/>
                  <a:pt x="683" y="545"/>
                </a:cubicBezTo>
                <a:cubicBezTo>
                  <a:pt x="682" y="544"/>
                  <a:pt x="681" y="543"/>
                  <a:pt x="680" y="543"/>
                </a:cubicBezTo>
                <a:cubicBezTo>
                  <a:pt x="679" y="542"/>
                  <a:pt x="679" y="542"/>
                  <a:pt x="679" y="542"/>
                </a:cubicBezTo>
                <a:cubicBezTo>
                  <a:pt x="678" y="541"/>
                  <a:pt x="677" y="541"/>
                  <a:pt x="676" y="540"/>
                </a:cubicBezTo>
                <a:cubicBezTo>
                  <a:pt x="676" y="540"/>
                  <a:pt x="676" y="540"/>
                  <a:pt x="675" y="539"/>
                </a:cubicBezTo>
                <a:cubicBezTo>
                  <a:pt x="672" y="537"/>
                  <a:pt x="669" y="534"/>
                  <a:pt x="666" y="531"/>
                </a:cubicBezTo>
                <a:cubicBezTo>
                  <a:pt x="666" y="531"/>
                  <a:pt x="666" y="531"/>
                  <a:pt x="665" y="531"/>
                </a:cubicBezTo>
                <a:cubicBezTo>
                  <a:pt x="665" y="530"/>
                  <a:pt x="664" y="529"/>
                  <a:pt x="663" y="528"/>
                </a:cubicBezTo>
                <a:cubicBezTo>
                  <a:pt x="663" y="528"/>
                  <a:pt x="662" y="528"/>
                  <a:pt x="662" y="528"/>
                </a:cubicBezTo>
                <a:cubicBezTo>
                  <a:pt x="658" y="524"/>
                  <a:pt x="655" y="520"/>
                  <a:pt x="651" y="515"/>
                </a:cubicBezTo>
                <a:cubicBezTo>
                  <a:pt x="651" y="515"/>
                  <a:pt x="651" y="515"/>
                  <a:pt x="651" y="514"/>
                </a:cubicBezTo>
                <a:cubicBezTo>
                  <a:pt x="650" y="513"/>
                  <a:pt x="649" y="512"/>
                  <a:pt x="649" y="511"/>
                </a:cubicBezTo>
                <a:cubicBezTo>
                  <a:pt x="649" y="511"/>
                  <a:pt x="649" y="511"/>
                  <a:pt x="648" y="511"/>
                </a:cubicBezTo>
                <a:cubicBezTo>
                  <a:pt x="646" y="507"/>
                  <a:pt x="644" y="504"/>
                  <a:pt x="642" y="500"/>
                </a:cubicBezTo>
                <a:cubicBezTo>
                  <a:pt x="642" y="500"/>
                  <a:pt x="642" y="500"/>
                  <a:pt x="642" y="500"/>
                </a:cubicBezTo>
                <a:cubicBezTo>
                  <a:pt x="641" y="498"/>
                  <a:pt x="641" y="497"/>
                  <a:pt x="640" y="496"/>
                </a:cubicBezTo>
                <a:cubicBezTo>
                  <a:pt x="640" y="496"/>
                  <a:pt x="640" y="495"/>
                  <a:pt x="640" y="495"/>
                </a:cubicBezTo>
                <a:cubicBezTo>
                  <a:pt x="639" y="494"/>
                  <a:pt x="639" y="493"/>
                  <a:pt x="638" y="492"/>
                </a:cubicBezTo>
                <a:cubicBezTo>
                  <a:pt x="635" y="484"/>
                  <a:pt x="632" y="475"/>
                  <a:pt x="631" y="466"/>
                </a:cubicBezTo>
                <a:cubicBezTo>
                  <a:pt x="631" y="466"/>
                  <a:pt x="631" y="465"/>
                  <a:pt x="630" y="464"/>
                </a:cubicBezTo>
                <a:cubicBezTo>
                  <a:pt x="630" y="463"/>
                  <a:pt x="630" y="462"/>
                  <a:pt x="630" y="461"/>
                </a:cubicBezTo>
                <a:cubicBezTo>
                  <a:pt x="630" y="460"/>
                  <a:pt x="630" y="460"/>
                  <a:pt x="630" y="459"/>
                </a:cubicBezTo>
                <a:cubicBezTo>
                  <a:pt x="630" y="458"/>
                  <a:pt x="629" y="456"/>
                  <a:pt x="629" y="454"/>
                </a:cubicBezTo>
                <a:cubicBezTo>
                  <a:pt x="629" y="454"/>
                  <a:pt x="629" y="454"/>
                  <a:pt x="629" y="454"/>
                </a:cubicBezTo>
                <a:cubicBezTo>
                  <a:pt x="629" y="452"/>
                  <a:pt x="629" y="450"/>
                  <a:pt x="629" y="449"/>
                </a:cubicBezTo>
                <a:cubicBezTo>
                  <a:pt x="629" y="448"/>
                  <a:pt x="629" y="448"/>
                  <a:pt x="629" y="447"/>
                </a:cubicBezTo>
                <a:cubicBezTo>
                  <a:pt x="629" y="446"/>
                  <a:pt x="629" y="444"/>
                  <a:pt x="629" y="443"/>
                </a:cubicBezTo>
                <a:cubicBezTo>
                  <a:pt x="629" y="443"/>
                  <a:pt x="629" y="442"/>
                  <a:pt x="629" y="441"/>
                </a:cubicBezTo>
                <a:cubicBezTo>
                  <a:pt x="629" y="440"/>
                  <a:pt x="629" y="438"/>
                  <a:pt x="629" y="436"/>
                </a:cubicBezTo>
                <a:cubicBezTo>
                  <a:pt x="630" y="434"/>
                  <a:pt x="630" y="432"/>
                  <a:pt x="630" y="431"/>
                </a:cubicBezTo>
                <a:cubicBezTo>
                  <a:pt x="630" y="430"/>
                  <a:pt x="630" y="430"/>
                  <a:pt x="630" y="429"/>
                </a:cubicBezTo>
                <a:cubicBezTo>
                  <a:pt x="630" y="428"/>
                  <a:pt x="631" y="426"/>
                  <a:pt x="631" y="425"/>
                </a:cubicBezTo>
                <a:cubicBezTo>
                  <a:pt x="631" y="425"/>
                  <a:pt x="631" y="424"/>
                  <a:pt x="631" y="424"/>
                </a:cubicBezTo>
                <a:cubicBezTo>
                  <a:pt x="632" y="422"/>
                  <a:pt x="632" y="420"/>
                  <a:pt x="632" y="418"/>
                </a:cubicBezTo>
                <a:cubicBezTo>
                  <a:pt x="632" y="418"/>
                  <a:pt x="632" y="418"/>
                  <a:pt x="632" y="418"/>
                </a:cubicBezTo>
                <a:cubicBezTo>
                  <a:pt x="633" y="416"/>
                  <a:pt x="633" y="415"/>
                  <a:pt x="634" y="413"/>
                </a:cubicBezTo>
                <a:cubicBezTo>
                  <a:pt x="634" y="413"/>
                  <a:pt x="634" y="412"/>
                  <a:pt x="634" y="412"/>
                </a:cubicBezTo>
                <a:cubicBezTo>
                  <a:pt x="635" y="410"/>
                  <a:pt x="635" y="409"/>
                  <a:pt x="635" y="408"/>
                </a:cubicBezTo>
                <a:cubicBezTo>
                  <a:pt x="635" y="408"/>
                  <a:pt x="636" y="407"/>
                  <a:pt x="636" y="407"/>
                </a:cubicBezTo>
                <a:cubicBezTo>
                  <a:pt x="636" y="405"/>
                  <a:pt x="637" y="403"/>
                  <a:pt x="638" y="402"/>
                </a:cubicBezTo>
                <a:cubicBezTo>
                  <a:pt x="638" y="402"/>
                  <a:pt x="638" y="402"/>
                  <a:pt x="638" y="402"/>
                </a:cubicBezTo>
                <a:cubicBezTo>
                  <a:pt x="640" y="395"/>
                  <a:pt x="644" y="389"/>
                  <a:pt x="648" y="383"/>
                </a:cubicBezTo>
                <a:cubicBezTo>
                  <a:pt x="648" y="382"/>
                  <a:pt x="649" y="380"/>
                  <a:pt x="650" y="379"/>
                </a:cubicBezTo>
                <a:cubicBezTo>
                  <a:pt x="650" y="379"/>
                  <a:pt x="650" y="379"/>
                  <a:pt x="650" y="379"/>
                </a:cubicBezTo>
                <a:cubicBezTo>
                  <a:pt x="651" y="378"/>
                  <a:pt x="652" y="377"/>
                  <a:pt x="653" y="376"/>
                </a:cubicBezTo>
                <a:cubicBezTo>
                  <a:pt x="653" y="375"/>
                  <a:pt x="653" y="375"/>
                  <a:pt x="653" y="375"/>
                </a:cubicBezTo>
                <a:cubicBezTo>
                  <a:pt x="655" y="372"/>
                  <a:pt x="658" y="369"/>
                  <a:pt x="661" y="366"/>
                </a:cubicBezTo>
                <a:cubicBezTo>
                  <a:pt x="661" y="366"/>
                  <a:pt x="661" y="365"/>
                  <a:pt x="661" y="365"/>
                </a:cubicBezTo>
                <a:cubicBezTo>
                  <a:pt x="662" y="364"/>
                  <a:pt x="663" y="363"/>
                  <a:pt x="664" y="363"/>
                </a:cubicBezTo>
                <a:cubicBezTo>
                  <a:pt x="664" y="362"/>
                  <a:pt x="664" y="362"/>
                  <a:pt x="665" y="362"/>
                </a:cubicBezTo>
                <a:cubicBezTo>
                  <a:pt x="669" y="358"/>
                  <a:pt x="673" y="355"/>
                  <a:pt x="677" y="351"/>
                </a:cubicBezTo>
                <a:cubicBezTo>
                  <a:pt x="678" y="351"/>
                  <a:pt x="678" y="351"/>
                  <a:pt x="678" y="351"/>
                </a:cubicBezTo>
                <a:cubicBezTo>
                  <a:pt x="679" y="350"/>
                  <a:pt x="680" y="349"/>
                  <a:pt x="681" y="349"/>
                </a:cubicBezTo>
                <a:cubicBezTo>
                  <a:pt x="681" y="348"/>
                  <a:pt x="682" y="348"/>
                  <a:pt x="682" y="348"/>
                </a:cubicBezTo>
                <a:cubicBezTo>
                  <a:pt x="685" y="346"/>
                  <a:pt x="689" y="344"/>
                  <a:pt x="692" y="342"/>
                </a:cubicBezTo>
                <a:cubicBezTo>
                  <a:pt x="693" y="342"/>
                  <a:pt x="693" y="342"/>
                  <a:pt x="693" y="342"/>
                </a:cubicBezTo>
                <a:cubicBezTo>
                  <a:pt x="694" y="341"/>
                  <a:pt x="695" y="341"/>
                  <a:pt x="696" y="340"/>
                </a:cubicBezTo>
                <a:cubicBezTo>
                  <a:pt x="697" y="340"/>
                  <a:pt x="697" y="340"/>
                  <a:pt x="697" y="340"/>
                </a:cubicBezTo>
                <a:cubicBezTo>
                  <a:pt x="698" y="339"/>
                  <a:pt x="700" y="339"/>
                  <a:pt x="701" y="338"/>
                </a:cubicBezTo>
                <a:cubicBezTo>
                  <a:pt x="707" y="335"/>
                  <a:pt x="714" y="333"/>
                  <a:pt x="721" y="331"/>
                </a:cubicBezTo>
                <a:cubicBezTo>
                  <a:pt x="723" y="331"/>
                  <a:pt x="725" y="331"/>
                  <a:pt x="726" y="331"/>
                </a:cubicBezTo>
                <a:cubicBezTo>
                  <a:pt x="727" y="330"/>
                  <a:pt x="727" y="330"/>
                  <a:pt x="728" y="330"/>
                </a:cubicBezTo>
                <a:cubicBezTo>
                  <a:pt x="729" y="330"/>
                  <a:pt x="730" y="330"/>
                  <a:pt x="732" y="330"/>
                </a:cubicBezTo>
                <a:cubicBezTo>
                  <a:pt x="732" y="330"/>
                  <a:pt x="733" y="330"/>
                  <a:pt x="733" y="330"/>
                </a:cubicBezTo>
                <a:cubicBezTo>
                  <a:pt x="735" y="329"/>
                  <a:pt x="736" y="329"/>
                  <a:pt x="738" y="329"/>
                </a:cubicBezTo>
                <a:cubicBezTo>
                  <a:pt x="738" y="329"/>
                  <a:pt x="738" y="329"/>
                  <a:pt x="739" y="329"/>
                </a:cubicBezTo>
                <a:cubicBezTo>
                  <a:pt x="740" y="329"/>
                  <a:pt x="742" y="329"/>
                  <a:pt x="744" y="329"/>
                </a:cubicBezTo>
                <a:cubicBezTo>
                  <a:pt x="744" y="329"/>
                  <a:pt x="745" y="329"/>
                  <a:pt x="745" y="329"/>
                </a:cubicBezTo>
                <a:cubicBezTo>
                  <a:pt x="747" y="329"/>
                  <a:pt x="748" y="329"/>
                  <a:pt x="749" y="329"/>
                </a:cubicBezTo>
                <a:cubicBezTo>
                  <a:pt x="750" y="329"/>
                  <a:pt x="750" y="329"/>
                  <a:pt x="751" y="329"/>
                </a:cubicBezTo>
                <a:cubicBezTo>
                  <a:pt x="753" y="329"/>
                  <a:pt x="755" y="329"/>
                  <a:pt x="756" y="329"/>
                </a:cubicBezTo>
                <a:cubicBezTo>
                  <a:pt x="758" y="329"/>
                  <a:pt x="760" y="330"/>
                  <a:pt x="762" y="330"/>
                </a:cubicBezTo>
                <a:cubicBezTo>
                  <a:pt x="762" y="330"/>
                  <a:pt x="763" y="330"/>
                  <a:pt x="763" y="330"/>
                </a:cubicBezTo>
                <a:cubicBezTo>
                  <a:pt x="765" y="330"/>
                  <a:pt x="766" y="330"/>
                  <a:pt x="767" y="331"/>
                </a:cubicBezTo>
                <a:cubicBezTo>
                  <a:pt x="768" y="331"/>
                  <a:pt x="768" y="331"/>
                  <a:pt x="769" y="331"/>
                </a:cubicBezTo>
                <a:cubicBezTo>
                  <a:pt x="771" y="331"/>
                  <a:pt x="772" y="332"/>
                  <a:pt x="774" y="332"/>
                </a:cubicBezTo>
                <a:cubicBezTo>
                  <a:pt x="774" y="332"/>
                  <a:pt x="774" y="332"/>
                  <a:pt x="775" y="332"/>
                </a:cubicBezTo>
                <a:cubicBezTo>
                  <a:pt x="776" y="333"/>
                  <a:pt x="778" y="333"/>
                  <a:pt x="779" y="333"/>
                </a:cubicBezTo>
                <a:cubicBezTo>
                  <a:pt x="780" y="334"/>
                  <a:pt x="780" y="334"/>
                  <a:pt x="781" y="334"/>
                </a:cubicBezTo>
                <a:cubicBezTo>
                  <a:pt x="782" y="334"/>
                  <a:pt x="783" y="335"/>
                  <a:pt x="784" y="335"/>
                </a:cubicBezTo>
                <a:cubicBezTo>
                  <a:pt x="785" y="335"/>
                  <a:pt x="785" y="335"/>
                  <a:pt x="786" y="336"/>
                </a:cubicBezTo>
                <a:cubicBezTo>
                  <a:pt x="787" y="336"/>
                  <a:pt x="789" y="337"/>
                  <a:pt x="791" y="337"/>
                </a:cubicBezTo>
                <a:cubicBezTo>
                  <a:pt x="797" y="340"/>
                  <a:pt x="804" y="344"/>
                  <a:pt x="810" y="347"/>
                </a:cubicBezTo>
                <a:cubicBezTo>
                  <a:pt x="811" y="348"/>
                  <a:pt x="812" y="349"/>
                  <a:pt x="813" y="350"/>
                </a:cubicBezTo>
                <a:cubicBezTo>
                  <a:pt x="813" y="350"/>
                  <a:pt x="813" y="350"/>
                  <a:pt x="814" y="350"/>
                </a:cubicBezTo>
                <a:cubicBezTo>
                  <a:pt x="815" y="351"/>
                  <a:pt x="816" y="352"/>
                  <a:pt x="817" y="352"/>
                </a:cubicBezTo>
                <a:cubicBezTo>
                  <a:pt x="817" y="353"/>
                  <a:pt x="817" y="353"/>
                  <a:pt x="817" y="353"/>
                </a:cubicBezTo>
                <a:cubicBezTo>
                  <a:pt x="821" y="355"/>
                  <a:pt x="824" y="358"/>
                  <a:pt x="827" y="361"/>
                </a:cubicBezTo>
                <a:cubicBezTo>
                  <a:pt x="827" y="361"/>
                  <a:pt x="827" y="361"/>
                  <a:pt x="827" y="361"/>
                </a:cubicBezTo>
                <a:cubicBezTo>
                  <a:pt x="828" y="362"/>
                  <a:pt x="829" y="363"/>
                  <a:pt x="830" y="364"/>
                </a:cubicBezTo>
                <a:cubicBezTo>
                  <a:pt x="830" y="364"/>
                  <a:pt x="830" y="364"/>
                  <a:pt x="831" y="364"/>
                </a:cubicBezTo>
                <a:cubicBezTo>
                  <a:pt x="834" y="368"/>
                  <a:pt x="838" y="373"/>
                  <a:pt x="841" y="377"/>
                </a:cubicBezTo>
                <a:cubicBezTo>
                  <a:pt x="841" y="377"/>
                  <a:pt x="842" y="378"/>
                  <a:pt x="842" y="378"/>
                </a:cubicBezTo>
                <a:cubicBezTo>
                  <a:pt x="842" y="379"/>
                  <a:pt x="843" y="380"/>
                  <a:pt x="844" y="381"/>
                </a:cubicBezTo>
                <a:cubicBezTo>
                  <a:pt x="844" y="381"/>
                  <a:pt x="844" y="381"/>
                  <a:pt x="844" y="382"/>
                </a:cubicBezTo>
                <a:cubicBezTo>
                  <a:pt x="847" y="385"/>
                  <a:pt x="849" y="389"/>
                  <a:pt x="851" y="392"/>
                </a:cubicBezTo>
                <a:cubicBezTo>
                  <a:pt x="851" y="392"/>
                  <a:pt x="851" y="393"/>
                  <a:pt x="851" y="393"/>
                </a:cubicBezTo>
                <a:cubicBezTo>
                  <a:pt x="851" y="394"/>
                  <a:pt x="852" y="395"/>
                  <a:pt x="852" y="396"/>
                </a:cubicBezTo>
                <a:cubicBezTo>
                  <a:pt x="853" y="396"/>
                  <a:pt x="853" y="397"/>
                  <a:pt x="853" y="397"/>
                </a:cubicBezTo>
                <a:cubicBezTo>
                  <a:pt x="853" y="398"/>
                  <a:pt x="854" y="399"/>
                  <a:pt x="854" y="401"/>
                </a:cubicBezTo>
                <a:cubicBezTo>
                  <a:pt x="857" y="407"/>
                  <a:pt x="859" y="414"/>
                  <a:pt x="861" y="421"/>
                </a:cubicBezTo>
                <a:cubicBezTo>
                  <a:pt x="861" y="423"/>
                  <a:pt x="862" y="424"/>
                  <a:pt x="862" y="426"/>
                </a:cubicBezTo>
                <a:cubicBezTo>
                  <a:pt x="862" y="427"/>
                  <a:pt x="862" y="427"/>
                  <a:pt x="862" y="428"/>
                </a:cubicBezTo>
                <a:cubicBezTo>
                  <a:pt x="862" y="429"/>
                  <a:pt x="863" y="430"/>
                  <a:pt x="863" y="431"/>
                </a:cubicBezTo>
                <a:cubicBezTo>
                  <a:pt x="863" y="432"/>
                  <a:pt x="863" y="433"/>
                  <a:pt x="863" y="433"/>
                </a:cubicBezTo>
                <a:cubicBezTo>
                  <a:pt x="863" y="435"/>
                  <a:pt x="863" y="436"/>
                  <a:pt x="863" y="438"/>
                </a:cubicBezTo>
                <a:cubicBezTo>
                  <a:pt x="863" y="438"/>
                  <a:pt x="863" y="438"/>
                  <a:pt x="863" y="438"/>
                </a:cubicBezTo>
                <a:cubicBezTo>
                  <a:pt x="863" y="440"/>
                  <a:pt x="864" y="442"/>
                  <a:pt x="864" y="444"/>
                </a:cubicBezTo>
                <a:lnTo>
                  <a:pt x="864" y="445"/>
                </a:lnTo>
                <a:cubicBezTo>
                  <a:pt x="864" y="447"/>
                  <a:pt x="864" y="448"/>
                  <a:pt x="864" y="449"/>
                </a:cubicBezTo>
                <a:cubicBezTo>
                  <a:pt x="864" y="450"/>
                  <a:pt x="864" y="450"/>
                  <a:pt x="864" y="451"/>
                </a:cubicBezTo>
                <a:cubicBezTo>
                  <a:pt x="863" y="453"/>
                  <a:pt x="863" y="454"/>
                  <a:pt x="863" y="456"/>
                </a:cubicBezTo>
                <a:cubicBezTo>
                  <a:pt x="863" y="458"/>
                  <a:pt x="863" y="460"/>
                  <a:pt x="863" y="462"/>
                </a:cubicBezTo>
                <a:close/>
                <a:moveTo>
                  <a:pt x="942" y="498"/>
                </a:moveTo>
                <a:lnTo>
                  <a:pt x="948" y="429"/>
                </a:lnTo>
                <a:lnTo>
                  <a:pt x="908" y="425"/>
                </a:lnTo>
                <a:cubicBezTo>
                  <a:pt x="906" y="406"/>
                  <a:pt x="900" y="387"/>
                  <a:pt x="891" y="370"/>
                </a:cubicBezTo>
                <a:lnTo>
                  <a:pt x="922" y="344"/>
                </a:lnTo>
                <a:lnTo>
                  <a:pt x="877" y="291"/>
                </a:lnTo>
                <a:lnTo>
                  <a:pt x="846" y="317"/>
                </a:lnTo>
                <a:cubicBezTo>
                  <a:pt x="831" y="305"/>
                  <a:pt x="814" y="296"/>
                  <a:pt x="795" y="290"/>
                </a:cubicBezTo>
                <a:lnTo>
                  <a:pt x="798" y="250"/>
                </a:lnTo>
                <a:lnTo>
                  <a:pt x="729" y="244"/>
                </a:lnTo>
                <a:lnTo>
                  <a:pt x="725" y="284"/>
                </a:lnTo>
                <a:cubicBezTo>
                  <a:pt x="706" y="287"/>
                  <a:pt x="687" y="293"/>
                  <a:pt x="670" y="302"/>
                </a:cubicBezTo>
                <a:lnTo>
                  <a:pt x="644" y="271"/>
                </a:lnTo>
                <a:lnTo>
                  <a:pt x="591" y="316"/>
                </a:lnTo>
                <a:lnTo>
                  <a:pt x="617" y="346"/>
                </a:lnTo>
                <a:cubicBezTo>
                  <a:pt x="605" y="362"/>
                  <a:pt x="596" y="379"/>
                  <a:pt x="590" y="398"/>
                </a:cubicBezTo>
                <a:lnTo>
                  <a:pt x="550" y="394"/>
                </a:lnTo>
                <a:lnTo>
                  <a:pt x="544" y="464"/>
                </a:lnTo>
                <a:lnTo>
                  <a:pt x="584" y="467"/>
                </a:lnTo>
                <a:cubicBezTo>
                  <a:pt x="587" y="487"/>
                  <a:pt x="593" y="505"/>
                  <a:pt x="602" y="522"/>
                </a:cubicBezTo>
                <a:lnTo>
                  <a:pt x="571" y="548"/>
                </a:lnTo>
                <a:lnTo>
                  <a:pt x="616" y="601"/>
                </a:lnTo>
                <a:lnTo>
                  <a:pt x="647" y="575"/>
                </a:lnTo>
                <a:cubicBezTo>
                  <a:pt x="662" y="587"/>
                  <a:pt x="679" y="596"/>
                  <a:pt x="698" y="602"/>
                </a:cubicBezTo>
                <a:lnTo>
                  <a:pt x="694" y="642"/>
                </a:lnTo>
                <a:lnTo>
                  <a:pt x="764" y="648"/>
                </a:lnTo>
                <a:lnTo>
                  <a:pt x="767" y="608"/>
                </a:lnTo>
                <a:cubicBezTo>
                  <a:pt x="787" y="606"/>
                  <a:pt x="805" y="600"/>
                  <a:pt x="822" y="591"/>
                </a:cubicBezTo>
                <a:lnTo>
                  <a:pt x="848" y="621"/>
                </a:lnTo>
                <a:lnTo>
                  <a:pt x="901" y="577"/>
                </a:lnTo>
                <a:lnTo>
                  <a:pt x="876" y="546"/>
                </a:lnTo>
                <a:cubicBezTo>
                  <a:pt x="887" y="531"/>
                  <a:pt x="896" y="513"/>
                  <a:pt x="902" y="494"/>
                </a:cubicBezTo>
                <a:lnTo>
                  <a:pt x="942" y="498"/>
                </a:lnTo>
                <a:close/>
              </a:path>
            </a:pathLst>
          </a:custGeom>
          <a:solidFill>
            <a:srgbClr val="113E6A"/>
          </a:solidFill>
          <a:ln w="9525">
            <a:noFill/>
          </a:ln>
        </p:spPr>
        <p:txBody>
          <a:bodyPr/>
          <a:lstStyle/>
          <a:p>
            <a:endParaRPr lang="zh-CN" altLang="en-US"/>
          </a:p>
        </p:txBody>
      </p:sp>
      <p:pic>
        <p:nvPicPr>
          <p:cNvPr id="13" name="图片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8741" y="91674"/>
            <a:ext cx="2646380" cy="503185"/>
          </a:xfrm>
          <a:prstGeom prst="rect">
            <a:avLst/>
          </a:prstGeom>
        </p:spPr>
      </p:pic>
    </p:spTree>
  </p:cSld>
  <p:clrMapOvr>
    <a:masterClrMapping/>
  </p:clrMapOvr>
  <p:transition advTm="856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6626"/>
                                        </p:tgtEl>
                                        <p:attrNameLst>
                                          <p:attrName>style.visibility</p:attrName>
                                        </p:attrNameLst>
                                      </p:cBhvr>
                                      <p:to>
                                        <p:strVal val="visible"/>
                                      </p:to>
                                    </p:set>
                                    <p:animEffect transition="in" filter="wheel(1)">
                                      <p:cBhvr>
                                        <p:cTn id="7" dur="2000"/>
                                        <p:tgtEl>
                                          <p:spTgt spid="26626"/>
                                        </p:tgtEl>
                                      </p:cBhvr>
                                    </p:animEffect>
                                  </p:childTnLst>
                                </p:cTn>
                              </p:par>
                            </p:childTnLst>
                          </p:cTn>
                        </p:par>
                        <p:par>
                          <p:cTn id="8" fill="hold">
                            <p:stCondLst>
                              <p:cond delay="2000"/>
                            </p:stCondLst>
                            <p:childTnLst>
                              <p:par>
                                <p:cTn id="9" presetID="31" presetClass="entr" presetSubtype="0" fill="hold" nodeType="afterEffect">
                                  <p:stCondLst>
                                    <p:cond delay="0"/>
                                  </p:stCondLst>
                                  <p:childTnLst>
                                    <p:set>
                                      <p:cBhvr>
                                        <p:cTn id="10" dur="1" fill="hold">
                                          <p:stCondLst>
                                            <p:cond delay="0"/>
                                          </p:stCondLst>
                                        </p:cTn>
                                        <p:tgtEl>
                                          <p:spTgt spid="26630"/>
                                        </p:tgtEl>
                                        <p:attrNameLst>
                                          <p:attrName>style.visibility</p:attrName>
                                        </p:attrNameLst>
                                      </p:cBhvr>
                                      <p:to>
                                        <p:strVal val="visible"/>
                                      </p:to>
                                    </p:set>
                                    <p:anim calcmode="lin" valueType="num">
                                      <p:cBhvr>
                                        <p:cTn id="11" dur="400" fill="hold"/>
                                        <p:tgtEl>
                                          <p:spTgt spid="26630"/>
                                        </p:tgtEl>
                                        <p:attrNameLst>
                                          <p:attrName>ppt_w</p:attrName>
                                        </p:attrNameLst>
                                      </p:cBhvr>
                                      <p:tavLst>
                                        <p:tav tm="0">
                                          <p:val>
                                            <p:fltVal val="0"/>
                                          </p:val>
                                        </p:tav>
                                        <p:tav tm="100000">
                                          <p:val>
                                            <p:strVal val="#ppt_w"/>
                                          </p:val>
                                        </p:tav>
                                      </p:tavLst>
                                    </p:anim>
                                    <p:anim calcmode="lin" valueType="num">
                                      <p:cBhvr>
                                        <p:cTn id="12" dur="400" fill="hold"/>
                                        <p:tgtEl>
                                          <p:spTgt spid="26630"/>
                                        </p:tgtEl>
                                        <p:attrNameLst>
                                          <p:attrName>ppt_h</p:attrName>
                                        </p:attrNameLst>
                                      </p:cBhvr>
                                      <p:tavLst>
                                        <p:tav tm="0">
                                          <p:val>
                                            <p:fltVal val="0"/>
                                          </p:val>
                                        </p:tav>
                                        <p:tav tm="100000">
                                          <p:val>
                                            <p:strVal val="#ppt_h"/>
                                          </p:val>
                                        </p:tav>
                                      </p:tavLst>
                                    </p:anim>
                                    <p:anim calcmode="lin" valueType="num">
                                      <p:cBhvr>
                                        <p:cTn id="13" dur="400" fill="hold"/>
                                        <p:tgtEl>
                                          <p:spTgt spid="26630"/>
                                        </p:tgtEl>
                                        <p:attrNameLst>
                                          <p:attrName>style.rotation</p:attrName>
                                        </p:attrNameLst>
                                      </p:cBhvr>
                                      <p:tavLst>
                                        <p:tav tm="0">
                                          <p:val>
                                            <p:fltVal val="90"/>
                                          </p:val>
                                        </p:tav>
                                        <p:tav tm="100000">
                                          <p:val>
                                            <p:fltVal val="0"/>
                                          </p:val>
                                        </p:tav>
                                      </p:tavLst>
                                    </p:anim>
                                    <p:animEffect transition="in" filter="fade">
                                      <p:cBhvr>
                                        <p:cTn id="14" dur="400"/>
                                        <p:tgtEl>
                                          <p:spTgt spid="26630"/>
                                        </p:tgtEl>
                                      </p:cBhvr>
                                    </p:animEffect>
                                  </p:childTnLst>
                                </p:cTn>
                              </p:par>
                            </p:childTnLst>
                          </p:cTn>
                        </p:par>
                        <p:par>
                          <p:cTn id="15" fill="hold">
                            <p:stCondLst>
                              <p:cond delay="2500"/>
                            </p:stCondLst>
                            <p:childTnLst>
                              <p:par>
                                <p:cTn id="16" presetID="16" presetClass="entr" presetSubtype="21" fill="hold" nodeType="afterEffect">
                                  <p:stCondLst>
                                    <p:cond delay="0"/>
                                  </p:stCondLst>
                                  <p:childTnLst>
                                    <p:set>
                                      <p:cBhvr>
                                        <p:cTn id="17" dur="1" fill="hold">
                                          <p:stCondLst>
                                            <p:cond delay="0"/>
                                          </p:stCondLst>
                                        </p:cTn>
                                        <p:tgtEl>
                                          <p:spTgt spid="26627"/>
                                        </p:tgtEl>
                                        <p:attrNameLst>
                                          <p:attrName>style.visibility</p:attrName>
                                        </p:attrNameLst>
                                      </p:cBhvr>
                                      <p:to>
                                        <p:strVal val="visible"/>
                                      </p:to>
                                    </p:set>
                                    <p:animEffect transition="in" filter="barn(inVertical)">
                                      <p:cBhvr>
                                        <p:cTn id="18" dur="500"/>
                                        <p:tgtEl>
                                          <p:spTgt spid="26627"/>
                                        </p:tgtEl>
                                      </p:cBhvr>
                                    </p:animEffect>
                                  </p:childTnLst>
                                </p:cTn>
                              </p:par>
                            </p:childTnLst>
                          </p:cTn>
                        </p:par>
                        <p:par>
                          <p:cTn id="19" fill="hold">
                            <p:stCondLst>
                              <p:cond delay="3000"/>
                            </p:stCondLst>
                            <p:childTnLst>
                              <p:par>
                                <p:cTn id="20" presetID="22" presetClass="entr" presetSubtype="1" fill="hold" grpId="0" nodeType="afterEffect">
                                  <p:stCondLst>
                                    <p:cond delay="0"/>
                                  </p:stCondLst>
                                  <p:childTnLst>
                                    <p:set>
                                      <p:cBhvr>
                                        <p:cTn id="21" dur="1" fill="hold">
                                          <p:stCondLst>
                                            <p:cond delay="0"/>
                                          </p:stCondLst>
                                        </p:cTn>
                                        <p:tgtEl>
                                          <p:spTgt spid="26628"/>
                                        </p:tgtEl>
                                        <p:attrNameLst>
                                          <p:attrName>style.visibility</p:attrName>
                                        </p:attrNameLst>
                                      </p:cBhvr>
                                      <p:to>
                                        <p:strVal val="visible"/>
                                      </p:to>
                                    </p:set>
                                    <p:animEffect transition="in" filter="wipe(up)">
                                      <p:cBhvr>
                                        <p:cTn id="22" dur="500"/>
                                        <p:tgtEl>
                                          <p:spTgt spid="26628"/>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6629"/>
                                        </p:tgtEl>
                                        <p:attrNameLst>
                                          <p:attrName>style.visibility</p:attrName>
                                        </p:attrNameLst>
                                      </p:cBhvr>
                                      <p:to>
                                        <p:strVal val="visible"/>
                                      </p:to>
                                    </p:set>
                                    <p:animEffect transition="in" filter="wipe(down)">
                                      <p:cBhvr>
                                        <p:cTn id="25" dur="500"/>
                                        <p:tgtEl>
                                          <p:spTgt spid="26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animBg="1"/>
      <p:bldP spid="26628" grpId="0"/>
      <p:bldP spid="2662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27"/>
          <p:cNvSpPr txBox="1"/>
          <p:nvPr/>
        </p:nvSpPr>
        <p:spPr>
          <a:xfrm>
            <a:off x="1012825" y="176213"/>
            <a:ext cx="1706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实验设置</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2765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ln>
        </p:spPr>
        <p:txBody>
          <a:bodyPr/>
          <a:lstStyle/>
          <a:p>
            <a:endParaRPr lang="zh-CN" altLang="en-US"/>
          </a:p>
        </p:txBody>
      </p:sp>
      <p:sp>
        <p:nvSpPr>
          <p:cNvPr id="2" name="文本框 1"/>
          <p:cNvSpPr txBox="1"/>
          <p:nvPr/>
        </p:nvSpPr>
        <p:spPr>
          <a:xfrm>
            <a:off x="1057275" y="908685"/>
            <a:ext cx="10597515" cy="3947795"/>
          </a:xfrm>
          <a:prstGeom prst="rect">
            <a:avLst/>
          </a:prstGeom>
          <a:noFill/>
        </p:spPr>
        <p:txBody>
          <a:bodyPr wrap="square" rtlCol="0">
            <a:noAutofit/>
          </a:bodyPr>
          <a:p>
            <a:pPr>
              <a:lnSpc>
                <a:spcPct val="150000"/>
              </a:lnSpc>
            </a:pP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硬件：单张 </a:t>
            </a:r>
            <a:r>
              <a:rPr lang="en-US" altLang="zh-CN">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NVIDIA A100</a:t>
            </a:r>
            <a:endParaRPr lang="en-US" altLang="zh-CN">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基础模型：</a:t>
            </a:r>
            <a:r>
              <a:rPr lang="en-US" altLang="zh-CN">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Vicuna-1.5</a:t>
            </a:r>
            <a:r>
              <a:rPr 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-7B</a:t>
            </a: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Vicuna-1.5</a:t>
            </a:r>
            <a:r>
              <a:rPr 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-13B</a:t>
            </a:r>
            <a:endParaRPr 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训练数据集：</a:t>
            </a:r>
            <a:r>
              <a:rPr lang="en-US" altLang="zh-CN">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ShareGPT </a:t>
            </a: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数据集（由大量真实用户与 </a:t>
            </a:r>
            <a:r>
              <a:rPr lang="en-US" altLang="zh-CN">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ChatGPT </a:t>
            </a: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之间的高质量、多轮对话记录组成的开源语料库）</a:t>
            </a:r>
            <a:endPar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MEDUSA </a:t>
            </a: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头的训练策略：在这两个模型（7</a:t>
            </a:r>
            <a:r>
              <a:rPr lang="en-US" altLang="zh-CN">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B </a:t>
            </a: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和 13</a:t>
            </a:r>
            <a:r>
              <a:rPr lang="en-US" altLang="zh-CN">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B）</a:t>
            </a: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上，使用 </a:t>
            </a:r>
            <a:r>
              <a:rPr lang="en-US" altLang="zh-CN">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ShareGPT </a:t>
            </a: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数据集对 </a:t>
            </a:r>
            <a:r>
              <a:rPr lang="en-US" altLang="zh-CN">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MEDUSA </a:t>
            </a: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预测头进行了 2 个 </a:t>
            </a:r>
            <a:r>
              <a:rPr lang="en-US" altLang="zh-CN">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epoch </a:t>
            </a: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的训练</a:t>
            </a:r>
            <a:endPar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测评数据集：</a:t>
            </a:r>
            <a:r>
              <a:rPr lang="en-US" altLang="zh-CN">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MT-Bench</a:t>
            </a: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（80 道高质量的多轮对话题目，划分为</a:t>
            </a:r>
            <a:r>
              <a:rPr lang="en-US" altLang="zh-CN">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8 个不同的考察类别，每个类别 10 道题，用</a:t>
            </a:r>
            <a:r>
              <a:rPr lang="en-US" altLang="zh-CN">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GPT-4 </a:t>
            </a:r>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测评得分）</a:t>
            </a:r>
            <a:endPar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p:cTn id="7" dur="300" fill="hold"/>
                                        <p:tgtEl>
                                          <p:spTgt spid="27651"/>
                                        </p:tgtEl>
                                        <p:attrNameLst>
                                          <p:attrName>ppt_w</p:attrName>
                                        </p:attrNameLst>
                                      </p:cBhvr>
                                      <p:tavLst>
                                        <p:tav tm="0">
                                          <p:val>
                                            <p:fltVal val="0"/>
                                          </p:val>
                                        </p:tav>
                                        <p:tav tm="100000">
                                          <p:val>
                                            <p:strVal val="#ppt_w"/>
                                          </p:val>
                                        </p:tav>
                                      </p:tavLst>
                                    </p:anim>
                                    <p:anim calcmode="lin" valueType="num">
                                      <p:cBhvr>
                                        <p:cTn id="8" dur="300" fill="hold"/>
                                        <p:tgtEl>
                                          <p:spTgt spid="27651"/>
                                        </p:tgtEl>
                                        <p:attrNameLst>
                                          <p:attrName>ppt_h</p:attrName>
                                        </p:attrNameLst>
                                      </p:cBhvr>
                                      <p:tavLst>
                                        <p:tav tm="0">
                                          <p:val>
                                            <p:fltVal val="0"/>
                                          </p:val>
                                        </p:tav>
                                        <p:tav tm="100000">
                                          <p:val>
                                            <p:strVal val="#ppt_h"/>
                                          </p:val>
                                        </p:tav>
                                      </p:tavLst>
                                    </p:anim>
                                    <p:anim calcmode="lin" valueType="num">
                                      <p:cBhvr>
                                        <p:cTn id="9" dur="300" fill="hold"/>
                                        <p:tgtEl>
                                          <p:spTgt spid="27651"/>
                                        </p:tgtEl>
                                        <p:attrNameLst>
                                          <p:attrName>style.rotation</p:attrName>
                                        </p:attrNameLst>
                                      </p:cBhvr>
                                      <p:tavLst>
                                        <p:tav tm="0">
                                          <p:val>
                                            <p:fltVal val="90"/>
                                          </p:val>
                                        </p:tav>
                                        <p:tav tm="100000">
                                          <p:val>
                                            <p:fltVal val="0"/>
                                          </p:val>
                                        </p:tav>
                                      </p:tavLst>
                                    </p:anim>
                                    <p:animEffect transition="in" filter="fade">
                                      <p:cBhvr>
                                        <p:cTn id="10" dur="300"/>
                                        <p:tgtEl>
                                          <p:spTgt spid="2765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7650"/>
                                        </p:tgtEl>
                                        <p:attrNameLst>
                                          <p:attrName>style.visibility</p:attrName>
                                        </p:attrNameLst>
                                      </p:cBhvr>
                                      <p:to>
                                        <p:strVal val="visible"/>
                                      </p:to>
                                    </p:set>
                                    <p:anim calcmode="lin" valueType="num">
                                      <p:cBhvr>
                                        <p:cTn id="14" dur="400" fill="hold"/>
                                        <p:tgtEl>
                                          <p:spTgt spid="2765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7650"/>
                                        </p:tgtEl>
                                        <p:attrNameLst>
                                          <p:attrName>ppt_y</p:attrName>
                                        </p:attrNameLst>
                                      </p:cBhvr>
                                      <p:tavLst>
                                        <p:tav tm="0">
                                          <p:val>
                                            <p:strVal val="#ppt_y"/>
                                          </p:val>
                                        </p:tav>
                                        <p:tav tm="100000">
                                          <p:val>
                                            <p:strVal val="#ppt_y"/>
                                          </p:val>
                                        </p:tav>
                                      </p:tavLst>
                                    </p:anim>
                                    <p:anim calcmode="lin" valueType="num">
                                      <p:cBhvr>
                                        <p:cTn id="16" dur="400" fill="hold"/>
                                        <p:tgtEl>
                                          <p:spTgt spid="2765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765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7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27"/>
          <p:cNvSpPr txBox="1"/>
          <p:nvPr/>
        </p:nvSpPr>
        <p:spPr>
          <a:xfrm>
            <a:off x="1012825" y="176213"/>
            <a:ext cx="1706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实验结果</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2765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ln>
        </p:spPr>
        <p:txBody>
          <a:bodyPr/>
          <a:lstStyle/>
          <a:p>
            <a:endParaRPr lang="zh-CN" altLang="en-US" sz="1800"/>
          </a:p>
        </p:txBody>
      </p:sp>
      <p:sp>
        <p:nvSpPr>
          <p:cNvPr id="4" name="文本框 3"/>
          <p:cNvSpPr txBox="1"/>
          <p:nvPr/>
        </p:nvSpPr>
        <p:spPr>
          <a:xfrm>
            <a:off x="1012825" y="5013325"/>
            <a:ext cx="10824845" cy="1753235"/>
          </a:xfrm>
          <a:prstGeom prst="rect">
            <a:avLst/>
          </a:prstGeom>
          <a:noFill/>
        </p:spPr>
        <p:txBody>
          <a:bodyPr wrap="square" rtlCol="0">
            <a:spAutoFit/>
          </a:bodyPr>
          <a:p>
            <a:pPr>
              <a:lnSpc>
                <a:spcPct val="150000"/>
              </a:lnSpc>
            </a:pP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Vicuna 7B 模型：MEDUSA-1 实现了 2.18 倍加速；MEDUSA-2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提</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升到 2.83 倍</a:t>
            </a: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Vicuna 13B 模型：MEDUSA-1 实现了 2.33 倍加速；MEDUSA-2 依然保持在 2.83 倍</a:t>
            </a: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MEDUSA-2 明显优于 MEDUSA-1 的策略。随着模型变大（从 7B 到 13B），MEDUSA-1 的加速效果甚至更好，证明了这种架构极具扩展性</a:t>
            </a: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4"/>
          <p:cNvPicPr>
            <a:picLocks noChangeAspect="1"/>
          </p:cNvPicPr>
          <p:nvPr/>
        </p:nvPicPr>
        <p:blipFill>
          <a:blip r:embed="rId1"/>
          <a:stretch>
            <a:fillRect/>
          </a:stretch>
        </p:blipFill>
        <p:spPr>
          <a:xfrm>
            <a:off x="2858135" y="692785"/>
            <a:ext cx="6991350" cy="4219575"/>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p:cTn id="7" dur="300" fill="hold"/>
                                        <p:tgtEl>
                                          <p:spTgt spid="27651"/>
                                        </p:tgtEl>
                                        <p:attrNameLst>
                                          <p:attrName>ppt_w</p:attrName>
                                        </p:attrNameLst>
                                      </p:cBhvr>
                                      <p:tavLst>
                                        <p:tav tm="0">
                                          <p:val>
                                            <p:fltVal val="0"/>
                                          </p:val>
                                        </p:tav>
                                        <p:tav tm="100000">
                                          <p:val>
                                            <p:strVal val="#ppt_w"/>
                                          </p:val>
                                        </p:tav>
                                      </p:tavLst>
                                    </p:anim>
                                    <p:anim calcmode="lin" valueType="num">
                                      <p:cBhvr>
                                        <p:cTn id="8" dur="300" fill="hold"/>
                                        <p:tgtEl>
                                          <p:spTgt spid="27651"/>
                                        </p:tgtEl>
                                        <p:attrNameLst>
                                          <p:attrName>ppt_h</p:attrName>
                                        </p:attrNameLst>
                                      </p:cBhvr>
                                      <p:tavLst>
                                        <p:tav tm="0">
                                          <p:val>
                                            <p:fltVal val="0"/>
                                          </p:val>
                                        </p:tav>
                                        <p:tav tm="100000">
                                          <p:val>
                                            <p:strVal val="#ppt_h"/>
                                          </p:val>
                                        </p:tav>
                                      </p:tavLst>
                                    </p:anim>
                                    <p:anim calcmode="lin" valueType="num">
                                      <p:cBhvr>
                                        <p:cTn id="9" dur="300" fill="hold"/>
                                        <p:tgtEl>
                                          <p:spTgt spid="27651"/>
                                        </p:tgtEl>
                                        <p:attrNameLst>
                                          <p:attrName>style.rotation</p:attrName>
                                        </p:attrNameLst>
                                      </p:cBhvr>
                                      <p:tavLst>
                                        <p:tav tm="0">
                                          <p:val>
                                            <p:fltVal val="90"/>
                                          </p:val>
                                        </p:tav>
                                        <p:tav tm="100000">
                                          <p:val>
                                            <p:fltVal val="0"/>
                                          </p:val>
                                        </p:tav>
                                      </p:tavLst>
                                    </p:anim>
                                    <p:animEffect transition="in" filter="fade">
                                      <p:cBhvr>
                                        <p:cTn id="10" dur="300"/>
                                        <p:tgtEl>
                                          <p:spTgt spid="2765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7650"/>
                                        </p:tgtEl>
                                        <p:attrNameLst>
                                          <p:attrName>style.visibility</p:attrName>
                                        </p:attrNameLst>
                                      </p:cBhvr>
                                      <p:to>
                                        <p:strVal val="visible"/>
                                      </p:to>
                                    </p:set>
                                    <p:anim calcmode="lin" valueType="num">
                                      <p:cBhvr>
                                        <p:cTn id="14" dur="400" fill="hold"/>
                                        <p:tgtEl>
                                          <p:spTgt spid="2765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7650"/>
                                        </p:tgtEl>
                                        <p:attrNameLst>
                                          <p:attrName>ppt_y</p:attrName>
                                        </p:attrNameLst>
                                      </p:cBhvr>
                                      <p:tavLst>
                                        <p:tav tm="0">
                                          <p:val>
                                            <p:strVal val="#ppt_y"/>
                                          </p:val>
                                        </p:tav>
                                        <p:tav tm="100000">
                                          <p:val>
                                            <p:strVal val="#ppt_y"/>
                                          </p:val>
                                        </p:tav>
                                      </p:tavLst>
                                    </p:anim>
                                    <p:anim calcmode="lin" valueType="num">
                                      <p:cBhvr>
                                        <p:cTn id="16" dur="400" fill="hold"/>
                                        <p:tgtEl>
                                          <p:spTgt spid="2765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765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7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27"/>
          <p:cNvSpPr txBox="1"/>
          <p:nvPr/>
        </p:nvSpPr>
        <p:spPr>
          <a:xfrm>
            <a:off x="1012825" y="176213"/>
            <a:ext cx="1706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实验结果</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2765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ln>
        </p:spPr>
        <p:txBody>
          <a:bodyPr/>
          <a:lstStyle/>
          <a:p>
            <a:endParaRPr lang="zh-CN" altLang="en-US" sz="1800"/>
          </a:p>
        </p:txBody>
      </p:sp>
      <p:sp>
        <p:nvSpPr>
          <p:cNvPr id="4" name="文本框 3"/>
          <p:cNvSpPr txBox="1"/>
          <p:nvPr/>
        </p:nvSpPr>
        <p:spPr>
          <a:xfrm>
            <a:off x="1012825" y="5013325"/>
            <a:ext cx="10824845" cy="1753235"/>
          </a:xfrm>
          <a:prstGeom prst="rect">
            <a:avLst/>
          </a:prstGeom>
          <a:noFill/>
        </p:spPr>
        <p:txBody>
          <a:bodyPr wrap="square" rtlCol="0">
            <a:spAutoFit/>
          </a:bodyPr>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写代码 (</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Coding)：</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加速比达到了 3.29 倍。这是因为代码语言通常有着严格的语法、缩进和固定的 </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API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调用模式，模型未来的输出具有极高的“确定性</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信息提取 (</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Extraction)：</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加速比全场最高，达到了 3.62 倍。同样是因为这类任务往往要求模型按特定格式（如 </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JSON、</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固定句式）输出已有信息，预测难度极低。</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3289935" y="332740"/>
            <a:ext cx="7158355" cy="4408170"/>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p:cTn id="7" dur="300" fill="hold"/>
                                        <p:tgtEl>
                                          <p:spTgt spid="27651"/>
                                        </p:tgtEl>
                                        <p:attrNameLst>
                                          <p:attrName>ppt_w</p:attrName>
                                        </p:attrNameLst>
                                      </p:cBhvr>
                                      <p:tavLst>
                                        <p:tav tm="0">
                                          <p:val>
                                            <p:fltVal val="0"/>
                                          </p:val>
                                        </p:tav>
                                        <p:tav tm="100000">
                                          <p:val>
                                            <p:strVal val="#ppt_w"/>
                                          </p:val>
                                        </p:tav>
                                      </p:tavLst>
                                    </p:anim>
                                    <p:anim calcmode="lin" valueType="num">
                                      <p:cBhvr>
                                        <p:cTn id="8" dur="300" fill="hold"/>
                                        <p:tgtEl>
                                          <p:spTgt spid="27651"/>
                                        </p:tgtEl>
                                        <p:attrNameLst>
                                          <p:attrName>ppt_h</p:attrName>
                                        </p:attrNameLst>
                                      </p:cBhvr>
                                      <p:tavLst>
                                        <p:tav tm="0">
                                          <p:val>
                                            <p:fltVal val="0"/>
                                          </p:val>
                                        </p:tav>
                                        <p:tav tm="100000">
                                          <p:val>
                                            <p:strVal val="#ppt_h"/>
                                          </p:val>
                                        </p:tav>
                                      </p:tavLst>
                                    </p:anim>
                                    <p:anim calcmode="lin" valueType="num">
                                      <p:cBhvr>
                                        <p:cTn id="9" dur="300" fill="hold"/>
                                        <p:tgtEl>
                                          <p:spTgt spid="27651"/>
                                        </p:tgtEl>
                                        <p:attrNameLst>
                                          <p:attrName>style.rotation</p:attrName>
                                        </p:attrNameLst>
                                      </p:cBhvr>
                                      <p:tavLst>
                                        <p:tav tm="0">
                                          <p:val>
                                            <p:fltVal val="90"/>
                                          </p:val>
                                        </p:tav>
                                        <p:tav tm="100000">
                                          <p:val>
                                            <p:fltVal val="0"/>
                                          </p:val>
                                        </p:tav>
                                      </p:tavLst>
                                    </p:anim>
                                    <p:animEffect transition="in" filter="fade">
                                      <p:cBhvr>
                                        <p:cTn id="10" dur="300"/>
                                        <p:tgtEl>
                                          <p:spTgt spid="2765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7650"/>
                                        </p:tgtEl>
                                        <p:attrNameLst>
                                          <p:attrName>style.visibility</p:attrName>
                                        </p:attrNameLst>
                                      </p:cBhvr>
                                      <p:to>
                                        <p:strVal val="visible"/>
                                      </p:to>
                                    </p:set>
                                    <p:anim calcmode="lin" valueType="num">
                                      <p:cBhvr>
                                        <p:cTn id="14" dur="400" fill="hold"/>
                                        <p:tgtEl>
                                          <p:spTgt spid="2765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7650"/>
                                        </p:tgtEl>
                                        <p:attrNameLst>
                                          <p:attrName>ppt_y</p:attrName>
                                        </p:attrNameLst>
                                      </p:cBhvr>
                                      <p:tavLst>
                                        <p:tav tm="0">
                                          <p:val>
                                            <p:strVal val="#ppt_y"/>
                                          </p:val>
                                        </p:tav>
                                        <p:tav tm="100000">
                                          <p:val>
                                            <p:strVal val="#ppt_y"/>
                                          </p:val>
                                        </p:tav>
                                      </p:tavLst>
                                    </p:anim>
                                    <p:anim calcmode="lin" valueType="num">
                                      <p:cBhvr>
                                        <p:cTn id="16" dur="400" fill="hold"/>
                                        <p:tgtEl>
                                          <p:spTgt spid="2765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765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7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27"/>
          <p:cNvSpPr txBox="1"/>
          <p:nvPr/>
        </p:nvSpPr>
        <p:spPr>
          <a:xfrm>
            <a:off x="1012825" y="176530"/>
            <a:ext cx="6339205" cy="553085"/>
          </a:xfrm>
          <a:prstGeom prst="rect">
            <a:avLst/>
          </a:prstGeom>
          <a:noFill/>
          <a:ln w="9525">
            <a:noFill/>
          </a:ln>
        </p:spPr>
        <p:txBody>
          <a:bodyPr wrap="squar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实验设置</a:t>
            </a:r>
            <a:r>
              <a:rPr lang="en-US" altLang="zh-CN" sz="3000" b="1" dirty="0">
                <a:solidFill>
                  <a:schemeClr val="accent1"/>
                </a:solidFill>
                <a:latin typeface="微软雅黑" panose="020B0503020204020204" pitchFamily="34" charset="-122"/>
                <a:ea typeface="微软雅黑" panose="020B0503020204020204" pitchFamily="34" charset="-122"/>
              </a:rPr>
              <a:t>-</a:t>
            </a:r>
            <a:r>
              <a:rPr lang="zh-CN" altLang="en-US" sz="3000" b="1" dirty="0">
                <a:solidFill>
                  <a:schemeClr val="accent1"/>
                </a:solidFill>
                <a:latin typeface="微软雅黑" panose="020B0503020204020204" pitchFamily="34" charset="-122"/>
                <a:ea typeface="微软雅黑" panose="020B0503020204020204" pitchFamily="34" charset="-122"/>
              </a:rPr>
              <a:t>自蒸馏实验</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2765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ln>
        </p:spPr>
        <p:txBody>
          <a:bodyPr/>
          <a:lstStyle/>
          <a:p>
            <a:endParaRPr lang="zh-CN" altLang="en-US" sz="1800"/>
          </a:p>
        </p:txBody>
      </p:sp>
      <p:sp>
        <p:nvSpPr>
          <p:cNvPr id="2" name="文本框 1"/>
          <p:cNvSpPr txBox="1"/>
          <p:nvPr/>
        </p:nvSpPr>
        <p:spPr>
          <a:xfrm>
            <a:off x="711200" y="908685"/>
            <a:ext cx="11315700" cy="4587875"/>
          </a:xfrm>
          <a:prstGeom prst="rect">
            <a:avLst/>
          </a:prstGeom>
          <a:noFill/>
        </p:spPr>
        <p:txBody>
          <a:bodyPr wrap="square" rtlCol="0">
            <a:noAutofit/>
          </a:bodyPr>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硬件：单张 </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NVIDIA A100</a:t>
            </a: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模型：</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Vicuna-7B</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Vicuna-13B</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Vicuna-33B</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Zephyr-7B</a:t>
            </a: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自蒸馏生成数据：基于 </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ShareGPT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和 </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UltraChat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提取提示词，模型各自生成了约 10万个样本的定制训练集</a:t>
            </a: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Zephyr-7B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的操作：它具备“自我对话”能力，给一个开头提示，可以自己生成多轮对话，收集数据极其容易</a:t>
            </a: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Vicuna-33B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的操作：按照现有的对话模板，逐轮向模型输入提示词</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并固定采样温度（</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T=0.3）</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来确保回答的稳定性</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训练参数：统一设置序列长度为 2048，批量大小（</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Batch Size）</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为 128</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p:cTn id="7" dur="300" fill="hold"/>
                                        <p:tgtEl>
                                          <p:spTgt spid="27651"/>
                                        </p:tgtEl>
                                        <p:attrNameLst>
                                          <p:attrName>ppt_w</p:attrName>
                                        </p:attrNameLst>
                                      </p:cBhvr>
                                      <p:tavLst>
                                        <p:tav tm="0">
                                          <p:val>
                                            <p:fltVal val="0"/>
                                          </p:val>
                                        </p:tav>
                                        <p:tav tm="100000">
                                          <p:val>
                                            <p:strVal val="#ppt_w"/>
                                          </p:val>
                                        </p:tav>
                                      </p:tavLst>
                                    </p:anim>
                                    <p:anim calcmode="lin" valueType="num">
                                      <p:cBhvr>
                                        <p:cTn id="8" dur="300" fill="hold"/>
                                        <p:tgtEl>
                                          <p:spTgt spid="27651"/>
                                        </p:tgtEl>
                                        <p:attrNameLst>
                                          <p:attrName>ppt_h</p:attrName>
                                        </p:attrNameLst>
                                      </p:cBhvr>
                                      <p:tavLst>
                                        <p:tav tm="0">
                                          <p:val>
                                            <p:fltVal val="0"/>
                                          </p:val>
                                        </p:tav>
                                        <p:tav tm="100000">
                                          <p:val>
                                            <p:strVal val="#ppt_h"/>
                                          </p:val>
                                        </p:tav>
                                      </p:tavLst>
                                    </p:anim>
                                    <p:anim calcmode="lin" valueType="num">
                                      <p:cBhvr>
                                        <p:cTn id="9" dur="300" fill="hold"/>
                                        <p:tgtEl>
                                          <p:spTgt spid="27651"/>
                                        </p:tgtEl>
                                        <p:attrNameLst>
                                          <p:attrName>style.rotation</p:attrName>
                                        </p:attrNameLst>
                                      </p:cBhvr>
                                      <p:tavLst>
                                        <p:tav tm="0">
                                          <p:val>
                                            <p:fltVal val="90"/>
                                          </p:val>
                                        </p:tav>
                                        <p:tav tm="100000">
                                          <p:val>
                                            <p:fltVal val="0"/>
                                          </p:val>
                                        </p:tav>
                                      </p:tavLst>
                                    </p:anim>
                                    <p:animEffect transition="in" filter="fade">
                                      <p:cBhvr>
                                        <p:cTn id="10" dur="300"/>
                                        <p:tgtEl>
                                          <p:spTgt spid="2765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7650"/>
                                        </p:tgtEl>
                                        <p:attrNameLst>
                                          <p:attrName>style.visibility</p:attrName>
                                        </p:attrNameLst>
                                      </p:cBhvr>
                                      <p:to>
                                        <p:strVal val="visible"/>
                                      </p:to>
                                    </p:set>
                                    <p:anim calcmode="lin" valueType="num">
                                      <p:cBhvr>
                                        <p:cTn id="14" dur="400" fill="hold"/>
                                        <p:tgtEl>
                                          <p:spTgt spid="2765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7650"/>
                                        </p:tgtEl>
                                        <p:attrNameLst>
                                          <p:attrName>ppt_y</p:attrName>
                                        </p:attrNameLst>
                                      </p:cBhvr>
                                      <p:tavLst>
                                        <p:tav tm="0">
                                          <p:val>
                                            <p:strVal val="#ppt_y"/>
                                          </p:val>
                                        </p:tav>
                                        <p:tav tm="100000">
                                          <p:val>
                                            <p:strVal val="#ppt_y"/>
                                          </p:val>
                                        </p:tav>
                                      </p:tavLst>
                                    </p:anim>
                                    <p:anim calcmode="lin" valueType="num">
                                      <p:cBhvr>
                                        <p:cTn id="16" dur="400" fill="hold"/>
                                        <p:tgtEl>
                                          <p:spTgt spid="2765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765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7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27"/>
          <p:cNvSpPr txBox="1"/>
          <p:nvPr/>
        </p:nvSpPr>
        <p:spPr>
          <a:xfrm>
            <a:off x="1012825" y="176213"/>
            <a:ext cx="1706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实验结果</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2765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ln>
        </p:spPr>
        <p:txBody>
          <a:bodyPr/>
          <a:lstStyle/>
          <a:p>
            <a:endParaRPr lang="zh-CN" altLang="en-US" sz="1800"/>
          </a:p>
        </p:txBody>
      </p:sp>
      <p:sp>
        <p:nvSpPr>
          <p:cNvPr id="4" name="文本框 3"/>
          <p:cNvSpPr txBox="1"/>
          <p:nvPr/>
        </p:nvSpPr>
        <p:spPr>
          <a:xfrm>
            <a:off x="697865" y="4653280"/>
            <a:ext cx="10824845" cy="1753235"/>
          </a:xfrm>
          <a:prstGeom prst="rect">
            <a:avLst/>
          </a:prstGeom>
          <a:noFill/>
        </p:spPr>
        <p:txBody>
          <a:bodyPr wrap="square" rtlCol="0">
            <a:spAutoFit/>
          </a:bodyPr>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在 </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MT-Bench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评测中，</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Zephyr-7B (-0.07)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与 </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Vicuna-33B (+0.05)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的质量得分较原模型几乎无波动</a:t>
            </a:r>
            <a:r>
              <a:rPr 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，证明</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了自蒸馏策略的有效性</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相较于传统推测解码（1.4</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x - 1.6x），MEDUSA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实现了 2.35</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x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至 2.66</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x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的显著加速</a:t>
            </a:r>
            <a:r>
              <a:rPr 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，且</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额外算力开销严格控制在 20% 左右（1.18 - 1.27），展现出较高的算力性价比</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625475" y="908685"/>
            <a:ext cx="10706100" cy="3338195"/>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p:cTn id="7" dur="300" fill="hold"/>
                                        <p:tgtEl>
                                          <p:spTgt spid="27651"/>
                                        </p:tgtEl>
                                        <p:attrNameLst>
                                          <p:attrName>ppt_w</p:attrName>
                                        </p:attrNameLst>
                                      </p:cBhvr>
                                      <p:tavLst>
                                        <p:tav tm="0">
                                          <p:val>
                                            <p:fltVal val="0"/>
                                          </p:val>
                                        </p:tav>
                                        <p:tav tm="100000">
                                          <p:val>
                                            <p:strVal val="#ppt_w"/>
                                          </p:val>
                                        </p:tav>
                                      </p:tavLst>
                                    </p:anim>
                                    <p:anim calcmode="lin" valueType="num">
                                      <p:cBhvr>
                                        <p:cTn id="8" dur="300" fill="hold"/>
                                        <p:tgtEl>
                                          <p:spTgt spid="27651"/>
                                        </p:tgtEl>
                                        <p:attrNameLst>
                                          <p:attrName>ppt_h</p:attrName>
                                        </p:attrNameLst>
                                      </p:cBhvr>
                                      <p:tavLst>
                                        <p:tav tm="0">
                                          <p:val>
                                            <p:fltVal val="0"/>
                                          </p:val>
                                        </p:tav>
                                        <p:tav tm="100000">
                                          <p:val>
                                            <p:strVal val="#ppt_h"/>
                                          </p:val>
                                        </p:tav>
                                      </p:tavLst>
                                    </p:anim>
                                    <p:anim calcmode="lin" valueType="num">
                                      <p:cBhvr>
                                        <p:cTn id="9" dur="300" fill="hold"/>
                                        <p:tgtEl>
                                          <p:spTgt spid="27651"/>
                                        </p:tgtEl>
                                        <p:attrNameLst>
                                          <p:attrName>style.rotation</p:attrName>
                                        </p:attrNameLst>
                                      </p:cBhvr>
                                      <p:tavLst>
                                        <p:tav tm="0">
                                          <p:val>
                                            <p:fltVal val="90"/>
                                          </p:val>
                                        </p:tav>
                                        <p:tav tm="100000">
                                          <p:val>
                                            <p:fltVal val="0"/>
                                          </p:val>
                                        </p:tav>
                                      </p:tavLst>
                                    </p:anim>
                                    <p:animEffect transition="in" filter="fade">
                                      <p:cBhvr>
                                        <p:cTn id="10" dur="300"/>
                                        <p:tgtEl>
                                          <p:spTgt spid="2765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7650"/>
                                        </p:tgtEl>
                                        <p:attrNameLst>
                                          <p:attrName>style.visibility</p:attrName>
                                        </p:attrNameLst>
                                      </p:cBhvr>
                                      <p:to>
                                        <p:strVal val="visible"/>
                                      </p:to>
                                    </p:set>
                                    <p:anim calcmode="lin" valueType="num">
                                      <p:cBhvr>
                                        <p:cTn id="14" dur="400" fill="hold"/>
                                        <p:tgtEl>
                                          <p:spTgt spid="2765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7650"/>
                                        </p:tgtEl>
                                        <p:attrNameLst>
                                          <p:attrName>ppt_y</p:attrName>
                                        </p:attrNameLst>
                                      </p:cBhvr>
                                      <p:tavLst>
                                        <p:tav tm="0">
                                          <p:val>
                                            <p:strVal val="#ppt_y"/>
                                          </p:val>
                                        </p:tav>
                                        <p:tav tm="100000">
                                          <p:val>
                                            <p:strVal val="#ppt_y"/>
                                          </p:val>
                                        </p:tav>
                                      </p:tavLst>
                                    </p:anim>
                                    <p:anim calcmode="lin" valueType="num">
                                      <p:cBhvr>
                                        <p:cTn id="16" dur="400" fill="hold"/>
                                        <p:tgtEl>
                                          <p:spTgt spid="2765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765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7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27"/>
          <p:cNvSpPr txBox="1"/>
          <p:nvPr/>
        </p:nvSpPr>
        <p:spPr>
          <a:xfrm>
            <a:off x="1012825" y="176530"/>
            <a:ext cx="6339205" cy="553085"/>
          </a:xfrm>
          <a:prstGeom prst="rect">
            <a:avLst/>
          </a:prstGeom>
          <a:noFill/>
          <a:ln w="9525">
            <a:noFill/>
          </a:ln>
        </p:spPr>
        <p:txBody>
          <a:bodyPr wrap="square" anchor="t">
            <a:spAutoFit/>
          </a:bodyPr>
          <a:lstStyle/>
          <a:p>
            <a:r>
              <a:rPr lang="zh-CN" altLang="en-US" sz="3000" b="1" dirty="0">
                <a:solidFill>
                  <a:schemeClr val="accent1"/>
                </a:solidFill>
                <a:latin typeface="微软雅黑" panose="020B0503020204020204" pitchFamily="34" charset="-122"/>
                <a:ea typeface="微软雅黑" panose="020B0503020204020204" pitchFamily="34" charset="-122"/>
              </a:rPr>
              <a:t>消融实验</a:t>
            </a:r>
            <a:r>
              <a:rPr lang="en-US" altLang="zh-CN" sz="3000" b="1" dirty="0">
                <a:solidFill>
                  <a:schemeClr val="accent1"/>
                </a:solidFill>
                <a:latin typeface="微软雅黑" panose="020B0503020204020204" pitchFamily="34" charset="-122"/>
                <a:ea typeface="微软雅黑" panose="020B0503020204020204" pitchFamily="34" charset="-122"/>
              </a:rPr>
              <a:t>-</a:t>
            </a:r>
            <a:r>
              <a:rPr lang="zh-CN" altLang="en-US" sz="3000" b="1" dirty="0">
                <a:solidFill>
                  <a:schemeClr val="accent1"/>
                </a:solidFill>
                <a:latin typeface="微软雅黑" panose="020B0503020204020204" pitchFamily="34" charset="-122"/>
                <a:ea typeface="微软雅黑" panose="020B0503020204020204" pitchFamily="34" charset="-122"/>
              </a:rPr>
              <a:t>树注意力的结构优化</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2765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ln>
        </p:spPr>
        <p:txBody>
          <a:bodyPr/>
          <a:lstStyle/>
          <a:p>
            <a:endParaRPr lang="zh-CN" altLang="en-US" sz="1800"/>
          </a:p>
        </p:txBody>
      </p:sp>
      <p:sp>
        <p:nvSpPr>
          <p:cNvPr id="2" name="文本框 1"/>
          <p:cNvSpPr txBox="1"/>
          <p:nvPr/>
        </p:nvSpPr>
        <p:spPr>
          <a:xfrm>
            <a:off x="711200" y="908685"/>
            <a:ext cx="11315700" cy="4587875"/>
          </a:xfrm>
          <a:prstGeom prst="rect">
            <a:avLst/>
          </a:prstGeom>
          <a:noFill/>
        </p:spPr>
        <p:txBody>
          <a:bodyPr wrap="square" rtlCol="0">
            <a:noAutofit/>
          </a:bodyPr>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硬件：单张 </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NVIDIA A100</a:t>
            </a: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模型：</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Medusa-2 Vicuna-7B</a:t>
            </a: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数据集：</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shareGPT</a:t>
            </a: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测试场景：</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MT-Bench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中的创造性任务（写作、角色扮演），需要模型生成较长、较具创造性的回复，能够测试出预测头在复杂语境下的猜词能力和多头注意力的计算压力</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对比变量：</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indent="457200">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配置</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采用笛卡尔积的</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密集树</a:t>
            </a:r>
            <a:r>
              <a:rPr 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，没有剪枝</a:t>
            </a:r>
            <a:endParaRPr 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indent="457200">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配置</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：验证集上进行离线统计分析得来的稀疏树</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p:cTn id="7" dur="300" fill="hold"/>
                                        <p:tgtEl>
                                          <p:spTgt spid="27651"/>
                                        </p:tgtEl>
                                        <p:attrNameLst>
                                          <p:attrName>ppt_w</p:attrName>
                                        </p:attrNameLst>
                                      </p:cBhvr>
                                      <p:tavLst>
                                        <p:tav tm="0">
                                          <p:val>
                                            <p:fltVal val="0"/>
                                          </p:val>
                                        </p:tav>
                                        <p:tav tm="100000">
                                          <p:val>
                                            <p:strVal val="#ppt_w"/>
                                          </p:val>
                                        </p:tav>
                                      </p:tavLst>
                                    </p:anim>
                                    <p:anim calcmode="lin" valueType="num">
                                      <p:cBhvr>
                                        <p:cTn id="8" dur="300" fill="hold"/>
                                        <p:tgtEl>
                                          <p:spTgt spid="27651"/>
                                        </p:tgtEl>
                                        <p:attrNameLst>
                                          <p:attrName>ppt_h</p:attrName>
                                        </p:attrNameLst>
                                      </p:cBhvr>
                                      <p:tavLst>
                                        <p:tav tm="0">
                                          <p:val>
                                            <p:fltVal val="0"/>
                                          </p:val>
                                        </p:tav>
                                        <p:tav tm="100000">
                                          <p:val>
                                            <p:strVal val="#ppt_h"/>
                                          </p:val>
                                        </p:tav>
                                      </p:tavLst>
                                    </p:anim>
                                    <p:anim calcmode="lin" valueType="num">
                                      <p:cBhvr>
                                        <p:cTn id="9" dur="300" fill="hold"/>
                                        <p:tgtEl>
                                          <p:spTgt spid="27651"/>
                                        </p:tgtEl>
                                        <p:attrNameLst>
                                          <p:attrName>style.rotation</p:attrName>
                                        </p:attrNameLst>
                                      </p:cBhvr>
                                      <p:tavLst>
                                        <p:tav tm="0">
                                          <p:val>
                                            <p:fltVal val="90"/>
                                          </p:val>
                                        </p:tav>
                                        <p:tav tm="100000">
                                          <p:val>
                                            <p:fltVal val="0"/>
                                          </p:val>
                                        </p:tav>
                                      </p:tavLst>
                                    </p:anim>
                                    <p:animEffect transition="in" filter="fade">
                                      <p:cBhvr>
                                        <p:cTn id="10" dur="300"/>
                                        <p:tgtEl>
                                          <p:spTgt spid="2765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7650"/>
                                        </p:tgtEl>
                                        <p:attrNameLst>
                                          <p:attrName>style.visibility</p:attrName>
                                        </p:attrNameLst>
                                      </p:cBhvr>
                                      <p:to>
                                        <p:strVal val="visible"/>
                                      </p:to>
                                    </p:set>
                                    <p:anim calcmode="lin" valueType="num">
                                      <p:cBhvr>
                                        <p:cTn id="14" dur="400" fill="hold"/>
                                        <p:tgtEl>
                                          <p:spTgt spid="2765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7650"/>
                                        </p:tgtEl>
                                        <p:attrNameLst>
                                          <p:attrName>ppt_y</p:attrName>
                                        </p:attrNameLst>
                                      </p:cBhvr>
                                      <p:tavLst>
                                        <p:tav tm="0">
                                          <p:val>
                                            <p:strVal val="#ppt_y"/>
                                          </p:val>
                                        </p:tav>
                                        <p:tav tm="100000">
                                          <p:val>
                                            <p:strVal val="#ppt_y"/>
                                          </p:val>
                                        </p:tav>
                                      </p:tavLst>
                                    </p:anim>
                                    <p:anim calcmode="lin" valueType="num">
                                      <p:cBhvr>
                                        <p:cTn id="16" dur="400" fill="hold"/>
                                        <p:tgtEl>
                                          <p:spTgt spid="2765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765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7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27"/>
          <p:cNvSpPr txBox="1"/>
          <p:nvPr/>
        </p:nvSpPr>
        <p:spPr>
          <a:xfrm>
            <a:off x="1012825" y="176530"/>
            <a:ext cx="6339205" cy="553085"/>
          </a:xfrm>
          <a:prstGeom prst="rect">
            <a:avLst/>
          </a:prstGeom>
          <a:noFill/>
          <a:ln w="9525">
            <a:noFill/>
          </a:ln>
        </p:spPr>
        <p:txBody>
          <a:bodyPr wrap="square" anchor="t">
            <a:spAutoFit/>
          </a:bodyPr>
          <a:lstStyle/>
          <a:p>
            <a:r>
              <a:rPr lang="zh-CN" altLang="en-US" sz="3000" b="1" dirty="0">
                <a:solidFill>
                  <a:schemeClr val="accent1"/>
                </a:solidFill>
                <a:latin typeface="微软雅黑" panose="020B0503020204020204" pitchFamily="34" charset="-122"/>
                <a:ea typeface="微软雅黑" panose="020B0503020204020204" pitchFamily="34" charset="-122"/>
              </a:rPr>
              <a:t>消融实验</a:t>
            </a:r>
            <a:r>
              <a:rPr lang="en-US" altLang="zh-CN" sz="3000" b="1" dirty="0">
                <a:solidFill>
                  <a:schemeClr val="accent1"/>
                </a:solidFill>
                <a:latin typeface="微软雅黑" panose="020B0503020204020204" pitchFamily="34" charset="-122"/>
                <a:ea typeface="微软雅黑" panose="020B0503020204020204" pitchFamily="34" charset="-122"/>
              </a:rPr>
              <a:t>-</a:t>
            </a:r>
            <a:r>
              <a:rPr lang="zh-CN" altLang="en-US" sz="3000" b="1" dirty="0">
                <a:solidFill>
                  <a:schemeClr val="accent1"/>
                </a:solidFill>
                <a:latin typeface="微软雅黑" panose="020B0503020204020204" pitchFamily="34" charset="-122"/>
                <a:ea typeface="微软雅黑" panose="020B0503020204020204" pitchFamily="34" charset="-122"/>
              </a:rPr>
              <a:t>树注意力的结构优化</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2765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ln>
        </p:spPr>
        <p:txBody>
          <a:bodyPr/>
          <a:lstStyle/>
          <a:p>
            <a:endParaRPr lang="zh-CN" altLang="en-US" sz="1800"/>
          </a:p>
        </p:txBody>
      </p:sp>
      <p:sp>
        <p:nvSpPr>
          <p:cNvPr id="2" name="文本框 1"/>
          <p:cNvSpPr txBox="1"/>
          <p:nvPr/>
        </p:nvSpPr>
        <p:spPr>
          <a:xfrm>
            <a:off x="1489710" y="-1035050"/>
            <a:ext cx="11315700" cy="4587875"/>
          </a:xfrm>
          <a:prstGeom prst="rect">
            <a:avLst/>
          </a:prstGeom>
          <a:noFill/>
        </p:spPr>
        <p:txBody>
          <a:bodyPr wrap="square" rtlCol="0">
            <a:noAutofit/>
          </a:bodyPr>
          <a:p>
            <a:pPr>
              <a:lnSpc>
                <a:spcPct val="150000"/>
              </a:lnSpc>
            </a:pP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4"/>
          <p:cNvPicPr>
            <a:picLocks noChangeAspect="1"/>
          </p:cNvPicPr>
          <p:nvPr/>
        </p:nvPicPr>
        <p:blipFill>
          <a:blip r:embed="rId1"/>
          <a:stretch>
            <a:fillRect/>
          </a:stretch>
        </p:blipFill>
        <p:spPr>
          <a:xfrm>
            <a:off x="2564130" y="980440"/>
            <a:ext cx="7067550" cy="3857625"/>
          </a:xfrm>
          <a:prstGeom prst="rect">
            <a:avLst/>
          </a:prstGeom>
        </p:spPr>
      </p:pic>
      <p:sp>
        <p:nvSpPr>
          <p:cNvPr id="6" name="文本框 5"/>
          <p:cNvSpPr txBox="1"/>
          <p:nvPr/>
        </p:nvSpPr>
        <p:spPr>
          <a:xfrm>
            <a:off x="769620" y="5157470"/>
            <a:ext cx="10948035" cy="1337945"/>
          </a:xfrm>
          <a:prstGeom prst="rect">
            <a:avLst/>
          </a:prstGeom>
          <a:noFill/>
        </p:spPr>
        <p:txBody>
          <a:bodyPr wrap="square" rtlCol="0">
            <a:spAutoFit/>
          </a:bodyPr>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稀疏树在节点数较少时（例如 64 个节点）就能达到比密集树（256 个节点）更高的加速比</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加速比随节点数增加呈对数增长，早期增长快，后期饱和</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优化的稀疏树能更高效地利用计算资源，避免不必要的候选组合</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p:cTn id="7" dur="300" fill="hold"/>
                                        <p:tgtEl>
                                          <p:spTgt spid="27651"/>
                                        </p:tgtEl>
                                        <p:attrNameLst>
                                          <p:attrName>ppt_w</p:attrName>
                                        </p:attrNameLst>
                                      </p:cBhvr>
                                      <p:tavLst>
                                        <p:tav tm="0">
                                          <p:val>
                                            <p:fltVal val="0"/>
                                          </p:val>
                                        </p:tav>
                                        <p:tav tm="100000">
                                          <p:val>
                                            <p:strVal val="#ppt_w"/>
                                          </p:val>
                                        </p:tav>
                                      </p:tavLst>
                                    </p:anim>
                                    <p:anim calcmode="lin" valueType="num">
                                      <p:cBhvr>
                                        <p:cTn id="8" dur="300" fill="hold"/>
                                        <p:tgtEl>
                                          <p:spTgt spid="27651"/>
                                        </p:tgtEl>
                                        <p:attrNameLst>
                                          <p:attrName>ppt_h</p:attrName>
                                        </p:attrNameLst>
                                      </p:cBhvr>
                                      <p:tavLst>
                                        <p:tav tm="0">
                                          <p:val>
                                            <p:fltVal val="0"/>
                                          </p:val>
                                        </p:tav>
                                        <p:tav tm="100000">
                                          <p:val>
                                            <p:strVal val="#ppt_h"/>
                                          </p:val>
                                        </p:tav>
                                      </p:tavLst>
                                    </p:anim>
                                    <p:anim calcmode="lin" valueType="num">
                                      <p:cBhvr>
                                        <p:cTn id="9" dur="300" fill="hold"/>
                                        <p:tgtEl>
                                          <p:spTgt spid="27651"/>
                                        </p:tgtEl>
                                        <p:attrNameLst>
                                          <p:attrName>style.rotation</p:attrName>
                                        </p:attrNameLst>
                                      </p:cBhvr>
                                      <p:tavLst>
                                        <p:tav tm="0">
                                          <p:val>
                                            <p:fltVal val="90"/>
                                          </p:val>
                                        </p:tav>
                                        <p:tav tm="100000">
                                          <p:val>
                                            <p:fltVal val="0"/>
                                          </p:val>
                                        </p:tav>
                                      </p:tavLst>
                                    </p:anim>
                                    <p:animEffect transition="in" filter="fade">
                                      <p:cBhvr>
                                        <p:cTn id="10" dur="300"/>
                                        <p:tgtEl>
                                          <p:spTgt spid="2765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7650"/>
                                        </p:tgtEl>
                                        <p:attrNameLst>
                                          <p:attrName>style.visibility</p:attrName>
                                        </p:attrNameLst>
                                      </p:cBhvr>
                                      <p:to>
                                        <p:strVal val="visible"/>
                                      </p:to>
                                    </p:set>
                                    <p:anim calcmode="lin" valueType="num">
                                      <p:cBhvr>
                                        <p:cTn id="14" dur="400" fill="hold"/>
                                        <p:tgtEl>
                                          <p:spTgt spid="2765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7650"/>
                                        </p:tgtEl>
                                        <p:attrNameLst>
                                          <p:attrName>ppt_y</p:attrName>
                                        </p:attrNameLst>
                                      </p:cBhvr>
                                      <p:tavLst>
                                        <p:tav tm="0">
                                          <p:val>
                                            <p:strVal val="#ppt_y"/>
                                          </p:val>
                                        </p:tav>
                                        <p:tav tm="100000">
                                          <p:val>
                                            <p:strVal val="#ppt_y"/>
                                          </p:val>
                                        </p:tav>
                                      </p:tavLst>
                                    </p:anim>
                                    <p:anim calcmode="lin" valueType="num">
                                      <p:cBhvr>
                                        <p:cTn id="16" dur="400" fill="hold"/>
                                        <p:tgtEl>
                                          <p:spTgt spid="2765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765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7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27"/>
          <p:cNvSpPr txBox="1"/>
          <p:nvPr/>
        </p:nvSpPr>
        <p:spPr>
          <a:xfrm>
            <a:off x="1012825" y="176530"/>
            <a:ext cx="6339205" cy="553085"/>
          </a:xfrm>
          <a:prstGeom prst="rect">
            <a:avLst/>
          </a:prstGeom>
          <a:noFill/>
          <a:ln w="9525">
            <a:noFill/>
          </a:ln>
        </p:spPr>
        <p:txBody>
          <a:bodyPr wrap="square" anchor="t">
            <a:spAutoFit/>
          </a:bodyPr>
          <a:lstStyle/>
          <a:p>
            <a:r>
              <a:rPr lang="zh-CN" altLang="en-US" sz="3000" b="1" dirty="0">
                <a:solidFill>
                  <a:schemeClr val="accent1"/>
                </a:solidFill>
                <a:latin typeface="微软雅黑" panose="020B0503020204020204" pitchFamily="34" charset="-122"/>
                <a:ea typeface="微软雅黑" panose="020B0503020204020204" pitchFamily="34" charset="-122"/>
              </a:rPr>
              <a:t>消融实验</a:t>
            </a:r>
            <a:r>
              <a:rPr lang="en-US" altLang="zh-CN" sz="3000" b="1" dirty="0">
                <a:solidFill>
                  <a:schemeClr val="accent1"/>
                </a:solidFill>
                <a:latin typeface="微软雅黑" panose="020B0503020204020204" pitchFamily="34" charset="-122"/>
                <a:ea typeface="微软雅黑" panose="020B0503020204020204" pitchFamily="34" charset="-122"/>
              </a:rPr>
              <a:t>-</a:t>
            </a:r>
            <a:r>
              <a:rPr lang="zh-CN" altLang="en-US" sz="3000" b="1" dirty="0">
                <a:solidFill>
                  <a:schemeClr val="accent1"/>
                </a:solidFill>
                <a:latin typeface="微软雅黑" panose="020B0503020204020204" pitchFamily="34" charset="-122"/>
                <a:ea typeface="微软雅黑" panose="020B0503020204020204" pitchFamily="34" charset="-122"/>
              </a:rPr>
              <a:t>树注意力的结构优化</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2765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ln>
        </p:spPr>
        <p:txBody>
          <a:bodyPr/>
          <a:lstStyle/>
          <a:p>
            <a:endParaRPr lang="zh-CN" altLang="en-US" sz="1800"/>
          </a:p>
        </p:txBody>
      </p:sp>
      <p:sp>
        <p:nvSpPr>
          <p:cNvPr id="2" name="文本框 1"/>
          <p:cNvSpPr txBox="1"/>
          <p:nvPr/>
        </p:nvSpPr>
        <p:spPr>
          <a:xfrm>
            <a:off x="1489710" y="-1035050"/>
            <a:ext cx="11315700" cy="4587875"/>
          </a:xfrm>
          <a:prstGeom prst="rect">
            <a:avLst/>
          </a:prstGeom>
          <a:noFill/>
        </p:spPr>
        <p:txBody>
          <a:bodyPr wrap="square" rtlCol="0">
            <a:noAutofit/>
          </a:bodyPr>
          <a:p>
            <a:pPr>
              <a:lnSpc>
                <a:spcPct val="150000"/>
              </a:lnSpc>
            </a:pP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p:cNvSpPr txBox="1"/>
          <p:nvPr/>
        </p:nvSpPr>
        <p:spPr>
          <a:xfrm>
            <a:off x="769620" y="5157470"/>
            <a:ext cx="10948035" cy="1337945"/>
          </a:xfrm>
          <a:prstGeom prst="rect">
            <a:avLst/>
          </a:prstGeom>
          <a:noFill/>
        </p:spPr>
        <p:txBody>
          <a:bodyPr wrap="square" rtlCol="0">
            <a:spAutoFit/>
          </a:bodyPr>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随着节点数增加，实际速度先上升后下降</a:t>
            </a: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稀疏树在达到最高速度后，下降更平缓；密集树因计算开销大，速度下降更快</a:t>
            </a: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存在一个最优节点数（约为 64 ），此时速度提升最大</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2425700" y="980440"/>
            <a:ext cx="7077075" cy="3819525"/>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p:cTn id="7" dur="300" fill="hold"/>
                                        <p:tgtEl>
                                          <p:spTgt spid="27651"/>
                                        </p:tgtEl>
                                        <p:attrNameLst>
                                          <p:attrName>ppt_w</p:attrName>
                                        </p:attrNameLst>
                                      </p:cBhvr>
                                      <p:tavLst>
                                        <p:tav tm="0">
                                          <p:val>
                                            <p:fltVal val="0"/>
                                          </p:val>
                                        </p:tav>
                                        <p:tav tm="100000">
                                          <p:val>
                                            <p:strVal val="#ppt_w"/>
                                          </p:val>
                                        </p:tav>
                                      </p:tavLst>
                                    </p:anim>
                                    <p:anim calcmode="lin" valueType="num">
                                      <p:cBhvr>
                                        <p:cTn id="8" dur="300" fill="hold"/>
                                        <p:tgtEl>
                                          <p:spTgt spid="27651"/>
                                        </p:tgtEl>
                                        <p:attrNameLst>
                                          <p:attrName>ppt_h</p:attrName>
                                        </p:attrNameLst>
                                      </p:cBhvr>
                                      <p:tavLst>
                                        <p:tav tm="0">
                                          <p:val>
                                            <p:fltVal val="0"/>
                                          </p:val>
                                        </p:tav>
                                        <p:tav tm="100000">
                                          <p:val>
                                            <p:strVal val="#ppt_h"/>
                                          </p:val>
                                        </p:tav>
                                      </p:tavLst>
                                    </p:anim>
                                    <p:anim calcmode="lin" valueType="num">
                                      <p:cBhvr>
                                        <p:cTn id="9" dur="300" fill="hold"/>
                                        <p:tgtEl>
                                          <p:spTgt spid="27651"/>
                                        </p:tgtEl>
                                        <p:attrNameLst>
                                          <p:attrName>style.rotation</p:attrName>
                                        </p:attrNameLst>
                                      </p:cBhvr>
                                      <p:tavLst>
                                        <p:tav tm="0">
                                          <p:val>
                                            <p:fltVal val="90"/>
                                          </p:val>
                                        </p:tav>
                                        <p:tav tm="100000">
                                          <p:val>
                                            <p:fltVal val="0"/>
                                          </p:val>
                                        </p:tav>
                                      </p:tavLst>
                                    </p:anim>
                                    <p:animEffect transition="in" filter="fade">
                                      <p:cBhvr>
                                        <p:cTn id="10" dur="300"/>
                                        <p:tgtEl>
                                          <p:spTgt spid="2765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7650"/>
                                        </p:tgtEl>
                                        <p:attrNameLst>
                                          <p:attrName>style.visibility</p:attrName>
                                        </p:attrNameLst>
                                      </p:cBhvr>
                                      <p:to>
                                        <p:strVal val="visible"/>
                                      </p:to>
                                    </p:set>
                                    <p:anim calcmode="lin" valueType="num">
                                      <p:cBhvr>
                                        <p:cTn id="14" dur="400" fill="hold"/>
                                        <p:tgtEl>
                                          <p:spTgt spid="2765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7650"/>
                                        </p:tgtEl>
                                        <p:attrNameLst>
                                          <p:attrName>ppt_y</p:attrName>
                                        </p:attrNameLst>
                                      </p:cBhvr>
                                      <p:tavLst>
                                        <p:tav tm="0">
                                          <p:val>
                                            <p:strVal val="#ppt_y"/>
                                          </p:val>
                                        </p:tav>
                                        <p:tav tm="100000">
                                          <p:val>
                                            <p:strVal val="#ppt_y"/>
                                          </p:val>
                                        </p:tav>
                                      </p:tavLst>
                                    </p:anim>
                                    <p:anim calcmode="lin" valueType="num">
                                      <p:cBhvr>
                                        <p:cTn id="16" dur="400" fill="hold"/>
                                        <p:tgtEl>
                                          <p:spTgt spid="2765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765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7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27"/>
          <p:cNvSpPr txBox="1"/>
          <p:nvPr/>
        </p:nvSpPr>
        <p:spPr>
          <a:xfrm>
            <a:off x="1012825" y="176530"/>
            <a:ext cx="6339205" cy="553085"/>
          </a:xfrm>
          <a:prstGeom prst="rect">
            <a:avLst/>
          </a:prstGeom>
          <a:noFill/>
          <a:ln w="9525">
            <a:noFill/>
          </a:ln>
        </p:spPr>
        <p:txBody>
          <a:bodyPr wrap="square" anchor="t">
            <a:spAutoFit/>
          </a:bodyPr>
          <a:lstStyle/>
          <a:p>
            <a:r>
              <a:rPr lang="zh-CN" altLang="en-US" sz="3000" b="1" dirty="0">
                <a:solidFill>
                  <a:schemeClr val="accent1"/>
                </a:solidFill>
                <a:latin typeface="微软雅黑" panose="020B0503020204020204" pitchFamily="34" charset="-122"/>
                <a:ea typeface="微软雅黑" panose="020B0503020204020204" pitchFamily="34" charset="-122"/>
                <a:sym typeface="+mn-ea"/>
              </a:rPr>
              <a:t>消融实验</a:t>
            </a:r>
            <a:r>
              <a:rPr lang="en-US" sz="3000" b="1" dirty="0">
                <a:solidFill>
                  <a:schemeClr val="accent1"/>
                </a:solidFill>
                <a:latin typeface="微软雅黑" panose="020B0503020204020204" pitchFamily="34" charset="-122"/>
                <a:ea typeface="微软雅黑" panose="020B0503020204020204" pitchFamily="34" charset="-122"/>
                <a:sym typeface="+mn-ea"/>
              </a:rPr>
              <a:t>-</a:t>
            </a:r>
            <a:r>
              <a:rPr lang="zh-CN" altLang="en-US" sz="3000" b="1" dirty="0">
                <a:solidFill>
                  <a:schemeClr val="accent1"/>
                </a:solidFill>
                <a:latin typeface="微软雅黑" panose="020B0503020204020204" pitchFamily="34" charset="-122"/>
                <a:ea typeface="微软雅黑" panose="020B0503020204020204" pitchFamily="34" charset="-122"/>
                <a:sym typeface="+mn-ea"/>
              </a:rPr>
              <a:t>典型采样</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2765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ln>
        </p:spPr>
        <p:txBody>
          <a:bodyPr/>
          <a:lstStyle/>
          <a:p>
            <a:endParaRPr lang="zh-CN" altLang="en-US" sz="1800"/>
          </a:p>
        </p:txBody>
      </p:sp>
      <mc:AlternateContent xmlns:mc="http://schemas.openxmlformats.org/markup-compatibility/2006">
        <mc:Choice xmlns:a14="http://schemas.microsoft.com/office/drawing/2010/main" Requires="a14">
          <p:sp>
            <p:nvSpPr>
              <p:cNvPr id="2" name="文本框 1"/>
              <p:cNvSpPr txBox="1"/>
              <p:nvPr/>
            </p:nvSpPr>
            <p:spPr>
              <a:xfrm>
                <a:off x="711200" y="908685"/>
                <a:ext cx="11315700" cy="4587875"/>
              </a:xfrm>
              <a:prstGeom prst="rect">
                <a:avLst/>
              </a:prstGeom>
              <a:noFill/>
            </p:spPr>
            <p:txBody>
              <a:bodyPr wrap="square" rtlCol="0">
                <a:noAutofit/>
              </a:bodyPr>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硬件：单张 </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NVIDIA A100</a:t>
                </a: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模型：</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Medusa-2 Vicuna-7B</a:t>
                </a:r>
                <a:endPar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测试场景：</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MT-Bench</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对比变量：</a:t>
                </a:r>
                <a14:m>
                  <m:oMath xmlns:m="http://schemas.openxmlformats.org/officeDocument/2006/math">
                    <m:r>
                      <m:rPr>
                        <m:sty m:val="p"/>
                      </m:rPr>
                      <a:rPr lang="en-US" altLang="zh-CN" sz="1800">
                        <a:solidFill>
                          <a:schemeClr val="accent1"/>
                        </a:solidFill>
                        <a:latin typeface="Cambria Math" panose="02040503050406030204" charset="0"/>
                        <a:ea typeface="微软雅黑" panose="020B0503020204020204" pitchFamily="34" charset="-122"/>
                        <a:cs typeface="Cambria Math" panose="02040503050406030204" charset="0"/>
                      </a:rPr>
                      <m:t>ε</m:t>
                    </m:r>
                  </m:oMath>
                </a14:m>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设置了从 0.01 到 0.25 的阈值范围，步长为 0.01</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对照组：</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indent="457200">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贪婪采样 (</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Greedy Sampling)：</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固定选择概率最高的词（星号表示）</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indent="457200">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随机采样 (</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Random Sampling)：</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传统的带温度采样（圆点表示）</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711200" y="908685"/>
                <a:ext cx="11315700" cy="4587875"/>
              </a:xfrm>
              <a:prstGeom prst="rect">
                <a:avLst/>
              </a:prstGeom>
              <a:blipFill rotWithShape="1">
                <a:blip r:embed="rId1"/>
                <a:stretch>
                  <a:fillRect/>
                </a:stretch>
              </a:blipFill>
            </p:spPr>
            <p:txBody>
              <a:bodyPr/>
              <a:lstStyle/>
              <a:p>
                <a:r>
                  <a:rPr lang="zh-CN" altLang="en-US">
                    <a:noFill/>
                  </a:rPr>
                  <a:t> </a:t>
                </a:r>
              </a:p>
            </p:txBody>
          </p:sp>
        </mc:Fallback>
      </mc:AlternateContent>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p:cTn id="7" dur="300" fill="hold"/>
                                        <p:tgtEl>
                                          <p:spTgt spid="27651"/>
                                        </p:tgtEl>
                                        <p:attrNameLst>
                                          <p:attrName>ppt_w</p:attrName>
                                        </p:attrNameLst>
                                      </p:cBhvr>
                                      <p:tavLst>
                                        <p:tav tm="0">
                                          <p:val>
                                            <p:fltVal val="0"/>
                                          </p:val>
                                        </p:tav>
                                        <p:tav tm="100000">
                                          <p:val>
                                            <p:strVal val="#ppt_w"/>
                                          </p:val>
                                        </p:tav>
                                      </p:tavLst>
                                    </p:anim>
                                    <p:anim calcmode="lin" valueType="num">
                                      <p:cBhvr>
                                        <p:cTn id="8" dur="300" fill="hold"/>
                                        <p:tgtEl>
                                          <p:spTgt spid="27651"/>
                                        </p:tgtEl>
                                        <p:attrNameLst>
                                          <p:attrName>ppt_h</p:attrName>
                                        </p:attrNameLst>
                                      </p:cBhvr>
                                      <p:tavLst>
                                        <p:tav tm="0">
                                          <p:val>
                                            <p:fltVal val="0"/>
                                          </p:val>
                                        </p:tav>
                                        <p:tav tm="100000">
                                          <p:val>
                                            <p:strVal val="#ppt_h"/>
                                          </p:val>
                                        </p:tav>
                                      </p:tavLst>
                                    </p:anim>
                                    <p:anim calcmode="lin" valueType="num">
                                      <p:cBhvr>
                                        <p:cTn id="9" dur="300" fill="hold"/>
                                        <p:tgtEl>
                                          <p:spTgt spid="27651"/>
                                        </p:tgtEl>
                                        <p:attrNameLst>
                                          <p:attrName>style.rotation</p:attrName>
                                        </p:attrNameLst>
                                      </p:cBhvr>
                                      <p:tavLst>
                                        <p:tav tm="0">
                                          <p:val>
                                            <p:fltVal val="90"/>
                                          </p:val>
                                        </p:tav>
                                        <p:tav tm="100000">
                                          <p:val>
                                            <p:fltVal val="0"/>
                                          </p:val>
                                        </p:tav>
                                      </p:tavLst>
                                    </p:anim>
                                    <p:animEffect transition="in" filter="fade">
                                      <p:cBhvr>
                                        <p:cTn id="10" dur="300"/>
                                        <p:tgtEl>
                                          <p:spTgt spid="2765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7650"/>
                                        </p:tgtEl>
                                        <p:attrNameLst>
                                          <p:attrName>style.visibility</p:attrName>
                                        </p:attrNameLst>
                                      </p:cBhvr>
                                      <p:to>
                                        <p:strVal val="visible"/>
                                      </p:to>
                                    </p:set>
                                    <p:anim calcmode="lin" valueType="num">
                                      <p:cBhvr>
                                        <p:cTn id="14" dur="400" fill="hold"/>
                                        <p:tgtEl>
                                          <p:spTgt spid="2765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7650"/>
                                        </p:tgtEl>
                                        <p:attrNameLst>
                                          <p:attrName>ppt_y</p:attrName>
                                        </p:attrNameLst>
                                      </p:cBhvr>
                                      <p:tavLst>
                                        <p:tav tm="0">
                                          <p:val>
                                            <p:strVal val="#ppt_y"/>
                                          </p:val>
                                        </p:tav>
                                        <p:tav tm="100000">
                                          <p:val>
                                            <p:strVal val="#ppt_y"/>
                                          </p:val>
                                        </p:tav>
                                      </p:tavLst>
                                    </p:anim>
                                    <p:anim calcmode="lin" valueType="num">
                                      <p:cBhvr>
                                        <p:cTn id="16" dur="400" fill="hold"/>
                                        <p:tgtEl>
                                          <p:spTgt spid="2765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765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7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27"/>
          <p:cNvSpPr txBox="1"/>
          <p:nvPr/>
        </p:nvSpPr>
        <p:spPr>
          <a:xfrm>
            <a:off x="1012825" y="176530"/>
            <a:ext cx="6339205" cy="553085"/>
          </a:xfrm>
          <a:prstGeom prst="rect">
            <a:avLst/>
          </a:prstGeom>
          <a:noFill/>
          <a:ln w="9525">
            <a:noFill/>
          </a:ln>
        </p:spPr>
        <p:txBody>
          <a:bodyPr wrap="square" anchor="t">
            <a:spAutoFit/>
          </a:bodyPr>
          <a:lstStyle/>
          <a:p>
            <a:r>
              <a:rPr lang="zh-CN" altLang="en-US" sz="3000" b="1" dirty="0">
                <a:solidFill>
                  <a:schemeClr val="accent1"/>
                </a:solidFill>
                <a:latin typeface="微软雅黑" panose="020B0503020204020204" pitchFamily="34" charset="-122"/>
                <a:ea typeface="微软雅黑" panose="020B0503020204020204" pitchFamily="34" charset="-122"/>
              </a:rPr>
              <a:t>消融实验</a:t>
            </a:r>
            <a:r>
              <a:rPr lang="en-US" sz="3000" b="1" dirty="0">
                <a:solidFill>
                  <a:schemeClr val="accent1"/>
                </a:solidFill>
                <a:latin typeface="微软雅黑" panose="020B0503020204020204" pitchFamily="34" charset="-122"/>
                <a:ea typeface="微软雅黑" panose="020B0503020204020204" pitchFamily="34" charset="-122"/>
              </a:rPr>
              <a:t>-</a:t>
            </a:r>
            <a:r>
              <a:rPr lang="zh-CN" altLang="en-US" sz="3000" b="1" dirty="0">
                <a:solidFill>
                  <a:schemeClr val="accent1"/>
                </a:solidFill>
                <a:latin typeface="微软雅黑" panose="020B0503020204020204" pitchFamily="34" charset="-122"/>
                <a:ea typeface="微软雅黑" panose="020B0503020204020204" pitchFamily="34" charset="-122"/>
              </a:rPr>
              <a:t>典型采样</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2765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ln>
        </p:spPr>
        <p:txBody>
          <a:bodyPr/>
          <a:lstStyle/>
          <a:p>
            <a:endParaRPr lang="zh-CN" altLang="en-US" sz="1800"/>
          </a:p>
        </p:txBody>
      </p:sp>
      <mc:AlternateContent xmlns:mc="http://schemas.openxmlformats.org/markup-compatibility/2006">
        <mc:Choice xmlns:a14="http://schemas.microsoft.com/office/drawing/2010/main" Requires="a14">
          <p:sp>
            <p:nvSpPr>
              <p:cNvPr id="2" name="文本框 1"/>
              <p:cNvSpPr txBox="1"/>
              <p:nvPr/>
            </p:nvSpPr>
            <p:spPr>
              <a:xfrm>
                <a:off x="711200" y="4914265"/>
                <a:ext cx="10611485" cy="1511300"/>
              </a:xfrm>
              <a:prstGeom prst="rect">
                <a:avLst/>
              </a:prstGeom>
              <a:noFill/>
            </p:spPr>
            <p:txBody>
              <a:bodyPr wrap="square" rtlCol="0">
                <a:noAutofit/>
              </a:bodyPr>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随着阈值</a:t>
                </a:r>
                <a14:m>
                  <m:oMath xmlns:m="http://schemas.openxmlformats.org/officeDocument/2006/math">
                    <m:r>
                      <a:rPr lang="en-US" altLang="zh-CN" sz="1800">
                        <a:solidFill>
                          <a:schemeClr val="accent1"/>
                        </a:solidFill>
                        <a:latin typeface="Cambria Math" panose="02040503050406030204" charset="0"/>
                        <a:ea typeface="微软雅黑" panose="020B0503020204020204" pitchFamily="34" charset="-122"/>
                        <a:cs typeface="Cambria Math" panose="02040503050406030204" charset="0"/>
                      </a:rPr>
                      <m:t> </m:t>
                    </m:r>
                    <m:r>
                      <m:rPr>
                        <m:sty m:val="p"/>
                      </m:rPr>
                      <a:rPr lang="en-US" altLang="zh-CN" sz="1800">
                        <a:solidFill>
                          <a:schemeClr val="accent1"/>
                        </a:solidFill>
                        <a:latin typeface="Cambria Math" panose="02040503050406030204" charset="0"/>
                        <a:ea typeface="微软雅黑" panose="020B0503020204020204" pitchFamily="34" charset="-122"/>
                        <a:cs typeface="Cambria Math" panose="02040503050406030204" charset="0"/>
                      </a:rPr>
                      <m:t>ε</m:t>
                    </m:r>
                  </m:oMath>
                </a14:m>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的增加，模型的生成质量逐步提升，但加速比显著下降</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在需要“创造力”的场景下（如写作），典型采样在</a:t>
                </a:r>
                <a14:m>
                  <m:oMathPara xmlns:m="http://schemas.openxmlformats.org/officeDocument/2006/math">
                    <m:oMathParaPr>
                      <m:jc m:val="centerGroup"/>
                    </m:oMathParaPr>
                    <m:oMath xmlns:m="http://schemas.openxmlformats.org/officeDocument/2006/math">
                      <m:r>
                        <a:rPr lang="en-US" altLang="zh-CN" sz="1800">
                          <a:solidFill>
                            <a:schemeClr val="accent1"/>
                          </a:solidFill>
                          <a:latin typeface="Cambria Math" panose="02040503050406030204" charset="0"/>
                          <a:ea typeface="微软雅黑" panose="020B0503020204020204" pitchFamily="34" charset="-122"/>
                          <a:cs typeface="Cambria Math" panose="02040503050406030204" charset="0"/>
                        </a:rPr>
                        <m:t> </m:t>
                      </m:r>
                      <m:r>
                        <m:rPr>
                          <m:sty m:val="p"/>
                        </m:rPr>
                        <a:rPr lang="en-US" altLang="zh-CN" sz="1800">
                          <a:solidFill>
                            <a:schemeClr val="accent1"/>
                          </a:solidFill>
                          <a:latin typeface="Cambria Math" panose="02040503050406030204" charset="0"/>
                          <a:ea typeface="微软雅黑" panose="020B0503020204020204" pitchFamily="34" charset="-122"/>
                          <a:cs typeface="Cambria Math" panose="02040503050406030204" charset="0"/>
                        </a:rPr>
                        <m:t>ε</m:t>
                      </m:r>
                    </m:oMath>
                  </m:oMathPara>
                </a14:m>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较大时，其质量得分远超贪婪采样，并能达到与随机采样相当的水平</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711200" y="4914265"/>
                <a:ext cx="10611485" cy="1511300"/>
              </a:xfrm>
              <a:prstGeom prst="rect">
                <a:avLst/>
              </a:prstGeom>
              <a:blipFill rotWithShape="1">
                <a:blip r:embed="rId1"/>
                <a:stretch>
                  <a:fillRect b="-11933"/>
                </a:stretch>
              </a:blipFill>
            </p:spPr>
            <p:txBody>
              <a:bodyPr/>
              <a:lstStyle/>
              <a:p>
                <a:r>
                  <a:rPr lang="zh-CN" altLang="en-US">
                    <a:noFill/>
                  </a:rPr>
                  <a:t> </a:t>
                </a:r>
              </a:p>
            </p:txBody>
          </p:sp>
        </mc:Fallback>
      </mc:AlternateContent>
      <p:pic>
        <p:nvPicPr>
          <p:cNvPr id="3" name="图片 2"/>
          <p:cNvPicPr>
            <a:picLocks noChangeAspect="1"/>
          </p:cNvPicPr>
          <p:nvPr/>
        </p:nvPicPr>
        <p:blipFill>
          <a:blip r:embed="rId2"/>
          <a:stretch>
            <a:fillRect/>
          </a:stretch>
        </p:blipFill>
        <p:spPr>
          <a:xfrm>
            <a:off x="2785745" y="980440"/>
            <a:ext cx="6234430" cy="3682365"/>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p:cTn id="7" dur="300" fill="hold"/>
                                        <p:tgtEl>
                                          <p:spTgt spid="27651"/>
                                        </p:tgtEl>
                                        <p:attrNameLst>
                                          <p:attrName>ppt_w</p:attrName>
                                        </p:attrNameLst>
                                      </p:cBhvr>
                                      <p:tavLst>
                                        <p:tav tm="0">
                                          <p:val>
                                            <p:fltVal val="0"/>
                                          </p:val>
                                        </p:tav>
                                        <p:tav tm="100000">
                                          <p:val>
                                            <p:strVal val="#ppt_w"/>
                                          </p:val>
                                        </p:tav>
                                      </p:tavLst>
                                    </p:anim>
                                    <p:anim calcmode="lin" valueType="num">
                                      <p:cBhvr>
                                        <p:cTn id="8" dur="300" fill="hold"/>
                                        <p:tgtEl>
                                          <p:spTgt spid="27651"/>
                                        </p:tgtEl>
                                        <p:attrNameLst>
                                          <p:attrName>ppt_h</p:attrName>
                                        </p:attrNameLst>
                                      </p:cBhvr>
                                      <p:tavLst>
                                        <p:tav tm="0">
                                          <p:val>
                                            <p:fltVal val="0"/>
                                          </p:val>
                                        </p:tav>
                                        <p:tav tm="100000">
                                          <p:val>
                                            <p:strVal val="#ppt_h"/>
                                          </p:val>
                                        </p:tav>
                                      </p:tavLst>
                                    </p:anim>
                                    <p:anim calcmode="lin" valueType="num">
                                      <p:cBhvr>
                                        <p:cTn id="9" dur="300" fill="hold"/>
                                        <p:tgtEl>
                                          <p:spTgt spid="27651"/>
                                        </p:tgtEl>
                                        <p:attrNameLst>
                                          <p:attrName>style.rotation</p:attrName>
                                        </p:attrNameLst>
                                      </p:cBhvr>
                                      <p:tavLst>
                                        <p:tav tm="0">
                                          <p:val>
                                            <p:fltVal val="90"/>
                                          </p:val>
                                        </p:tav>
                                        <p:tav tm="100000">
                                          <p:val>
                                            <p:fltVal val="0"/>
                                          </p:val>
                                        </p:tav>
                                      </p:tavLst>
                                    </p:anim>
                                    <p:animEffect transition="in" filter="fade">
                                      <p:cBhvr>
                                        <p:cTn id="10" dur="300"/>
                                        <p:tgtEl>
                                          <p:spTgt spid="2765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7650"/>
                                        </p:tgtEl>
                                        <p:attrNameLst>
                                          <p:attrName>style.visibility</p:attrName>
                                        </p:attrNameLst>
                                      </p:cBhvr>
                                      <p:to>
                                        <p:strVal val="visible"/>
                                      </p:to>
                                    </p:set>
                                    <p:anim calcmode="lin" valueType="num">
                                      <p:cBhvr>
                                        <p:cTn id="14" dur="400" fill="hold"/>
                                        <p:tgtEl>
                                          <p:spTgt spid="2765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7650"/>
                                        </p:tgtEl>
                                        <p:attrNameLst>
                                          <p:attrName>ppt_y</p:attrName>
                                        </p:attrNameLst>
                                      </p:cBhvr>
                                      <p:tavLst>
                                        <p:tav tm="0">
                                          <p:val>
                                            <p:strVal val="#ppt_y"/>
                                          </p:val>
                                        </p:tav>
                                        <p:tav tm="100000">
                                          <p:val>
                                            <p:strVal val="#ppt_y"/>
                                          </p:val>
                                        </p:tav>
                                      </p:tavLst>
                                    </p:anim>
                                    <p:anim calcmode="lin" valueType="num">
                                      <p:cBhvr>
                                        <p:cTn id="16" dur="400" fill="hold"/>
                                        <p:tgtEl>
                                          <p:spTgt spid="2765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765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7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27"/>
          <p:cNvSpPr txBox="1"/>
          <p:nvPr/>
        </p:nvSpPr>
        <p:spPr>
          <a:xfrm>
            <a:off x="1012825" y="176530"/>
            <a:ext cx="6339205" cy="553085"/>
          </a:xfrm>
          <a:prstGeom prst="rect">
            <a:avLst/>
          </a:prstGeom>
          <a:noFill/>
          <a:ln w="9525">
            <a:noFill/>
          </a:ln>
        </p:spPr>
        <p:txBody>
          <a:bodyPr wrap="squar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两阶段微调的有效性</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2765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ln>
        </p:spPr>
        <p:txBody>
          <a:bodyPr/>
          <a:lstStyle/>
          <a:p>
            <a:endParaRPr lang="zh-CN" altLang="en-US" sz="1800"/>
          </a:p>
        </p:txBody>
      </p:sp>
      <p:sp>
        <p:nvSpPr>
          <p:cNvPr id="2" name="文本框 1"/>
          <p:cNvSpPr txBox="1"/>
          <p:nvPr/>
        </p:nvSpPr>
        <p:spPr>
          <a:xfrm>
            <a:off x="1057910" y="3530600"/>
            <a:ext cx="10611485" cy="1511300"/>
          </a:xfrm>
          <a:prstGeom prst="rect">
            <a:avLst/>
          </a:prstGeom>
          <a:noFill/>
        </p:spPr>
        <p:txBody>
          <a:bodyPr wrap="square" rtlCol="0">
            <a:noAutofit/>
          </a:bodyPr>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直接微调会导致模型</a:t>
            </a:r>
            <a:r>
              <a:rPr 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生成质量降低，</a:t>
            </a:r>
            <a:r>
              <a:rPr lang="en-US" alt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MEDUSA-2 </a:t>
            </a: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在不牺牲生成质量的前提下，提高了较高的速度</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 name="图片 3"/>
          <p:cNvPicPr>
            <a:picLocks noChangeAspect="1"/>
          </p:cNvPicPr>
          <p:nvPr/>
        </p:nvPicPr>
        <p:blipFill>
          <a:blip r:embed="rId1"/>
          <a:stretch>
            <a:fillRect/>
          </a:stretch>
        </p:blipFill>
        <p:spPr>
          <a:xfrm>
            <a:off x="1012825" y="1052830"/>
            <a:ext cx="10245725" cy="2154555"/>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p:cTn id="7" dur="300" fill="hold"/>
                                        <p:tgtEl>
                                          <p:spTgt spid="27651"/>
                                        </p:tgtEl>
                                        <p:attrNameLst>
                                          <p:attrName>ppt_w</p:attrName>
                                        </p:attrNameLst>
                                      </p:cBhvr>
                                      <p:tavLst>
                                        <p:tav tm="0">
                                          <p:val>
                                            <p:fltVal val="0"/>
                                          </p:val>
                                        </p:tav>
                                        <p:tav tm="100000">
                                          <p:val>
                                            <p:strVal val="#ppt_w"/>
                                          </p:val>
                                        </p:tav>
                                      </p:tavLst>
                                    </p:anim>
                                    <p:anim calcmode="lin" valueType="num">
                                      <p:cBhvr>
                                        <p:cTn id="8" dur="300" fill="hold"/>
                                        <p:tgtEl>
                                          <p:spTgt spid="27651"/>
                                        </p:tgtEl>
                                        <p:attrNameLst>
                                          <p:attrName>ppt_h</p:attrName>
                                        </p:attrNameLst>
                                      </p:cBhvr>
                                      <p:tavLst>
                                        <p:tav tm="0">
                                          <p:val>
                                            <p:fltVal val="0"/>
                                          </p:val>
                                        </p:tav>
                                        <p:tav tm="100000">
                                          <p:val>
                                            <p:strVal val="#ppt_h"/>
                                          </p:val>
                                        </p:tav>
                                      </p:tavLst>
                                    </p:anim>
                                    <p:anim calcmode="lin" valueType="num">
                                      <p:cBhvr>
                                        <p:cTn id="9" dur="300" fill="hold"/>
                                        <p:tgtEl>
                                          <p:spTgt spid="27651"/>
                                        </p:tgtEl>
                                        <p:attrNameLst>
                                          <p:attrName>style.rotation</p:attrName>
                                        </p:attrNameLst>
                                      </p:cBhvr>
                                      <p:tavLst>
                                        <p:tav tm="0">
                                          <p:val>
                                            <p:fltVal val="90"/>
                                          </p:val>
                                        </p:tav>
                                        <p:tav tm="100000">
                                          <p:val>
                                            <p:fltVal val="0"/>
                                          </p:val>
                                        </p:tav>
                                      </p:tavLst>
                                    </p:anim>
                                    <p:animEffect transition="in" filter="fade">
                                      <p:cBhvr>
                                        <p:cTn id="10" dur="300"/>
                                        <p:tgtEl>
                                          <p:spTgt spid="2765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7650"/>
                                        </p:tgtEl>
                                        <p:attrNameLst>
                                          <p:attrName>style.visibility</p:attrName>
                                        </p:attrNameLst>
                                      </p:cBhvr>
                                      <p:to>
                                        <p:strVal val="visible"/>
                                      </p:to>
                                    </p:set>
                                    <p:anim calcmode="lin" valueType="num">
                                      <p:cBhvr>
                                        <p:cTn id="14" dur="400" fill="hold"/>
                                        <p:tgtEl>
                                          <p:spTgt spid="2765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7650"/>
                                        </p:tgtEl>
                                        <p:attrNameLst>
                                          <p:attrName>ppt_y</p:attrName>
                                        </p:attrNameLst>
                                      </p:cBhvr>
                                      <p:tavLst>
                                        <p:tav tm="0">
                                          <p:val>
                                            <p:strVal val="#ppt_y"/>
                                          </p:val>
                                        </p:tav>
                                        <p:tav tm="100000">
                                          <p:val>
                                            <p:strVal val="#ppt_y"/>
                                          </p:val>
                                        </p:tav>
                                      </p:tavLst>
                                    </p:anim>
                                    <p:anim calcmode="lin" valueType="num">
                                      <p:cBhvr>
                                        <p:cTn id="16" dur="400" fill="hold"/>
                                        <p:tgtEl>
                                          <p:spTgt spid="2765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765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7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27"/>
          <p:cNvSpPr txBox="1"/>
          <p:nvPr/>
        </p:nvSpPr>
        <p:spPr>
          <a:xfrm>
            <a:off x="1012825" y="176530"/>
            <a:ext cx="6339205" cy="553085"/>
          </a:xfrm>
          <a:prstGeom prst="rect">
            <a:avLst/>
          </a:prstGeom>
          <a:noFill/>
          <a:ln w="9525">
            <a:noFill/>
          </a:ln>
        </p:spPr>
        <p:txBody>
          <a:bodyPr wrap="squar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两阶段微调的有效性</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2765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ln>
        </p:spPr>
        <p:txBody>
          <a:bodyPr/>
          <a:lstStyle/>
          <a:p>
            <a:endParaRPr lang="zh-CN" altLang="en-US" sz="1800"/>
          </a:p>
        </p:txBody>
      </p:sp>
      <p:sp>
        <p:nvSpPr>
          <p:cNvPr id="2" name="文本框 1"/>
          <p:cNvSpPr txBox="1"/>
          <p:nvPr/>
        </p:nvSpPr>
        <p:spPr>
          <a:xfrm>
            <a:off x="1057910" y="3530600"/>
            <a:ext cx="10611485" cy="1511300"/>
          </a:xfrm>
          <a:prstGeom prst="rect">
            <a:avLst/>
          </a:prstGeom>
          <a:noFill/>
        </p:spPr>
        <p:txBody>
          <a:bodyPr wrap="square" rtlCol="0">
            <a:noAutofit/>
          </a:bodyPr>
          <a:p>
            <a:pPr>
              <a:lnSpc>
                <a:spcPct val="150000"/>
              </a:lnSpc>
            </a:pP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1922145" y="1124585"/>
            <a:ext cx="8583930" cy="3388995"/>
          </a:xfrm>
          <a:prstGeom prst="rect">
            <a:avLst/>
          </a:prstGeom>
        </p:spPr>
      </p:pic>
      <p:sp>
        <p:nvSpPr>
          <p:cNvPr id="5" name="文本框 4"/>
          <p:cNvSpPr txBox="1"/>
          <p:nvPr/>
        </p:nvSpPr>
        <p:spPr>
          <a:xfrm>
            <a:off x="1850390" y="4940935"/>
            <a:ext cx="7923530" cy="660400"/>
          </a:xfrm>
          <a:prstGeom prst="rect">
            <a:avLst/>
          </a:prstGeom>
          <a:noFill/>
        </p:spPr>
        <p:txBody>
          <a:bodyPr wrap="square" rtlCol="0">
            <a:noAutofit/>
          </a:bodyPr>
          <a:p>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四项核心技术叠加，将大模型推理速度稳步从 1.5x 提高到 2.8x </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p:cTn id="7" dur="300" fill="hold"/>
                                        <p:tgtEl>
                                          <p:spTgt spid="27651"/>
                                        </p:tgtEl>
                                        <p:attrNameLst>
                                          <p:attrName>ppt_w</p:attrName>
                                        </p:attrNameLst>
                                      </p:cBhvr>
                                      <p:tavLst>
                                        <p:tav tm="0">
                                          <p:val>
                                            <p:fltVal val="0"/>
                                          </p:val>
                                        </p:tav>
                                        <p:tav tm="100000">
                                          <p:val>
                                            <p:strVal val="#ppt_w"/>
                                          </p:val>
                                        </p:tav>
                                      </p:tavLst>
                                    </p:anim>
                                    <p:anim calcmode="lin" valueType="num">
                                      <p:cBhvr>
                                        <p:cTn id="8" dur="300" fill="hold"/>
                                        <p:tgtEl>
                                          <p:spTgt spid="27651"/>
                                        </p:tgtEl>
                                        <p:attrNameLst>
                                          <p:attrName>ppt_h</p:attrName>
                                        </p:attrNameLst>
                                      </p:cBhvr>
                                      <p:tavLst>
                                        <p:tav tm="0">
                                          <p:val>
                                            <p:fltVal val="0"/>
                                          </p:val>
                                        </p:tav>
                                        <p:tav tm="100000">
                                          <p:val>
                                            <p:strVal val="#ppt_h"/>
                                          </p:val>
                                        </p:tav>
                                      </p:tavLst>
                                    </p:anim>
                                    <p:anim calcmode="lin" valueType="num">
                                      <p:cBhvr>
                                        <p:cTn id="9" dur="300" fill="hold"/>
                                        <p:tgtEl>
                                          <p:spTgt spid="27651"/>
                                        </p:tgtEl>
                                        <p:attrNameLst>
                                          <p:attrName>style.rotation</p:attrName>
                                        </p:attrNameLst>
                                      </p:cBhvr>
                                      <p:tavLst>
                                        <p:tav tm="0">
                                          <p:val>
                                            <p:fltVal val="90"/>
                                          </p:val>
                                        </p:tav>
                                        <p:tav tm="100000">
                                          <p:val>
                                            <p:fltVal val="0"/>
                                          </p:val>
                                        </p:tav>
                                      </p:tavLst>
                                    </p:anim>
                                    <p:animEffect transition="in" filter="fade">
                                      <p:cBhvr>
                                        <p:cTn id="10" dur="300"/>
                                        <p:tgtEl>
                                          <p:spTgt spid="2765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7650"/>
                                        </p:tgtEl>
                                        <p:attrNameLst>
                                          <p:attrName>style.visibility</p:attrName>
                                        </p:attrNameLst>
                                      </p:cBhvr>
                                      <p:to>
                                        <p:strVal val="visible"/>
                                      </p:to>
                                    </p:set>
                                    <p:anim calcmode="lin" valueType="num">
                                      <p:cBhvr>
                                        <p:cTn id="14" dur="400" fill="hold"/>
                                        <p:tgtEl>
                                          <p:spTgt spid="2765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7650"/>
                                        </p:tgtEl>
                                        <p:attrNameLst>
                                          <p:attrName>ppt_y</p:attrName>
                                        </p:attrNameLst>
                                      </p:cBhvr>
                                      <p:tavLst>
                                        <p:tav tm="0">
                                          <p:val>
                                            <p:strVal val="#ppt_y"/>
                                          </p:val>
                                        </p:tav>
                                        <p:tav tm="100000">
                                          <p:val>
                                            <p:strVal val="#ppt_y"/>
                                          </p:val>
                                        </p:tav>
                                      </p:tavLst>
                                    </p:anim>
                                    <p:anim calcmode="lin" valueType="num">
                                      <p:cBhvr>
                                        <p:cTn id="16" dur="400" fill="hold"/>
                                        <p:tgtEl>
                                          <p:spTgt spid="2765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765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7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Box 27"/>
          <p:cNvSpPr txBox="1"/>
          <p:nvPr/>
        </p:nvSpPr>
        <p:spPr>
          <a:xfrm>
            <a:off x="1012825" y="176213"/>
            <a:ext cx="1706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不足之处</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3584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35844" name="Freeform 10"/>
          <p:cNvSpPr/>
          <p:nvPr>
            <p:custDataLst>
              <p:tags r:id="rId1"/>
            </p:custDataLst>
          </p:nvPr>
        </p:nvSpPr>
        <p:spPr>
          <a:xfrm>
            <a:off x="1227138" y="1060450"/>
            <a:ext cx="4154487" cy="5043488"/>
          </a:xfrm>
          <a:custGeom>
            <a:avLst/>
            <a:gdLst/>
            <a:ahLst/>
            <a:cxnLst>
              <a:cxn ang="0">
                <a:pos x="2147483647" y="0"/>
              </a:cxn>
              <a:cxn ang="0">
                <a:pos x="2147483647" y="0"/>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0"/>
              </a:cxn>
            </a:cxnLst>
            <a:rect l="0" t="0" r="0" b="0"/>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tx2"/>
          </a:solidFill>
          <a:ln w="9525" cap="flat" cmpd="sng">
            <a:solidFill>
              <a:schemeClr val="bg2"/>
            </a:solidFill>
            <a:prstDash val="solid"/>
            <a:round/>
            <a:headEnd type="none" w="med" len="med"/>
            <a:tailEnd type="none" w="med" len="med"/>
          </a:ln>
        </p:spPr>
        <p:txBody>
          <a:bodyPr/>
          <a:lstStyle/>
          <a:p>
            <a:endParaRPr lang="zh-CN" altLang="en-US" sz="1800"/>
          </a:p>
        </p:txBody>
      </p:sp>
      <p:sp>
        <p:nvSpPr>
          <p:cNvPr id="35845" name="Freeform 11"/>
          <p:cNvSpPr/>
          <p:nvPr>
            <p:custDataLst>
              <p:tags r:id="rId2"/>
            </p:custDataLst>
          </p:nvPr>
        </p:nvSpPr>
        <p:spPr>
          <a:xfrm>
            <a:off x="1112838" y="1204913"/>
            <a:ext cx="107950" cy="630237"/>
          </a:xfrm>
          <a:custGeom>
            <a:avLst/>
            <a:gdLst/>
            <a:ahLst/>
            <a:cxnLst>
              <a:cxn ang="0">
                <a:pos x="2147483647" y="0"/>
              </a:cxn>
              <a:cxn ang="0">
                <a:pos x="0" y="2147483647"/>
              </a:cxn>
              <a:cxn ang="0">
                <a:pos x="0" y="2147483647"/>
              </a:cxn>
              <a:cxn ang="0">
                <a:pos x="2147483647" y="2147483647"/>
              </a:cxn>
              <a:cxn ang="0">
                <a:pos x="2147483647" y="0"/>
              </a:cxn>
            </a:cxnLst>
            <a:rect l="0" t="0" r="0" b="0"/>
            <a:pathLst>
              <a:path w="139" h="806">
                <a:moveTo>
                  <a:pt x="139" y="0"/>
                </a:moveTo>
                <a:lnTo>
                  <a:pt x="0" y="110"/>
                </a:lnTo>
                <a:lnTo>
                  <a:pt x="0" y="806"/>
                </a:lnTo>
                <a:lnTo>
                  <a:pt x="139" y="696"/>
                </a:lnTo>
                <a:lnTo>
                  <a:pt x="139" y="0"/>
                </a:lnTo>
                <a:close/>
              </a:path>
            </a:pathLst>
          </a:custGeom>
          <a:solidFill>
            <a:schemeClr val="accent1"/>
          </a:solidFill>
          <a:ln w="9525">
            <a:noFill/>
          </a:ln>
        </p:spPr>
        <p:txBody>
          <a:bodyPr/>
          <a:lstStyle/>
          <a:p>
            <a:endParaRPr lang="zh-CN" altLang="en-US" sz="1800"/>
          </a:p>
        </p:txBody>
      </p:sp>
      <p:sp>
        <p:nvSpPr>
          <p:cNvPr id="35846" name="Freeform 12"/>
          <p:cNvSpPr/>
          <p:nvPr>
            <p:custDataLst>
              <p:tags r:id="rId3"/>
            </p:custDataLst>
          </p:nvPr>
        </p:nvSpPr>
        <p:spPr>
          <a:xfrm>
            <a:off x="1112838" y="1290638"/>
            <a:ext cx="2794000" cy="544512"/>
          </a:xfrm>
          <a:custGeom>
            <a:avLst/>
            <a:gdLst/>
            <a:ahLst/>
            <a:cxnLst>
              <a:cxn ang="0">
                <a:pos x="2147483647" y="0"/>
              </a:cxn>
              <a:cxn ang="0">
                <a:pos x="0" y="0"/>
              </a:cxn>
              <a:cxn ang="0">
                <a:pos x="0" y="2147483647"/>
              </a:cxn>
              <a:cxn ang="0">
                <a:pos x="2147483647" y="2147483647"/>
              </a:cxn>
              <a:cxn ang="0">
                <a:pos x="2147483647" y="2147483647"/>
              </a:cxn>
              <a:cxn ang="0">
                <a:pos x="2147483647" y="0"/>
              </a:cxn>
            </a:cxnLst>
            <a:rect l="0" t="0" r="0" b="0"/>
            <a:pathLst>
              <a:path w="3591" h="696">
                <a:moveTo>
                  <a:pt x="3591" y="0"/>
                </a:moveTo>
                <a:lnTo>
                  <a:pt x="0" y="0"/>
                </a:lnTo>
                <a:lnTo>
                  <a:pt x="0" y="696"/>
                </a:lnTo>
                <a:lnTo>
                  <a:pt x="3591" y="696"/>
                </a:lnTo>
                <a:lnTo>
                  <a:pt x="3383" y="353"/>
                </a:lnTo>
                <a:lnTo>
                  <a:pt x="3591" y="0"/>
                </a:lnTo>
                <a:close/>
              </a:path>
            </a:pathLst>
          </a:custGeom>
          <a:solidFill>
            <a:srgbClr val="113E6A"/>
          </a:solidFill>
          <a:ln w="9525">
            <a:noFill/>
          </a:ln>
        </p:spPr>
        <p:txBody>
          <a:bodyPr/>
          <a:lstStyle/>
          <a:p>
            <a:endParaRPr lang="zh-CN" altLang="en-US" sz="1800"/>
          </a:p>
        </p:txBody>
      </p:sp>
      <p:sp>
        <p:nvSpPr>
          <p:cNvPr id="35847" name="TextBox 6"/>
          <p:cNvSpPr txBox="1"/>
          <p:nvPr>
            <p:custDataLst>
              <p:tags r:id="rId4"/>
            </p:custDataLst>
          </p:nvPr>
        </p:nvSpPr>
        <p:spPr>
          <a:xfrm>
            <a:off x="1366838" y="1309688"/>
            <a:ext cx="2220912" cy="491490"/>
          </a:xfrm>
          <a:prstGeom prst="rect">
            <a:avLst/>
          </a:prstGeom>
          <a:noFill/>
          <a:ln w="9525">
            <a:noFill/>
          </a:ln>
        </p:spPr>
        <p:txBody>
          <a:bodyPr anchor="t">
            <a:spAutoFit/>
          </a:bodyPr>
          <a:lstStyle/>
          <a:p>
            <a:r>
              <a:rPr lang="zh-CN" altLang="en-US" sz="2600" dirty="0">
                <a:solidFill>
                  <a:schemeClr val="accent2"/>
                </a:solidFill>
                <a:latin typeface="微软雅黑" panose="020B0503020204020204" pitchFamily="34" charset="-122"/>
                <a:ea typeface="微软雅黑" panose="020B0503020204020204" pitchFamily="34" charset="-122"/>
              </a:rPr>
              <a:t>显存压力</a:t>
            </a:r>
            <a:endParaRPr lang="zh-CN" altLang="en-US" sz="2600" dirty="0">
              <a:solidFill>
                <a:schemeClr val="accent2"/>
              </a:solidFill>
              <a:latin typeface="微软雅黑" panose="020B0503020204020204" pitchFamily="34" charset="-122"/>
              <a:ea typeface="微软雅黑" panose="020B0503020204020204" pitchFamily="34" charset="-122"/>
            </a:endParaRPr>
          </a:p>
        </p:txBody>
      </p:sp>
      <p:sp>
        <p:nvSpPr>
          <p:cNvPr id="35849" name="Freeform 10"/>
          <p:cNvSpPr/>
          <p:nvPr>
            <p:custDataLst>
              <p:tags r:id="rId5"/>
            </p:custDataLst>
          </p:nvPr>
        </p:nvSpPr>
        <p:spPr>
          <a:xfrm>
            <a:off x="6045200" y="1060450"/>
            <a:ext cx="4154488" cy="5043488"/>
          </a:xfrm>
          <a:custGeom>
            <a:avLst/>
            <a:gdLst/>
            <a:ahLst/>
            <a:cxnLst>
              <a:cxn ang="0">
                <a:pos x="2147483647" y="0"/>
              </a:cxn>
              <a:cxn ang="0">
                <a:pos x="2147483647" y="0"/>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0"/>
              </a:cxn>
            </a:cxnLst>
            <a:rect l="0" t="0" r="0" b="0"/>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tx2"/>
          </a:solidFill>
          <a:ln w="9525" cap="flat" cmpd="sng">
            <a:solidFill>
              <a:schemeClr val="bg2"/>
            </a:solidFill>
            <a:prstDash val="solid"/>
            <a:round/>
            <a:headEnd type="none" w="med" len="med"/>
            <a:tailEnd type="none" w="med" len="med"/>
          </a:ln>
        </p:spPr>
        <p:txBody>
          <a:bodyPr/>
          <a:lstStyle/>
          <a:p>
            <a:endParaRPr lang="zh-CN" altLang="en-US" sz="1800"/>
          </a:p>
        </p:txBody>
      </p:sp>
      <p:sp>
        <p:nvSpPr>
          <p:cNvPr id="35850" name="Freeform 11"/>
          <p:cNvSpPr/>
          <p:nvPr>
            <p:custDataLst>
              <p:tags r:id="rId6"/>
            </p:custDataLst>
          </p:nvPr>
        </p:nvSpPr>
        <p:spPr>
          <a:xfrm>
            <a:off x="5930900" y="1204913"/>
            <a:ext cx="107950" cy="630237"/>
          </a:xfrm>
          <a:custGeom>
            <a:avLst/>
            <a:gdLst/>
            <a:ahLst/>
            <a:cxnLst>
              <a:cxn ang="0">
                <a:pos x="2147483647" y="0"/>
              </a:cxn>
              <a:cxn ang="0">
                <a:pos x="0" y="2147483647"/>
              </a:cxn>
              <a:cxn ang="0">
                <a:pos x="0" y="2147483647"/>
              </a:cxn>
              <a:cxn ang="0">
                <a:pos x="2147483647" y="2147483647"/>
              </a:cxn>
              <a:cxn ang="0">
                <a:pos x="2147483647" y="0"/>
              </a:cxn>
            </a:cxnLst>
            <a:rect l="0" t="0" r="0" b="0"/>
            <a:pathLst>
              <a:path w="139" h="806">
                <a:moveTo>
                  <a:pt x="139" y="0"/>
                </a:moveTo>
                <a:lnTo>
                  <a:pt x="0" y="110"/>
                </a:lnTo>
                <a:lnTo>
                  <a:pt x="0" y="806"/>
                </a:lnTo>
                <a:lnTo>
                  <a:pt x="139" y="696"/>
                </a:lnTo>
                <a:lnTo>
                  <a:pt x="139" y="0"/>
                </a:lnTo>
                <a:close/>
              </a:path>
            </a:pathLst>
          </a:custGeom>
          <a:solidFill>
            <a:schemeClr val="accent1"/>
          </a:solidFill>
          <a:ln w="9525">
            <a:noFill/>
          </a:ln>
        </p:spPr>
        <p:txBody>
          <a:bodyPr/>
          <a:lstStyle/>
          <a:p>
            <a:endParaRPr lang="zh-CN" altLang="en-US" sz="1800"/>
          </a:p>
        </p:txBody>
      </p:sp>
      <p:sp>
        <p:nvSpPr>
          <p:cNvPr id="35851" name="Freeform 12"/>
          <p:cNvSpPr/>
          <p:nvPr>
            <p:custDataLst>
              <p:tags r:id="rId7"/>
            </p:custDataLst>
          </p:nvPr>
        </p:nvSpPr>
        <p:spPr>
          <a:xfrm>
            <a:off x="5930900" y="1290638"/>
            <a:ext cx="2794000" cy="544512"/>
          </a:xfrm>
          <a:custGeom>
            <a:avLst/>
            <a:gdLst/>
            <a:ahLst/>
            <a:cxnLst>
              <a:cxn ang="0">
                <a:pos x="2147483647" y="0"/>
              </a:cxn>
              <a:cxn ang="0">
                <a:pos x="0" y="0"/>
              </a:cxn>
              <a:cxn ang="0">
                <a:pos x="0" y="2147483647"/>
              </a:cxn>
              <a:cxn ang="0">
                <a:pos x="2147483647" y="2147483647"/>
              </a:cxn>
              <a:cxn ang="0">
                <a:pos x="2147483647" y="2147483647"/>
              </a:cxn>
              <a:cxn ang="0">
                <a:pos x="2147483647" y="0"/>
              </a:cxn>
            </a:cxnLst>
            <a:rect l="0" t="0" r="0" b="0"/>
            <a:pathLst>
              <a:path w="3591" h="696">
                <a:moveTo>
                  <a:pt x="3591" y="0"/>
                </a:moveTo>
                <a:lnTo>
                  <a:pt x="0" y="0"/>
                </a:lnTo>
                <a:lnTo>
                  <a:pt x="0" y="696"/>
                </a:lnTo>
                <a:lnTo>
                  <a:pt x="3591" y="696"/>
                </a:lnTo>
                <a:lnTo>
                  <a:pt x="3383" y="353"/>
                </a:lnTo>
                <a:lnTo>
                  <a:pt x="3591" y="0"/>
                </a:lnTo>
                <a:close/>
              </a:path>
            </a:pathLst>
          </a:custGeom>
          <a:solidFill>
            <a:srgbClr val="113E6A"/>
          </a:solidFill>
          <a:ln w="9525">
            <a:noFill/>
          </a:ln>
        </p:spPr>
        <p:txBody>
          <a:bodyPr/>
          <a:lstStyle/>
          <a:p>
            <a:endParaRPr lang="zh-CN" altLang="en-US" sz="1800"/>
          </a:p>
        </p:txBody>
      </p:sp>
      <p:sp>
        <p:nvSpPr>
          <p:cNvPr id="2" name="文本框 1"/>
          <p:cNvSpPr txBox="1"/>
          <p:nvPr/>
        </p:nvSpPr>
        <p:spPr>
          <a:xfrm>
            <a:off x="1345565" y="1988820"/>
            <a:ext cx="3778885" cy="3702685"/>
          </a:xfrm>
          <a:prstGeom prst="rect">
            <a:avLst/>
          </a:prstGeom>
          <a:noFill/>
        </p:spPr>
        <p:txBody>
          <a:bodyPr wrap="square" rtlCol="0">
            <a:noAutofit/>
          </a:bodyPr>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为了实现加速，MEDUSA 需要在显存中维护多个预测头的参数，以及一个比平时更大的 KV Cache，用来存储树状结构中所有候选 Token 的特征</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这种“以空间换时间”的策略可能会导致</a:t>
            </a:r>
            <a:r>
              <a:rPr lang="zh-CN" altLang="en-US">
                <a:solidFill>
                  <a:schemeClr val="accent1"/>
                </a:solidFill>
                <a:latin typeface="微软雅黑" panose="020B0503020204020204" pitchFamily="34" charset="-122"/>
                <a:ea typeface="微软雅黑" panose="020B0503020204020204" pitchFamily="34" charset="-122"/>
              </a:rPr>
              <a:t>显存溢出</a:t>
            </a:r>
            <a:endParaRPr lang="zh-CN" altLang="en-US">
              <a:solidFill>
                <a:schemeClr val="accent1"/>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6134735" y="1916430"/>
            <a:ext cx="3768090" cy="3971925"/>
          </a:xfrm>
          <a:prstGeom prst="rect">
            <a:avLst/>
          </a:prstGeom>
          <a:noFill/>
        </p:spPr>
        <p:txBody>
          <a:bodyPr wrap="square" rtlCol="0">
            <a:noAutofit/>
          </a:bodyPr>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MEDUSA 的加速极其依赖猜测准确性。在高度随机、极具创造性的任务（如写诗、写小说）中，如果追求高随机性，预测头的命中率会大幅下降，加速效果会下降</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MEDUSA 目前在确定性强的任务（代码、信息提取）上效果很好，但在极度发散的任务上表现相对平庸</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6026150" y="1340485"/>
            <a:ext cx="4065270" cy="491490"/>
          </a:xfrm>
          <a:prstGeom prst="rect">
            <a:avLst/>
          </a:prstGeom>
          <a:noFill/>
        </p:spPr>
        <p:txBody>
          <a:bodyPr wrap="square" rtlCol="0">
            <a:spAutoFit/>
          </a:bodyPr>
          <a:p>
            <a:r>
              <a:rPr lang="zh-CN" altLang="en-US" sz="2600" dirty="0">
                <a:solidFill>
                  <a:schemeClr val="accent2"/>
                </a:solidFill>
                <a:latin typeface="微软雅黑" panose="020B0503020204020204" pitchFamily="34" charset="-122"/>
                <a:ea typeface="微软雅黑" panose="020B0503020204020204" pitchFamily="34" charset="-122"/>
                <a:cs typeface="+mn-ea"/>
              </a:rPr>
              <a:t>高随机性任务</a:t>
            </a:r>
            <a:endParaRPr lang="zh-CN" altLang="en-US" sz="2600" dirty="0">
              <a:solidFill>
                <a:schemeClr val="accent2"/>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35843"/>
                                        </p:tgtEl>
                                        <p:attrNameLst>
                                          <p:attrName>style.visibility</p:attrName>
                                        </p:attrNameLst>
                                      </p:cBhvr>
                                      <p:to>
                                        <p:strVal val="visible"/>
                                      </p:to>
                                    </p:set>
                                    <p:anim calcmode="lin" valueType="num">
                                      <p:cBhvr>
                                        <p:cTn id="7" dur="300" fill="hold"/>
                                        <p:tgtEl>
                                          <p:spTgt spid="35843"/>
                                        </p:tgtEl>
                                        <p:attrNameLst>
                                          <p:attrName>ppt_w</p:attrName>
                                        </p:attrNameLst>
                                      </p:cBhvr>
                                      <p:tavLst>
                                        <p:tav tm="0">
                                          <p:val>
                                            <p:fltVal val="0"/>
                                          </p:val>
                                        </p:tav>
                                        <p:tav tm="100000">
                                          <p:val>
                                            <p:strVal val="#ppt_w"/>
                                          </p:val>
                                        </p:tav>
                                      </p:tavLst>
                                    </p:anim>
                                    <p:anim calcmode="lin" valueType="num">
                                      <p:cBhvr>
                                        <p:cTn id="8" dur="300" fill="hold"/>
                                        <p:tgtEl>
                                          <p:spTgt spid="35843"/>
                                        </p:tgtEl>
                                        <p:attrNameLst>
                                          <p:attrName>ppt_h</p:attrName>
                                        </p:attrNameLst>
                                      </p:cBhvr>
                                      <p:tavLst>
                                        <p:tav tm="0">
                                          <p:val>
                                            <p:fltVal val="0"/>
                                          </p:val>
                                        </p:tav>
                                        <p:tav tm="100000">
                                          <p:val>
                                            <p:strVal val="#ppt_h"/>
                                          </p:val>
                                        </p:tav>
                                      </p:tavLst>
                                    </p:anim>
                                    <p:anim calcmode="lin" valueType="num">
                                      <p:cBhvr>
                                        <p:cTn id="9" dur="300" fill="hold"/>
                                        <p:tgtEl>
                                          <p:spTgt spid="35843"/>
                                        </p:tgtEl>
                                        <p:attrNameLst>
                                          <p:attrName>style.rotation</p:attrName>
                                        </p:attrNameLst>
                                      </p:cBhvr>
                                      <p:tavLst>
                                        <p:tav tm="0">
                                          <p:val>
                                            <p:fltVal val="90"/>
                                          </p:val>
                                        </p:tav>
                                        <p:tav tm="100000">
                                          <p:val>
                                            <p:fltVal val="0"/>
                                          </p:val>
                                        </p:tav>
                                      </p:tavLst>
                                    </p:anim>
                                    <p:animEffect transition="in" filter="fade">
                                      <p:cBhvr>
                                        <p:cTn id="10" dur="300"/>
                                        <p:tgtEl>
                                          <p:spTgt spid="3584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35842"/>
                                        </p:tgtEl>
                                        <p:attrNameLst>
                                          <p:attrName>style.visibility</p:attrName>
                                        </p:attrNameLst>
                                      </p:cBhvr>
                                      <p:to>
                                        <p:strVal val="visible"/>
                                      </p:to>
                                    </p:set>
                                    <p:anim calcmode="lin" valueType="num">
                                      <p:cBhvr>
                                        <p:cTn id="14" dur="400" fill="hold"/>
                                        <p:tgtEl>
                                          <p:spTgt spid="3584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35842"/>
                                        </p:tgtEl>
                                        <p:attrNameLst>
                                          <p:attrName>ppt_y</p:attrName>
                                        </p:attrNameLst>
                                      </p:cBhvr>
                                      <p:tavLst>
                                        <p:tav tm="0">
                                          <p:val>
                                            <p:strVal val="#ppt_y"/>
                                          </p:val>
                                        </p:tav>
                                        <p:tav tm="100000">
                                          <p:val>
                                            <p:strVal val="#ppt_y"/>
                                          </p:val>
                                        </p:tav>
                                      </p:tavLst>
                                    </p:anim>
                                    <p:anim calcmode="lin" valueType="num">
                                      <p:cBhvr>
                                        <p:cTn id="16" dur="400" fill="hold"/>
                                        <p:tgtEl>
                                          <p:spTgt spid="3584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3584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35842"/>
                                        </p:tgtEl>
                                      </p:cBhvr>
                                    </p:animEffect>
                                  </p:childTnLst>
                                </p:cTn>
                              </p:par>
                            </p:childTnLst>
                          </p:cTn>
                        </p:par>
                        <p:par>
                          <p:cTn id="19" fill="hold">
                            <p:stCondLst>
                              <p:cond delay="819"/>
                            </p:stCondLst>
                            <p:childTnLst>
                              <p:par>
                                <p:cTn id="20" presetID="22" presetClass="entr" presetSubtype="4" fill="hold" nodeType="afterEffect">
                                  <p:stCondLst>
                                    <p:cond delay="0"/>
                                  </p:stCondLst>
                                  <p:childTnLst>
                                    <p:set>
                                      <p:cBhvr>
                                        <p:cTn id="21" dur="1" fill="hold">
                                          <p:stCondLst>
                                            <p:cond delay="0"/>
                                          </p:stCondLst>
                                        </p:cTn>
                                        <p:tgtEl>
                                          <p:spTgt spid="35844"/>
                                        </p:tgtEl>
                                        <p:attrNameLst>
                                          <p:attrName>style.visibility</p:attrName>
                                        </p:attrNameLst>
                                      </p:cBhvr>
                                      <p:to>
                                        <p:strVal val="visible"/>
                                      </p:to>
                                    </p:set>
                                    <p:animEffect transition="in" filter="wipe(down)">
                                      <p:cBhvr>
                                        <p:cTn id="22" dur="500"/>
                                        <p:tgtEl>
                                          <p:spTgt spid="35844"/>
                                        </p:tgtEl>
                                      </p:cBhvr>
                                    </p:animEffect>
                                  </p:childTnLst>
                                </p:cTn>
                              </p:par>
                            </p:childTnLst>
                          </p:cTn>
                        </p:par>
                        <p:par>
                          <p:cTn id="23" fill="hold">
                            <p:stCondLst>
                              <p:cond delay="1319"/>
                            </p:stCondLst>
                            <p:childTnLst>
                              <p:par>
                                <p:cTn id="24" presetID="22" presetClass="entr" presetSubtype="2" fill="hold" nodeType="afterEffect">
                                  <p:stCondLst>
                                    <p:cond delay="0"/>
                                  </p:stCondLst>
                                  <p:childTnLst>
                                    <p:set>
                                      <p:cBhvr>
                                        <p:cTn id="25" dur="1" fill="hold">
                                          <p:stCondLst>
                                            <p:cond delay="0"/>
                                          </p:stCondLst>
                                        </p:cTn>
                                        <p:tgtEl>
                                          <p:spTgt spid="35845"/>
                                        </p:tgtEl>
                                        <p:attrNameLst>
                                          <p:attrName>style.visibility</p:attrName>
                                        </p:attrNameLst>
                                      </p:cBhvr>
                                      <p:to>
                                        <p:strVal val="visible"/>
                                      </p:to>
                                    </p:set>
                                    <p:animEffect transition="in" filter="wipe(right)">
                                      <p:cBhvr>
                                        <p:cTn id="26" dur="300"/>
                                        <p:tgtEl>
                                          <p:spTgt spid="35845"/>
                                        </p:tgtEl>
                                      </p:cBhvr>
                                    </p:animEffect>
                                  </p:childTnLst>
                                </p:cTn>
                              </p:par>
                            </p:childTnLst>
                          </p:cTn>
                        </p:par>
                        <p:par>
                          <p:cTn id="27" fill="hold">
                            <p:stCondLst>
                              <p:cond delay="1819"/>
                            </p:stCondLst>
                            <p:childTnLst>
                              <p:par>
                                <p:cTn id="28" presetID="22" presetClass="entr" presetSubtype="8" fill="hold" nodeType="afterEffect">
                                  <p:stCondLst>
                                    <p:cond delay="0"/>
                                  </p:stCondLst>
                                  <p:childTnLst>
                                    <p:set>
                                      <p:cBhvr>
                                        <p:cTn id="29" dur="1" fill="hold">
                                          <p:stCondLst>
                                            <p:cond delay="0"/>
                                          </p:stCondLst>
                                        </p:cTn>
                                        <p:tgtEl>
                                          <p:spTgt spid="35846"/>
                                        </p:tgtEl>
                                        <p:attrNameLst>
                                          <p:attrName>style.visibility</p:attrName>
                                        </p:attrNameLst>
                                      </p:cBhvr>
                                      <p:to>
                                        <p:strVal val="visible"/>
                                      </p:to>
                                    </p:set>
                                    <p:animEffect transition="in" filter="wipe(left)">
                                      <p:cBhvr>
                                        <p:cTn id="30" dur="500"/>
                                        <p:tgtEl>
                                          <p:spTgt spid="35846"/>
                                        </p:tgtEl>
                                      </p:cBhvr>
                                    </p:animEffect>
                                  </p:childTnLst>
                                </p:cTn>
                              </p:par>
                            </p:childTnLst>
                          </p:cTn>
                        </p:par>
                        <p:par>
                          <p:cTn id="31" fill="hold">
                            <p:stCondLst>
                              <p:cond delay="2319"/>
                            </p:stCondLst>
                            <p:childTnLst>
                              <p:par>
                                <p:cTn id="32" presetID="56" presetClass="entr" presetSubtype="0" fill="hold" grpId="0" nodeType="afterEffect">
                                  <p:stCondLst>
                                    <p:cond delay="0"/>
                                  </p:stCondLst>
                                  <p:iterate type="lt">
                                    <p:tmPct val="10000"/>
                                  </p:iterate>
                                  <p:childTnLst>
                                    <p:set>
                                      <p:cBhvr>
                                        <p:cTn id="33" dur="1" fill="hold">
                                          <p:stCondLst>
                                            <p:cond delay="0"/>
                                          </p:stCondLst>
                                        </p:cTn>
                                        <p:tgtEl>
                                          <p:spTgt spid="35847"/>
                                        </p:tgtEl>
                                        <p:attrNameLst>
                                          <p:attrName>style.visibility</p:attrName>
                                        </p:attrNameLst>
                                      </p:cBhvr>
                                      <p:to>
                                        <p:strVal val="visible"/>
                                      </p:to>
                                    </p:set>
                                    <p:anim by="(-#ppt_w*2)" calcmode="lin" valueType="num">
                                      <p:cBhvr rctx="PPT">
                                        <p:cTn id="34" dur="250" autoRev="1" fill="hold">
                                          <p:stCondLst>
                                            <p:cond delay="0"/>
                                          </p:stCondLst>
                                        </p:cTn>
                                        <p:tgtEl>
                                          <p:spTgt spid="35847"/>
                                        </p:tgtEl>
                                        <p:attrNameLst>
                                          <p:attrName>ppt_w</p:attrName>
                                        </p:attrNameLst>
                                      </p:cBhvr>
                                    </p:anim>
                                    <p:anim by="(#ppt_w*0.50)" calcmode="lin" valueType="num">
                                      <p:cBhvr>
                                        <p:cTn id="35" dur="250" decel="50000" autoRev="1" fill="hold">
                                          <p:stCondLst>
                                            <p:cond delay="0"/>
                                          </p:stCondLst>
                                        </p:cTn>
                                        <p:tgtEl>
                                          <p:spTgt spid="35847"/>
                                        </p:tgtEl>
                                        <p:attrNameLst>
                                          <p:attrName>ppt_x</p:attrName>
                                        </p:attrNameLst>
                                      </p:cBhvr>
                                    </p:anim>
                                    <p:anim from="(-#ppt_h/2)" to="(#ppt_y)" calcmode="lin" valueType="num">
                                      <p:cBhvr>
                                        <p:cTn id="36" dur="500" fill="hold">
                                          <p:stCondLst>
                                            <p:cond delay="0"/>
                                          </p:stCondLst>
                                        </p:cTn>
                                        <p:tgtEl>
                                          <p:spTgt spid="35847"/>
                                        </p:tgtEl>
                                        <p:attrNameLst>
                                          <p:attrName>ppt_y</p:attrName>
                                        </p:attrNameLst>
                                      </p:cBhvr>
                                    </p:anim>
                                    <p:animRot by="21600000">
                                      <p:cBhvr>
                                        <p:cTn id="37" dur="500" fill="hold">
                                          <p:stCondLst>
                                            <p:cond delay="0"/>
                                          </p:stCondLst>
                                        </p:cTn>
                                        <p:tgtEl>
                                          <p:spTgt spid="35847"/>
                                        </p:tgtEl>
                                        <p:attrNameLst>
                                          <p:attrName>r</p:attrName>
                                        </p:attrNameLst>
                                      </p:cBhvr>
                                    </p:animRot>
                                  </p:childTnLst>
                                </p:cTn>
                              </p:par>
                            </p:childTnLst>
                          </p:cTn>
                        </p:par>
                        <p:par>
                          <p:cTn id="38" fill="hold">
                            <p:stCondLst>
                              <p:cond delay="2769"/>
                            </p:stCondLst>
                            <p:childTnLst>
                              <p:par>
                                <p:cTn id="39" presetID="22" presetClass="entr" presetSubtype="4" fill="hold" nodeType="afterEffect">
                                  <p:stCondLst>
                                    <p:cond delay="0"/>
                                  </p:stCondLst>
                                  <p:childTnLst>
                                    <p:set>
                                      <p:cBhvr>
                                        <p:cTn id="40" dur="1" fill="hold">
                                          <p:stCondLst>
                                            <p:cond delay="0"/>
                                          </p:stCondLst>
                                        </p:cTn>
                                        <p:tgtEl>
                                          <p:spTgt spid="35849"/>
                                        </p:tgtEl>
                                        <p:attrNameLst>
                                          <p:attrName>style.visibility</p:attrName>
                                        </p:attrNameLst>
                                      </p:cBhvr>
                                      <p:to>
                                        <p:strVal val="visible"/>
                                      </p:to>
                                    </p:set>
                                    <p:animEffect transition="in" filter="wipe(down)">
                                      <p:cBhvr>
                                        <p:cTn id="41" dur="500"/>
                                        <p:tgtEl>
                                          <p:spTgt spid="35849"/>
                                        </p:tgtEl>
                                      </p:cBhvr>
                                    </p:animEffect>
                                  </p:childTnLst>
                                </p:cTn>
                              </p:par>
                            </p:childTnLst>
                          </p:cTn>
                        </p:par>
                        <p:par>
                          <p:cTn id="42" fill="hold">
                            <p:stCondLst>
                              <p:cond delay="3269"/>
                            </p:stCondLst>
                            <p:childTnLst>
                              <p:par>
                                <p:cTn id="43" presetID="22" presetClass="entr" presetSubtype="2" fill="hold" nodeType="afterEffect">
                                  <p:stCondLst>
                                    <p:cond delay="0"/>
                                  </p:stCondLst>
                                  <p:childTnLst>
                                    <p:set>
                                      <p:cBhvr>
                                        <p:cTn id="44" dur="1" fill="hold">
                                          <p:stCondLst>
                                            <p:cond delay="0"/>
                                          </p:stCondLst>
                                        </p:cTn>
                                        <p:tgtEl>
                                          <p:spTgt spid="35850"/>
                                        </p:tgtEl>
                                        <p:attrNameLst>
                                          <p:attrName>style.visibility</p:attrName>
                                        </p:attrNameLst>
                                      </p:cBhvr>
                                      <p:to>
                                        <p:strVal val="visible"/>
                                      </p:to>
                                    </p:set>
                                    <p:animEffect transition="in" filter="wipe(right)">
                                      <p:cBhvr>
                                        <p:cTn id="45" dur="300"/>
                                        <p:tgtEl>
                                          <p:spTgt spid="35850"/>
                                        </p:tgtEl>
                                      </p:cBhvr>
                                    </p:animEffect>
                                  </p:childTnLst>
                                </p:cTn>
                              </p:par>
                            </p:childTnLst>
                          </p:cTn>
                        </p:par>
                        <p:par>
                          <p:cTn id="46" fill="hold">
                            <p:stCondLst>
                              <p:cond delay="3769"/>
                            </p:stCondLst>
                            <p:childTnLst>
                              <p:par>
                                <p:cTn id="47" presetID="22" presetClass="entr" presetSubtype="8" fill="hold" nodeType="afterEffect">
                                  <p:stCondLst>
                                    <p:cond delay="0"/>
                                  </p:stCondLst>
                                  <p:childTnLst>
                                    <p:set>
                                      <p:cBhvr>
                                        <p:cTn id="48" dur="1" fill="hold">
                                          <p:stCondLst>
                                            <p:cond delay="0"/>
                                          </p:stCondLst>
                                        </p:cTn>
                                        <p:tgtEl>
                                          <p:spTgt spid="35851"/>
                                        </p:tgtEl>
                                        <p:attrNameLst>
                                          <p:attrName>style.visibility</p:attrName>
                                        </p:attrNameLst>
                                      </p:cBhvr>
                                      <p:to>
                                        <p:strVal val="visible"/>
                                      </p:to>
                                    </p:set>
                                    <p:animEffect transition="in" filter="wipe(left)">
                                      <p:cBhvr>
                                        <p:cTn id="49" dur="500"/>
                                        <p:tgtEl>
                                          <p:spTgt spid="358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p:bldP spid="35847" grpId="0"/>
    </p:bldLst>
  </p:timing>
</p:sld>
</file>

<file path=ppt/slides/slide39.xml><?xml version="1.0" encoding="utf-8"?>
<p:sld xmlns:a="http://schemas.openxmlformats.org/drawingml/2006/main" xmlns:r="http://schemas.openxmlformats.org/officeDocument/2006/relationships" xmlns:p="http://schemas.openxmlformats.org/presentationml/2006/main">
  <p:cSld>
    <p:bg>
      <p:bgPr>
        <a:blipFill rotWithShape="0">
          <a:blip r:embed="rId1" cstate="print"/>
          <a:stretch>
            <a:fillRect/>
          </a:stretch>
        </a:blipFill>
        <a:effectLst/>
      </p:bgPr>
    </p:bg>
    <p:spTree>
      <p:nvGrpSpPr>
        <p:cNvPr id="1" name=""/>
        <p:cNvGrpSpPr/>
        <p:nvPr/>
      </p:nvGrpSpPr>
      <p:grpSpPr>
        <a:xfrm>
          <a:off x="0" y="0"/>
          <a:ext cx="0" cy="0"/>
          <a:chOff x="0" y="0"/>
          <a:chExt cx="0" cy="0"/>
        </a:xfrm>
      </p:grpSpPr>
      <p:sp>
        <p:nvSpPr>
          <p:cNvPr id="30722" name="Oval 5"/>
          <p:cNvSpPr/>
          <p:nvPr/>
        </p:nvSpPr>
        <p:spPr>
          <a:xfrm>
            <a:off x="4062413" y="627063"/>
            <a:ext cx="4141787" cy="4144962"/>
          </a:xfrm>
          <a:prstGeom prst="ellipse">
            <a:avLst/>
          </a:prstGeom>
          <a:solidFill>
            <a:srgbClr val="FFFFFF"/>
          </a:solidFill>
          <a:ln w="9525">
            <a:noFill/>
          </a:ln>
        </p:spPr>
        <p:txBody>
          <a:bodyPr anchor="t"/>
          <a:lstStyle/>
          <a:p>
            <a:endParaRPr lang="zh-CN" altLang="en-US" dirty="0">
              <a:solidFill>
                <a:srgbClr val="004C54"/>
              </a:solidFill>
              <a:latin typeface="Arial" panose="020B0604020202020204" pitchFamily="34" charset="0"/>
              <a:ea typeface="宋体" panose="02010600030101010101" pitchFamily="2" charset="-122"/>
            </a:endParaRPr>
          </a:p>
        </p:txBody>
      </p:sp>
      <p:sp>
        <p:nvSpPr>
          <p:cNvPr id="30723" name="Line 12"/>
          <p:cNvSpPr/>
          <p:nvPr/>
        </p:nvSpPr>
        <p:spPr>
          <a:xfrm>
            <a:off x="4195763" y="2740025"/>
            <a:ext cx="3808412" cy="0"/>
          </a:xfrm>
          <a:prstGeom prst="line">
            <a:avLst/>
          </a:prstGeom>
          <a:ln w="12700" cap="flat" cmpd="sng">
            <a:solidFill>
              <a:schemeClr val="bg2"/>
            </a:solidFill>
            <a:prstDash val="solid"/>
            <a:round/>
            <a:headEnd type="none" w="med" len="med"/>
            <a:tailEnd type="none" w="med" len="med"/>
          </a:ln>
        </p:spPr>
      </p:sp>
      <p:sp>
        <p:nvSpPr>
          <p:cNvPr id="30724" name="TextBox 77"/>
          <p:cNvSpPr txBox="1"/>
          <p:nvPr/>
        </p:nvSpPr>
        <p:spPr>
          <a:xfrm>
            <a:off x="4602163" y="2852738"/>
            <a:ext cx="3168650" cy="1445260"/>
          </a:xfrm>
          <a:prstGeom prst="rect">
            <a:avLst/>
          </a:prstGeom>
          <a:noFill/>
          <a:ln w="9525">
            <a:noFill/>
          </a:ln>
        </p:spPr>
        <p:txBody>
          <a:bodyPr anchor="t">
            <a:spAutoFit/>
          </a:bodyPr>
          <a:lstStyle/>
          <a:p>
            <a:pPr algn="ctr"/>
            <a:r>
              <a:rPr lang="zh-CN" altLang="en-US" sz="4400" b="1" dirty="0">
                <a:solidFill>
                  <a:srgbClr val="363636"/>
                </a:solidFill>
                <a:latin typeface="微软雅黑" panose="020B0503020204020204" pitchFamily="34" charset="-122"/>
                <a:ea typeface="微软雅黑" panose="020B0503020204020204" pitchFamily="34" charset="-122"/>
              </a:rPr>
              <a:t>未来发展</a:t>
            </a:r>
            <a:endParaRPr lang="zh-CN" altLang="en-US" sz="4400" b="1" dirty="0">
              <a:solidFill>
                <a:srgbClr val="363636"/>
              </a:solidFill>
              <a:latin typeface="微软雅黑" panose="020B0503020204020204" pitchFamily="34" charset="-122"/>
              <a:ea typeface="微软雅黑" panose="020B0503020204020204" pitchFamily="34" charset="-122"/>
            </a:endParaRPr>
          </a:p>
          <a:p>
            <a:pPr algn="ctr"/>
            <a:r>
              <a:rPr lang="zh-CN" altLang="en-US" sz="4400" b="1" dirty="0">
                <a:solidFill>
                  <a:srgbClr val="363636"/>
                </a:solidFill>
                <a:latin typeface="微软雅黑" panose="020B0503020204020204" pitchFamily="34" charset="-122"/>
                <a:ea typeface="微软雅黑" panose="020B0503020204020204" pitchFamily="34" charset="-122"/>
              </a:rPr>
              <a:t>方向</a:t>
            </a:r>
            <a:endParaRPr lang="zh-CN" altLang="en-US" sz="4400" b="1" dirty="0">
              <a:solidFill>
                <a:srgbClr val="363636"/>
              </a:solidFill>
              <a:latin typeface="微软雅黑" panose="020B0503020204020204" pitchFamily="34" charset="-122"/>
              <a:ea typeface="微软雅黑" panose="020B0503020204020204" pitchFamily="34" charset="-122"/>
            </a:endParaRPr>
          </a:p>
        </p:txBody>
      </p:sp>
      <p:sp>
        <p:nvSpPr>
          <p:cNvPr id="30725" name="Rectangle 14"/>
          <p:cNvSpPr/>
          <p:nvPr/>
        </p:nvSpPr>
        <p:spPr>
          <a:xfrm>
            <a:off x="5634038" y="2255838"/>
            <a:ext cx="930275" cy="400050"/>
          </a:xfrm>
          <a:prstGeom prst="rect">
            <a:avLst/>
          </a:prstGeom>
          <a:noFill/>
          <a:ln w="9525">
            <a:noFill/>
          </a:ln>
        </p:spPr>
        <p:txBody>
          <a:bodyPr wrap="none" lIns="0" tIns="0" rIns="0" bIns="0" anchor="t">
            <a:spAutoFit/>
          </a:bodyPr>
          <a:lstStyle/>
          <a:p>
            <a:r>
              <a:rPr lang="zh-CN" altLang="en-US" sz="2600" dirty="0">
                <a:solidFill>
                  <a:srgbClr val="363636"/>
                </a:solidFill>
                <a:latin typeface="微软雅黑" panose="020B0503020204020204" pitchFamily="34" charset="-122"/>
                <a:ea typeface="微软雅黑" panose="020B0503020204020204" pitchFamily="34" charset="-122"/>
              </a:rPr>
              <a:t>Part </a:t>
            </a:r>
            <a:r>
              <a:rPr lang="en-US" altLang="zh-CN" sz="2600" dirty="0">
                <a:solidFill>
                  <a:srgbClr val="363636"/>
                </a:solidFill>
                <a:latin typeface="微软雅黑" panose="020B0503020204020204" pitchFamily="34" charset="-122"/>
                <a:ea typeface="微软雅黑" panose="020B0503020204020204" pitchFamily="34" charset="-122"/>
              </a:rPr>
              <a:t>5</a:t>
            </a:r>
            <a:endParaRPr lang="zh-CN" altLang="en-US" sz="2600" dirty="0">
              <a:solidFill>
                <a:srgbClr val="363636"/>
              </a:solidFill>
              <a:latin typeface="微软雅黑" panose="020B0503020204020204" pitchFamily="34" charset="-122"/>
              <a:ea typeface="微软雅黑" panose="020B0503020204020204" pitchFamily="34" charset="-122"/>
            </a:endParaRPr>
          </a:p>
        </p:txBody>
      </p:sp>
      <p:sp>
        <p:nvSpPr>
          <p:cNvPr id="30726" name="Freeform 28"/>
          <p:cNvSpPr>
            <a:spLocks noEditPoints="1"/>
          </p:cNvSpPr>
          <p:nvPr/>
        </p:nvSpPr>
        <p:spPr>
          <a:xfrm>
            <a:off x="5376863" y="850900"/>
            <a:ext cx="1511300" cy="1277938"/>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923" h="771">
                <a:moveTo>
                  <a:pt x="303" y="0"/>
                </a:moveTo>
                <a:lnTo>
                  <a:pt x="819" y="0"/>
                </a:lnTo>
                <a:cubicBezTo>
                  <a:pt x="848" y="0"/>
                  <a:pt x="873" y="12"/>
                  <a:pt x="892" y="31"/>
                </a:cubicBezTo>
                <a:cubicBezTo>
                  <a:pt x="911" y="50"/>
                  <a:pt x="923" y="76"/>
                  <a:pt x="923" y="104"/>
                </a:cubicBezTo>
                <a:lnTo>
                  <a:pt x="923" y="313"/>
                </a:lnTo>
                <a:cubicBezTo>
                  <a:pt x="923" y="341"/>
                  <a:pt x="911" y="367"/>
                  <a:pt x="892" y="386"/>
                </a:cubicBezTo>
                <a:cubicBezTo>
                  <a:pt x="873" y="405"/>
                  <a:pt x="848" y="416"/>
                  <a:pt x="819" y="416"/>
                </a:cubicBezTo>
                <a:lnTo>
                  <a:pt x="737" y="416"/>
                </a:lnTo>
                <a:lnTo>
                  <a:pt x="626" y="553"/>
                </a:lnTo>
                <a:lnTo>
                  <a:pt x="584" y="605"/>
                </a:lnTo>
                <a:lnTo>
                  <a:pt x="584" y="537"/>
                </a:lnTo>
                <a:lnTo>
                  <a:pt x="584" y="416"/>
                </a:lnTo>
                <a:lnTo>
                  <a:pt x="494" y="416"/>
                </a:lnTo>
                <a:cubicBezTo>
                  <a:pt x="499" y="401"/>
                  <a:pt x="502" y="385"/>
                  <a:pt x="502" y="368"/>
                </a:cubicBezTo>
                <a:lnTo>
                  <a:pt x="608" y="368"/>
                </a:lnTo>
                <a:lnTo>
                  <a:pt x="632" y="368"/>
                </a:lnTo>
                <a:lnTo>
                  <a:pt x="632" y="392"/>
                </a:lnTo>
                <a:lnTo>
                  <a:pt x="632" y="470"/>
                </a:lnTo>
                <a:lnTo>
                  <a:pt x="707" y="377"/>
                </a:lnTo>
                <a:lnTo>
                  <a:pt x="714" y="368"/>
                </a:lnTo>
                <a:lnTo>
                  <a:pt x="726" y="368"/>
                </a:lnTo>
                <a:lnTo>
                  <a:pt x="819" y="368"/>
                </a:lnTo>
                <a:cubicBezTo>
                  <a:pt x="834" y="368"/>
                  <a:pt x="848" y="362"/>
                  <a:pt x="858" y="352"/>
                </a:cubicBezTo>
                <a:cubicBezTo>
                  <a:pt x="868" y="342"/>
                  <a:pt x="875" y="328"/>
                  <a:pt x="875" y="313"/>
                </a:cubicBezTo>
                <a:lnTo>
                  <a:pt x="875" y="104"/>
                </a:lnTo>
                <a:cubicBezTo>
                  <a:pt x="875" y="89"/>
                  <a:pt x="868" y="75"/>
                  <a:pt x="858" y="65"/>
                </a:cubicBezTo>
                <a:cubicBezTo>
                  <a:pt x="848" y="55"/>
                  <a:pt x="834" y="48"/>
                  <a:pt x="819" y="48"/>
                </a:cubicBezTo>
                <a:lnTo>
                  <a:pt x="303" y="48"/>
                </a:lnTo>
                <a:cubicBezTo>
                  <a:pt x="288" y="48"/>
                  <a:pt x="274" y="55"/>
                  <a:pt x="264" y="65"/>
                </a:cubicBezTo>
                <a:cubicBezTo>
                  <a:pt x="253" y="75"/>
                  <a:pt x="247" y="89"/>
                  <a:pt x="247" y="104"/>
                </a:cubicBezTo>
                <a:lnTo>
                  <a:pt x="247" y="293"/>
                </a:lnTo>
                <a:cubicBezTo>
                  <a:pt x="235" y="311"/>
                  <a:pt x="228" y="333"/>
                  <a:pt x="226" y="356"/>
                </a:cubicBezTo>
                <a:cubicBezTo>
                  <a:pt x="219" y="347"/>
                  <a:pt x="210" y="338"/>
                  <a:pt x="201" y="332"/>
                </a:cubicBezTo>
                <a:cubicBezTo>
                  <a:pt x="200" y="325"/>
                  <a:pt x="199" y="319"/>
                  <a:pt x="199" y="313"/>
                </a:cubicBezTo>
                <a:lnTo>
                  <a:pt x="199" y="104"/>
                </a:lnTo>
                <a:cubicBezTo>
                  <a:pt x="199" y="76"/>
                  <a:pt x="211" y="50"/>
                  <a:pt x="230" y="31"/>
                </a:cubicBezTo>
                <a:cubicBezTo>
                  <a:pt x="248" y="12"/>
                  <a:pt x="274" y="0"/>
                  <a:pt x="303" y="0"/>
                </a:cubicBezTo>
                <a:close/>
                <a:moveTo>
                  <a:pt x="130" y="344"/>
                </a:moveTo>
                <a:lnTo>
                  <a:pt x="130" y="344"/>
                </a:lnTo>
                <a:cubicBezTo>
                  <a:pt x="83" y="344"/>
                  <a:pt x="45" y="382"/>
                  <a:pt x="45" y="429"/>
                </a:cubicBezTo>
                <a:cubicBezTo>
                  <a:pt x="45" y="476"/>
                  <a:pt x="83" y="514"/>
                  <a:pt x="130" y="514"/>
                </a:cubicBezTo>
                <a:cubicBezTo>
                  <a:pt x="177" y="514"/>
                  <a:pt x="215" y="476"/>
                  <a:pt x="215" y="429"/>
                </a:cubicBezTo>
                <a:cubicBezTo>
                  <a:pt x="215" y="382"/>
                  <a:pt x="177" y="344"/>
                  <a:pt x="130" y="344"/>
                </a:cubicBezTo>
                <a:close/>
                <a:moveTo>
                  <a:pt x="364" y="265"/>
                </a:moveTo>
                <a:lnTo>
                  <a:pt x="364" y="265"/>
                </a:lnTo>
                <a:cubicBezTo>
                  <a:pt x="307" y="265"/>
                  <a:pt x="261" y="311"/>
                  <a:pt x="261" y="368"/>
                </a:cubicBezTo>
                <a:cubicBezTo>
                  <a:pt x="261" y="425"/>
                  <a:pt x="307" y="471"/>
                  <a:pt x="364" y="471"/>
                </a:cubicBezTo>
                <a:cubicBezTo>
                  <a:pt x="420" y="471"/>
                  <a:pt x="466" y="425"/>
                  <a:pt x="466" y="368"/>
                </a:cubicBezTo>
                <a:cubicBezTo>
                  <a:pt x="466" y="311"/>
                  <a:pt x="420" y="265"/>
                  <a:pt x="364" y="265"/>
                </a:cubicBezTo>
                <a:close/>
                <a:moveTo>
                  <a:pt x="274" y="748"/>
                </a:moveTo>
                <a:lnTo>
                  <a:pt x="274" y="748"/>
                </a:lnTo>
                <a:lnTo>
                  <a:pt x="274" y="601"/>
                </a:lnTo>
                <a:lnTo>
                  <a:pt x="285" y="601"/>
                </a:lnTo>
                <a:lnTo>
                  <a:pt x="285" y="748"/>
                </a:lnTo>
                <a:lnTo>
                  <a:pt x="285" y="771"/>
                </a:lnTo>
                <a:lnTo>
                  <a:pt x="446" y="771"/>
                </a:lnTo>
                <a:lnTo>
                  <a:pt x="446" y="748"/>
                </a:lnTo>
                <a:lnTo>
                  <a:pt x="446" y="601"/>
                </a:lnTo>
                <a:lnTo>
                  <a:pt x="457" y="601"/>
                </a:lnTo>
                <a:lnTo>
                  <a:pt x="457" y="748"/>
                </a:lnTo>
                <a:lnTo>
                  <a:pt x="522" y="748"/>
                </a:lnTo>
                <a:lnTo>
                  <a:pt x="522" y="548"/>
                </a:lnTo>
                <a:cubicBezTo>
                  <a:pt x="522" y="512"/>
                  <a:pt x="493" y="483"/>
                  <a:pt x="458" y="483"/>
                </a:cubicBezTo>
                <a:cubicBezTo>
                  <a:pt x="262" y="483"/>
                  <a:pt x="468" y="483"/>
                  <a:pt x="271" y="483"/>
                </a:cubicBezTo>
                <a:cubicBezTo>
                  <a:pt x="236" y="483"/>
                  <a:pt x="207" y="512"/>
                  <a:pt x="207" y="548"/>
                </a:cubicBezTo>
                <a:lnTo>
                  <a:pt x="207" y="748"/>
                </a:lnTo>
                <a:cubicBezTo>
                  <a:pt x="218" y="748"/>
                  <a:pt x="245" y="748"/>
                  <a:pt x="274" y="748"/>
                </a:cubicBezTo>
                <a:close/>
                <a:moveTo>
                  <a:pt x="55" y="743"/>
                </a:moveTo>
                <a:lnTo>
                  <a:pt x="55" y="743"/>
                </a:lnTo>
                <a:lnTo>
                  <a:pt x="55" y="622"/>
                </a:lnTo>
                <a:lnTo>
                  <a:pt x="65" y="622"/>
                </a:lnTo>
                <a:lnTo>
                  <a:pt x="65" y="743"/>
                </a:lnTo>
                <a:lnTo>
                  <a:pt x="65" y="757"/>
                </a:lnTo>
                <a:lnTo>
                  <a:pt x="174" y="757"/>
                </a:lnTo>
                <a:lnTo>
                  <a:pt x="174" y="548"/>
                </a:lnTo>
                <a:cubicBezTo>
                  <a:pt x="174" y="540"/>
                  <a:pt x="175" y="532"/>
                  <a:pt x="177" y="524"/>
                </a:cubicBezTo>
                <a:lnTo>
                  <a:pt x="53" y="524"/>
                </a:lnTo>
                <a:cubicBezTo>
                  <a:pt x="24" y="524"/>
                  <a:pt x="0" y="548"/>
                  <a:pt x="0" y="577"/>
                </a:cubicBezTo>
                <a:lnTo>
                  <a:pt x="0" y="743"/>
                </a:lnTo>
                <a:cubicBezTo>
                  <a:pt x="10" y="743"/>
                  <a:pt x="32" y="743"/>
                  <a:pt x="55" y="743"/>
                </a:cubicBezTo>
                <a:close/>
              </a:path>
            </a:pathLst>
          </a:custGeom>
          <a:solidFill>
            <a:srgbClr val="113E6A"/>
          </a:solidFill>
          <a:ln w="9525">
            <a:noFill/>
          </a:ln>
        </p:spPr>
        <p:txBody>
          <a:bodyPr/>
          <a:lstStyle/>
          <a:p>
            <a:endParaRPr lang="zh-CN" altLang="en-US"/>
          </a:p>
        </p:txBody>
      </p:sp>
      <p:pic>
        <p:nvPicPr>
          <p:cNvPr id="17" name="图片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8741" y="91674"/>
            <a:ext cx="2646380" cy="503185"/>
          </a:xfrm>
          <a:prstGeom prst="rect">
            <a:avLst/>
          </a:prstGeom>
        </p:spPr>
      </p:pic>
    </p:spTree>
  </p:cSld>
  <p:clrMapOvr>
    <a:masterClrMapping/>
  </p:clrMapOvr>
  <p:transition advTm="856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30722"/>
                                        </p:tgtEl>
                                        <p:attrNameLst>
                                          <p:attrName>style.visibility</p:attrName>
                                        </p:attrNameLst>
                                      </p:cBhvr>
                                      <p:to>
                                        <p:strVal val="visible"/>
                                      </p:to>
                                    </p:set>
                                    <p:animEffect transition="in" filter="wheel(1)">
                                      <p:cBhvr>
                                        <p:cTn id="7" dur="2000"/>
                                        <p:tgtEl>
                                          <p:spTgt spid="30722"/>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30723"/>
                                        </p:tgtEl>
                                        <p:attrNameLst>
                                          <p:attrName>style.visibility</p:attrName>
                                        </p:attrNameLst>
                                      </p:cBhvr>
                                      <p:to>
                                        <p:strVal val="visible"/>
                                      </p:to>
                                    </p:set>
                                    <p:animEffect transition="in" filter="barn(inVertical)">
                                      <p:cBhvr>
                                        <p:cTn id="11" dur="500"/>
                                        <p:tgtEl>
                                          <p:spTgt spid="30723"/>
                                        </p:tgtEl>
                                      </p:cBhvr>
                                    </p:animEffect>
                                  </p:childTnLst>
                                </p:cTn>
                              </p:par>
                            </p:childTnLst>
                          </p:cTn>
                        </p:par>
                        <p:par>
                          <p:cTn id="12" fill="hold">
                            <p:stCondLst>
                              <p:cond delay="2500"/>
                            </p:stCondLst>
                            <p:childTnLst>
                              <p:par>
                                <p:cTn id="13" presetID="22" presetClass="entr" presetSubtype="1" fill="hold" grpId="0" nodeType="afterEffect">
                                  <p:stCondLst>
                                    <p:cond delay="0"/>
                                  </p:stCondLst>
                                  <p:childTnLst>
                                    <p:set>
                                      <p:cBhvr>
                                        <p:cTn id="14" dur="1" fill="hold">
                                          <p:stCondLst>
                                            <p:cond delay="0"/>
                                          </p:stCondLst>
                                        </p:cTn>
                                        <p:tgtEl>
                                          <p:spTgt spid="30724"/>
                                        </p:tgtEl>
                                        <p:attrNameLst>
                                          <p:attrName>style.visibility</p:attrName>
                                        </p:attrNameLst>
                                      </p:cBhvr>
                                      <p:to>
                                        <p:strVal val="visible"/>
                                      </p:to>
                                    </p:set>
                                    <p:animEffect transition="in" filter="wipe(up)">
                                      <p:cBhvr>
                                        <p:cTn id="15" dur="500"/>
                                        <p:tgtEl>
                                          <p:spTgt spid="30724"/>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0725"/>
                                        </p:tgtEl>
                                        <p:attrNameLst>
                                          <p:attrName>style.visibility</p:attrName>
                                        </p:attrNameLst>
                                      </p:cBhvr>
                                      <p:to>
                                        <p:strVal val="visible"/>
                                      </p:to>
                                    </p:set>
                                    <p:animEffect transition="in" filter="wipe(down)">
                                      <p:cBhvr>
                                        <p:cTn id="18" dur="500"/>
                                        <p:tgtEl>
                                          <p:spTgt spid="30725"/>
                                        </p:tgtEl>
                                      </p:cBhvr>
                                    </p:animEffect>
                                  </p:childTnLst>
                                </p:cTn>
                              </p:par>
                            </p:childTnLst>
                          </p:cTn>
                        </p:par>
                        <p:par>
                          <p:cTn id="19" fill="hold">
                            <p:stCondLst>
                              <p:cond delay="3000"/>
                            </p:stCondLst>
                            <p:childTnLst>
                              <p:par>
                                <p:cTn id="20" presetID="31" presetClass="entr" presetSubtype="0" fill="hold" nodeType="afterEffect">
                                  <p:stCondLst>
                                    <p:cond delay="0"/>
                                  </p:stCondLst>
                                  <p:childTnLst>
                                    <p:set>
                                      <p:cBhvr>
                                        <p:cTn id="21" dur="1" fill="hold">
                                          <p:stCondLst>
                                            <p:cond delay="0"/>
                                          </p:stCondLst>
                                        </p:cTn>
                                        <p:tgtEl>
                                          <p:spTgt spid="30726"/>
                                        </p:tgtEl>
                                        <p:attrNameLst>
                                          <p:attrName>style.visibility</p:attrName>
                                        </p:attrNameLst>
                                      </p:cBhvr>
                                      <p:to>
                                        <p:strVal val="visible"/>
                                      </p:to>
                                    </p:set>
                                    <p:anim calcmode="lin" valueType="num">
                                      <p:cBhvr>
                                        <p:cTn id="22" dur="400" fill="hold"/>
                                        <p:tgtEl>
                                          <p:spTgt spid="30726"/>
                                        </p:tgtEl>
                                        <p:attrNameLst>
                                          <p:attrName>ppt_w</p:attrName>
                                        </p:attrNameLst>
                                      </p:cBhvr>
                                      <p:tavLst>
                                        <p:tav tm="0">
                                          <p:val>
                                            <p:fltVal val="0"/>
                                          </p:val>
                                        </p:tav>
                                        <p:tav tm="100000">
                                          <p:val>
                                            <p:strVal val="#ppt_w"/>
                                          </p:val>
                                        </p:tav>
                                      </p:tavLst>
                                    </p:anim>
                                    <p:anim calcmode="lin" valueType="num">
                                      <p:cBhvr>
                                        <p:cTn id="23" dur="400" fill="hold"/>
                                        <p:tgtEl>
                                          <p:spTgt spid="30726"/>
                                        </p:tgtEl>
                                        <p:attrNameLst>
                                          <p:attrName>ppt_h</p:attrName>
                                        </p:attrNameLst>
                                      </p:cBhvr>
                                      <p:tavLst>
                                        <p:tav tm="0">
                                          <p:val>
                                            <p:fltVal val="0"/>
                                          </p:val>
                                        </p:tav>
                                        <p:tav tm="100000">
                                          <p:val>
                                            <p:strVal val="#ppt_h"/>
                                          </p:val>
                                        </p:tav>
                                      </p:tavLst>
                                    </p:anim>
                                    <p:anim calcmode="lin" valueType="num">
                                      <p:cBhvr>
                                        <p:cTn id="24" dur="400" fill="hold"/>
                                        <p:tgtEl>
                                          <p:spTgt spid="30726"/>
                                        </p:tgtEl>
                                        <p:attrNameLst>
                                          <p:attrName>style.rotation</p:attrName>
                                        </p:attrNameLst>
                                      </p:cBhvr>
                                      <p:tavLst>
                                        <p:tav tm="0">
                                          <p:val>
                                            <p:fltVal val="90"/>
                                          </p:val>
                                        </p:tav>
                                        <p:tav tm="100000">
                                          <p:val>
                                            <p:fltVal val="0"/>
                                          </p:val>
                                        </p:tav>
                                      </p:tavLst>
                                    </p:anim>
                                    <p:animEffect transition="in" filter="fade">
                                      <p:cBhvr>
                                        <p:cTn id="25" dur="400"/>
                                        <p:tgtEl>
                                          <p:spTgt spid="307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animBg="1"/>
      <p:bldP spid="30724" grpId="0"/>
      <p:bldP spid="3072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Box 27"/>
          <p:cNvSpPr txBox="1"/>
          <p:nvPr/>
        </p:nvSpPr>
        <p:spPr>
          <a:xfrm>
            <a:off x="1012825" y="176213"/>
            <a:ext cx="2468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未来发展方向</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3584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35844" name="Freeform 10"/>
          <p:cNvSpPr/>
          <p:nvPr>
            <p:custDataLst>
              <p:tags r:id="rId1"/>
            </p:custDataLst>
          </p:nvPr>
        </p:nvSpPr>
        <p:spPr>
          <a:xfrm>
            <a:off x="1227138" y="1060450"/>
            <a:ext cx="4154487" cy="5043488"/>
          </a:xfrm>
          <a:custGeom>
            <a:avLst/>
            <a:gdLst/>
            <a:ahLst/>
            <a:cxnLst>
              <a:cxn ang="0">
                <a:pos x="2147483647" y="0"/>
              </a:cxn>
              <a:cxn ang="0">
                <a:pos x="2147483647" y="0"/>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0"/>
              </a:cxn>
            </a:cxnLst>
            <a:rect l="0" t="0" r="0" b="0"/>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tx2"/>
          </a:solidFill>
          <a:ln w="9525" cap="flat" cmpd="sng">
            <a:solidFill>
              <a:schemeClr val="bg2"/>
            </a:solidFill>
            <a:prstDash val="solid"/>
            <a:round/>
            <a:headEnd type="none" w="med" len="med"/>
            <a:tailEnd type="none" w="med" len="med"/>
          </a:ln>
        </p:spPr>
        <p:txBody>
          <a:bodyPr/>
          <a:lstStyle/>
          <a:p>
            <a:endParaRPr lang="zh-CN" altLang="en-US" sz="1800"/>
          </a:p>
        </p:txBody>
      </p:sp>
      <p:sp>
        <p:nvSpPr>
          <p:cNvPr id="35845" name="Freeform 11"/>
          <p:cNvSpPr/>
          <p:nvPr>
            <p:custDataLst>
              <p:tags r:id="rId2"/>
            </p:custDataLst>
          </p:nvPr>
        </p:nvSpPr>
        <p:spPr>
          <a:xfrm>
            <a:off x="1112838" y="1204913"/>
            <a:ext cx="107950" cy="630237"/>
          </a:xfrm>
          <a:custGeom>
            <a:avLst/>
            <a:gdLst/>
            <a:ahLst/>
            <a:cxnLst>
              <a:cxn ang="0">
                <a:pos x="2147483647" y="0"/>
              </a:cxn>
              <a:cxn ang="0">
                <a:pos x="0" y="2147483647"/>
              </a:cxn>
              <a:cxn ang="0">
                <a:pos x="0" y="2147483647"/>
              </a:cxn>
              <a:cxn ang="0">
                <a:pos x="2147483647" y="2147483647"/>
              </a:cxn>
              <a:cxn ang="0">
                <a:pos x="2147483647" y="0"/>
              </a:cxn>
            </a:cxnLst>
            <a:rect l="0" t="0" r="0" b="0"/>
            <a:pathLst>
              <a:path w="139" h="806">
                <a:moveTo>
                  <a:pt x="139" y="0"/>
                </a:moveTo>
                <a:lnTo>
                  <a:pt x="0" y="110"/>
                </a:lnTo>
                <a:lnTo>
                  <a:pt x="0" y="806"/>
                </a:lnTo>
                <a:lnTo>
                  <a:pt x="139" y="696"/>
                </a:lnTo>
                <a:lnTo>
                  <a:pt x="139" y="0"/>
                </a:lnTo>
                <a:close/>
              </a:path>
            </a:pathLst>
          </a:custGeom>
          <a:solidFill>
            <a:schemeClr val="accent1"/>
          </a:solidFill>
          <a:ln w="9525">
            <a:noFill/>
          </a:ln>
        </p:spPr>
        <p:txBody>
          <a:bodyPr/>
          <a:lstStyle/>
          <a:p>
            <a:endParaRPr lang="zh-CN" altLang="en-US" sz="1800"/>
          </a:p>
        </p:txBody>
      </p:sp>
      <p:sp>
        <p:nvSpPr>
          <p:cNvPr id="35846" name="Freeform 12"/>
          <p:cNvSpPr/>
          <p:nvPr>
            <p:custDataLst>
              <p:tags r:id="rId3"/>
            </p:custDataLst>
          </p:nvPr>
        </p:nvSpPr>
        <p:spPr>
          <a:xfrm>
            <a:off x="1112838" y="1290638"/>
            <a:ext cx="2794000" cy="544512"/>
          </a:xfrm>
          <a:custGeom>
            <a:avLst/>
            <a:gdLst/>
            <a:ahLst/>
            <a:cxnLst>
              <a:cxn ang="0">
                <a:pos x="2147483647" y="0"/>
              </a:cxn>
              <a:cxn ang="0">
                <a:pos x="0" y="0"/>
              </a:cxn>
              <a:cxn ang="0">
                <a:pos x="0" y="2147483647"/>
              </a:cxn>
              <a:cxn ang="0">
                <a:pos x="2147483647" y="2147483647"/>
              </a:cxn>
              <a:cxn ang="0">
                <a:pos x="2147483647" y="2147483647"/>
              </a:cxn>
              <a:cxn ang="0">
                <a:pos x="2147483647" y="0"/>
              </a:cxn>
            </a:cxnLst>
            <a:rect l="0" t="0" r="0" b="0"/>
            <a:pathLst>
              <a:path w="3591" h="696">
                <a:moveTo>
                  <a:pt x="3591" y="0"/>
                </a:moveTo>
                <a:lnTo>
                  <a:pt x="0" y="0"/>
                </a:lnTo>
                <a:lnTo>
                  <a:pt x="0" y="696"/>
                </a:lnTo>
                <a:lnTo>
                  <a:pt x="3591" y="696"/>
                </a:lnTo>
                <a:lnTo>
                  <a:pt x="3383" y="353"/>
                </a:lnTo>
                <a:lnTo>
                  <a:pt x="3591" y="0"/>
                </a:lnTo>
                <a:close/>
              </a:path>
            </a:pathLst>
          </a:custGeom>
          <a:solidFill>
            <a:srgbClr val="113E6A"/>
          </a:solidFill>
          <a:ln w="9525">
            <a:noFill/>
          </a:ln>
        </p:spPr>
        <p:txBody>
          <a:bodyPr/>
          <a:lstStyle/>
          <a:p>
            <a:endParaRPr lang="zh-CN" altLang="en-US" sz="1800"/>
          </a:p>
        </p:txBody>
      </p:sp>
      <p:sp>
        <p:nvSpPr>
          <p:cNvPr id="35849" name="Freeform 10"/>
          <p:cNvSpPr/>
          <p:nvPr>
            <p:custDataLst>
              <p:tags r:id="rId4"/>
            </p:custDataLst>
          </p:nvPr>
        </p:nvSpPr>
        <p:spPr>
          <a:xfrm>
            <a:off x="6045200" y="1060450"/>
            <a:ext cx="4154488" cy="5043488"/>
          </a:xfrm>
          <a:custGeom>
            <a:avLst/>
            <a:gdLst/>
            <a:ahLst/>
            <a:cxnLst>
              <a:cxn ang="0">
                <a:pos x="2147483647" y="0"/>
              </a:cxn>
              <a:cxn ang="0">
                <a:pos x="2147483647" y="0"/>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0"/>
              </a:cxn>
            </a:cxnLst>
            <a:rect l="0" t="0" r="0" b="0"/>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tx2"/>
          </a:solidFill>
          <a:ln w="9525" cap="flat" cmpd="sng">
            <a:solidFill>
              <a:schemeClr val="bg2"/>
            </a:solidFill>
            <a:prstDash val="solid"/>
            <a:round/>
            <a:headEnd type="none" w="med" len="med"/>
            <a:tailEnd type="none" w="med" len="med"/>
          </a:ln>
        </p:spPr>
        <p:txBody>
          <a:bodyPr/>
          <a:lstStyle/>
          <a:p>
            <a:endParaRPr lang="zh-CN" altLang="en-US" sz="1800"/>
          </a:p>
        </p:txBody>
      </p:sp>
      <p:sp>
        <p:nvSpPr>
          <p:cNvPr id="35850" name="Freeform 11"/>
          <p:cNvSpPr/>
          <p:nvPr>
            <p:custDataLst>
              <p:tags r:id="rId5"/>
            </p:custDataLst>
          </p:nvPr>
        </p:nvSpPr>
        <p:spPr>
          <a:xfrm>
            <a:off x="5930900" y="1204913"/>
            <a:ext cx="107950" cy="630237"/>
          </a:xfrm>
          <a:custGeom>
            <a:avLst/>
            <a:gdLst/>
            <a:ahLst/>
            <a:cxnLst>
              <a:cxn ang="0">
                <a:pos x="2147483647" y="0"/>
              </a:cxn>
              <a:cxn ang="0">
                <a:pos x="0" y="2147483647"/>
              </a:cxn>
              <a:cxn ang="0">
                <a:pos x="0" y="2147483647"/>
              </a:cxn>
              <a:cxn ang="0">
                <a:pos x="2147483647" y="2147483647"/>
              </a:cxn>
              <a:cxn ang="0">
                <a:pos x="2147483647" y="0"/>
              </a:cxn>
            </a:cxnLst>
            <a:rect l="0" t="0" r="0" b="0"/>
            <a:pathLst>
              <a:path w="139" h="806">
                <a:moveTo>
                  <a:pt x="139" y="0"/>
                </a:moveTo>
                <a:lnTo>
                  <a:pt x="0" y="110"/>
                </a:lnTo>
                <a:lnTo>
                  <a:pt x="0" y="806"/>
                </a:lnTo>
                <a:lnTo>
                  <a:pt x="139" y="696"/>
                </a:lnTo>
                <a:lnTo>
                  <a:pt x="139" y="0"/>
                </a:lnTo>
                <a:close/>
              </a:path>
            </a:pathLst>
          </a:custGeom>
          <a:solidFill>
            <a:schemeClr val="accent1"/>
          </a:solidFill>
          <a:ln w="9525">
            <a:noFill/>
          </a:ln>
        </p:spPr>
        <p:txBody>
          <a:bodyPr/>
          <a:lstStyle/>
          <a:p>
            <a:endParaRPr lang="zh-CN" altLang="en-US" sz="1800"/>
          </a:p>
        </p:txBody>
      </p:sp>
      <p:sp>
        <p:nvSpPr>
          <p:cNvPr id="35851" name="Freeform 12"/>
          <p:cNvSpPr/>
          <p:nvPr>
            <p:custDataLst>
              <p:tags r:id="rId6"/>
            </p:custDataLst>
          </p:nvPr>
        </p:nvSpPr>
        <p:spPr>
          <a:xfrm>
            <a:off x="5930900" y="1290638"/>
            <a:ext cx="2794000" cy="544512"/>
          </a:xfrm>
          <a:custGeom>
            <a:avLst/>
            <a:gdLst/>
            <a:ahLst/>
            <a:cxnLst>
              <a:cxn ang="0">
                <a:pos x="2147483647" y="0"/>
              </a:cxn>
              <a:cxn ang="0">
                <a:pos x="0" y="0"/>
              </a:cxn>
              <a:cxn ang="0">
                <a:pos x="0" y="2147483647"/>
              </a:cxn>
              <a:cxn ang="0">
                <a:pos x="2147483647" y="2147483647"/>
              </a:cxn>
              <a:cxn ang="0">
                <a:pos x="2147483647" y="2147483647"/>
              </a:cxn>
              <a:cxn ang="0">
                <a:pos x="2147483647" y="0"/>
              </a:cxn>
            </a:cxnLst>
            <a:rect l="0" t="0" r="0" b="0"/>
            <a:pathLst>
              <a:path w="3591" h="696">
                <a:moveTo>
                  <a:pt x="3591" y="0"/>
                </a:moveTo>
                <a:lnTo>
                  <a:pt x="0" y="0"/>
                </a:lnTo>
                <a:lnTo>
                  <a:pt x="0" y="696"/>
                </a:lnTo>
                <a:lnTo>
                  <a:pt x="3591" y="696"/>
                </a:lnTo>
                <a:lnTo>
                  <a:pt x="3383" y="353"/>
                </a:lnTo>
                <a:lnTo>
                  <a:pt x="3591" y="0"/>
                </a:lnTo>
                <a:close/>
              </a:path>
            </a:pathLst>
          </a:custGeom>
          <a:solidFill>
            <a:srgbClr val="113E6A"/>
          </a:solidFill>
          <a:ln w="9525">
            <a:noFill/>
          </a:ln>
        </p:spPr>
        <p:txBody>
          <a:bodyPr/>
          <a:lstStyle/>
          <a:p>
            <a:endParaRPr lang="zh-CN" altLang="en-US" sz="1800"/>
          </a:p>
        </p:txBody>
      </p:sp>
      <p:sp>
        <p:nvSpPr>
          <p:cNvPr id="2" name="文本框 1"/>
          <p:cNvSpPr txBox="1"/>
          <p:nvPr/>
        </p:nvSpPr>
        <p:spPr>
          <a:xfrm>
            <a:off x="1345565" y="1988820"/>
            <a:ext cx="3778885" cy="4566920"/>
          </a:xfrm>
          <a:prstGeom prst="rect">
            <a:avLst/>
          </a:prstGeom>
          <a:noFill/>
        </p:spPr>
        <p:txBody>
          <a:bodyPr wrap="square" rtlCol="0">
            <a:noAutofit/>
          </a:bodyPr>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rPr>
              <a:t>不同的语境，预测的难度是完全不同的。写 </a:t>
            </a:r>
            <a:r>
              <a:rPr lang="en-US" altLang="zh-CN" sz="1800">
                <a:solidFill>
                  <a:schemeClr val="accent1"/>
                </a:solidFill>
                <a:latin typeface="微软雅黑" panose="020B0503020204020204" pitchFamily="34" charset="-122"/>
                <a:ea typeface="微软雅黑" panose="020B0503020204020204" pitchFamily="34" charset="-122"/>
              </a:rPr>
              <a:t>HTML </a:t>
            </a:r>
            <a:r>
              <a:rPr lang="zh-CN" altLang="en-US" sz="1800">
                <a:solidFill>
                  <a:schemeClr val="accent1"/>
                </a:solidFill>
                <a:latin typeface="微软雅黑" panose="020B0503020204020204" pitchFamily="34" charset="-122"/>
                <a:ea typeface="微软雅黑" panose="020B0503020204020204" pitchFamily="34" charset="-122"/>
              </a:rPr>
              <a:t>代码的预测很准，而写悬疑小说时预测较难</a:t>
            </a:r>
            <a:endParaRPr lang="zh-CN" altLang="en-US" sz="1800">
              <a:solidFill>
                <a:schemeClr val="accent1"/>
              </a:solidFill>
              <a:latin typeface="微软雅黑" panose="020B0503020204020204" pitchFamily="34" charset="-122"/>
              <a:ea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rPr>
              <a:t>借鉴混合专家大模型（</a:t>
            </a:r>
            <a:r>
              <a:rPr lang="en-US" altLang="zh-CN" sz="1800">
                <a:solidFill>
                  <a:schemeClr val="accent1"/>
                </a:solidFill>
                <a:latin typeface="微软雅黑" panose="020B0503020204020204" pitchFamily="34" charset="-122"/>
                <a:ea typeface="微软雅黑" panose="020B0503020204020204" pitchFamily="34" charset="-122"/>
              </a:rPr>
              <a:t>MoE）</a:t>
            </a:r>
            <a:r>
              <a:rPr lang="zh-CN" altLang="en-US" sz="1800">
                <a:solidFill>
                  <a:schemeClr val="accent1"/>
                </a:solidFill>
                <a:latin typeface="微软雅黑" panose="020B0503020204020204" pitchFamily="34" charset="-122"/>
                <a:ea typeface="微软雅黑" panose="020B0503020204020204" pitchFamily="34" charset="-122"/>
              </a:rPr>
              <a:t>的思路，引入混合推测头。在模型内部挂载多个专精不同领域的极小参数头。在推理生成时，引入一个极轻量的路由，瞬间唤醒最匹配的头来打草稿</a:t>
            </a:r>
            <a:endParaRPr lang="zh-CN" altLang="en-US" sz="1800">
              <a:solidFill>
                <a:schemeClr val="accent1"/>
              </a:solidFill>
              <a:latin typeface="微软雅黑" panose="020B0503020204020204" pitchFamily="34" charset="-122"/>
              <a:ea typeface="微软雅黑" panose="020B0503020204020204" pitchFamily="34" charset="-122"/>
            </a:endParaRPr>
          </a:p>
          <a:p>
            <a:pPr>
              <a:lnSpc>
                <a:spcPct val="150000"/>
              </a:lnSpc>
            </a:pPr>
            <a:endParaRPr lang="zh-CN" altLang="en-US" sz="1800">
              <a:solidFill>
                <a:schemeClr val="accent1"/>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6134735" y="1916430"/>
            <a:ext cx="3768090" cy="3971925"/>
          </a:xfrm>
          <a:prstGeom prst="rect">
            <a:avLst/>
          </a:prstGeom>
          <a:noFill/>
        </p:spPr>
        <p:txBody>
          <a:bodyPr wrap="square" rtlCol="0">
            <a:noAutofit/>
          </a:bodyPr>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主模型在训练时，不知道自己未来会被用来做并行验证，不具备评估多条未来路径的全局视野</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在大模型的预训练阶段，就融入推测解码的元素。比如在损失函数中加入针对多分支验证的惩罚项。让主模型和草稿头更深度的绑定，从而提高预测接受率</a:t>
            </a:r>
            <a:endParaRPr lang="zh-CN" altLang="en-US"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35843"/>
                                        </p:tgtEl>
                                        <p:attrNameLst>
                                          <p:attrName>style.visibility</p:attrName>
                                        </p:attrNameLst>
                                      </p:cBhvr>
                                      <p:to>
                                        <p:strVal val="visible"/>
                                      </p:to>
                                    </p:set>
                                    <p:anim calcmode="lin" valueType="num">
                                      <p:cBhvr>
                                        <p:cTn id="7" dur="300" fill="hold"/>
                                        <p:tgtEl>
                                          <p:spTgt spid="35843"/>
                                        </p:tgtEl>
                                        <p:attrNameLst>
                                          <p:attrName>ppt_w</p:attrName>
                                        </p:attrNameLst>
                                      </p:cBhvr>
                                      <p:tavLst>
                                        <p:tav tm="0">
                                          <p:val>
                                            <p:fltVal val="0"/>
                                          </p:val>
                                        </p:tav>
                                        <p:tav tm="100000">
                                          <p:val>
                                            <p:strVal val="#ppt_w"/>
                                          </p:val>
                                        </p:tav>
                                      </p:tavLst>
                                    </p:anim>
                                    <p:anim calcmode="lin" valueType="num">
                                      <p:cBhvr>
                                        <p:cTn id="8" dur="300" fill="hold"/>
                                        <p:tgtEl>
                                          <p:spTgt spid="35843"/>
                                        </p:tgtEl>
                                        <p:attrNameLst>
                                          <p:attrName>ppt_h</p:attrName>
                                        </p:attrNameLst>
                                      </p:cBhvr>
                                      <p:tavLst>
                                        <p:tav tm="0">
                                          <p:val>
                                            <p:fltVal val="0"/>
                                          </p:val>
                                        </p:tav>
                                        <p:tav tm="100000">
                                          <p:val>
                                            <p:strVal val="#ppt_h"/>
                                          </p:val>
                                        </p:tav>
                                      </p:tavLst>
                                    </p:anim>
                                    <p:anim calcmode="lin" valueType="num">
                                      <p:cBhvr>
                                        <p:cTn id="9" dur="300" fill="hold"/>
                                        <p:tgtEl>
                                          <p:spTgt spid="35843"/>
                                        </p:tgtEl>
                                        <p:attrNameLst>
                                          <p:attrName>style.rotation</p:attrName>
                                        </p:attrNameLst>
                                      </p:cBhvr>
                                      <p:tavLst>
                                        <p:tav tm="0">
                                          <p:val>
                                            <p:fltVal val="90"/>
                                          </p:val>
                                        </p:tav>
                                        <p:tav tm="100000">
                                          <p:val>
                                            <p:fltVal val="0"/>
                                          </p:val>
                                        </p:tav>
                                      </p:tavLst>
                                    </p:anim>
                                    <p:animEffect transition="in" filter="fade">
                                      <p:cBhvr>
                                        <p:cTn id="10" dur="300"/>
                                        <p:tgtEl>
                                          <p:spTgt spid="3584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35842"/>
                                        </p:tgtEl>
                                        <p:attrNameLst>
                                          <p:attrName>style.visibility</p:attrName>
                                        </p:attrNameLst>
                                      </p:cBhvr>
                                      <p:to>
                                        <p:strVal val="visible"/>
                                      </p:to>
                                    </p:set>
                                    <p:anim calcmode="lin" valueType="num">
                                      <p:cBhvr>
                                        <p:cTn id="14" dur="400" fill="hold"/>
                                        <p:tgtEl>
                                          <p:spTgt spid="3584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35842"/>
                                        </p:tgtEl>
                                        <p:attrNameLst>
                                          <p:attrName>ppt_y</p:attrName>
                                        </p:attrNameLst>
                                      </p:cBhvr>
                                      <p:tavLst>
                                        <p:tav tm="0">
                                          <p:val>
                                            <p:strVal val="#ppt_y"/>
                                          </p:val>
                                        </p:tav>
                                        <p:tav tm="100000">
                                          <p:val>
                                            <p:strVal val="#ppt_y"/>
                                          </p:val>
                                        </p:tav>
                                      </p:tavLst>
                                    </p:anim>
                                    <p:anim calcmode="lin" valueType="num">
                                      <p:cBhvr>
                                        <p:cTn id="16" dur="400" fill="hold"/>
                                        <p:tgtEl>
                                          <p:spTgt spid="3584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3584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35842"/>
                                        </p:tgtEl>
                                      </p:cBhvr>
                                    </p:animEffect>
                                  </p:childTnLst>
                                </p:cTn>
                              </p:par>
                            </p:childTnLst>
                          </p:cTn>
                        </p:par>
                        <p:par>
                          <p:cTn id="19" fill="hold">
                            <p:stCondLst>
                              <p:cond delay="900"/>
                            </p:stCondLst>
                            <p:childTnLst>
                              <p:par>
                                <p:cTn id="20" presetID="22" presetClass="entr" presetSubtype="4" fill="hold" nodeType="afterEffect">
                                  <p:stCondLst>
                                    <p:cond delay="0"/>
                                  </p:stCondLst>
                                  <p:childTnLst>
                                    <p:set>
                                      <p:cBhvr>
                                        <p:cTn id="21" dur="1" fill="hold">
                                          <p:stCondLst>
                                            <p:cond delay="0"/>
                                          </p:stCondLst>
                                        </p:cTn>
                                        <p:tgtEl>
                                          <p:spTgt spid="35844"/>
                                        </p:tgtEl>
                                        <p:attrNameLst>
                                          <p:attrName>style.visibility</p:attrName>
                                        </p:attrNameLst>
                                      </p:cBhvr>
                                      <p:to>
                                        <p:strVal val="visible"/>
                                      </p:to>
                                    </p:set>
                                    <p:animEffect transition="in" filter="wipe(down)">
                                      <p:cBhvr>
                                        <p:cTn id="22" dur="500"/>
                                        <p:tgtEl>
                                          <p:spTgt spid="35844"/>
                                        </p:tgtEl>
                                      </p:cBhvr>
                                    </p:animEffect>
                                  </p:childTnLst>
                                </p:cTn>
                              </p:par>
                            </p:childTnLst>
                          </p:cTn>
                        </p:par>
                        <p:par>
                          <p:cTn id="23" fill="hold">
                            <p:stCondLst>
                              <p:cond delay="1400"/>
                            </p:stCondLst>
                            <p:childTnLst>
                              <p:par>
                                <p:cTn id="24" presetID="22" presetClass="entr" presetSubtype="2" fill="hold" nodeType="afterEffect">
                                  <p:stCondLst>
                                    <p:cond delay="0"/>
                                  </p:stCondLst>
                                  <p:childTnLst>
                                    <p:set>
                                      <p:cBhvr>
                                        <p:cTn id="25" dur="1" fill="hold">
                                          <p:stCondLst>
                                            <p:cond delay="0"/>
                                          </p:stCondLst>
                                        </p:cTn>
                                        <p:tgtEl>
                                          <p:spTgt spid="35845"/>
                                        </p:tgtEl>
                                        <p:attrNameLst>
                                          <p:attrName>style.visibility</p:attrName>
                                        </p:attrNameLst>
                                      </p:cBhvr>
                                      <p:to>
                                        <p:strVal val="visible"/>
                                      </p:to>
                                    </p:set>
                                    <p:animEffect transition="in" filter="wipe(right)">
                                      <p:cBhvr>
                                        <p:cTn id="26" dur="300"/>
                                        <p:tgtEl>
                                          <p:spTgt spid="35845"/>
                                        </p:tgtEl>
                                      </p:cBhvr>
                                    </p:animEffect>
                                  </p:childTnLst>
                                </p:cTn>
                              </p:par>
                            </p:childTnLst>
                          </p:cTn>
                        </p:par>
                        <p:par>
                          <p:cTn id="27" fill="hold">
                            <p:stCondLst>
                              <p:cond delay="1900"/>
                            </p:stCondLst>
                            <p:childTnLst>
                              <p:par>
                                <p:cTn id="28" presetID="22" presetClass="entr" presetSubtype="8" fill="hold" nodeType="afterEffect">
                                  <p:stCondLst>
                                    <p:cond delay="0"/>
                                  </p:stCondLst>
                                  <p:childTnLst>
                                    <p:set>
                                      <p:cBhvr>
                                        <p:cTn id="29" dur="1" fill="hold">
                                          <p:stCondLst>
                                            <p:cond delay="0"/>
                                          </p:stCondLst>
                                        </p:cTn>
                                        <p:tgtEl>
                                          <p:spTgt spid="35846"/>
                                        </p:tgtEl>
                                        <p:attrNameLst>
                                          <p:attrName>style.visibility</p:attrName>
                                        </p:attrNameLst>
                                      </p:cBhvr>
                                      <p:to>
                                        <p:strVal val="visible"/>
                                      </p:to>
                                    </p:set>
                                    <p:animEffect transition="in" filter="wipe(left)">
                                      <p:cBhvr>
                                        <p:cTn id="30" dur="500"/>
                                        <p:tgtEl>
                                          <p:spTgt spid="35846"/>
                                        </p:tgtEl>
                                      </p:cBhvr>
                                    </p:animEffect>
                                  </p:childTnLst>
                                </p:cTn>
                              </p:par>
                            </p:childTnLst>
                          </p:cTn>
                        </p:par>
                        <p:par>
                          <p:cTn id="31" fill="hold">
                            <p:stCondLst>
                              <p:cond delay="2400"/>
                            </p:stCondLst>
                            <p:childTnLst>
                              <p:par>
                                <p:cTn id="32" presetID="22" presetClass="entr" presetSubtype="4" fill="hold" nodeType="afterEffect">
                                  <p:stCondLst>
                                    <p:cond delay="0"/>
                                  </p:stCondLst>
                                  <p:childTnLst>
                                    <p:set>
                                      <p:cBhvr>
                                        <p:cTn id="33" dur="1" fill="hold">
                                          <p:stCondLst>
                                            <p:cond delay="0"/>
                                          </p:stCondLst>
                                        </p:cTn>
                                        <p:tgtEl>
                                          <p:spTgt spid="35849"/>
                                        </p:tgtEl>
                                        <p:attrNameLst>
                                          <p:attrName>style.visibility</p:attrName>
                                        </p:attrNameLst>
                                      </p:cBhvr>
                                      <p:to>
                                        <p:strVal val="visible"/>
                                      </p:to>
                                    </p:set>
                                    <p:animEffect transition="in" filter="wipe(down)">
                                      <p:cBhvr>
                                        <p:cTn id="34" dur="500"/>
                                        <p:tgtEl>
                                          <p:spTgt spid="35849"/>
                                        </p:tgtEl>
                                      </p:cBhvr>
                                    </p:animEffect>
                                  </p:childTnLst>
                                </p:cTn>
                              </p:par>
                            </p:childTnLst>
                          </p:cTn>
                        </p:par>
                        <p:par>
                          <p:cTn id="35" fill="hold">
                            <p:stCondLst>
                              <p:cond delay="2900"/>
                            </p:stCondLst>
                            <p:childTnLst>
                              <p:par>
                                <p:cTn id="36" presetID="22" presetClass="entr" presetSubtype="2" fill="hold" nodeType="afterEffect">
                                  <p:stCondLst>
                                    <p:cond delay="0"/>
                                  </p:stCondLst>
                                  <p:childTnLst>
                                    <p:set>
                                      <p:cBhvr>
                                        <p:cTn id="37" dur="1" fill="hold">
                                          <p:stCondLst>
                                            <p:cond delay="0"/>
                                          </p:stCondLst>
                                        </p:cTn>
                                        <p:tgtEl>
                                          <p:spTgt spid="35850"/>
                                        </p:tgtEl>
                                        <p:attrNameLst>
                                          <p:attrName>style.visibility</p:attrName>
                                        </p:attrNameLst>
                                      </p:cBhvr>
                                      <p:to>
                                        <p:strVal val="visible"/>
                                      </p:to>
                                    </p:set>
                                    <p:animEffect transition="in" filter="wipe(right)">
                                      <p:cBhvr>
                                        <p:cTn id="38" dur="300"/>
                                        <p:tgtEl>
                                          <p:spTgt spid="35850"/>
                                        </p:tgtEl>
                                      </p:cBhvr>
                                    </p:animEffect>
                                  </p:childTnLst>
                                </p:cTn>
                              </p:par>
                            </p:childTnLst>
                          </p:cTn>
                        </p:par>
                        <p:par>
                          <p:cTn id="39" fill="hold">
                            <p:stCondLst>
                              <p:cond delay="3400"/>
                            </p:stCondLst>
                            <p:childTnLst>
                              <p:par>
                                <p:cTn id="40" presetID="22" presetClass="entr" presetSubtype="8" fill="hold" nodeType="afterEffect">
                                  <p:stCondLst>
                                    <p:cond delay="0"/>
                                  </p:stCondLst>
                                  <p:childTnLst>
                                    <p:set>
                                      <p:cBhvr>
                                        <p:cTn id="41" dur="1" fill="hold">
                                          <p:stCondLst>
                                            <p:cond delay="0"/>
                                          </p:stCondLst>
                                        </p:cTn>
                                        <p:tgtEl>
                                          <p:spTgt spid="35851"/>
                                        </p:tgtEl>
                                        <p:attrNameLst>
                                          <p:attrName>style.visibility</p:attrName>
                                        </p:attrNameLst>
                                      </p:cBhvr>
                                      <p:to>
                                        <p:strVal val="visible"/>
                                      </p:to>
                                    </p:set>
                                    <p:animEffect transition="in" filter="wipe(left)">
                                      <p:cBhvr>
                                        <p:cTn id="42" dur="500"/>
                                        <p:tgtEl>
                                          <p:spTgt spid="358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txBox="1"/>
          <p:nvPr/>
        </p:nvSpPr>
        <p:spPr>
          <a:xfrm>
            <a:off x="769938" y="2311400"/>
            <a:ext cx="10728325" cy="817563"/>
          </a:xfrm>
          <a:prstGeom prst="rect">
            <a:avLst/>
          </a:prstGeom>
          <a:noFill/>
          <a:ln w="9525">
            <a:noFill/>
          </a:ln>
        </p:spPr>
        <p:txBody>
          <a:bodyPr anchor="ctr"/>
          <a:lstStyle/>
          <a:p>
            <a:pPr algn="ctr"/>
            <a:r>
              <a:rPr lang="zh-CN" altLang="en-US" sz="6000" b="1" dirty="0" smtClean="0">
                <a:solidFill>
                  <a:schemeClr val="accent2"/>
                </a:solidFill>
                <a:latin typeface="微软雅黑" panose="020B0503020204020204" pitchFamily="34" charset="-122"/>
                <a:ea typeface="微软雅黑" panose="020B0503020204020204" pitchFamily="34" charset="-122"/>
              </a:rPr>
              <a:t>感谢您的批评指正</a:t>
            </a:r>
            <a:endParaRPr lang="zh-CN" altLang="en-US" sz="6000" b="1" dirty="0">
              <a:solidFill>
                <a:schemeClr val="accent2"/>
              </a:solidFill>
              <a:latin typeface="微软雅黑" panose="020B0503020204020204" pitchFamily="34" charset="-122"/>
              <a:ea typeface="微软雅黑" panose="020B0503020204020204" pitchFamily="34" charset="-122"/>
            </a:endParaRPr>
          </a:p>
        </p:txBody>
      </p:sp>
      <p:sp>
        <p:nvSpPr>
          <p:cNvPr id="7181" name="Rectangle 5"/>
          <p:cNvSpPr/>
          <p:nvPr/>
        </p:nvSpPr>
        <p:spPr>
          <a:xfrm>
            <a:off x="34925" y="6745288"/>
            <a:ext cx="12196763" cy="41275"/>
          </a:xfrm>
          <a:prstGeom prst="rect">
            <a:avLst/>
          </a:prstGeom>
          <a:solidFill>
            <a:srgbClr val="FFFFFF"/>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cxnSp>
        <p:nvCxnSpPr>
          <p:cNvPr id="6158" name="直接连接符 2"/>
          <p:cNvCxnSpPr/>
          <p:nvPr/>
        </p:nvCxnSpPr>
        <p:spPr>
          <a:xfrm>
            <a:off x="1201738" y="2159000"/>
            <a:ext cx="9864725" cy="0"/>
          </a:xfrm>
          <a:prstGeom prst="line">
            <a:avLst/>
          </a:prstGeom>
          <a:ln w="9525" cap="flat" cmpd="sng">
            <a:solidFill>
              <a:schemeClr val="accent2"/>
            </a:solidFill>
            <a:prstDash val="dash"/>
            <a:round/>
            <a:headEnd type="none" w="med" len="med"/>
            <a:tailEnd type="none" w="med" len="med"/>
          </a:ln>
        </p:spPr>
      </p:cxnSp>
      <p:cxnSp>
        <p:nvCxnSpPr>
          <p:cNvPr id="6159" name="直接连接符 17"/>
          <p:cNvCxnSpPr/>
          <p:nvPr/>
        </p:nvCxnSpPr>
        <p:spPr>
          <a:xfrm>
            <a:off x="1201738" y="3284538"/>
            <a:ext cx="9864725" cy="0"/>
          </a:xfrm>
          <a:prstGeom prst="line">
            <a:avLst/>
          </a:prstGeom>
          <a:ln w="9525" cap="flat" cmpd="sng">
            <a:solidFill>
              <a:schemeClr val="accent2"/>
            </a:solidFill>
            <a:prstDash val="dash"/>
            <a:round/>
            <a:headEnd type="none" w="med" len="med"/>
            <a:tailEnd type="none" w="med" len="med"/>
          </a:ln>
        </p:spPr>
      </p:cxnSp>
      <p:pic>
        <p:nvPicPr>
          <p:cNvPr id="18" name="图片 1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787345" y="943854"/>
            <a:ext cx="4220005" cy="802395"/>
          </a:xfrm>
          <a:prstGeom prst="rect">
            <a:avLst/>
          </a:prstGeom>
        </p:spPr>
      </p:pic>
    </p:spTree>
  </p:cSld>
  <p:clrMapOvr>
    <a:masterClrMapping/>
  </p:clrMapOvr>
  <p:transition spd="slow" advTm="7871">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7171"/>
                                        </p:tgtEl>
                                        <p:attrNameLst>
                                          <p:attrName>style.visibility</p:attrName>
                                        </p:attrNameLst>
                                      </p:cBhvr>
                                      <p:to>
                                        <p:strVal val="visible"/>
                                      </p:to>
                                    </p:set>
                                    <p:anim by="(-#ppt_w*2)" calcmode="lin" valueType="num">
                                      <p:cBhvr rctx="PPT">
                                        <p:cTn id="7" dur="500" autoRev="1" fill="hold">
                                          <p:stCondLst>
                                            <p:cond delay="0"/>
                                          </p:stCondLst>
                                        </p:cTn>
                                        <p:tgtEl>
                                          <p:spTgt spid="7171"/>
                                        </p:tgtEl>
                                        <p:attrNameLst>
                                          <p:attrName>ppt_w</p:attrName>
                                        </p:attrNameLst>
                                      </p:cBhvr>
                                    </p:anim>
                                    <p:anim by="(#ppt_w*0.50)" calcmode="lin" valueType="num">
                                      <p:cBhvr>
                                        <p:cTn id="8" dur="500" decel="50000" autoRev="1" fill="hold">
                                          <p:stCondLst>
                                            <p:cond delay="0"/>
                                          </p:stCondLst>
                                        </p:cTn>
                                        <p:tgtEl>
                                          <p:spTgt spid="7171"/>
                                        </p:tgtEl>
                                        <p:attrNameLst>
                                          <p:attrName>ppt_x</p:attrName>
                                        </p:attrNameLst>
                                      </p:cBhvr>
                                    </p:anim>
                                    <p:anim from="(-#ppt_h/2)" to="(#ppt_y)" calcmode="lin" valueType="num">
                                      <p:cBhvr>
                                        <p:cTn id="9" dur="1000" fill="hold">
                                          <p:stCondLst>
                                            <p:cond delay="0"/>
                                          </p:stCondLst>
                                        </p:cTn>
                                        <p:tgtEl>
                                          <p:spTgt spid="7171"/>
                                        </p:tgtEl>
                                        <p:attrNameLst>
                                          <p:attrName>ppt_y</p:attrName>
                                        </p:attrNameLst>
                                      </p:cBhvr>
                                    </p:anim>
                                    <p:animRot by="21600000">
                                      <p:cBhvr>
                                        <p:cTn id="10" dur="1000" fill="hold">
                                          <p:stCondLst>
                                            <p:cond delay="0"/>
                                          </p:stCondLst>
                                        </p:cTn>
                                        <p:tgtEl>
                                          <p:spTgt spid="7171"/>
                                        </p:tgtEl>
                                        <p:attrNameLst>
                                          <p:attrName>r</p:attrName>
                                        </p:attrNameLst>
                                      </p:cBhvr>
                                    </p:animRot>
                                  </p:childTnLst>
                                </p:cTn>
                              </p:par>
                            </p:childTnLst>
                          </p:cTn>
                        </p:par>
                        <p:par>
                          <p:cTn id="11" fill="hold">
                            <p:stCondLst>
                              <p:cond delay="1700"/>
                            </p:stCondLst>
                            <p:childTnLst>
                              <p:par>
                                <p:cTn id="12" presetID="16" presetClass="entr" presetSubtype="21" fill="hold" grpId="0" nodeType="afterEffect">
                                  <p:stCondLst>
                                    <p:cond delay="0"/>
                                  </p:stCondLst>
                                  <p:childTnLst>
                                    <p:set>
                                      <p:cBhvr>
                                        <p:cTn id="13" dur="1" fill="hold">
                                          <p:stCondLst>
                                            <p:cond delay="0"/>
                                          </p:stCondLst>
                                        </p:cTn>
                                        <p:tgtEl>
                                          <p:spTgt spid="7181"/>
                                        </p:tgtEl>
                                        <p:attrNameLst>
                                          <p:attrName>style.visibility</p:attrName>
                                        </p:attrNameLst>
                                      </p:cBhvr>
                                      <p:to>
                                        <p:strVal val="visible"/>
                                      </p:to>
                                    </p:set>
                                    <p:animEffect transition="in" filter="barn(inVertical)">
                                      <p:cBhvr>
                                        <p:cTn id="14" dur="500"/>
                                        <p:tgtEl>
                                          <p:spTgt spid="7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p:bldP spid="7181" grpId="0" bldLvl="0" animBg="1"/>
    </p:bldLst>
  </p:timing>
</p:sld>
</file>

<file path=ppt/tags/tag1.xml><?xml version="1.0" encoding="utf-8"?>
<p:tagLst xmlns:p="http://schemas.openxmlformats.org/presentationml/2006/main">
  <p:tag name="KSO_WM_DIAGRAM_VIRTUALLY_FRAME" val="{&quot;height&quot;:397.12503937007875,&quot;left&quot;:87.62503937007874,&quot;top&quot;:83.5,&quot;width&quot;:715.5}"/>
</p:tagLst>
</file>

<file path=ppt/tags/tag2.xml><?xml version="1.0" encoding="utf-8"?>
<p:tagLst xmlns:p="http://schemas.openxmlformats.org/presentationml/2006/main">
  <p:tag name="KSO_WM_DIAGRAM_VIRTUALLY_FRAME" val="{&quot;height&quot;:397.12503937007875,&quot;left&quot;:87.62503937007874,&quot;top&quot;:83.5,&quot;width&quot;:715.5}"/>
</p:tagLst>
</file>

<file path=ppt/tags/tag3.xml><?xml version="1.0" encoding="utf-8"?>
<p:tagLst xmlns:p="http://schemas.openxmlformats.org/presentationml/2006/main">
  <p:tag name="KSO_WM_DIAGRAM_VIRTUALLY_FRAME" val="{&quot;height&quot;:397.12503937007875,&quot;left&quot;:87.62503937007874,&quot;top&quot;:83.5,&quot;width&quot;:715.5}"/>
</p:tagLst>
</file>

<file path=ppt/tags/tag4.xml><?xml version="1.0" encoding="utf-8"?>
<p:tagLst xmlns:p="http://schemas.openxmlformats.org/presentationml/2006/main">
  <p:tag name="KSO_WM_DIAGRAM_VIRTUALLY_FRAME" val="{&quot;height&quot;:397.12503937007875,&quot;left&quot;:87.62503937007874,&quot;top&quot;:83.5,&quot;width&quot;:715.5}"/>
</p:tagLst>
</file>

<file path=ppt/tags/tag5.xml><?xml version="1.0" encoding="utf-8"?>
<p:tagLst xmlns:p="http://schemas.openxmlformats.org/presentationml/2006/main">
  <p:tag name="KSO_WM_DIAGRAM_VIRTUALLY_FRAME" val="{&quot;height&quot;:397.12503937007875,&quot;left&quot;:87.62503937007874,&quot;top&quot;:83.5,&quot;width&quot;:715.5}"/>
</p:tagLst>
</file>

<file path=ppt/tags/tag6.xml><?xml version="1.0" encoding="utf-8"?>
<p:tagLst xmlns:p="http://schemas.openxmlformats.org/presentationml/2006/main">
  <p:tag name="KSO_WM_DIAGRAM_VIRTUALLY_FRAME" val="{&quot;height&quot;:397.12503937007875,&quot;left&quot;:87.62503937007874,&quot;top&quot;:83.5,&quot;width&quot;:715.5}"/>
</p:tagLst>
</file>

<file path=ppt/tags/tag7.xml><?xml version="1.0" encoding="utf-8"?>
<p:tagLst xmlns:p="http://schemas.openxmlformats.org/presentationml/2006/main">
  <p:tag name="KSO_WM_DIAGRAM_VIRTUALLY_FRAME" val="{&quot;height&quot;:397.12503937007875,&quot;left&quot;:87.62503937007874,&quot;top&quot;:83.5,&quot;width&quot;:715.5}"/>
</p:tagLst>
</file>

<file path=ppt/tags/tag8.xml><?xml version="1.0" encoding="utf-8"?>
<p:tagLst xmlns:p="http://schemas.openxmlformats.org/presentationml/2006/main">
  <p:tag name="KSO_WM_DIAGRAM_VIRTUALLY_FRAME" val="{&quot;height&quot;:397.12503937007875,&quot;left&quot;:87.62503937007874,&quot;top&quot;:83.5,&quot;width&quot;:715.5}"/>
</p:tagLst>
</file>

<file path=ppt/tags/tag9.xml><?xml version="1.0" encoding="utf-8"?>
<p:tagLst xmlns:p="http://schemas.openxmlformats.org/presentationml/2006/main">
  <p:tag name="KSO_WM_DIAGRAM_VIRTUALLY_FRAME" val="{&quot;height&quot;:397.12503937007875,&quot;left&quot;:87.62503937007874,&quot;top&quot;:83.5,&quot;width&quot;:715.5}"/>
</p:tagLst>
</file>

<file path=ppt/tags/tag10.xml><?xml version="1.0" encoding="utf-8"?>
<p:tagLst xmlns:p="http://schemas.openxmlformats.org/presentationml/2006/main">
  <p:tag name="KSO_WM_DIAGRAM_VIRTUALLY_FRAME" val="{&quot;height&quot;:397.12503937007875,&quot;left&quot;:87.62503937007874,&quot;top&quot;:83.5,&quot;width&quot;:715.5}"/>
</p:tagLst>
</file>

<file path=ppt/tags/tag11.xml><?xml version="1.0" encoding="utf-8"?>
<p:tagLst xmlns:p="http://schemas.openxmlformats.org/presentationml/2006/main">
  <p:tag name="KSO_WM_DIAGRAM_VIRTUALLY_FRAME" val="{&quot;height&quot;:397.12503937007875,&quot;left&quot;:87.62503937007874,&quot;top&quot;:83.5,&quot;width&quot;:715.5}"/>
</p:tagLst>
</file>

<file path=ppt/tags/tag12.xml><?xml version="1.0" encoding="utf-8"?>
<p:tagLst xmlns:p="http://schemas.openxmlformats.org/presentationml/2006/main">
  <p:tag name="KSO_WM_DIAGRAM_VIRTUALLY_FRAME" val="{&quot;height&quot;:397.12503937007875,&quot;left&quot;:87.62503937007874,&quot;top&quot;:83.5,&quot;width&quot;:715.5}"/>
</p:tagLst>
</file>

<file path=ppt/tags/tag13.xml><?xml version="1.0" encoding="utf-8"?>
<p:tagLst xmlns:p="http://schemas.openxmlformats.org/presentationml/2006/main">
  <p:tag name="KSO_WM_DIAGRAM_VIRTUALLY_FRAME" val="{&quot;height&quot;:397.12503937007875,&quot;left&quot;:87.62503937007874,&quot;top&quot;:83.5,&quot;width&quot;:715.5}"/>
</p:tagLst>
</file>

<file path=ppt/theme/theme1.xml><?xml version="1.0" encoding="utf-8"?>
<a:theme xmlns:a="http://schemas.openxmlformats.org/drawingml/2006/main" name="1">
  <a:themeElements>
    <a:clrScheme name="">
      <a:dk1>
        <a:srgbClr val="004C54"/>
      </a:dk1>
      <a:lt1>
        <a:srgbClr val="009EB0"/>
      </a:lt1>
      <a:dk2>
        <a:srgbClr val="DDDDDD"/>
      </a:dk2>
      <a:lt2>
        <a:srgbClr val="808080"/>
      </a:lt2>
      <a:accent1>
        <a:srgbClr val="292929"/>
      </a:accent1>
      <a:accent2>
        <a:srgbClr val="FFFFFF"/>
      </a:accent2>
      <a:accent3>
        <a:srgbClr val="AACCD4"/>
      </a:accent3>
      <a:accent4>
        <a:srgbClr val="004046"/>
      </a:accent4>
      <a:accent5>
        <a:srgbClr val="ACACAC"/>
      </a:accent5>
      <a:accent6>
        <a:srgbClr val="E7E7E7"/>
      </a:accent6>
      <a:hlink>
        <a:srgbClr val="B3B3B3"/>
      </a:hlink>
      <a:folHlink>
        <a:srgbClr val="404040"/>
      </a:folHlink>
    </a:clrScheme>
    <a:fontScheme name="2_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2_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
  <a:themeElements>
    <a:clrScheme name="">
      <a:dk1>
        <a:srgbClr val="004C54"/>
      </a:dk1>
      <a:lt1>
        <a:srgbClr val="009EB0"/>
      </a:lt1>
      <a:dk2>
        <a:srgbClr val="DDDDDD"/>
      </a:dk2>
      <a:lt2>
        <a:srgbClr val="808080"/>
      </a:lt2>
      <a:accent1>
        <a:srgbClr val="292929"/>
      </a:accent1>
      <a:accent2>
        <a:srgbClr val="FFFFFF"/>
      </a:accent2>
      <a:accent3>
        <a:srgbClr val="AACCD4"/>
      </a:accent3>
      <a:accent4>
        <a:srgbClr val="004046"/>
      </a:accent4>
      <a:accent5>
        <a:srgbClr val="ACACAC"/>
      </a:accent5>
      <a:accent6>
        <a:srgbClr val="E7E7E7"/>
      </a:accent6>
      <a:hlink>
        <a:srgbClr val="B3B3B3"/>
      </a:hlink>
      <a:folHlink>
        <a:srgbClr val="404040"/>
      </a:folHlink>
    </a:clrScheme>
    <a:fontScheme name="3_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3_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3_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5007</Words>
  <Application>WPS 演示</Application>
  <PresentationFormat>自定义</PresentationFormat>
  <Paragraphs>248</Paragraphs>
  <Slides>41</Slides>
  <Notes>2</Notes>
  <HiddenSlides>0</HiddenSlides>
  <MMClips>0</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41</vt:i4>
      </vt:variant>
    </vt:vector>
  </HeadingPairs>
  <TitlesOfParts>
    <vt:vector size="60" baseType="lpstr">
      <vt:lpstr>Arial</vt:lpstr>
      <vt:lpstr>宋体</vt:lpstr>
      <vt:lpstr>Wingdings</vt:lpstr>
      <vt:lpstr>微软雅黑</vt:lpstr>
      <vt:lpstr>仿宋_GB2312</vt:lpstr>
      <vt:lpstr>仿宋</vt:lpstr>
      <vt:lpstr>Calibri</vt:lpstr>
      <vt:lpstr>Arial Unicode MS</vt:lpstr>
      <vt:lpstr>仿宋_GB2312</vt:lpstr>
      <vt:lpstr>Open Sans</vt:lpstr>
      <vt:lpstr>Segoe Print</vt:lpstr>
      <vt:lpstr>Open Sans</vt:lpstr>
      <vt:lpstr>方正仿宋_GB2312</vt:lpstr>
      <vt:lpstr>quote-cjk-patch</vt:lpstr>
      <vt:lpstr>quote-cjk-patch</vt:lpstr>
      <vt:lpstr>Cambria Math</vt:lpstr>
      <vt:lpstr>Arial</vt:lpstr>
      <vt:lpstr>1</vt:lpstr>
      <vt:lpstr>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1</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dc:title>
  <dc:creator/>
  <dc:description>1</dc:description>
  <dc:subject>1</dc:subject>
  <cp:lastModifiedBy>徐凯威</cp:lastModifiedBy>
  <cp:revision>248</cp:revision>
  <dcterms:created xsi:type="dcterms:W3CDTF">2013-01-25T01:44:00Z</dcterms:created>
  <dcterms:modified xsi:type="dcterms:W3CDTF">2026-05-15T09:01:05Z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974AFFEDE18946F3BD69BC07C6E5EC81_13</vt:lpwstr>
  </property>
</Properties>
</file>