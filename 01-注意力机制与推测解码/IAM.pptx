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804" r:id="rId4"/>
    <p:sldId id="805" r:id="rId6"/>
    <p:sldId id="745" r:id="rId7"/>
    <p:sldId id="806" r:id="rId8"/>
    <p:sldId id="807" r:id="rId9"/>
    <p:sldId id="783" r:id="rId10"/>
    <p:sldId id="808" r:id="rId11"/>
    <p:sldId id="809" r:id="rId12"/>
    <p:sldId id="810" r:id="rId13"/>
    <p:sldId id="811" r:id="rId14"/>
    <p:sldId id="812" r:id="rId15"/>
    <p:sldId id="776" r:id="rId16"/>
    <p:sldId id="813" r:id="rId17"/>
    <p:sldId id="814" r:id="rId18"/>
    <p:sldId id="815" r:id="rId19"/>
    <p:sldId id="816" r:id="rId20"/>
    <p:sldId id="817" r:id="rId21"/>
    <p:sldId id="818" r:id="rId22"/>
    <p:sldId id="819" r:id="rId23"/>
    <p:sldId id="820" r:id="rId24"/>
    <p:sldId id="821" r:id="rId25"/>
    <p:sldId id="822" r:id="rId26"/>
    <p:sldId id="823" r:id="rId27"/>
    <p:sldId id="824" r:id="rId28"/>
    <p:sldId id="825" r:id="rId29"/>
    <p:sldId id="827" r:id="rId30"/>
    <p:sldId id="828" r:id="rId31"/>
    <p:sldId id="829" r:id="rId32"/>
    <p:sldId id="830" r:id="rId33"/>
    <p:sldId id="831" r:id="rId34"/>
    <p:sldId id="832" r:id="rId35"/>
    <p:sldId id="833" r:id="rId36"/>
    <p:sldId id="834" r:id="rId37"/>
    <p:sldId id="835" r:id="rId38"/>
    <p:sldId id="836" r:id="rId39"/>
    <p:sldId id="803" r:id="rId40"/>
  </p:sldIdLst>
  <p:sldSz cx="12196445"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60" userDrawn="1">
          <p15:clr>
            <a:srgbClr val="A4A3A4"/>
          </p15:clr>
        </p15:guide>
        <p15:guide id="2" pos="38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113E6A"/>
    <a:srgbClr val="006BBC"/>
    <a:srgbClr val="363636"/>
    <a:srgbClr val="FAFAFA"/>
    <a:srgbClr val="0F3D68"/>
    <a:srgbClr val="003366"/>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7" autoAdjust="0"/>
    <p:restoredTop sz="94660"/>
  </p:normalViewPr>
  <p:slideViewPr>
    <p:cSldViewPr snapToObjects="1" showGuides="1">
      <p:cViewPr varScale="1">
        <p:scale>
          <a:sx n="88" d="100"/>
          <a:sy n="88" d="100"/>
        </p:scale>
        <p:origin x="120" y="360"/>
      </p:cViewPr>
      <p:guideLst>
        <p:guide orient="horz" pos="2160"/>
        <p:guide pos="38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fontAlgn="base">
              <a:buChar char="•"/>
            </a:pPr>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3074"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4098"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矩形 5"/>
          <p:cNvSpPr>
            <a:spLocks noChangeArrowheads="1"/>
          </p:cNvSpPr>
          <p:nvPr/>
        </p:nvSpPr>
        <p:spPr bwMode="auto">
          <a:xfrm>
            <a:off x="5522913" y="0"/>
            <a:ext cx="6673850" cy="6858000"/>
          </a:xfrm>
          <a:prstGeom prst="rect">
            <a:avLst/>
          </a:prstGeom>
          <a:solidFill>
            <a:srgbClr val="F8F8F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print"/>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1027"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cstate="prin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TextBox 4"/>
          <p:cNvSpPr txBox="1"/>
          <p:nvPr/>
        </p:nvSpPr>
        <p:spPr>
          <a:xfrm>
            <a:off x="11609388" y="6410325"/>
            <a:ext cx="436562" cy="339725"/>
          </a:xfrm>
          <a:prstGeom prst="rect">
            <a:avLst/>
          </a:prstGeom>
          <a:noFill/>
          <a:ln w="9525">
            <a:noFill/>
          </a:ln>
        </p:spPr>
        <p:txBody>
          <a:bodyPr wrap="none" anchor="t">
            <a:spAutoFit/>
          </a:bodyPr>
          <a:lstStyle/>
          <a:p>
            <a:pPr lvl="0" indent="0" algn="ctr"/>
            <a:fld id="{9A0DB2DC-4C9A-4742-B13C-FB6460FD3503}" type="slidenum">
              <a:rPr lang="zh-CN" altLang="en-US" sz="1600" dirty="0">
                <a:solidFill>
                  <a:schemeClr val="accent2"/>
                </a:solidFill>
                <a:latin typeface="Arial" panose="020B0604020202020204" pitchFamily="34" charset="0"/>
                <a:ea typeface="宋体" panose="02010600030101010101" pitchFamily="2" charset="-122"/>
              </a:rPr>
            </a:fld>
            <a:endParaRPr lang="zh-CN" altLang="en-US" sz="1600" dirty="0">
              <a:solidFill>
                <a:schemeClr val="accent2"/>
              </a:solidFill>
              <a:latin typeface="Arial" panose="020B0604020202020204" pitchFamily="34" charset="0"/>
              <a:ea typeface="宋体" panose="02010600030101010101" pitchFamily="2" charset="-122"/>
            </a:endParaRPr>
          </a:p>
        </p:txBody>
      </p:sp>
      <p:sp>
        <p:nvSpPr>
          <p:cNvPr id="2052"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53"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
        <p:nvSpPr>
          <p:cNvPr id="2054" name="矩形 1"/>
          <p:cNvSpPr>
            <a:spLocks noChangeArrowheads="1"/>
          </p:cNvSpPr>
          <p:nvPr/>
        </p:nvSpPr>
        <p:spPr bwMode="auto">
          <a:xfrm>
            <a:off x="0" y="6713538"/>
            <a:ext cx="12196763" cy="144463"/>
          </a:xfrm>
          <a:prstGeom prst="rect">
            <a:avLst/>
          </a:prstGeom>
          <a:solidFill>
            <a:srgbClr val="0F3D68"/>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Lst>
  </p:timing>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19.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35.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1" Type="http://schemas.openxmlformats.org/officeDocument/2006/relationships/slideLayout" Target="../slideLayouts/slideLayout19.xml"/><Relationship Id="rId10" Type="http://schemas.openxmlformats.org/officeDocument/2006/relationships/tags" Target="../tags/tag22.xml"/><Relationship Id="rId1" Type="http://schemas.openxmlformats.org/officeDocument/2006/relationships/tags" Target="../tags/tag1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200" b="1" dirty="0">
                <a:solidFill>
                  <a:schemeClr val="accent2"/>
                </a:solidFill>
                <a:latin typeface="微软雅黑" panose="020B0503020204020204" pitchFamily="34" charset="-122"/>
                <a:ea typeface="微软雅黑" panose="020B0503020204020204" pitchFamily="34" charset="-122"/>
              </a:rPr>
              <a:t>IAM: Efficient Inference through Attention Mapping between Different-scale LLMs</a:t>
            </a:r>
            <a:endParaRPr lang="en-US" altLang="zh-CN" sz="32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sz="1800"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
        <p:nvSpPr>
          <p:cNvPr id="3" name="文本框 2"/>
          <p:cNvSpPr txBox="1"/>
          <p:nvPr/>
        </p:nvSpPr>
        <p:spPr>
          <a:xfrm>
            <a:off x="6702425" y="3694430"/>
            <a:ext cx="3771900" cy="2199005"/>
          </a:xfrm>
          <a:prstGeom prst="rect">
            <a:avLst/>
          </a:prstGeom>
          <a:noFill/>
        </p:spPr>
        <p:txBody>
          <a:bodyPr wrap="square" rtlCol="0">
            <a:noAutofit/>
          </a:bodyPr>
          <a:p>
            <a:pPr algn="r">
              <a:lnSpc>
                <a:spcPct val="150000"/>
              </a:lnSpc>
            </a:pPr>
            <a:r>
              <a:rPr lang="en-US" altLang="zh-CN" sz="1800" b="1">
                <a:solidFill>
                  <a:schemeClr val="accent2"/>
                </a:solidFill>
              </a:rPr>
              <a:t>ACL 2025</a:t>
            </a:r>
            <a:endParaRPr lang="en-US" altLang="zh-CN" sz="1800" b="1">
              <a:solidFill>
                <a:schemeClr val="accent2"/>
              </a:solidFill>
            </a:endParaRPr>
          </a:p>
          <a:p>
            <a:pPr algn="r">
              <a:lnSpc>
                <a:spcPct val="150000"/>
              </a:lnSpc>
            </a:pPr>
            <a:r>
              <a:rPr lang="en-US" altLang="zh-CN" sz="1800" b="1">
                <a:solidFill>
                  <a:schemeClr val="accent2"/>
                </a:solidFill>
              </a:rPr>
              <a:t>2025.7</a:t>
            </a:r>
            <a:endParaRPr lang="en-US" altLang="zh-CN" sz="1800" b="1">
              <a:solidFill>
                <a:schemeClr val="accent2"/>
              </a:solidFill>
            </a:endParaRPr>
          </a:p>
          <a:p>
            <a:pPr algn="r">
              <a:lnSpc>
                <a:spcPct val="150000"/>
              </a:lnSpc>
            </a:pPr>
            <a:endParaRPr lang="zh-CN" altLang="en-US" sz="1600" b="1" dirty="0">
              <a:solidFill>
                <a:schemeClr val="accent2"/>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88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200" b="1" dirty="0">
                <a:solidFill>
                  <a:schemeClr val="accent2"/>
                </a:solidFill>
                <a:latin typeface="微软雅黑" panose="020B0503020204020204" pitchFamily="34" charset="-122"/>
                <a:ea typeface="微软雅黑" panose="020B0503020204020204" pitchFamily="34" charset="-122"/>
              </a:rPr>
              <a:t>IAM: Efficient Inference through Attention Mapping between Different-scale LLMs</a:t>
            </a:r>
            <a:endParaRPr lang="en-US" altLang="zh-CN" sz="32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sz="1800"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pic>
        <p:nvPicPr>
          <p:cNvPr id="4" name="图片 3"/>
          <p:cNvPicPr/>
          <p:nvPr/>
        </p:nvPicPr>
        <p:blipFill>
          <a:blip r:embed="rId3"/>
          <a:stretch>
            <a:fillRect/>
          </a:stretch>
        </p:blipFill>
        <p:spPr>
          <a:xfrm>
            <a:off x="2569845" y="3789045"/>
            <a:ext cx="7282815" cy="2313940"/>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88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024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0243" name="Freeform 11"/>
          <p:cNvSpPr>
            <a:spLocks noEditPoints="1"/>
          </p:cNvSpPr>
          <p:nvPr/>
        </p:nvSpPr>
        <p:spPr>
          <a:xfrm>
            <a:off x="5595938" y="936625"/>
            <a:ext cx="1152525" cy="121761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ln>
        </p:spPr>
        <p:txBody>
          <a:bodyPr/>
          <a:lstStyle/>
          <a:p>
            <a:endParaRPr lang="zh-CN" altLang="en-US"/>
          </a:p>
        </p:txBody>
      </p:sp>
      <p:sp>
        <p:nvSpPr>
          <p:cNvPr id="10244"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0245" name="TextBox 77"/>
          <p:cNvSpPr txBox="1"/>
          <p:nvPr/>
        </p:nvSpPr>
        <p:spPr>
          <a:xfrm>
            <a:off x="4548188" y="3068638"/>
            <a:ext cx="3168650" cy="768350"/>
          </a:xfrm>
          <a:prstGeom prst="rect">
            <a:avLst/>
          </a:prstGeom>
          <a:noFill/>
          <a:ln w="9525">
            <a:noFill/>
          </a:ln>
        </p:spPr>
        <p:txBody>
          <a:bodyPr anchor="t">
            <a:spAutoFit/>
          </a:bodyPr>
          <a:lstStyle/>
          <a:p>
            <a:pPr algn="ctr"/>
            <a:r>
              <a:rPr lang="zh-CN" altLang="zh-CN" sz="4400" b="1" dirty="0">
                <a:solidFill>
                  <a:srgbClr val="363636"/>
                </a:solidFill>
                <a:latin typeface="微软雅黑" panose="020B0503020204020204" pitchFamily="34" charset="-122"/>
                <a:ea typeface="微软雅黑" panose="020B0503020204020204" pitchFamily="34" charset="-122"/>
              </a:rPr>
              <a:t>摘要</a:t>
            </a:r>
            <a:endParaRPr lang="zh-CN" altLang="zh-CN" sz="4400" b="1" dirty="0">
              <a:solidFill>
                <a:srgbClr val="363636"/>
              </a:solidFill>
              <a:latin typeface="微软雅黑" panose="020B0503020204020204" pitchFamily="34" charset="-122"/>
              <a:ea typeface="微软雅黑" panose="020B0503020204020204" pitchFamily="34" charset="-122"/>
            </a:endParaRPr>
          </a:p>
        </p:txBody>
      </p:sp>
      <p:sp>
        <p:nvSpPr>
          <p:cNvPr id="10246"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1</a:t>
            </a:r>
            <a:endParaRPr lang="zh-CN" altLang="en-US" sz="2600" dirty="0">
              <a:solidFill>
                <a:srgbClr val="363636"/>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5" grpId="0"/>
      <p:bldP spid="102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298450" y="1682750"/>
            <a:ext cx="3575050" cy="4467225"/>
          </a:xfrm>
          <a:prstGeom prst="rect">
            <a:avLst/>
          </a:prstGeom>
          <a:noFill/>
          <a:ln w="9525">
            <a:noFill/>
          </a:ln>
        </p:spPr>
      </p:pic>
      <p:sp>
        <p:nvSpPr>
          <p:cNvPr id="2" name="文本框 1"/>
          <p:cNvSpPr txBox="1"/>
          <p:nvPr/>
        </p:nvSpPr>
        <p:spPr>
          <a:xfrm>
            <a:off x="4309745" y="1196340"/>
            <a:ext cx="7241540" cy="258445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大模型极长的上下文带来巨大的计算和内存消耗。为解决这一问题并实现高效推理，目前提出了优化模型架构、提示压缩以及 KV 缓存优化等方法。然而，这些方法主要注重于大语言模型自身的稀疏性，未利用外部信息来辅助优化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298450" y="1682750"/>
            <a:ext cx="3575050" cy="4467225"/>
          </a:xfrm>
          <a:prstGeom prst="rect">
            <a:avLst/>
          </a:prstGeom>
          <a:noFill/>
          <a:ln w="9525">
            <a:noFill/>
          </a:ln>
        </p:spPr>
      </p:pic>
      <p:sp>
        <p:nvSpPr>
          <p:cNvPr id="2" name="文本框 1"/>
          <p:cNvSpPr txBox="1"/>
          <p:nvPr/>
        </p:nvSpPr>
        <p:spPr>
          <a:xfrm>
            <a:off x="4309745" y="1196340"/>
            <a:ext cx="7241540" cy="258445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本文提出了</a:t>
            </a:r>
            <a:r>
              <a:rPr lang="en-US" altLang="zh-CN" sz="1800" dirty="0">
                <a:solidFill>
                  <a:schemeClr val="accent1"/>
                </a:solidFill>
                <a:latin typeface="微软雅黑" panose="020B0503020204020204" pitchFamily="34" charset="-122"/>
                <a:ea typeface="微软雅黑" panose="020B0503020204020204" pitchFamily="34" charset="-122"/>
                <a:cs typeface="+mn-ea"/>
              </a:rPr>
              <a:t> IAM </a:t>
            </a:r>
            <a:r>
              <a:rPr lang="zh-CN" altLang="en-US" sz="1800" dirty="0">
                <a:solidFill>
                  <a:schemeClr val="accent1"/>
                </a:solidFill>
                <a:latin typeface="微软雅黑" panose="020B0503020204020204" pitchFamily="34" charset="-122"/>
                <a:ea typeface="微软雅黑" panose="020B0503020204020204" pitchFamily="34" charset="-122"/>
                <a:cs typeface="+mn-ea"/>
              </a:rPr>
              <a:t>框架，通过在小模型与大模型之间进行注意力映射，加速了注意力计算并减少了</a:t>
            </a:r>
            <a:r>
              <a:rPr lang="en-US" altLang="zh-CN" sz="1800" dirty="0">
                <a:solidFill>
                  <a:schemeClr val="accent1"/>
                </a:solidFill>
                <a:latin typeface="微软雅黑" panose="020B0503020204020204" pitchFamily="34" charset="-122"/>
                <a:ea typeface="微软雅黑" panose="020B0503020204020204" pitchFamily="34" charset="-122"/>
                <a:cs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缓存使用</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实验结果表明，</a:t>
            </a:r>
            <a:r>
              <a:rPr lang="en-US" altLang="zh-CN" sz="1800" dirty="0">
                <a:solidFill>
                  <a:schemeClr val="accent1"/>
                </a:solidFill>
                <a:latin typeface="微软雅黑" panose="020B0503020204020204" pitchFamily="34" charset="-122"/>
                <a:ea typeface="微软雅黑" panose="020B0503020204020204" pitchFamily="34" charset="-122"/>
                <a:cs typeface="+mn-ea"/>
              </a:rPr>
              <a:t>IAM </a:t>
            </a:r>
            <a:r>
              <a:rPr lang="zh-CN" altLang="en-US" sz="1800" dirty="0">
                <a:solidFill>
                  <a:schemeClr val="accent1"/>
                </a:solidFill>
                <a:latin typeface="微软雅黑" panose="020B0503020204020204" pitchFamily="34" charset="-122"/>
                <a:ea typeface="微软雅黑" panose="020B0503020204020204" pitchFamily="34" charset="-122"/>
                <a:cs typeface="+mn-ea"/>
              </a:rPr>
              <a:t>能够在不明显牺牲性能的前提下，将预填充速度提升</a:t>
            </a:r>
            <a:r>
              <a:rPr lang="en-US" altLang="zh-CN" sz="1800" dirty="0">
                <a:solidFill>
                  <a:schemeClr val="accent1"/>
                </a:solidFill>
                <a:latin typeface="微软雅黑" panose="020B0503020204020204" pitchFamily="34" charset="-122"/>
                <a:ea typeface="微软雅黑" panose="020B0503020204020204" pitchFamily="34" charset="-122"/>
                <a:cs typeface="+mn-ea"/>
              </a:rPr>
              <a:t> 15%</a:t>
            </a:r>
            <a:r>
              <a:rPr lang="zh-CN" altLang="en-US" sz="1800" dirty="0">
                <a:solidFill>
                  <a:schemeClr val="accent1"/>
                </a:solidFill>
                <a:latin typeface="微软雅黑" panose="020B0503020204020204" pitchFamily="34" charset="-122"/>
                <a:ea typeface="微软雅黑" panose="020B0503020204020204" pitchFamily="34" charset="-122"/>
                <a:cs typeface="+mn-ea"/>
              </a:rPr>
              <a:t>，</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缓存使用量降低</a:t>
            </a:r>
            <a:r>
              <a:rPr lang="en-US" altLang="zh-CN" sz="1800" dirty="0">
                <a:solidFill>
                  <a:schemeClr val="accent1"/>
                </a:solidFill>
                <a:latin typeface="微软雅黑" panose="020B0503020204020204" pitchFamily="34" charset="-122"/>
                <a:ea typeface="微软雅黑" panose="020B0503020204020204" pitchFamily="34" charset="-122"/>
                <a:cs typeface="+mn-ea"/>
              </a:rPr>
              <a:t> 22.1%</a:t>
            </a:r>
            <a:r>
              <a:rPr lang="zh-CN" altLang="en-US" sz="1800" dirty="0">
                <a:solidFill>
                  <a:schemeClr val="accent1"/>
                </a:solidFill>
                <a:latin typeface="微软雅黑" panose="020B0503020204020204" pitchFamily="34" charset="-122"/>
                <a:ea typeface="微软雅黑" panose="020B0503020204020204" pitchFamily="34" charset="-122"/>
                <a:cs typeface="+mn-ea"/>
              </a:rPr>
              <a:t>。在不同系列模型上的实验验证了</a:t>
            </a:r>
            <a:r>
              <a:rPr lang="en-US" altLang="zh-CN" sz="1800" dirty="0">
                <a:solidFill>
                  <a:schemeClr val="accent1"/>
                </a:solidFill>
                <a:latin typeface="微软雅黑" panose="020B0503020204020204" pitchFamily="34" charset="-122"/>
                <a:ea typeface="微软雅黑" panose="020B0503020204020204" pitchFamily="34" charset="-122"/>
                <a:cs typeface="+mn-ea"/>
              </a:rPr>
              <a:t> IAM </a:t>
            </a:r>
            <a:r>
              <a:rPr lang="zh-CN" altLang="en-US" sz="1800" dirty="0">
                <a:solidFill>
                  <a:schemeClr val="accent1"/>
                </a:solidFill>
                <a:latin typeface="微软雅黑" panose="020B0503020204020204" pitchFamily="34" charset="-122"/>
                <a:ea typeface="微软雅黑" panose="020B0503020204020204" pitchFamily="34" charset="-122"/>
                <a:cs typeface="+mn-ea"/>
              </a:rPr>
              <a:t>的泛化能力</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7410"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1741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741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背景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741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2</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17422" name="Freeform 13"/>
          <p:cNvSpPr>
            <a:spLocks noEditPoints="1"/>
          </p:cNvSpPr>
          <p:nvPr/>
        </p:nvSpPr>
        <p:spPr>
          <a:xfrm>
            <a:off x="5441950" y="830263"/>
            <a:ext cx="1489075" cy="1398587"/>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ln>
        </p:spPr>
        <p:txBody>
          <a:bodyPr/>
          <a:lstStyle/>
          <a:p>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17412" grpId="0"/>
      <p:bldP spid="174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背景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1057910" y="1124585"/>
            <a:ext cx="10539730" cy="258445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大模型处理长上下文的需求显著增加。自注意力机制会存储之前</a:t>
            </a:r>
            <a:r>
              <a:rPr lang="en-US" altLang="zh-CN" sz="1800" dirty="0">
                <a:solidFill>
                  <a:schemeClr val="accent1"/>
                </a:solidFill>
                <a:latin typeface="微软雅黑" panose="020B0503020204020204" pitchFamily="34" charset="-122"/>
                <a:ea typeface="微软雅黑" panose="020B0503020204020204" pitchFamily="34" charset="-122"/>
                <a:cs typeface="+mn-ea"/>
              </a:rPr>
              <a:t> 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的</a:t>
            </a:r>
            <a:r>
              <a:rPr lang="en-US" altLang="zh-CN" sz="1800" dirty="0">
                <a:solidFill>
                  <a:schemeClr val="accent1"/>
                </a:solidFill>
                <a:latin typeface="微软雅黑" panose="020B0503020204020204" pitchFamily="34" charset="-122"/>
                <a:ea typeface="微软雅黑" panose="020B0503020204020204" pitchFamily="34" charset="-122"/>
                <a:cs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rPr>
              <a:t>状态以避免重复计算。然而，</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缓存随序列长度线性增长，导致</a:t>
            </a:r>
            <a:r>
              <a:rPr lang="en-US" altLang="zh-CN" sz="1800" dirty="0">
                <a:solidFill>
                  <a:schemeClr val="accent1"/>
                </a:solidFill>
                <a:latin typeface="微软雅黑" panose="020B0503020204020204" pitchFamily="34" charset="-122"/>
                <a:ea typeface="微软雅黑" panose="020B0503020204020204" pitchFamily="34" charset="-122"/>
                <a:cs typeface="+mn-ea"/>
              </a:rPr>
              <a:t> GPU </a:t>
            </a:r>
            <a:r>
              <a:rPr lang="zh-CN" altLang="en-US" sz="1800" dirty="0">
                <a:solidFill>
                  <a:schemeClr val="accent1"/>
                </a:solidFill>
                <a:latin typeface="微软雅黑" panose="020B0503020204020204" pitchFamily="34" charset="-122"/>
                <a:ea typeface="微软雅黑" panose="020B0503020204020204" pitchFamily="34" charset="-122"/>
                <a:cs typeface="+mn-ea"/>
              </a:rPr>
              <a:t>显存和内存带宽成为瓶颈，既限制了可处理的上下文长度，也降低了解码吞吐量</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一类方法注重在有限硬件条件下高效存储和传输大量</a:t>
            </a:r>
            <a:r>
              <a:rPr lang="en-US" altLang="zh-CN" sz="1800" dirty="0">
                <a:solidFill>
                  <a:schemeClr val="accent1"/>
                </a:solidFill>
                <a:latin typeface="微软雅黑" panose="020B0503020204020204" pitchFamily="34" charset="-122"/>
                <a:ea typeface="微软雅黑" panose="020B0503020204020204" pitchFamily="34" charset="-122"/>
                <a:cs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缓存。如张量并行、</a:t>
            </a:r>
            <a:r>
              <a:rPr lang="en-US" altLang="zh-CN" sz="1800" dirty="0">
                <a:solidFill>
                  <a:schemeClr val="accent1"/>
                </a:solidFill>
                <a:latin typeface="微软雅黑" panose="020B0503020204020204" pitchFamily="34" charset="-122"/>
                <a:ea typeface="微软雅黑" panose="020B0503020204020204" pitchFamily="34" charset="-122"/>
                <a:cs typeface="+mn-ea"/>
              </a:rPr>
              <a:t>FlashAttention</a:t>
            </a:r>
            <a:r>
              <a:rPr lang="zh-CN" altLang="en-US" sz="1800" dirty="0">
                <a:solidFill>
                  <a:schemeClr val="accent1"/>
                </a:solidFill>
                <a:latin typeface="微软雅黑" panose="020B0503020204020204" pitchFamily="34" charset="-122"/>
                <a:ea typeface="微软雅黑" panose="020B0503020204020204" pitchFamily="34" charset="-122"/>
                <a:cs typeface="+mn-ea"/>
              </a:rPr>
              <a:t>、</a:t>
            </a:r>
            <a:r>
              <a:rPr lang="en-US" altLang="zh-CN" sz="1800" dirty="0">
                <a:solidFill>
                  <a:schemeClr val="accent1"/>
                </a:solidFill>
                <a:latin typeface="微软雅黑" panose="020B0503020204020204" pitchFamily="34" charset="-122"/>
                <a:ea typeface="微软雅黑" panose="020B0503020204020204" pitchFamily="34" charset="-122"/>
                <a:cs typeface="+mn-ea"/>
              </a:rPr>
              <a:t>PagedAttention</a:t>
            </a:r>
            <a:r>
              <a:rPr lang="zh-CN" altLang="en-US" sz="1800" dirty="0">
                <a:solidFill>
                  <a:schemeClr val="accent1"/>
                </a:solidFill>
                <a:latin typeface="微软雅黑" panose="020B0503020204020204" pitchFamily="34" charset="-122"/>
                <a:ea typeface="微软雅黑" panose="020B0503020204020204" pitchFamily="34" charset="-122"/>
                <a:cs typeface="+mn-ea"/>
              </a:rPr>
              <a:t>等方法。但他们仅优化硬件与存储，未从算法层面减少</a:t>
            </a:r>
            <a:r>
              <a:rPr lang="en-US" altLang="zh-CN" sz="1800" dirty="0">
                <a:solidFill>
                  <a:schemeClr val="accent1"/>
                </a:solidFill>
                <a:latin typeface="微软雅黑" panose="020B0503020204020204" pitchFamily="34" charset="-122"/>
                <a:ea typeface="微软雅黑" panose="020B0503020204020204" pitchFamily="34" charset="-122"/>
                <a:cs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背景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1057910" y="1124585"/>
            <a:ext cx="10539730" cy="258445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大模型处理长上下文的需求显著增加。自注意力机制会存储之前</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token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的</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状态以避免重复计算。然而，</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缓存随序列长度线性增长，导致</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GPU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显存和内存带宽成为瓶颈，既限制了可处理的上下文长度，也降低了解码吞吐量</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另一类方法注重利用注意力机制内部的相似性和稀疏性。如</a:t>
            </a:r>
            <a:r>
              <a:rPr lang="en-US" altLang="zh-CN" sz="1800" dirty="0">
                <a:solidFill>
                  <a:schemeClr val="accent1"/>
                </a:solidFill>
                <a:latin typeface="微软雅黑" panose="020B0503020204020204" pitchFamily="34" charset="-122"/>
                <a:ea typeface="微软雅黑" panose="020B0503020204020204" pitchFamily="34" charset="-122"/>
                <a:cs typeface="+mn-ea"/>
              </a:rPr>
              <a:t>KVQuant</a:t>
            </a:r>
            <a:r>
              <a:rPr lang="zh-CN" altLang="en-US" sz="1800" dirty="0">
                <a:solidFill>
                  <a:schemeClr val="accent1"/>
                </a:solidFill>
                <a:latin typeface="微软雅黑" panose="020B0503020204020204" pitchFamily="34" charset="-122"/>
                <a:ea typeface="微软雅黑" panose="020B0503020204020204" pitchFamily="34" charset="-122"/>
                <a:cs typeface="+mn-ea"/>
              </a:rPr>
              <a:t>、</a:t>
            </a:r>
            <a:r>
              <a:rPr lang="en-US" altLang="zh-CN" sz="1800" dirty="0">
                <a:solidFill>
                  <a:schemeClr val="accent1"/>
                </a:solidFill>
                <a:latin typeface="微软雅黑" panose="020B0503020204020204" pitchFamily="34" charset="-122"/>
                <a:ea typeface="微软雅黑" panose="020B0503020204020204" pitchFamily="34" charset="-122"/>
                <a:cs typeface="+mn-ea"/>
              </a:rPr>
              <a:t>StreamingLLM</a:t>
            </a:r>
            <a:r>
              <a:rPr lang="zh-CN" altLang="en-US" sz="1800" dirty="0">
                <a:solidFill>
                  <a:schemeClr val="accent1"/>
                </a:solidFill>
                <a:latin typeface="微软雅黑" panose="020B0503020204020204" pitchFamily="34" charset="-122"/>
                <a:ea typeface="微软雅黑" panose="020B0503020204020204" pitchFamily="34" charset="-122"/>
                <a:cs typeface="+mn-ea"/>
              </a:rPr>
              <a:t>、</a:t>
            </a:r>
            <a:r>
              <a:rPr lang="en-US" altLang="zh-CN" sz="1800" dirty="0">
                <a:solidFill>
                  <a:schemeClr val="accent1"/>
                </a:solidFill>
                <a:latin typeface="微软雅黑" panose="020B0503020204020204" pitchFamily="34" charset="-122"/>
                <a:ea typeface="微软雅黑" panose="020B0503020204020204" pitchFamily="34" charset="-122"/>
                <a:cs typeface="+mn-ea"/>
              </a:rPr>
              <a:t>H</a:t>
            </a:r>
            <a:r>
              <a:rPr lang="en-US" altLang="en-US" sz="1800" dirty="0">
                <a:solidFill>
                  <a:schemeClr val="accent1"/>
                </a:solidFill>
                <a:latin typeface="微软雅黑" panose="020B0503020204020204" pitchFamily="34" charset="-122"/>
                <a:ea typeface="微软雅黑" panose="020B0503020204020204" pitchFamily="34" charset="-122"/>
                <a:cs typeface="+mn-ea"/>
              </a:rPr>
              <a:t>₂</a:t>
            </a:r>
            <a:r>
              <a:rPr lang="en-US" altLang="zh-CN" sz="1800" dirty="0">
                <a:solidFill>
                  <a:schemeClr val="accent1"/>
                </a:solidFill>
                <a:latin typeface="微软雅黑" panose="020B0503020204020204" pitchFamily="34" charset="-122"/>
                <a:ea typeface="微软雅黑" panose="020B0503020204020204" pitchFamily="34" charset="-122"/>
                <a:cs typeface="+mn-ea"/>
              </a:rPr>
              <a:t>O</a:t>
            </a:r>
            <a:r>
              <a:rPr lang="zh-CN" altLang="en-US" sz="1800" dirty="0">
                <a:solidFill>
                  <a:schemeClr val="accent1"/>
                </a:solidFill>
                <a:latin typeface="微软雅黑" panose="020B0503020204020204" pitchFamily="34" charset="-122"/>
                <a:ea typeface="微软雅黑" panose="020B0503020204020204" pitchFamily="34" charset="-122"/>
                <a:cs typeface="+mn-ea"/>
              </a:rPr>
              <a:t>。但这种方法仅依赖模型自身特性，未引入外部信息</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背景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1057910" y="1124585"/>
            <a:ext cx="10539730" cy="299974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还有一些关于推测解码的工作，其采用小语言模型作为草稿模型，然后由大语言模型验证是否采纳其预测。但这些方法侧重于概率分布对齐，与</a:t>
            </a:r>
            <a:r>
              <a:rPr lang="en-US" altLang="zh-CN" sz="1800" dirty="0">
                <a:solidFill>
                  <a:schemeClr val="accent1"/>
                </a:solidFill>
                <a:latin typeface="微软雅黑" panose="020B0503020204020204" pitchFamily="34" charset="-122"/>
                <a:ea typeface="微软雅黑" panose="020B0503020204020204" pitchFamily="34" charset="-122"/>
                <a:cs typeface="+mn-ea"/>
              </a:rPr>
              <a:t> IAM </a:t>
            </a:r>
            <a:r>
              <a:rPr lang="zh-CN" altLang="en-US" sz="1800" dirty="0">
                <a:solidFill>
                  <a:schemeClr val="accent1"/>
                </a:solidFill>
                <a:latin typeface="微软雅黑" panose="020B0503020204020204" pitchFamily="34" charset="-122"/>
                <a:ea typeface="微软雅黑" panose="020B0503020204020204" pitchFamily="34" charset="-122"/>
                <a:cs typeface="+mn-ea"/>
              </a:rPr>
              <a:t>机制不同</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IAM</a:t>
            </a:r>
            <a:r>
              <a:rPr lang="zh-CN" altLang="en-US" sz="1800" dirty="0">
                <a:solidFill>
                  <a:schemeClr val="accent1"/>
                </a:solidFill>
                <a:latin typeface="微软雅黑" panose="020B0503020204020204" pitchFamily="34" charset="-122"/>
                <a:ea typeface="微软雅黑" panose="020B0503020204020204" pitchFamily="34" charset="-122"/>
                <a:cs typeface="+mn-ea"/>
              </a:rPr>
              <a:t>利用小语言模型的注意力矩阵，加速注意力计算并减少</a:t>
            </a:r>
            <a:r>
              <a:rPr lang="en-US" altLang="zh-CN" sz="1800" dirty="0">
                <a:solidFill>
                  <a:schemeClr val="accent1"/>
                </a:solidFill>
                <a:latin typeface="微软雅黑" panose="020B0503020204020204" pitchFamily="34" charset="-122"/>
                <a:ea typeface="微软雅黑" panose="020B0503020204020204" pitchFamily="34" charset="-122"/>
                <a:cs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缓存占用，可与大多数现有</a:t>
            </a:r>
            <a:r>
              <a:rPr lang="en-US" altLang="zh-CN" sz="1800" dirty="0">
                <a:solidFill>
                  <a:schemeClr val="accent1"/>
                </a:solidFill>
                <a:latin typeface="微软雅黑" panose="020B0503020204020204" pitchFamily="34" charset="-122"/>
                <a:ea typeface="微软雅黑" panose="020B0503020204020204" pitchFamily="34" charset="-122"/>
                <a:cs typeface="+mn-ea"/>
              </a:rPr>
              <a:t> 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缓存优化方法叠加使用</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2530"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2253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253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关键技术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253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3</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2534" name="Freeform 12"/>
          <p:cNvSpPr>
            <a:spLocks noEditPoints="1"/>
          </p:cNvSpPr>
          <p:nvPr/>
        </p:nvSpPr>
        <p:spPr>
          <a:xfrm>
            <a:off x="5340350" y="798513"/>
            <a:ext cx="1517650" cy="14636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ln>
        </p:spPr>
        <p:txBody>
          <a:bodyPr/>
          <a:lstStyle/>
          <a:p>
            <a:endParaRPr lang="zh-CN" altLang="en-US" sz="180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ldLvl="0" animBg="1"/>
      <p:bldP spid="22532" grpId="0"/>
      <p:bldP spid="225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3230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相似性的度量方法</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9" name="文本框 8"/>
          <p:cNvSpPr txBox="1"/>
          <p:nvPr/>
        </p:nvSpPr>
        <p:spPr>
          <a:xfrm>
            <a:off x="1101090" y="1052830"/>
            <a:ext cx="9993630" cy="6012180"/>
          </a:xfrm>
          <a:prstGeom prst="rect">
            <a:avLst/>
          </a:prstGeom>
        </p:spPr>
        <p:txBody>
          <a:bodyPr>
            <a:noAutofit/>
          </a:bodyPr>
          <a:p>
            <a:pPr marL="0" indent="0">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余弦相似度：</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闵可夫斯基距离：</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皮尔逊相关系数：</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pic>
        <p:nvPicPr>
          <p:cNvPr id="10" name="图片 9"/>
          <p:cNvPicPr/>
          <p:nvPr/>
        </p:nvPicPr>
        <p:blipFill>
          <a:blip r:embed="rId1"/>
          <a:stretch>
            <a:fillRect/>
          </a:stretch>
        </p:blipFill>
        <p:spPr>
          <a:xfrm>
            <a:off x="4010025" y="1052830"/>
            <a:ext cx="3583305" cy="880745"/>
          </a:xfrm>
          <a:prstGeom prst="rect">
            <a:avLst/>
          </a:prstGeom>
        </p:spPr>
      </p:pic>
      <p:pic>
        <p:nvPicPr>
          <p:cNvPr id="11" name="图片 10"/>
          <p:cNvPicPr/>
          <p:nvPr/>
        </p:nvPicPr>
        <p:blipFill>
          <a:blip r:embed="rId2"/>
          <a:stretch>
            <a:fillRect/>
          </a:stretch>
        </p:blipFill>
        <p:spPr>
          <a:xfrm>
            <a:off x="4010025" y="2564765"/>
            <a:ext cx="4813935" cy="1435100"/>
          </a:xfrm>
          <a:prstGeom prst="rect">
            <a:avLst/>
          </a:prstGeom>
        </p:spPr>
      </p:pic>
      <p:pic>
        <p:nvPicPr>
          <p:cNvPr id="12" name="图片 11"/>
          <p:cNvPicPr/>
          <p:nvPr/>
        </p:nvPicPr>
        <p:blipFill>
          <a:blip r:embed="rId3"/>
          <a:stretch>
            <a:fillRect/>
          </a:stretch>
        </p:blipFill>
        <p:spPr>
          <a:xfrm>
            <a:off x="3865880" y="4797425"/>
            <a:ext cx="6031865" cy="119634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3230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sym typeface="+mn-ea"/>
              </a:rPr>
              <a:t>相似性的度量方法</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pic>
        <p:nvPicPr>
          <p:cNvPr id="2" name="图片 1"/>
          <p:cNvPicPr>
            <a:picLocks noChangeAspect="1"/>
          </p:cNvPicPr>
          <p:nvPr/>
        </p:nvPicPr>
        <p:blipFill>
          <a:blip r:embed="rId1"/>
          <a:stretch>
            <a:fillRect/>
          </a:stretch>
        </p:blipFill>
        <p:spPr>
          <a:xfrm>
            <a:off x="6890385" y="781050"/>
            <a:ext cx="5029835" cy="3933825"/>
          </a:xfrm>
          <a:prstGeom prst="rect">
            <a:avLst/>
          </a:prstGeom>
        </p:spPr>
      </p:pic>
      <p:sp>
        <p:nvSpPr>
          <p:cNvPr id="3" name="文本框 2"/>
          <p:cNvSpPr txBox="1"/>
          <p:nvPr/>
        </p:nvSpPr>
        <p:spPr>
          <a:xfrm>
            <a:off x="697865" y="1124585"/>
            <a:ext cx="6049645" cy="516763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将 Qwen2-72B 作为目标大语言模型，将两个不同规模的小语言模型 Qwen2-0.5B 和 Qwen2-7B作为注意力映射的源，在 WikiText-v2 上测量使用不同相似度度量进行注意力映射后大语言模型的对数困惑度</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3230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sym typeface="+mn-ea"/>
              </a:rPr>
              <a:t>相似性的度量方法</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2" name="图片 1"/>
          <p:cNvPicPr>
            <a:picLocks noChangeAspect="1"/>
          </p:cNvPicPr>
          <p:nvPr/>
        </p:nvPicPr>
        <p:blipFill>
          <a:blip r:embed="rId1"/>
          <a:stretch>
            <a:fillRect/>
          </a:stretch>
        </p:blipFill>
        <p:spPr>
          <a:xfrm>
            <a:off x="6890385" y="781050"/>
            <a:ext cx="5029835" cy="3933825"/>
          </a:xfrm>
          <a:prstGeom prst="rect">
            <a:avLst/>
          </a:prstGeom>
        </p:spPr>
      </p:pic>
      <p:sp>
        <p:nvSpPr>
          <p:cNvPr id="3" name="文本框 2"/>
          <p:cNvSpPr txBox="1"/>
          <p:nvPr/>
        </p:nvSpPr>
        <p:spPr>
          <a:xfrm>
            <a:off x="697865" y="1124585"/>
            <a:ext cx="6049645" cy="516763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从实验结果可以看出，对于这两种映射，余弦相似度均取得了最佳性能。</a:t>
            </a:r>
            <a:r>
              <a:rPr lang="en-US" altLang="zh-CN" sz="1800" dirty="0">
                <a:solidFill>
                  <a:schemeClr val="accent1"/>
                </a:solidFill>
                <a:latin typeface="微软雅黑" panose="020B0503020204020204" pitchFamily="34" charset="-122"/>
                <a:ea typeface="微软雅黑" panose="020B0503020204020204" pitchFamily="34" charset="-122"/>
                <a:cs typeface="+mn-ea"/>
              </a:rPr>
              <a:t>p=1 </a:t>
            </a:r>
            <a:r>
              <a:rPr lang="zh-CN" altLang="en-US" sz="1800" dirty="0">
                <a:solidFill>
                  <a:schemeClr val="accent1"/>
                </a:solidFill>
                <a:latin typeface="微软雅黑" panose="020B0503020204020204" pitchFamily="34" charset="-122"/>
                <a:ea typeface="微软雅黑" panose="020B0503020204020204" pitchFamily="34" charset="-122"/>
                <a:cs typeface="+mn-ea"/>
              </a:rPr>
              <a:t>的闵可夫斯基距离表现也接近最佳指标</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我们还尝试在用余弦相似度选择映射矩阵后，对</a:t>
            </a:r>
            <a:r>
              <a:rPr lang="en-US" altLang="zh-CN" sz="1800" dirty="0">
                <a:solidFill>
                  <a:schemeClr val="accent1"/>
                </a:solidFill>
                <a:latin typeface="微软雅黑" panose="020B0503020204020204" pitchFamily="34" charset="-122"/>
                <a:ea typeface="微软雅黑" panose="020B0503020204020204" pitchFamily="34" charset="-122"/>
                <a:cs typeface="+mn-ea"/>
              </a:rPr>
              <a:t> L2 </a:t>
            </a:r>
            <a:r>
              <a:rPr lang="zh-CN" altLang="en-US" sz="1800" dirty="0">
                <a:solidFill>
                  <a:schemeClr val="accent1"/>
                </a:solidFill>
                <a:latin typeface="微软雅黑" panose="020B0503020204020204" pitchFamily="34" charset="-122"/>
                <a:ea typeface="微软雅黑" panose="020B0503020204020204" pitchFamily="34" charset="-122"/>
                <a:cs typeface="+mn-ea"/>
              </a:rPr>
              <a:t>范数的差异进行补偿。这种方法并没有显著提升余弦相似度的性能，且增加推理过程中映射的复杂性。最终选择余弦相似度作为相似度度量</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2087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映射哪些层</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697865" y="1124585"/>
            <a:ext cx="6049645" cy="516763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使用包含</a:t>
            </a:r>
            <a:r>
              <a:rPr lang="en-US" altLang="zh-CN" sz="1800" dirty="0">
                <a:solidFill>
                  <a:schemeClr val="accent1"/>
                </a:solidFill>
                <a:latin typeface="微软雅黑" panose="020B0503020204020204" pitchFamily="34" charset="-122"/>
                <a:ea typeface="微软雅黑" panose="020B0503020204020204" pitchFamily="34" charset="-122"/>
                <a:cs typeface="+mn-ea"/>
              </a:rPr>
              <a:t> 80 </a:t>
            </a:r>
            <a:r>
              <a:rPr lang="zh-CN" altLang="en-US" sz="1800" dirty="0">
                <a:solidFill>
                  <a:schemeClr val="accent1"/>
                </a:solidFill>
                <a:latin typeface="微软雅黑" panose="020B0503020204020204" pitchFamily="34" charset="-122"/>
                <a:ea typeface="微软雅黑" panose="020B0503020204020204" pitchFamily="34" charset="-122"/>
                <a:cs typeface="+mn-ea"/>
              </a:rPr>
              <a:t>个</a:t>
            </a:r>
            <a:r>
              <a:rPr lang="en-US" altLang="zh-CN" sz="1800" dirty="0">
                <a:solidFill>
                  <a:schemeClr val="accent1"/>
                </a:solidFill>
                <a:latin typeface="微软雅黑" panose="020B0503020204020204" pitchFamily="34" charset="-122"/>
                <a:ea typeface="微软雅黑" panose="020B0503020204020204" pitchFamily="34" charset="-122"/>
                <a:cs typeface="+mn-ea"/>
              </a:rPr>
              <a:t> Transformer </a:t>
            </a:r>
            <a:r>
              <a:rPr lang="zh-CN" altLang="en-US" sz="1800" dirty="0">
                <a:solidFill>
                  <a:schemeClr val="accent1"/>
                </a:solidFill>
                <a:latin typeface="微软雅黑" panose="020B0503020204020204" pitchFamily="34" charset="-122"/>
                <a:ea typeface="微软雅黑" panose="020B0503020204020204" pitchFamily="34" charset="-122"/>
                <a:cs typeface="+mn-ea"/>
              </a:rPr>
              <a:t>层的</a:t>
            </a:r>
            <a:r>
              <a:rPr lang="en-US" altLang="zh-CN" sz="1800" dirty="0">
                <a:solidFill>
                  <a:schemeClr val="accent1"/>
                </a:solidFill>
                <a:latin typeface="微软雅黑" panose="020B0503020204020204" pitchFamily="34" charset="-122"/>
                <a:ea typeface="微软雅黑" panose="020B0503020204020204" pitchFamily="34" charset="-122"/>
                <a:cs typeface="+mn-ea"/>
              </a:rPr>
              <a:t> Qwen2-72B </a:t>
            </a:r>
            <a:r>
              <a:rPr lang="zh-CN" altLang="en-US" sz="1800" dirty="0">
                <a:solidFill>
                  <a:schemeClr val="accent1"/>
                </a:solidFill>
                <a:latin typeface="微软雅黑" panose="020B0503020204020204" pitchFamily="34" charset="-122"/>
                <a:ea typeface="微软雅黑" panose="020B0503020204020204" pitchFamily="34" charset="-122"/>
                <a:cs typeface="+mn-ea"/>
              </a:rPr>
              <a:t>作为目标大语言模型。将这些层划分为</a:t>
            </a:r>
            <a:r>
              <a:rPr lang="en-US" altLang="zh-CN" sz="1800" dirty="0">
                <a:solidFill>
                  <a:schemeClr val="accent1"/>
                </a:solidFill>
                <a:latin typeface="微软雅黑" panose="020B0503020204020204" pitchFamily="34" charset="-122"/>
                <a:ea typeface="微软雅黑" panose="020B0503020204020204" pitchFamily="34" charset="-122"/>
                <a:cs typeface="+mn-ea"/>
              </a:rPr>
              <a:t> 10 </a:t>
            </a:r>
            <a:r>
              <a:rPr lang="zh-CN" altLang="en-US" sz="1800" dirty="0">
                <a:solidFill>
                  <a:schemeClr val="accent1"/>
                </a:solidFill>
                <a:latin typeface="微软雅黑" panose="020B0503020204020204" pitchFamily="34" charset="-122"/>
                <a:ea typeface="微软雅黑" panose="020B0503020204020204" pitchFamily="34" charset="-122"/>
                <a:cs typeface="+mn-ea"/>
              </a:rPr>
              <a:t>个子块（每个子块</a:t>
            </a:r>
            <a:r>
              <a:rPr lang="en-US" altLang="zh-CN" sz="1800" dirty="0">
                <a:solidFill>
                  <a:schemeClr val="accent1"/>
                </a:solidFill>
                <a:latin typeface="微软雅黑" panose="020B0503020204020204" pitchFamily="34" charset="-122"/>
                <a:ea typeface="微软雅黑" panose="020B0503020204020204" pitchFamily="34" charset="-122"/>
                <a:cs typeface="+mn-ea"/>
              </a:rPr>
              <a:t> 8 </a:t>
            </a:r>
            <a:r>
              <a:rPr lang="zh-CN" altLang="en-US" sz="1800" dirty="0">
                <a:solidFill>
                  <a:schemeClr val="accent1"/>
                </a:solidFill>
                <a:latin typeface="微软雅黑" panose="020B0503020204020204" pitchFamily="34" charset="-122"/>
                <a:ea typeface="微软雅黑" panose="020B0503020204020204" pitchFamily="34" charset="-122"/>
                <a:cs typeface="+mn-ea"/>
              </a:rPr>
              <a:t>层），并依次对这些子块进行映射，然后使用</a:t>
            </a:r>
            <a:r>
              <a:rPr lang="en-US" altLang="zh-CN" sz="1800" dirty="0">
                <a:solidFill>
                  <a:schemeClr val="accent1"/>
                </a:solidFill>
                <a:latin typeface="微软雅黑" panose="020B0503020204020204" pitchFamily="34" charset="-122"/>
                <a:ea typeface="微软雅黑" panose="020B0503020204020204" pitchFamily="34" charset="-122"/>
                <a:cs typeface="+mn-ea"/>
              </a:rPr>
              <a:t> MMLU </a:t>
            </a:r>
            <a:r>
              <a:rPr lang="zh-CN" altLang="en-US" sz="1800" dirty="0">
                <a:solidFill>
                  <a:schemeClr val="accent1"/>
                </a:solidFill>
                <a:latin typeface="微软雅黑" panose="020B0503020204020204" pitchFamily="34" charset="-122"/>
                <a:ea typeface="微软雅黑" panose="020B0503020204020204" pitchFamily="34" charset="-122"/>
                <a:cs typeface="+mn-ea"/>
              </a:rPr>
              <a:t>基准（</a:t>
            </a:r>
            <a:r>
              <a:rPr lang="en-US" altLang="zh-CN" sz="1800" dirty="0">
                <a:solidFill>
                  <a:schemeClr val="accent1"/>
                </a:solidFill>
                <a:latin typeface="微软雅黑" panose="020B0503020204020204" pitchFamily="34" charset="-122"/>
                <a:ea typeface="微软雅黑" panose="020B0503020204020204" pitchFamily="34" charset="-122"/>
                <a:cs typeface="+mn-ea"/>
              </a:rPr>
              <a:t>57</a:t>
            </a:r>
            <a:r>
              <a:rPr lang="zh-CN" altLang="en-US" sz="1800" dirty="0">
                <a:solidFill>
                  <a:schemeClr val="accent1"/>
                </a:solidFill>
                <a:latin typeface="微软雅黑" panose="020B0503020204020204" pitchFamily="34" charset="-122"/>
                <a:ea typeface="微软雅黑" panose="020B0503020204020204" pitchFamily="34" charset="-122"/>
                <a:cs typeface="+mn-ea"/>
              </a:rPr>
              <a:t>个学科、约</a:t>
            </a:r>
            <a:r>
              <a:rPr lang="en-US" altLang="zh-CN" sz="1800" dirty="0">
                <a:solidFill>
                  <a:schemeClr val="accent1"/>
                </a:solidFill>
                <a:latin typeface="微软雅黑" panose="020B0503020204020204" pitchFamily="34" charset="-122"/>
                <a:ea typeface="微软雅黑" panose="020B0503020204020204" pitchFamily="34" charset="-122"/>
                <a:cs typeface="+mn-ea"/>
              </a:rPr>
              <a:t>1.6</a:t>
            </a:r>
            <a:r>
              <a:rPr lang="zh-CN" altLang="en-US" sz="1800" dirty="0">
                <a:solidFill>
                  <a:schemeClr val="accent1"/>
                </a:solidFill>
                <a:latin typeface="微软雅黑" panose="020B0503020204020204" pitchFamily="34" charset="-122"/>
                <a:ea typeface="微软雅黑" panose="020B0503020204020204" pitchFamily="34" charset="-122"/>
                <a:cs typeface="+mn-ea"/>
              </a:rPr>
              <a:t>万道选择题</a:t>
            </a:r>
            <a:r>
              <a:rPr lang="zh-CN" altLang="en-US" sz="1800" dirty="0">
                <a:solidFill>
                  <a:schemeClr val="accent1"/>
                </a:solidFill>
                <a:latin typeface="微软雅黑" panose="020B0503020204020204" pitchFamily="34" charset="-122"/>
                <a:ea typeface="微软雅黑" panose="020B0503020204020204" pitchFamily="34" charset="-122"/>
                <a:cs typeface="+mn-ea"/>
              </a:rPr>
              <a:t>）评估其性能</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a:stretch>
            <a:fillRect/>
          </a:stretch>
        </p:blipFill>
        <p:spPr>
          <a:xfrm>
            <a:off x="6962775" y="729615"/>
            <a:ext cx="4732020" cy="380619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2087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映射哪些层</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697865" y="1124585"/>
            <a:ext cx="6049645" cy="516763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实验结果表明，</a:t>
            </a:r>
            <a:r>
              <a:rPr lang="en-US" altLang="zh-CN" sz="1800" dirty="0">
                <a:solidFill>
                  <a:schemeClr val="accent1"/>
                </a:solidFill>
                <a:latin typeface="微软雅黑" panose="020B0503020204020204" pitchFamily="34" charset="-122"/>
                <a:ea typeface="微软雅黑" panose="020B0503020204020204" pitchFamily="34" charset="-122"/>
                <a:cs typeface="+mn-ea"/>
              </a:rPr>
              <a:t>Qwen2 </a:t>
            </a:r>
            <a:r>
              <a:rPr lang="zh-CN" altLang="en-US" sz="1800" dirty="0">
                <a:solidFill>
                  <a:schemeClr val="accent1"/>
                </a:solidFill>
                <a:latin typeface="微软雅黑" panose="020B0503020204020204" pitchFamily="34" charset="-122"/>
                <a:ea typeface="微软雅黑" panose="020B0503020204020204" pitchFamily="34" charset="-122"/>
                <a:cs typeface="+mn-ea"/>
              </a:rPr>
              <a:t>模型架构中存在两个最优映射区域：最后两个子块（第</a:t>
            </a:r>
            <a:r>
              <a:rPr lang="en-US" altLang="zh-CN" sz="1800" dirty="0">
                <a:solidFill>
                  <a:schemeClr val="accent1"/>
                </a:solidFill>
                <a:latin typeface="微软雅黑" panose="020B0503020204020204" pitchFamily="34" charset="-122"/>
                <a:ea typeface="微软雅黑" panose="020B0503020204020204" pitchFamily="34" charset="-122"/>
                <a:cs typeface="+mn-ea"/>
              </a:rPr>
              <a:t> 64-80 </a:t>
            </a:r>
            <a:r>
              <a:rPr lang="zh-CN" altLang="en-US" sz="1800" dirty="0">
                <a:solidFill>
                  <a:schemeClr val="accent1"/>
                </a:solidFill>
                <a:latin typeface="微软雅黑" panose="020B0503020204020204" pitchFamily="34" charset="-122"/>
                <a:ea typeface="微软雅黑" panose="020B0503020204020204" pitchFamily="34" charset="-122"/>
                <a:cs typeface="+mn-ea"/>
              </a:rPr>
              <a:t>层）、第</a:t>
            </a:r>
            <a:r>
              <a:rPr lang="en-US" altLang="zh-CN" sz="1800" dirty="0">
                <a:solidFill>
                  <a:schemeClr val="accent1"/>
                </a:solidFill>
                <a:latin typeface="微软雅黑" panose="020B0503020204020204" pitchFamily="34" charset="-122"/>
                <a:ea typeface="微软雅黑" panose="020B0503020204020204" pitchFamily="34" charset="-122"/>
                <a:cs typeface="+mn-ea"/>
              </a:rPr>
              <a:t> 2 </a:t>
            </a:r>
            <a:r>
              <a:rPr lang="zh-CN" altLang="en-US" sz="1800" dirty="0">
                <a:solidFill>
                  <a:schemeClr val="accent1"/>
                </a:solidFill>
                <a:latin typeface="微软雅黑" panose="020B0503020204020204" pitchFamily="34" charset="-122"/>
                <a:ea typeface="微软雅黑" panose="020B0503020204020204" pitchFamily="34" charset="-122"/>
                <a:cs typeface="+mn-ea"/>
              </a:rPr>
              <a:t>至第</a:t>
            </a:r>
            <a:r>
              <a:rPr lang="en-US" altLang="zh-CN" sz="1800" dirty="0">
                <a:solidFill>
                  <a:schemeClr val="accent1"/>
                </a:solidFill>
                <a:latin typeface="微软雅黑" panose="020B0503020204020204" pitchFamily="34" charset="-122"/>
                <a:ea typeface="微软雅黑" panose="020B0503020204020204" pitchFamily="34" charset="-122"/>
                <a:cs typeface="+mn-ea"/>
              </a:rPr>
              <a:t> 4 </a:t>
            </a:r>
            <a:r>
              <a:rPr lang="zh-CN" altLang="en-US" sz="1800" dirty="0">
                <a:solidFill>
                  <a:schemeClr val="accent1"/>
                </a:solidFill>
                <a:latin typeface="微软雅黑" panose="020B0503020204020204" pitchFamily="34" charset="-122"/>
                <a:ea typeface="微软雅黑" panose="020B0503020204020204" pitchFamily="34" charset="-122"/>
                <a:cs typeface="+mn-ea"/>
              </a:rPr>
              <a:t>子块（第</a:t>
            </a:r>
            <a:r>
              <a:rPr lang="en-US" altLang="zh-CN" sz="1800" dirty="0">
                <a:solidFill>
                  <a:schemeClr val="accent1"/>
                </a:solidFill>
                <a:latin typeface="微软雅黑" panose="020B0503020204020204" pitchFamily="34" charset="-122"/>
                <a:ea typeface="微软雅黑" panose="020B0503020204020204" pitchFamily="34" charset="-122"/>
                <a:cs typeface="+mn-ea"/>
              </a:rPr>
              <a:t> 16-40 </a:t>
            </a:r>
            <a:r>
              <a:rPr lang="zh-CN" altLang="en-US" sz="1800" dirty="0">
                <a:solidFill>
                  <a:schemeClr val="accent1"/>
                </a:solidFill>
                <a:latin typeface="微软雅黑" panose="020B0503020204020204" pitchFamily="34" charset="-122"/>
                <a:ea typeface="微软雅黑" panose="020B0503020204020204" pitchFamily="34" charset="-122"/>
                <a:cs typeface="+mn-ea"/>
              </a:rPr>
              <a:t>层）。这些区域在进行注意力映射后，性能仍与原始模型相当</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a:stretch>
            <a:fillRect/>
          </a:stretch>
        </p:blipFill>
        <p:spPr>
          <a:xfrm>
            <a:off x="6962775" y="729615"/>
            <a:ext cx="4732020" cy="380619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3230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映射策略的有效性</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553720" y="1196975"/>
            <a:ext cx="10901680" cy="1729740"/>
          </a:xfrm>
          <a:prstGeom prst="rect">
            <a:avLst/>
          </a:prstGeom>
        </p:spPr>
      </p:pic>
      <p:sp>
        <p:nvSpPr>
          <p:cNvPr id="5" name="文本框 4"/>
          <p:cNvSpPr txBox="1"/>
          <p:nvPr/>
        </p:nvSpPr>
        <p:spPr>
          <a:xfrm>
            <a:off x="697865" y="3213100"/>
            <a:ext cx="10756900" cy="1803400"/>
          </a:xfrm>
          <a:prstGeom prst="rect">
            <a:avLst/>
          </a:prstGeom>
          <a:noFill/>
        </p:spPr>
        <p:txBody>
          <a:bodyPr wrap="square" rtlCol="0">
            <a:noAutofit/>
          </a:bodyPr>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文章还检验了映射策略在其他任务上的有效性：</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语言建模：在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WikiText-v2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语言建模数据集上测量困惑度</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问答任务：在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HotpotQA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多跳推理问答数据集</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上评估</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F1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分数</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长文本摘要：在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GovReport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数据集（美国政府长篇报告摘要数据集）上评估</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ROUGE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分数</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可以看出，不同子块映射在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MMLU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任务上的结果与其他任务上的结果表现出很强的相似性，它们之间的皮尔逊相关系数很高</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映射策略</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5" name="文本框 4"/>
          <p:cNvSpPr txBox="1"/>
          <p:nvPr/>
        </p:nvSpPr>
        <p:spPr>
          <a:xfrm>
            <a:off x="626110" y="1052830"/>
            <a:ext cx="10756900" cy="180340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基于这些观察，</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Qwen2-72B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采用以下映射策略：</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根据用户指定的映射比例，首先从模型的最后一层开始向前逐层映射，直至第</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64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如果仍未达到指定映射比例，则从第</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16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层继续向前映射，直到满足要求</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864360"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 IAM</a:t>
            </a:r>
            <a:r>
              <a:rPr lang="zh-CN" altLang="en-US" sz="3000" b="1" dirty="0">
                <a:solidFill>
                  <a:schemeClr val="accent1"/>
                </a:solidFill>
                <a:latin typeface="微软雅黑" panose="020B0503020204020204" pitchFamily="34" charset="-122"/>
                <a:ea typeface="微软雅黑" panose="020B0503020204020204" pitchFamily="34" charset="-122"/>
              </a:rPr>
              <a:t>框架</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5" name="文本框 4"/>
          <p:cNvSpPr txBox="1"/>
          <p:nvPr/>
        </p:nvSpPr>
        <p:spPr>
          <a:xfrm>
            <a:off x="626110" y="1052830"/>
            <a:ext cx="10756900" cy="1803400"/>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p:nvPr/>
        </p:nvPicPr>
        <p:blipFill>
          <a:blip r:embed="rId1"/>
          <a:stretch>
            <a:fillRect/>
          </a:stretch>
        </p:blipFill>
        <p:spPr>
          <a:xfrm>
            <a:off x="3938270" y="548640"/>
            <a:ext cx="7835265" cy="5015230"/>
          </a:xfrm>
          <a:prstGeom prst="rect">
            <a:avLst/>
          </a:prstGeom>
        </p:spPr>
      </p:pic>
      <p:sp>
        <p:nvSpPr>
          <p:cNvPr id="4" name="文本框 3"/>
          <p:cNvSpPr txBox="1"/>
          <p:nvPr/>
        </p:nvSpPr>
        <p:spPr>
          <a:xfrm>
            <a:off x="337820" y="1268730"/>
            <a:ext cx="3361055" cy="2301240"/>
          </a:xfrm>
          <a:prstGeom prst="rect">
            <a:avLst/>
          </a:prstGeom>
          <a:noFill/>
        </p:spPr>
        <p:txBody>
          <a:bodyPr wrap="square" rtlCol="0">
            <a:noAutofit/>
          </a:bodyPr>
          <a:p>
            <a:pPr>
              <a:lnSpc>
                <a:spcPct val="150000"/>
              </a:lnSpc>
            </a:pP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首先在预填充阶段建立映射。给定一个大语言模型和一个小语言模型</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首先通过两个模型，分别获得注意力矩阵</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864360"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 IAM</a:t>
            </a:r>
            <a:r>
              <a:rPr lang="zh-CN" altLang="en-US" sz="3000" b="1" dirty="0">
                <a:solidFill>
                  <a:schemeClr val="accent1"/>
                </a:solidFill>
                <a:latin typeface="微软雅黑" panose="020B0503020204020204" pitchFamily="34" charset="-122"/>
                <a:ea typeface="微软雅黑" panose="020B0503020204020204" pitchFamily="34" charset="-122"/>
              </a:rPr>
              <a:t>框架</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5" name="文本框 4"/>
          <p:cNvSpPr txBox="1"/>
          <p:nvPr/>
        </p:nvSpPr>
        <p:spPr>
          <a:xfrm>
            <a:off x="626110" y="1052830"/>
            <a:ext cx="10756900" cy="1803400"/>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37820" y="1268730"/>
            <a:ext cx="3361055" cy="2301240"/>
          </a:xfrm>
          <a:prstGeom prst="rect">
            <a:avLst/>
          </a:prstGeom>
          <a:noFill/>
        </p:spPr>
        <p:txBody>
          <a:bodyPr wrap="square" rtlCol="0">
            <a:noAutofit/>
          </a:bodyPr>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551940" y="1196975"/>
            <a:ext cx="8905240" cy="326453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864360"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 IAM</a:t>
            </a:r>
            <a:r>
              <a:rPr lang="zh-CN" altLang="en-US" sz="3000" b="1" dirty="0">
                <a:solidFill>
                  <a:schemeClr val="accent1"/>
                </a:solidFill>
                <a:latin typeface="微软雅黑" panose="020B0503020204020204" pitchFamily="34" charset="-122"/>
                <a:ea typeface="微软雅黑" panose="020B0503020204020204" pitchFamily="34" charset="-122"/>
              </a:rPr>
              <a:t>框架</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5" name="文本框 4"/>
          <p:cNvSpPr txBox="1"/>
          <p:nvPr/>
        </p:nvSpPr>
        <p:spPr>
          <a:xfrm>
            <a:off x="626110" y="1052830"/>
            <a:ext cx="10756900" cy="1803400"/>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633855" y="1052830"/>
            <a:ext cx="9743440" cy="504253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最后，映射函数通过下式得到：</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在解码阶段，</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利用已建立的映射</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f(i)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执行注意力映射，可表示为：</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最终，基于</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的模型前向过程可表示为</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p:nvPr/>
        </p:nvPicPr>
        <p:blipFill>
          <a:blip r:embed="rId1"/>
          <a:stretch>
            <a:fillRect/>
          </a:stretch>
        </p:blipFill>
        <p:spPr>
          <a:xfrm>
            <a:off x="4904740" y="1724025"/>
            <a:ext cx="3101340" cy="859155"/>
          </a:xfrm>
          <a:prstGeom prst="rect">
            <a:avLst/>
          </a:prstGeom>
        </p:spPr>
      </p:pic>
      <p:pic>
        <p:nvPicPr>
          <p:cNvPr id="7" name="图片 6"/>
          <p:cNvPicPr/>
          <p:nvPr/>
        </p:nvPicPr>
        <p:blipFill>
          <a:blip r:embed="rId2"/>
          <a:stretch>
            <a:fillRect/>
          </a:stretch>
        </p:blipFill>
        <p:spPr>
          <a:xfrm>
            <a:off x="5446395" y="3429000"/>
            <a:ext cx="1609725" cy="762000"/>
          </a:xfrm>
          <a:prstGeom prst="rect">
            <a:avLst/>
          </a:prstGeom>
        </p:spPr>
      </p:pic>
      <p:pic>
        <p:nvPicPr>
          <p:cNvPr id="8" name="图片 7"/>
          <p:cNvPicPr/>
          <p:nvPr/>
        </p:nvPicPr>
        <p:blipFill>
          <a:blip r:embed="rId3"/>
          <a:stretch>
            <a:fillRect/>
          </a:stretch>
        </p:blipFill>
        <p:spPr>
          <a:xfrm>
            <a:off x="4370070" y="5036820"/>
            <a:ext cx="4509770" cy="66484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864360"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 IAM</a:t>
            </a:r>
            <a:r>
              <a:rPr lang="zh-CN" altLang="en-US" sz="3000" b="1" dirty="0">
                <a:solidFill>
                  <a:schemeClr val="accent1"/>
                </a:solidFill>
                <a:latin typeface="微软雅黑" panose="020B0503020204020204" pitchFamily="34" charset="-122"/>
                <a:ea typeface="微软雅黑" panose="020B0503020204020204" pitchFamily="34" charset="-122"/>
              </a:rPr>
              <a:t>框架</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052830"/>
            <a:ext cx="10021570" cy="437324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建立 IAM 框架后，我们</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使用 Alpaca 数据集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52,000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条</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指令</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输入</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输出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格式的样本）进行指令微调，以缓解注意力矩阵差异带来的性能下降。</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在前向传播时，被映射的层直接使用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SLM</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算好的对应矩阵。反向传播时仅更新</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SLM</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的参数，</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的参数在此过程中保持冻结</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为防止因</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prompt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过短导致预填充阶段建立的映射不稳定，我们采用了延迟建立机制。即只有当前面</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的数量</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N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超过指定阈值时，才开始建立映射。类似地，对于长上下文场景，我们在计算相似度时对序列进行截断，以避免高维数据带来的不准确性</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6626"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26627"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6628"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优点和</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局限性</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6629"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4</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6630" name="Freeform 11"/>
          <p:cNvSpPr>
            <a:spLocks noEditPoints="1"/>
          </p:cNvSpPr>
          <p:nvPr/>
        </p:nvSpPr>
        <p:spPr>
          <a:xfrm>
            <a:off x="5354638" y="850900"/>
            <a:ext cx="1489075" cy="12874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ln>
        </p:spPr>
        <p:txBody>
          <a:bodyPr/>
          <a:lstStyle/>
          <a:p>
            <a:endParaRPr lang="zh-CN" altLang="en-US" sz="1800"/>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ldLvl="0" animBg="1"/>
      <p:bldP spid="26628" grpId="0"/>
      <p:bldP spid="266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实验设置</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10021570" cy="5585460"/>
          </a:xfrm>
          <a:prstGeom prst="rect">
            <a:avLst/>
          </a:prstGeom>
          <a:noFill/>
        </p:spPr>
        <p:txBody>
          <a:bodyPr wrap="square" rtlCol="0">
            <a:noAutofit/>
          </a:bodyPr>
          <a:p>
            <a:pPr>
              <a:lnSpc>
                <a:spcPct val="150000"/>
              </a:lnSpc>
            </a:pPr>
            <a:r>
              <a:rPr lang="zh-CN" altLang="en-US" sz="1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数据集</a:t>
            </a:r>
            <a:endParaRPr lang="en-US" altLang="zh-CN" sz="1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我们从四类场景全面评估</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的性能保持能力：</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）语言建模：在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WikiText-v2</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（语言建模数据集）上测量困惑度</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）语言理解：在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MMLU</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57</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个学科、约</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1.6</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万道选择题</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）上评估性能</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）问答任务：使用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HotpotQA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多跳推理问答数据集评估问答性能，采用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F1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分数作为评价指标</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）长上下文：利用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GovReport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（美国政府长篇报告摘要数据集）基准测试长文本摘要能力</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endParaRPr lang="en-US" altLang="zh-CN" sz="1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主要结果使用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Qwen2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系列模型</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目标大语言模型：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Qwen2-72B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小语言模型：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Qwen2-0.5B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Qwen2-7B</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还使用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LLaMA3</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系列模型，以研究</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对不同系列大语言模型的适应性</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大语言模型：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LLaMA 3.1-70B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，小语言模型：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LLaMA 3.2-1B</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实验设置</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901700" y="1124585"/>
            <a:ext cx="10021570" cy="4154805"/>
          </a:xfrm>
          <a:prstGeom prst="rect">
            <a:avLst/>
          </a:prstGeom>
          <a:noFill/>
        </p:spPr>
        <p:txBody>
          <a:bodyPr wrap="square" rtlCol="0">
            <a:noAutofit/>
          </a:bodyPr>
          <a:p>
            <a:pPr>
              <a:lnSpc>
                <a:spcPct val="150000"/>
              </a:lnSpc>
            </a:pPr>
            <a:r>
              <a:rPr lang="zh-CN" altLang="en-US" sz="1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其它参数</a:t>
            </a:r>
            <a:endParaRPr lang="en-US" altLang="zh-CN" sz="1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GPU</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8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块</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NVIDIA A100</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80GB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最大输出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数限制为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512</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重复惩罚设为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1.2</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建立阈值</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τ_e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和截断阈值</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τ_t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分别设为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20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100</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CUDA 12.0</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PyTorch 2.4.0 </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HuggingFace’s Transformers 4.45.1</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基准结果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10021570" cy="4154805"/>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p:nvPr/>
        </p:nvPicPr>
        <p:blipFill>
          <a:blip r:embed="rId1"/>
          <a:stretch>
            <a:fillRect/>
          </a:stretch>
        </p:blipFill>
        <p:spPr>
          <a:xfrm>
            <a:off x="409575" y="908685"/>
            <a:ext cx="11221085" cy="2760345"/>
          </a:xfrm>
          <a:prstGeom prst="rect">
            <a:avLst/>
          </a:prstGeom>
        </p:spPr>
      </p:pic>
      <p:sp>
        <p:nvSpPr>
          <p:cNvPr id="4" name="文本框 3"/>
          <p:cNvSpPr txBox="1"/>
          <p:nvPr/>
        </p:nvSpPr>
        <p:spPr>
          <a:xfrm>
            <a:off x="553720" y="4004945"/>
            <a:ext cx="10661650" cy="2569210"/>
          </a:xfrm>
          <a:prstGeom prst="rect">
            <a:avLst/>
          </a:prstGeom>
          <a:noFill/>
        </p:spPr>
        <p:txBody>
          <a:bodyPr wrap="square" rtlCol="0">
            <a:noAutofit/>
          </a:bodyPr>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评估了</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在四种场景下的性能，映射比例从</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0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变化到</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50%</a:t>
            </a:r>
            <a:endPar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30%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的映射比例下，</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实现了与原始模型几乎相同的性能</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即使在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50%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的映射比例下，它仍然保持了较高的能力水平</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值得注意的是，使用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Qwen2-7B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作为小语言模型获得了更好的性能。推测这是因为使用更大的模型、更多的源注意力矩阵可以提高映射层之间的最大相似度，从而减少映射带来的损失</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效率分析</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913765" y="781050"/>
            <a:ext cx="10021570" cy="4154805"/>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626110" y="3717290"/>
            <a:ext cx="10661650" cy="256921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为评估</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的效率，我们考虑两种常见场景：</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）多用户并发：预填充长度设为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512 token</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，最大生成长度</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512 token</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，批大小为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64</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）长上下文：预填充长度设为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8192 token</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，最大生成长度</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512 token</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，批大小为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8</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使用的大语言模型为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Qwen2-72B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，小语言模型为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Qwen2-0.5B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，映射比例设为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0.5</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273810" y="980440"/>
            <a:ext cx="9554210" cy="216281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效率分析</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10021570" cy="4154805"/>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626110" y="3717290"/>
            <a:ext cx="10661650" cy="256921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即使计入小语言模型的</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KV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在多用户并发场景下仍降低了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21.7%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KV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缓存使用量，在长上下文场景下降低了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22.5%</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，体现了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的显存效率</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后，大语言模型中的映射层无需存储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缓存，从而减少了显存占用</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虽然引入小语言模型及其参数和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KV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缓存会带来额外开销，但小语言模型的显存占用远小于大语言模型</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273810" y="980440"/>
            <a:ext cx="9554210" cy="216281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效率分析</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10021570" cy="4154805"/>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626110" y="3717290"/>
            <a:ext cx="10661650" cy="256921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在多用户并发场景下，计算负载的减少导致首个</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生成时间（</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TTFT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）降低了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12%</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在长上下文场景中，</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使得</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TTFT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显著降低了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17%</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中的映射层无需进行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投影、</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K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投影以及</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QK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矩阵乘法与</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softmax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运算</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可以显著减少这部分计算负载</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273810" y="980440"/>
            <a:ext cx="9554210" cy="216281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1706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效率分析</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10021570" cy="4154805"/>
          </a:xfrm>
          <a:prstGeom prst="rect">
            <a:avLst/>
          </a:prstGeom>
          <a:noFill/>
        </p:spPr>
        <p:txBody>
          <a:bodyPr wrap="square" rtlCol="0">
            <a:noAutofit/>
          </a:bodyPr>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626110" y="3717290"/>
            <a:ext cx="10661650" cy="256921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大语言模型在解码阶段的每个输出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平均时间（</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TPOT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）得到了明显改善，在多用户并发和长上下文场景中分别降低了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11%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10%</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TPOT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TTFT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的改进转化为端到端吞吐量的提升</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分别提升了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11%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10% </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273810" y="980440"/>
            <a:ext cx="9554210" cy="216281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2468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不同系列模型</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5597525" cy="490347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为评估</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的泛化能力，我们在不同系列的模型上进行了实验</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大语言模型为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LLaMA 3.1-70B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，小语言模型为</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LLaMA 3.2-1B</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LLaMA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系列模型只有一个位于模型尾部的最优映射区域。因此，</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我们</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的映射策略：随着映射比例增加，从最后一层开始向前逐层建立映射</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818630" y="836930"/>
            <a:ext cx="4400550" cy="35909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2468880" cy="553085"/>
          </a:xfrm>
          <a:prstGeom prst="rect">
            <a:avLst/>
          </a:prstGeom>
          <a:noFill/>
          <a:ln w="9525">
            <a:noFill/>
          </a:ln>
        </p:spPr>
        <p:txBody>
          <a:bodyPr wrap="none" anchor="t">
            <a:spAutoFit/>
          </a:bodyPr>
          <a:lstStyle/>
          <a:p>
            <a:pPr algn="l"/>
            <a:r>
              <a:rPr lang="zh-CN" sz="3000" b="1" dirty="0">
                <a:solidFill>
                  <a:schemeClr val="accent1"/>
                </a:solidFill>
                <a:latin typeface="微软雅黑" panose="020B0503020204020204" pitchFamily="34" charset="-122"/>
                <a:ea typeface="微软雅黑" panose="020B0503020204020204" pitchFamily="34" charset="-122"/>
              </a:rPr>
              <a:t>不同系列模型</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5208270" cy="500189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我们还在不同映射比例下评估了它们在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MMLU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基准上的性能</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242050" y="729615"/>
            <a:ext cx="5229225" cy="425450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4375785"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与</a:t>
            </a:r>
            <a:r>
              <a:rPr lang="en-US" altLang="zh-CN" sz="3000" b="1" dirty="0">
                <a:solidFill>
                  <a:schemeClr val="accent1"/>
                </a:solidFill>
                <a:latin typeface="微软雅黑" panose="020B0503020204020204" pitchFamily="34" charset="-122"/>
                <a:ea typeface="微软雅黑" panose="020B0503020204020204" pitchFamily="34" charset="-122"/>
              </a:rPr>
              <a:t> KV </a:t>
            </a:r>
            <a:r>
              <a:rPr lang="zh-CN" altLang="en-US" sz="3000" b="1" dirty="0">
                <a:solidFill>
                  <a:schemeClr val="accent1"/>
                </a:solidFill>
                <a:latin typeface="微软雅黑" panose="020B0503020204020204" pitchFamily="34" charset="-122"/>
                <a:ea typeface="微软雅黑" panose="020B0503020204020204" pitchFamily="34" charset="-122"/>
              </a:rPr>
              <a:t>缓存压缩的兼容性</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2929890" y="2853055"/>
            <a:ext cx="6049645" cy="516763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842010" y="1124585"/>
            <a:ext cx="5208270" cy="5001895"/>
          </a:xfrm>
          <a:prstGeom prst="rect">
            <a:avLst/>
          </a:prstGeom>
          <a:noFill/>
        </p:spPr>
        <p:txBody>
          <a:bodyPr wrap="square" rtlCol="0">
            <a:noAutofit/>
          </a:bodyPr>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可以与大多数现有</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KV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缓存压缩方法叠加使用，因为它创新性地使用小语言模型的完整注意力矩阵进行映射</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H2O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进行</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KV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缓存优化后，</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IAM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可以进一步减少</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KV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缓存消耗</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457950" y="692785"/>
            <a:ext cx="5013325" cy="362521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7"/>
          <p:cNvSpPr txBox="1"/>
          <p:nvPr/>
        </p:nvSpPr>
        <p:spPr>
          <a:xfrm>
            <a:off x="1012825" y="176213"/>
            <a:ext cx="1325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局限性</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457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4580" name="Freeform 6"/>
          <p:cNvSpPr/>
          <p:nvPr/>
        </p:nvSpPr>
        <p:spPr>
          <a:xfrm>
            <a:off x="920750" y="2719388"/>
            <a:ext cx="2065338" cy="178752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0"/>
              </a:cxn>
              <a:cxn ang="0">
                <a:pos x="2147483647" y="0"/>
              </a:cxn>
              <a:cxn ang="0">
                <a:pos x="2147483647" y="0"/>
              </a:cxn>
            </a:cxnLst>
            <a:rect l="0" t="0" r="0" b="0"/>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006BBC"/>
          </a:solidFill>
          <a:ln w="9" cap="flat" cmpd="sng">
            <a:solidFill>
              <a:schemeClr val="accent1"/>
            </a:solidFill>
            <a:prstDash val="solid"/>
            <a:round/>
            <a:headEnd type="none" w="med" len="med"/>
            <a:tailEnd type="none" w="med" len="med"/>
          </a:ln>
        </p:spPr>
        <p:txBody>
          <a:bodyPr/>
          <a:lstStyle/>
          <a:p>
            <a:endParaRPr lang="zh-CN" altLang="en-US" sz="1800"/>
          </a:p>
        </p:txBody>
      </p:sp>
      <p:sp>
        <p:nvSpPr>
          <p:cNvPr id="24581" name="Line 7"/>
          <p:cNvSpPr/>
          <p:nvPr/>
        </p:nvSpPr>
        <p:spPr>
          <a:xfrm flipV="1">
            <a:off x="2473325" y="1884363"/>
            <a:ext cx="1055688" cy="833437"/>
          </a:xfrm>
          <a:prstGeom prst="line">
            <a:avLst/>
          </a:prstGeom>
          <a:ln w="9" cap="flat" cmpd="sng">
            <a:solidFill>
              <a:srgbClr val="2E2C2C"/>
            </a:solidFill>
            <a:prstDash val="solid"/>
            <a:round/>
            <a:headEnd type="none" w="med" len="med"/>
            <a:tailEnd type="triangle" w="med" len="med"/>
          </a:ln>
        </p:spPr>
      </p:sp>
      <p:sp>
        <p:nvSpPr>
          <p:cNvPr id="24582" name="Line 8"/>
          <p:cNvSpPr/>
          <p:nvPr/>
        </p:nvSpPr>
        <p:spPr>
          <a:xfrm flipV="1">
            <a:off x="2984500" y="3614738"/>
            <a:ext cx="549275" cy="0"/>
          </a:xfrm>
          <a:prstGeom prst="line">
            <a:avLst/>
          </a:prstGeom>
          <a:ln w="9" cap="flat" cmpd="sng">
            <a:solidFill>
              <a:srgbClr val="2E2C2C"/>
            </a:solidFill>
            <a:prstDash val="solid"/>
            <a:round/>
            <a:headEnd type="none" w="med" len="med"/>
            <a:tailEnd type="triangle" w="med" len="med"/>
          </a:ln>
        </p:spPr>
      </p:sp>
      <p:sp>
        <p:nvSpPr>
          <p:cNvPr id="24583" name="Rectangle 9"/>
          <p:cNvSpPr/>
          <p:nvPr>
            <p:custDataLst>
              <p:tags r:id="rId1"/>
            </p:custDataLst>
          </p:nvPr>
        </p:nvSpPr>
        <p:spPr>
          <a:xfrm>
            <a:off x="3533775" y="1252538"/>
            <a:ext cx="6884988" cy="1293812"/>
          </a:xfrm>
          <a:prstGeom prst="rect">
            <a:avLst/>
          </a:prstGeom>
          <a:solidFill>
            <a:schemeClr val="tx2"/>
          </a:solidFill>
          <a:ln w="9" cap="flat" cmpd="sng">
            <a:solidFill>
              <a:schemeClr val="bg2"/>
            </a:solidFill>
            <a:prstDash val="solid"/>
            <a:miter/>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4584" name="Rectangle 10"/>
          <p:cNvSpPr/>
          <p:nvPr>
            <p:custDataLst>
              <p:tags r:id="rId2"/>
            </p:custDataLst>
          </p:nvPr>
        </p:nvSpPr>
        <p:spPr>
          <a:xfrm>
            <a:off x="5064125" y="1046163"/>
            <a:ext cx="3581400" cy="422275"/>
          </a:xfrm>
          <a:prstGeom prst="rect">
            <a:avLst/>
          </a:prstGeom>
          <a:solidFill>
            <a:srgbClr val="113E6A"/>
          </a:solidFill>
          <a:ln w="9" cap="flat" cmpd="sng">
            <a:solidFill>
              <a:schemeClr val="accent1"/>
            </a:solidFill>
            <a:prstDash val="solid"/>
            <a:miter/>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4585" name="Rectangle 11"/>
          <p:cNvSpPr/>
          <p:nvPr>
            <p:custDataLst>
              <p:tags r:id="rId3"/>
            </p:custDataLst>
          </p:nvPr>
        </p:nvSpPr>
        <p:spPr>
          <a:xfrm>
            <a:off x="3533775" y="2998788"/>
            <a:ext cx="6884988" cy="1292225"/>
          </a:xfrm>
          <a:prstGeom prst="rect">
            <a:avLst/>
          </a:prstGeom>
          <a:solidFill>
            <a:schemeClr val="tx2"/>
          </a:solidFill>
          <a:ln w="9" cap="flat" cmpd="sng">
            <a:solidFill>
              <a:schemeClr val="bg2"/>
            </a:solidFill>
            <a:prstDash val="solid"/>
            <a:miter/>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4586" name="Rectangle 12"/>
          <p:cNvSpPr/>
          <p:nvPr>
            <p:custDataLst>
              <p:tags r:id="rId4"/>
            </p:custDataLst>
          </p:nvPr>
        </p:nvSpPr>
        <p:spPr>
          <a:xfrm>
            <a:off x="5064125" y="2792413"/>
            <a:ext cx="3581400" cy="423862"/>
          </a:xfrm>
          <a:prstGeom prst="rect">
            <a:avLst/>
          </a:prstGeom>
          <a:solidFill>
            <a:srgbClr val="113E6A"/>
          </a:solidFill>
          <a:ln w="9" cap="flat" cmpd="sng">
            <a:solidFill>
              <a:schemeClr val="accent1"/>
            </a:solidFill>
            <a:prstDash val="solid"/>
            <a:miter/>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4587" name="Line 13"/>
          <p:cNvSpPr/>
          <p:nvPr/>
        </p:nvSpPr>
        <p:spPr>
          <a:xfrm>
            <a:off x="2473325" y="4506913"/>
            <a:ext cx="1055688" cy="833437"/>
          </a:xfrm>
          <a:prstGeom prst="line">
            <a:avLst/>
          </a:prstGeom>
          <a:ln w="9" cap="flat" cmpd="sng">
            <a:solidFill>
              <a:srgbClr val="2E2C2C"/>
            </a:solidFill>
            <a:prstDash val="solid"/>
            <a:round/>
            <a:headEnd type="none" w="med" len="med"/>
            <a:tailEnd type="triangle" w="med" len="med"/>
          </a:ln>
        </p:spPr>
      </p:sp>
      <p:sp>
        <p:nvSpPr>
          <p:cNvPr id="24588" name="Rectangle 14"/>
          <p:cNvSpPr/>
          <p:nvPr>
            <p:custDataLst>
              <p:tags r:id="rId5"/>
            </p:custDataLst>
          </p:nvPr>
        </p:nvSpPr>
        <p:spPr>
          <a:xfrm>
            <a:off x="3533775" y="4751388"/>
            <a:ext cx="6884988" cy="1293812"/>
          </a:xfrm>
          <a:prstGeom prst="rect">
            <a:avLst/>
          </a:prstGeom>
          <a:solidFill>
            <a:schemeClr val="tx2"/>
          </a:solidFill>
          <a:ln w="9" cap="flat" cmpd="sng">
            <a:solidFill>
              <a:schemeClr val="bg2"/>
            </a:solidFill>
            <a:prstDash val="solid"/>
            <a:miter/>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4589" name="Rectangle 15"/>
          <p:cNvSpPr/>
          <p:nvPr>
            <p:custDataLst>
              <p:tags r:id="rId6"/>
            </p:custDataLst>
          </p:nvPr>
        </p:nvSpPr>
        <p:spPr>
          <a:xfrm>
            <a:off x="5064125" y="4545013"/>
            <a:ext cx="3581400" cy="423862"/>
          </a:xfrm>
          <a:prstGeom prst="rect">
            <a:avLst/>
          </a:prstGeom>
          <a:solidFill>
            <a:srgbClr val="113E6A"/>
          </a:solidFill>
          <a:ln w="9" cap="flat" cmpd="sng">
            <a:solidFill>
              <a:schemeClr val="accent1"/>
            </a:solidFill>
            <a:prstDash val="solid"/>
            <a:miter/>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4590" name="TextBox 15"/>
          <p:cNvSpPr txBox="1"/>
          <p:nvPr>
            <p:custDataLst>
              <p:tags r:id="rId7"/>
            </p:custDataLst>
          </p:nvPr>
        </p:nvSpPr>
        <p:spPr>
          <a:xfrm>
            <a:off x="5300663" y="1066800"/>
            <a:ext cx="3106737" cy="39878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局限一</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4591" name="TextBox 16"/>
          <p:cNvSpPr txBox="1"/>
          <p:nvPr>
            <p:custDataLst>
              <p:tags r:id="rId8"/>
            </p:custDataLst>
          </p:nvPr>
        </p:nvSpPr>
        <p:spPr>
          <a:xfrm>
            <a:off x="3721100" y="1577975"/>
            <a:ext cx="6265863" cy="922020"/>
          </a:xfrm>
          <a:prstGeom prst="rect">
            <a:avLst/>
          </a:prstGeom>
          <a:noFill/>
          <a:ln w="9525">
            <a:noFill/>
          </a:ln>
        </p:spPr>
        <p:txBody>
          <a:bodyPr anchor="t">
            <a:spAutoFit/>
          </a:bodyPr>
          <a:lstStyle/>
          <a:p>
            <a:r>
              <a:rPr lang="zh-CN" altLang="en-US" sz="1800" dirty="0">
                <a:solidFill>
                  <a:schemeClr val="accent1"/>
                </a:solidFill>
                <a:latin typeface="微软雅黑" panose="020B0503020204020204" pitchFamily="34" charset="-122"/>
                <a:ea typeface="微软雅黑" panose="020B0503020204020204" pitchFamily="34" charset="-122"/>
              </a:rPr>
              <a:t>目前</a:t>
            </a:r>
            <a:r>
              <a:rPr lang="en-US" altLang="zh-CN" sz="1800" dirty="0">
                <a:solidFill>
                  <a:schemeClr val="accent1"/>
                </a:solidFill>
                <a:latin typeface="微软雅黑" panose="020B0503020204020204" pitchFamily="34" charset="-122"/>
                <a:ea typeface="微软雅黑" panose="020B0503020204020204" pitchFamily="34" charset="-122"/>
              </a:rPr>
              <a:t> IAM </a:t>
            </a:r>
            <a:r>
              <a:rPr lang="zh-CN" altLang="en-US" sz="1800" dirty="0">
                <a:solidFill>
                  <a:schemeClr val="accent1"/>
                </a:solidFill>
                <a:latin typeface="微软雅黑" panose="020B0503020204020204" pitchFamily="34" charset="-122"/>
                <a:ea typeface="微软雅黑" panose="020B0503020204020204" pitchFamily="34" charset="-122"/>
              </a:rPr>
              <a:t>的分析和实现都是基于模型层粒度。如果进一步细化到注意力头粒度，可能带来模型性能和资源节约的额外提升</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
        <p:nvSpPr>
          <p:cNvPr id="24592" name="TextBox 17"/>
          <p:cNvSpPr txBox="1"/>
          <p:nvPr>
            <p:custDataLst>
              <p:tags r:id="rId9"/>
            </p:custDataLst>
          </p:nvPr>
        </p:nvSpPr>
        <p:spPr>
          <a:xfrm>
            <a:off x="5300663" y="2800350"/>
            <a:ext cx="3106737" cy="39878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局限二</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4593" name="TextBox 18"/>
          <p:cNvSpPr txBox="1"/>
          <p:nvPr>
            <p:custDataLst>
              <p:tags r:id="rId10"/>
            </p:custDataLst>
          </p:nvPr>
        </p:nvSpPr>
        <p:spPr>
          <a:xfrm>
            <a:off x="3721100" y="3311525"/>
            <a:ext cx="6265863" cy="922020"/>
          </a:xfrm>
          <a:prstGeom prst="rect">
            <a:avLst/>
          </a:prstGeom>
          <a:noFill/>
          <a:ln w="9525">
            <a:noFill/>
          </a:ln>
        </p:spPr>
        <p:txBody>
          <a:bodyPr anchor="t">
            <a:spAutoFit/>
          </a:bodyPr>
          <a:lstStyle/>
          <a:p>
            <a:r>
              <a:rPr lang="en-US" altLang="zh-CN" sz="1800" dirty="0">
                <a:solidFill>
                  <a:schemeClr val="accent1"/>
                </a:solidFill>
                <a:latin typeface="微软雅黑" panose="020B0503020204020204" pitchFamily="34" charset="-122"/>
                <a:ea typeface="微软雅黑" panose="020B0503020204020204" pitchFamily="34" charset="-122"/>
              </a:rPr>
              <a:t>IAM </a:t>
            </a:r>
            <a:r>
              <a:rPr lang="zh-CN" altLang="en-US" sz="1800" dirty="0">
                <a:solidFill>
                  <a:schemeClr val="accent1"/>
                </a:solidFill>
                <a:latin typeface="微软雅黑" panose="020B0503020204020204" pitchFamily="34" charset="-122"/>
                <a:ea typeface="微软雅黑" panose="020B0503020204020204" pitchFamily="34" charset="-122"/>
              </a:rPr>
              <a:t>与高效注意力方法不兼容，因为它需要计算注意力分数。例如使用</a:t>
            </a:r>
            <a:r>
              <a:rPr lang="en-US" altLang="zh-CN" sz="1800" dirty="0">
                <a:solidFill>
                  <a:schemeClr val="accent1"/>
                </a:solidFill>
                <a:latin typeface="微软雅黑" panose="020B0503020204020204" pitchFamily="34" charset="-122"/>
                <a:ea typeface="微软雅黑" panose="020B0503020204020204" pitchFamily="34" charset="-122"/>
              </a:rPr>
              <a:t> FlashAttention</a:t>
            </a:r>
            <a:r>
              <a:rPr lang="zh-CN" altLang="en-US" sz="1800" dirty="0">
                <a:solidFill>
                  <a:schemeClr val="accent1"/>
                </a:solidFill>
                <a:latin typeface="微软雅黑" panose="020B0503020204020204" pitchFamily="34" charset="-122"/>
                <a:ea typeface="微软雅黑" panose="020B0503020204020204" pitchFamily="34" charset="-122"/>
              </a:rPr>
              <a:t>，注意力矩阵从未被显式构造，因此无法提取出来进行相似度计算和替换</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
        <p:nvSpPr>
          <p:cNvPr id="24594" name="TextBox 19"/>
          <p:cNvSpPr txBox="1"/>
          <p:nvPr>
            <p:custDataLst>
              <p:tags r:id="rId11"/>
            </p:custDataLst>
          </p:nvPr>
        </p:nvSpPr>
        <p:spPr>
          <a:xfrm>
            <a:off x="5300663" y="4546600"/>
            <a:ext cx="3106737" cy="39878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局限三</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4595" name="TextBox 20"/>
          <p:cNvSpPr txBox="1"/>
          <p:nvPr>
            <p:custDataLst>
              <p:tags r:id="rId12"/>
            </p:custDataLst>
          </p:nvPr>
        </p:nvSpPr>
        <p:spPr>
          <a:xfrm>
            <a:off x="3721100" y="5057775"/>
            <a:ext cx="6265863" cy="645160"/>
          </a:xfrm>
          <a:prstGeom prst="rect">
            <a:avLst/>
          </a:prstGeom>
          <a:noFill/>
          <a:ln w="9525">
            <a:noFill/>
          </a:ln>
        </p:spPr>
        <p:txBody>
          <a:bodyPr anchor="t">
            <a:spAutoFit/>
          </a:bodyPr>
          <a:lstStyle/>
          <a:p>
            <a:r>
              <a:rPr lang="en-US" altLang="zh-CN" sz="1800" dirty="0">
                <a:solidFill>
                  <a:schemeClr val="accent1"/>
                </a:solidFill>
                <a:latin typeface="微软雅黑" panose="020B0503020204020204" pitchFamily="34" charset="-122"/>
                <a:ea typeface="微软雅黑" panose="020B0503020204020204" pitchFamily="34" charset="-122"/>
              </a:rPr>
              <a:t>IAM </a:t>
            </a:r>
            <a:r>
              <a:rPr lang="zh-CN" altLang="en-US" sz="1800" dirty="0">
                <a:solidFill>
                  <a:schemeClr val="accent1"/>
                </a:solidFill>
                <a:latin typeface="微软雅黑" panose="020B0503020204020204" pitchFamily="34" charset="-122"/>
                <a:ea typeface="微软雅黑" panose="020B0503020204020204" pitchFamily="34" charset="-122"/>
              </a:rPr>
              <a:t>无法实现完全无损的模型性能。</a:t>
            </a:r>
            <a:r>
              <a:rPr lang="en-US" altLang="zh-CN" sz="1800" dirty="0">
                <a:solidFill>
                  <a:schemeClr val="accent1"/>
                </a:solidFill>
                <a:latin typeface="微软雅黑" panose="020B0503020204020204" pitchFamily="34" charset="-122"/>
                <a:ea typeface="微软雅黑" panose="020B0503020204020204" pitchFamily="34" charset="-122"/>
              </a:rPr>
              <a:t>SLM </a:t>
            </a:r>
            <a:r>
              <a:rPr lang="zh-CN" altLang="en-US" sz="1800" dirty="0">
                <a:solidFill>
                  <a:schemeClr val="accent1"/>
                </a:solidFill>
                <a:latin typeface="微软雅黑" panose="020B0503020204020204" pitchFamily="34" charset="-122"/>
                <a:ea typeface="微软雅黑" panose="020B0503020204020204" pitchFamily="34" charset="-122"/>
              </a:rPr>
              <a:t>的注意力矩阵与</a:t>
            </a:r>
            <a:r>
              <a:rPr lang="en-US" altLang="zh-CN" sz="1800" dirty="0">
                <a:solidFill>
                  <a:schemeClr val="accent1"/>
                </a:solidFill>
                <a:latin typeface="微软雅黑" panose="020B0503020204020204" pitchFamily="34" charset="-122"/>
                <a:ea typeface="微软雅黑" panose="020B0503020204020204" pitchFamily="34" charset="-122"/>
              </a:rPr>
              <a:t> LLM </a:t>
            </a:r>
            <a:r>
              <a:rPr lang="zh-CN" altLang="en-US" sz="1800" dirty="0">
                <a:solidFill>
                  <a:schemeClr val="accent1"/>
                </a:solidFill>
                <a:latin typeface="微软雅黑" panose="020B0503020204020204" pitchFamily="34" charset="-122"/>
                <a:ea typeface="微软雅黑" panose="020B0503020204020204" pitchFamily="34" charset="-122"/>
              </a:rPr>
              <a:t>的注意力矩阵只是高度相似，而不是完全相同</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
        <p:nvSpPr>
          <p:cNvPr id="24596" name="TextBox 21"/>
          <p:cNvSpPr txBox="1"/>
          <p:nvPr/>
        </p:nvSpPr>
        <p:spPr>
          <a:xfrm>
            <a:off x="1026795" y="3366770"/>
            <a:ext cx="1770380" cy="491490"/>
          </a:xfrm>
          <a:prstGeom prst="rect">
            <a:avLst/>
          </a:prstGeom>
          <a:noFill/>
          <a:ln w="9525">
            <a:noFill/>
          </a:ln>
        </p:spPr>
        <p:txBody>
          <a:bodyPr wrap="square" anchor="t">
            <a:spAutoFit/>
          </a:bodyPr>
          <a:lstStyle/>
          <a:p>
            <a:pPr algn="ctr"/>
            <a:r>
              <a:rPr lang="zh-CN" altLang="en-US" sz="2600" b="1" noProof="0" dirty="0">
                <a:ln>
                  <a:noFill/>
                </a:ln>
                <a:solidFill>
                  <a:schemeClr val="accent2"/>
                </a:solidFill>
                <a:effectLst/>
                <a:uLnTx/>
                <a:uFillTx/>
                <a:latin typeface="微软雅黑" panose="020B0503020204020204" pitchFamily="34" charset="-122"/>
                <a:ea typeface="微软雅黑" panose="020B0503020204020204" pitchFamily="34" charset="-122"/>
                <a:cs typeface="+mn-cs"/>
                <a:sym typeface="+mn-ea"/>
              </a:rPr>
              <a:t>局限性</a:t>
            </a:r>
            <a:endParaRPr lang="zh-CN" altLang="en-US" sz="2600" b="1" noProof="0" dirty="0">
              <a:ln>
                <a:noFill/>
              </a:ln>
              <a:solidFill>
                <a:schemeClr val="accent2"/>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p:cTn id="7" dur="300" fill="hold"/>
                                        <p:tgtEl>
                                          <p:spTgt spid="24579"/>
                                        </p:tgtEl>
                                        <p:attrNameLst>
                                          <p:attrName>ppt_w</p:attrName>
                                        </p:attrNameLst>
                                      </p:cBhvr>
                                      <p:tavLst>
                                        <p:tav tm="0">
                                          <p:val>
                                            <p:fltVal val="0"/>
                                          </p:val>
                                        </p:tav>
                                        <p:tav tm="100000">
                                          <p:val>
                                            <p:strVal val="#ppt_w"/>
                                          </p:val>
                                        </p:tav>
                                      </p:tavLst>
                                    </p:anim>
                                    <p:anim calcmode="lin" valueType="num">
                                      <p:cBhvr>
                                        <p:cTn id="8" dur="300" fill="hold"/>
                                        <p:tgtEl>
                                          <p:spTgt spid="24579"/>
                                        </p:tgtEl>
                                        <p:attrNameLst>
                                          <p:attrName>ppt_h</p:attrName>
                                        </p:attrNameLst>
                                      </p:cBhvr>
                                      <p:tavLst>
                                        <p:tav tm="0">
                                          <p:val>
                                            <p:fltVal val="0"/>
                                          </p:val>
                                        </p:tav>
                                        <p:tav tm="100000">
                                          <p:val>
                                            <p:strVal val="#ppt_h"/>
                                          </p:val>
                                        </p:tav>
                                      </p:tavLst>
                                    </p:anim>
                                    <p:anim calcmode="lin" valueType="num">
                                      <p:cBhvr>
                                        <p:cTn id="9" dur="300" fill="hold"/>
                                        <p:tgtEl>
                                          <p:spTgt spid="24579"/>
                                        </p:tgtEl>
                                        <p:attrNameLst>
                                          <p:attrName>style.rotation</p:attrName>
                                        </p:attrNameLst>
                                      </p:cBhvr>
                                      <p:tavLst>
                                        <p:tav tm="0">
                                          <p:val>
                                            <p:fltVal val="90"/>
                                          </p:val>
                                        </p:tav>
                                        <p:tav tm="100000">
                                          <p:val>
                                            <p:fltVal val="0"/>
                                          </p:val>
                                        </p:tav>
                                      </p:tavLst>
                                    </p:anim>
                                    <p:animEffect transition="in" filter="fade">
                                      <p:cBhvr>
                                        <p:cTn id="10" dur="300"/>
                                        <p:tgtEl>
                                          <p:spTgt spid="2457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4578"/>
                                        </p:tgtEl>
                                        <p:attrNameLst>
                                          <p:attrName>style.visibility</p:attrName>
                                        </p:attrNameLst>
                                      </p:cBhvr>
                                      <p:to>
                                        <p:strVal val="visible"/>
                                      </p:to>
                                    </p:set>
                                    <p:anim calcmode="lin" valueType="num">
                                      <p:cBhvr>
                                        <p:cTn id="14" dur="400" fill="hold"/>
                                        <p:tgtEl>
                                          <p:spTgt spid="2457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4578"/>
                                        </p:tgtEl>
                                        <p:attrNameLst>
                                          <p:attrName>ppt_y</p:attrName>
                                        </p:attrNameLst>
                                      </p:cBhvr>
                                      <p:tavLst>
                                        <p:tav tm="0">
                                          <p:val>
                                            <p:strVal val="#ppt_y"/>
                                          </p:val>
                                        </p:tav>
                                        <p:tav tm="100000">
                                          <p:val>
                                            <p:strVal val="#ppt_y"/>
                                          </p:val>
                                        </p:tav>
                                      </p:tavLst>
                                    </p:anim>
                                    <p:anim calcmode="lin" valueType="num">
                                      <p:cBhvr>
                                        <p:cTn id="16" dur="400" fill="hold"/>
                                        <p:tgtEl>
                                          <p:spTgt spid="2457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457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4578"/>
                                        </p:tgtEl>
                                      </p:cBhvr>
                                    </p:animEffect>
                                  </p:childTnLst>
                                </p:cTn>
                              </p:par>
                            </p:childTnLst>
                          </p:cTn>
                        </p:par>
                        <p:par>
                          <p:cTn id="19" fill="hold">
                            <p:stCondLst>
                              <p:cond delay="780"/>
                            </p:stCondLst>
                            <p:childTnLst>
                              <p:par>
                                <p:cTn id="20" presetID="31" presetClass="entr" presetSubtype="0" fill="hold" nodeType="afterEffect">
                                  <p:stCondLst>
                                    <p:cond delay="0"/>
                                  </p:stCondLst>
                                  <p:childTnLst>
                                    <p:set>
                                      <p:cBhvr>
                                        <p:cTn id="21" dur="1" fill="hold">
                                          <p:stCondLst>
                                            <p:cond delay="0"/>
                                          </p:stCondLst>
                                        </p:cTn>
                                        <p:tgtEl>
                                          <p:spTgt spid="24580"/>
                                        </p:tgtEl>
                                        <p:attrNameLst>
                                          <p:attrName>style.visibility</p:attrName>
                                        </p:attrNameLst>
                                      </p:cBhvr>
                                      <p:to>
                                        <p:strVal val="visible"/>
                                      </p:to>
                                    </p:set>
                                    <p:anim calcmode="lin" valueType="num">
                                      <p:cBhvr>
                                        <p:cTn id="22" dur="1000" fill="hold"/>
                                        <p:tgtEl>
                                          <p:spTgt spid="24580"/>
                                        </p:tgtEl>
                                        <p:attrNameLst>
                                          <p:attrName>ppt_w</p:attrName>
                                        </p:attrNameLst>
                                      </p:cBhvr>
                                      <p:tavLst>
                                        <p:tav tm="0">
                                          <p:val>
                                            <p:fltVal val="0"/>
                                          </p:val>
                                        </p:tav>
                                        <p:tav tm="100000">
                                          <p:val>
                                            <p:strVal val="#ppt_w"/>
                                          </p:val>
                                        </p:tav>
                                      </p:tavLst>
                                    </p:anim>
                                    <p:anim calcmode="lin" valueType="num">
                                      <p:cBhvr>
                                        <p:cTn id="23" dur="1000" fill="hold"/>
                                        <p:tgtEl>
                                          <p:spTgt spid="24580"/>
                                        </p:tgtEl>
                                        <p:attrNameLst>
                                          <p:attrName>ppt_h</p:attrName>
                                        </p:attrNameLst>
                                      </p:cBhvr>
                                      <p:tavLst>
                                        <p:tav tm="0">
                                          <p:val>
                                            <p:fltVal val="0"/>
                                          </p:val>
                                        </p:tav>
                                        <p:tav tm="100000">
                                          <p:val>
                                            <p:strVal val="#ppt_h"/>
                                          </p:val>
                                        </p:tav>
                                      </p:tavLst>
                                    </p:anim>
                                    <p:anim calcmode="lin" valueType="num">
                                      <p:cBhvr>
                                        <p:cTn id="24" dur="1000" fill="hold"/>
                                        <p:tgtEl>
                                          <p:spTgt spid="24580"/>
                                        </p:tgtEl>
                                        <p:attrNameLst>
                                          <p:attrName>style.rotation</p:attrName>
                                        </p:attrNameLst>
                                      </p:cBhvr>
                                      <p:tavLst>
                                        <p:tav tm="0">
                                          <p:val>
                                            <p:fltVal val="90"/>
                                          </p:val>
                                        </p:tav>
                                        <p:tav tm="100000">
                                          <p:val>
                                            <p:fltVal val="0"/>
                                          </p:val>
                                        </p:tav>
                                      </p:tavLst>
                                    </p:anim>
                                    <p:animEffect transition="in" filter="fade">
                                      <p:cBhvr>
                                        <p:cTn id="25" dur="1000"/>
                                        <p:tgtEl>
                                          <p:spTgt spid="24580"/>
                                        </p:tgtEl>
                                      </p:cBhvr>
                                    </p:animEffect>
                                  </p:childTnLst>
                                </p:cTn>
                              </p:par>
                            </p:childTnLst>
                          </p:cTn>
                        </p:par>
                        <p:par>
                          <p:cTn id="26" fill="hold">
                            <p:stCondLst>
                              <p:cond delay="1780"/>
                            </p:stCondLst>
                            <p:childTnLst>
                              <p:par>
                                <p:cTn id="27" presetID="41" presetClass="entr" presetSubtype="0" fill="hold" grpId="0" nodeType="afterEffect">
                                  <p:stCondLst>
                                    <p:cond delay="0"/>
                                  </p:stCondLst>
                                  <p:iterate type="lt">
                                    <p:tmPct val="10000"/>
                                  </p:iterate>
                                  <p:childTnLst>
                                    <p:set>
                                      <p:cBhvr>
                                        <p:cTn id="28" dur="1" fill="hold">
                                          <p:stCondLst>
                                            <p:cond delay="0"/>
                                          </p:stCondLst>
                                        </p:cTn>
                                        <p:tgtEl>
                                          <p:spTgt spid="24596"/>
                                        </p:tgtEl>
                                        <p:attrNameLst>
                                          <p:attrName>style.visibility</p:attrName>
                                        </p:attrNameLst>
                                      </p:cBhvr>
                                      <p:to>
                                        <p:strVal val="visible"/>
                                      </p:to>
                                    </p:set>
                                    <p:anim calcmode="lin" valueType="num">
                                      <p:cBhvr>
                                        <p:cTn id="29" dur="500" fill="hold"/>
                                        <p:tgtEl>
                                          <p:spTgt spid="24596"/>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24596"/>
                                        </p:tgtEl>
                                        <p:attrNameLst>
                                          <p:attrName>ppt_y</p:attrName>
                                        </p:attrNameLst>
                                      </p:cBhvr>
                                      <p:tavLst>
                                        <p:tav tm="0">
                                          <p:val>
                                            <p:strVal val="#ppt_y"/>
                                          </p:val>
                                        </p:tav>
                                        <p:tav tm="100000">
                                          <p:val>
                                            <p:strVal val="#ppt_y"/>
                                          </p:val>
                                        </p:tav>
                                      </p:tavLst>
                                    </p:anim>
                                    <p:anim calcmode="lin" valueType="num">
                                      <p:cBhvr>
                                        <p:cTn id="31" dur="500" fill="hold"/>
                                        <p:tgtEl>
                                          <p:spTgt spid="24596"/>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24596"/>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24596"/>
                                        </p:tgtEl>
                                      </p:cBhvr>
                                    </p:animEffect>
                                  </p:childTnLst>
                                </p:cTn>
                              </p:par>
                            </p:childTnLst>
                          </p:cTn>
                        </p:par>
                        <p:par>
                          <p:cTn id="34" fill="hold">
                            <p:stCondLst>
                              <p:cond delay="2379"/>
                            </p:stCondLst>
                            <p:childTnLst>
                              <p:par>
                                <p:cTn id="35" presetID="22" presetClass="entr" presetSubtype="8" fill="hold" nodeType="afterEffect">
                                  <p:stCondLst>
                                    <p:cond delay="0"/>
                                  </p:stCondLst>
                                  <p:childTnLst>
                                    <p:set>
                                      <p:cBhvr>
                                        <p:cTn id="36" dur="1" fill="hold">
                                          <p:stCondLst>
                                            <p:cond delay="0"/>
                                          </p:stCondLst>
                                        </p:cTn>
                                        <p:tgtEl>
                                          <p:spTgt spid="24581"/>
                                        </p:tgtEl>
                                        <p:attrNameLst>
                                          <p:attrName>style.visibility</p:attrName>
                                        </p:attrNameLst>
                                      </p:cBhvr>
                                      <p:to>
                                        <p:strVal val="visible"/>
                                      </p:to>
                                    </p:set>
                                    <p:animEffect transition="in" filter="wipe(left)">
                                      <p:cBhvr>
                                        <p:cTn id="37" dur="500"/>
                                        <p:tgtEl>
                                          <p:spTgt spid="24581"/>
                                        </p:tgtEl>
                                      </p:cBhvr>
                                    </p:animEffect>
                                  </p:childTnLst>
                                </p:cTn>
                              </p:par>
                              <p:par>
                                <p:cTn id="38" presetID="22" presetClass="entr" presetSubtype="8" fill="hold" nodeType="withEffect">
                                  <p:stCondLst>
                                    <p:cond delay="0"/>
                                  </p:stCondLst>
                                  <p:childTnLst>
                                    <p:set>
                                      <p:cBhvr>
                                        <p:cTn id="39" dur="1" fill="hold">
                                          <p:stCondLst>
                                            <p:cond delay="0"/>
                                          </p:stCondLst>
                                        </p:cTn>
                                        <p:tgtEl>
                                          <p:spTgt spid="24582"/>
                                        </p:tgtEl>
                                        <p:attrNameLst>
                                          <p:attrName>style.visibility</p:attrName>
                                        </p:attrNameLst>
                                      </p:cBhvr>
                                      <p:to>
                                        <p:strVal val="visible"/>
                                      </p:to>
                                    </p:set>
                                    <p:animEffect transition="in" filter="wipe(left)">
                                      <p:cBhvr>
                                        <p:cTn id="40" dur="500"/>
                                        <p:tgtEl>
                                          <p:spTgt spid="24582"/>
                                        </p:tgtEl>
                                      </p:cBhvr>
                                    </p:animEffect>
                                  </p:childTnLst>
                                </p:cTn>
                              </p:par>
                              <p:par>
                                <p:cTn id="41" presetID="22" presetClass="entr" presetSubtype="8" fill="hold" nodeType="withEffect">
                                  <p:stCondLst>
                                    <p:cond delay="0"/>
                                  </p:stCondLst>
                                  <p:childTnLst>
                                    <p:set>
                                      <p:cBhvr>
                                        <p:cTn id="42" dur="1" fill="hold">
                                          <p:stCondLst>
                                            <p:cond delay="0"/>
                                          </p:stCondLst>
                                        </p:cTn>
                                        <p:tgtEl>
                                          <p:spTgt spid="24587"/>
                                        </p:tgtEl>
                                        <p:attrNameLst>
                                          <p:attrName>style.visibility</p:attrName>
                                        </p:attrNameLst>
                                      </p:cBhvr>
                                      <p:to>
                                        <p:strVal val="visible"/>
                                      </p:to>
                                    </p:set>
                                    <p:animEffect transition="in" filter="wipe(left)">
                                      <p:cBhvr>
                                        <p:cTn id="43" dur="500"/>
                                        <p:tgtEl>
                                          <p:spTgt spid="24587"/>
                                        </p:tgtEl>
                                      </p:cBhvr>
                                    </p:animEffect>
                                  </p:childTnLst>
                                </p:cTn>
                              </p:par>
                            </p:childTnLst>
                          </p:cTn>
                        </p:par>
                        <p:par>
                          <p:cTn id="44" fill="hold">
                            <p:stCondLst>
                              <p:cond delay="2879"/>
                            </p:stCondLst>
                            <p:childTnLst>
                              <p:par>
                                <p:cTn id="45" presetID="22" presetClass="entr" presetSubtype="8" fill="hold" grpId="0" nodeType="afterEffect">
                                  <p:stCondLst>
                                    <p:cond delay="0"/>
                                  </p:stCondLst>
                                  <p:childTnLst>
                                    <p:set>
                                      <p:cBhvr>
                                        <p:cTn id="46" dur="1" fill="hold">
                                          <p:stCondLst>
                                            <p:cond delay="0"/>
                                          </p:stCondLst>
                                        </p:cTn>
                                        <p:tgtEl>
                                          <p:spTgt spid="24591"/>
                                        </p:tgtEl>
                                        <p:attrNameLst>
                                          <p:attrName>style.visibility</p:attrName>
                                        </p:attrNameLst>
                                      </p:cBhvr>
                                      <p:to>
                                        <p:strVal val="visible"/>
                                      </p:to>
                                    </p:set>
                                    <p:animEffect transition="in" filter="wipe(left)">
                                      <p:cBhvr>
                                        <p:cTn id="47" dur="500"/>
                                        <p:tgtEl>
                                          <p:spTgt spid="24591"/>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4583"/>
                                        </p:tgtEl>
                                        <p:attrNameLst>
                                          <p:attrName>style.visibility</p:attrName>
                                        </p:attrNameLst>
                                      </p:cBhvr>
                                      <p:to>
                                        <p:strVal val="visible"/>
                                      </p:to>
                                    </p:set>
                                    <p:animEffect transition="in" filter="wipe(left)">
                                      <p:cBhvr>
                                        <p:cTn id="50" dur="500"/>
                                        <p:tgtEl>
                                          <p:spTgt spid="2458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4593"/>
                                        </p:tgtEl>
                                        <p:attrNameLst>
                                          <p:attrName>style.visibility</p:attrName>
                                        </p:attrNameLst>
                                      </p:cBhvr>
                                      <p:to>
                                        <p:strVal val="visible"/>
                                      </p:to>
                                    </p:set>
                                    <p:animEffect transition="in" filter="wipe(left)">
                                      <p:cBhvr>
                                        <p:cTn id="53" dur="500"/>
                                        <p:tgtEl>
                                          <p:spTgt spid="2459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585"/>
                                        </p:tgtEl>
                                        <p:attrNameLst>
                                          <p:attrName>style.visibility</p:attrName>
                                        </p:attrNameLst>
                                      </p:cBhvr>
                                      <p:to>
                                        <p:strVal val="visible"/>
                                      </p:to>
                                    </p:set>
                                    <p:animEffect transition="in" filter="wipe(left)">
                                      <p:cBhvr>
                                        <p:cTn id="56" dur="500"/>
                                        <p:tgtEl>
                                          <p:spTgt spid="24585"/>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4595"/>
                                        </p:tgtEl>
                                        <p:attrNameLst>
                                          <p:attrName>style.visibility</p:attrName>
                                        </p:attrNameLst>
                                      </p:cBhvr>
                                      <p:to>
                                        <p:strVal val="visible"/>
                                      </p:to>
                                    </p:set>
                                    <p:animEffect transition="in" filter="wipe(left)">
                                      <p:cBhvr>
                                        <p:cTn id="59" dur="500"/>
                                        <p:tgtEl>
                                          <p:spTgt spid="2459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4588"/>
                                        </p:tgtEl>
                                        <p:attrNameLst>
                                          <p:attrName>style.visibility</p:attrName>
                                        </p:attrNameLst>
                                      </p:cBhvr>
                                      <p:to>
                                        <p:strVal val="visible"/>
                                      </p:to>
                                    </p:set>
                                    <p:animEffect transition="in" filter="wipe(left)">
                                      <p:cBhvr>
                                        <p:cTn id="62" dur="500"/>
                                        <p:tgtEl>
                                          <p:spTgt spid="24588"/>
                                        </p:tgtEl>
                                      </p:cBhvr>
                                    </p:animEffect>
                                  </p:childTnLst>
                                </p:cTn>
                              </p:par>
                            </p:childTnLst>
                          </p:cTn>
                        </p:par>
                        <p:par>
                          <p:cTn id="63" fill="hold">
                            <p:stCondLst>
                              <p:cond delay="3379"/>
                            </p:stCondLst>
                            <p:childTnLst>
                              <p:par>
                                <p:cTn id="64" presetID="47" presetClass="entr" presetSubtype="0" fill="hold" grpId="0" nodeType="afterEffect">
                                  <p:stCondLst>
                                    <p:cond delay="0"/>
                                  </p:stCondLst>
                                  <p:childTnLst>
                                    <p:set>
                                      <p:cBhvr>
                                        <p:cTn id="65" dur="1" fill="hold">
                                          <p:stCondLst>
                                            <p:cond delay="0"/>
                                          </p:stCondLst>
                                        </p:cTn>
                                        <p:tgtEl>
                                          <p:spTgt spid="24590"/>
                                        </p:tgtEl>
                                        <p:attrNameLst>
                                          <p:attrName>style.visibility</p:attrName>
                                        </p:attrNameLst>
                                      </p:cBhvr>
                                      <p:to>
                                        <p:strVal val="visible"/>
                                      </p:to>
                                    </p:set>
                                    <p:animEffect transition="in" filter="fade">
                                      <p:cBhvr>
                                        <p:cTn id="66" dur="1000"/>
                                        <p:tgtEl>
                                          <p:spTgt spid="24590"/>
                                        </p:tgtEl>
                                      </p:cBhvr>
                                    </p:animEffect>
                                    <p:anim calcmode="lin" valueType="num">
                                      <p:cBhvr>
                                        <p:cTn id="67" dur="1000" fill="hold"/>
                                        <p:tgtEl>
                                          <p:spTgt spid="24590"/>
                                        </p:tgtEl>
                                        <p:attrNameLst>
                                          <p:attrName>ppt_x</p:attrName>
                                        </p:attrNameLst>
                                      </p:cBhvr>
                                      <p:tavLst>
                                        <p:tav tm="0">
                                          <p:val>
                                            <p:strVal val="#ppt_x"/>
                                          </p:val>
                                        </p:tav>
                                        <p:tav tm="100000">
                                          <p:val>
                                            <p:strVal val="#ppt_x"/>
                                          </p:val>
                                        </p:tav>
                                      </p:tavLst>
                                    </p:anim>
                                    <p:anim calcmode="lin" valueType="num">
                                      <p:cBhvr>
                                        <p:cTn id="68" dur="1000" fill="hold"/>
                                        <p:tgtEl>
                                          <p:spTgt spid="24590"/>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24584"/>
                                        </p:tgtEl>
                                        <p:attrNameLst>
                                          <p:attrName>style.visibility</p:attrName>
                                        </p:attrNameLst>
                                      </p:cBhvr>
                                      <p:to>
                                        <p:strVal val="visible"/>
                                      </p:to>
                                    </p:set>
                                    <p:animEffect transition="in" filter="fade">
                                      <p:cBhvr>
                                        <p:cTn id="71" dur="1000"/>
                                        <p:tgtEl>
                                          <p:spTgt spid="24584"/>
                                        </p:tgtEl>
                                      </p:cBhvr>
                                    </p:animEffect>
                                    <p:anim calcmode="lin" valueType="num">
                                      <p:cBhvr>
                                        <p:cTn id="72" dur="1000" fill="hold"/>
                                        <p:tgtEl>
                                          <p:spTgt spid="24584"/>
                                        </p:tgtEl>
                                        <p:attrNameLst>
                                          <p:attrName>ppt_x</p:attrName>
                                        </p:attrNameLst>
                                      </p:cBhvr>
                                      <p:tavLst>
                                        <p:tav tm="0">
                                          <p:val>
                                            <p:strVal val="#ppt_x"/>
                                          </p:val>
                                        </p:tav>
                                        <p:tav tm="100000">
                                          <p:val>
                                            <p:strVal val="#ppt_x"/>
                                          </p:val>
                                        </p:tav>
                                      </p:tavLst>
                                    </p:anim>
                                    <p:anim calcmode="lin" valueType="num">
                                      <p:cBhvr>
                                        <p:cTn id="73" dur="1000" fill="hold"/>
                                        <p:tgtEl>
                                          <p:spTgt spid="24584"/>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24592"/>
                                        </p:tgtEl>
                                        <p:attrNameLst>
                                          <p:attrName>style.visibility</p:attrName>
                                        </p:attrNameLst>
                                      </p:cBhvr>
                                      <p:to>
                                        <p:strVal val="visible"/>
                                      </p:to>
                                    </p:set>
                                    <p:animEffect transition="in" filter="fade">
                                      <p:cBhvr>
                                        <p:cTn id="76" dur="1000"/>
                                        <p:tgtEl>
                                          <p:spTgt spid="24592"/>
                                        </p:tgtEl>
                                      </p:cBhvr>
                                    </p:animEffect>
                                    <p:anim calcmode="lin" valueType="num">
                                      <p:cBhvr>
                                        <p:cTn id="77" dur="1000" fill="hold"/>
                                        <p:tgtEl>
                                          <p:spTgt spid="24592"/>
                                        </p:tgtEl>
                                        <p:attrNameLst>
                                          <p:attrName>ppt_x</p:attrName>
                                        </p:attrNameLst>
                                      </p:cBhvr>
                                      <p:tavLst>
                                        <p:tav tm="0">
                                          <p:val>
                                            <p:strVal val="#ppt_x"/>
                                          </p:val>
                                        </p:tav>
                                        <p:tav tm="100000">
                                          <p:val>
                                            <p:strVal val="#ppt_x"/>
                                          </p:val>
                                        </p:tav>
                                      </p:tavLst>
                                    </p:anim>
                                    <p:anim calcmode="lin" valueType="num">
                                      <p:cBhvr>
                                        <p:cTn id="78" dur="1000" fill="hold"/>
                                        <p:tgtEl>
                                          <p:spTgt spid="24592"/>
                                        </p:tgtEl>
                                        <p:attrNameLst>
                                          <p:attrName>ppt_y</p:attrName>
                                        </p:attrNameLst>
                                      </p:cBhvr>
                                      <p:tavLst>
                                        <p:tav tm="0">
                                          <p:val>
                                            <p:strVal val="#ppt_y-.1"/>
                                          </p:val>
                                        </p:tav>
                                        <p:tav tm="100000">
                                          <p:val>
                                            <p:strVal val="#ppt_y"/>
                                          </p:val>
                                        </p:tav>
                                      </p:tavLst>
                                    </p:anim>
                                  </p:childTnLst>
                                </p:cTn>
                              </p:par>
                              <p:par>
                                <p:cTn id="79" presetID="47" presetClass="entr" presetSubtype="0" fill="hold" grpId="0" nodeType="withEffect">
                                  <p:stCondLst>
                                    <p:cond delay="0"/>
                                  </p:stCondLst>
                                  <p:childTnLst>
                                    <p:set>
                                      <p:cBhvr>
                                        <p:cTn id="80" dur="1" fill="hold">
                                          <p:stCondLst>
                                            <p:cond delay="0"/>
                                          </p:stCondLst>
                                        </p:cTn>
                                        <p:tgtEl>
                                          <p:spTgt spid="24586"/>
                                        </p:tgtEl>
                                        <p:attrNameLst>
                                          <p:attrName>style.visibility</p:attrName>
                                        </p:attrNameLst>
                                      </p:cBhvr>
                                      <p:to>
                                        <p:strVal val="visible"/>
                                      </p:to>
                                    </p:set>
                                    <p:animEffect transition="in" filter="fade">
                                      <p:cBhvr>
                                        <p:cTn id="81" dur="1000"/>
                                        <p:tgtEl>
                                          <p:spTgt spid="24586"/>
                                        </p:tgtEl>
                                      </p:cBhvr>
                                    </p:animEffect>
                                    <p:anim calcmode="lin" valueType="num">
                                      <p:cBhvr>
                                        <p:cTn id="82" dur="1000" fill="hold"/>
                                        <p:tgtEl>
                                          <p:spTgt spid="24586"/>
                                        </p:tgtEl>
                                        <p:attrNameLst>
                                          <p:attrName>ppt_x</p:attrName>
                                        </p:attrNameLst>
                                      </p:cBhvr>
                                      <p:tavLst>
                                        <p:tav tm="0">
                                          <p:val>
                                            <p:strVal val="#ppt_x"/>
                                          </p:val>
                                        </p:tav>
                                        <p:tav tm="100000">
                                          <p:val>
                                            <p:strVal val="#ppt_x"/>
                                          </p:val>
                                        </p:tav>
                                      </p:tavLst>
                                    </p:anim>
                                    <p:anim calcmode="lin" valueType="num">
                                      <p:cBhvr>
                                        <p:cTn id="83" dur="1000" fill="hold"/>
                                        <p:tgtEl>
                                          <p:spTgt spid="24586"/>
                                        </p:tgtEl>
                                        <p:attrNameLst>
                                          <p:attrName>ppt_y</p:attrName>
                                        </p:attrNameLst>
                                      </p:cBhvr>
                                      <p:tavLst>
                                        <p:tav tm="0">
                                          <p:val>
                                            <p:strVal val="#ppt_y-.1"/>
                                          </p:val>
                                        </p:tav>
                                        <p:tav tm="100000">
                                          <p:val>
                                            <p:strVal val="#ppt_y"/>
                                          </p:val>
                                        </p:tav>
                                      </p:tavLst>
                                    </p:anim>
                                  </p:childTnLst>
                                </p:cTn>
                              </p:par>
                              <p:par>
                                <p:cTn id="84" presetID="47" presetClass="entr" presetSubtype="0" fill="hold" grpId="0" nodeType="withEffect">
                                  <p:stCondLst>
                                    <p:cond delay="0"/>
                                  </p:stCondLst>
                                  <p:childTnLst>
                                    <p:set>
                                      <p:cBhvr>
                                        <p:cTn id="85" dur="1" fill="hold">
                                          <p:stCondLst>
                                            <p:cond delay="0"/>
                                          </p:stCondLst>
                                        </p:cTn>
                                        <p:tgtEl>
                                          <p:spTgt spid="24594"/>
                                        </p:tgtEl>
                                        <p:attrNameLst>
                                          <p:attrName>style.visibility</p:attrName>
                                        </p:attrNameLst>
                                      </p:cBhvr>
                                      <p:to>
                                        <p:strVal val="visible"/>
                                      </p:to>
                                    </p:set>
                                    <p:animEffect transition="in" filter="fade">
                                      <p:cBhvr>
                                        <p:cTn id="86" dur="1000"/>
                                        <p:tgtEl>
                                          <p:spTgt spid="24594"/>
                                        </p:tgtEl>
                                      </p:cBhvr>
                                    </p:animEffect>
                                    <p:anim calcmode="lin" valueType="num">
                                      <p:cBhvr>
                                        <p:cTn id="87" dur="1000" fill="hold"/>
                                        <p:tgtEl>
                                          <p:spTgt spid="24594"/>
                                        </p:tgtEl>
                                        <p:attrNameLst>
                                          <p:attrName>ppt_x</p:attrName>
                                        </p:attrNameLst>
                                      </p:cBhvr>
                                      <p:tavLst>
                                        <p:tav tm="0">
                                          <p:val>
                                            <p:strVal val="#ppt_x"/>
                                          </p:val>
                                        </p:tav>
                                        <p:tav tm="100000">
                                          <p:val>
                                            <p:strVal val="#ppt_x"/>
                                          </p:val>
                                        </p:tav>
                                      </p:tavLst>
                                    </p:anim>
                                    <p:anim calcmode="lin" valueType="num">
                                      <p:cBhvr>
                                        <p:cTn id="88" dur="1000" fill="hold"/>
                                        <p:tgtEl>
                                          <p:spTgt spid="24594"/>
                                        </p:tgtEl>
                                        <p:attrNameLst>
                                          <p:attrName>ppt_y</p:attrName>
                                        </p:attrNameLst>
                                      </p:cBhvr>
                                      <p:tavLst>
                                        <p:tav tm="0">
                                          <p:val>
                                            <p:strVal val="#ppt_y-.1"/>
                                          </p:val>
                                        </p:tav>
                                        <p:tav tm="100000">
                                          <p:val>
                                            <p:strVal val="#ppt_y"/>
                                          </p:val>
                                        </p:tav>
                                      </p:tavLst>
                                    </p:anim>
                                  </p:childTnLst>
                                </p:cTn>
                              </p:par>
                              <p:par>
                                <p:cTn id="89" presetID="47" presetClass="entr" presetSubtype="0" fill="hold" grpId="0" nodeType="withEffect">
                                  <p:stCondLst>
                                    <p:cond delay="0"/>
                                  </p:stCondLst>
                                  <p:childTnLst>
                                    <p:set>
                                      <p:cBhvr>
                                        <p:cTn id="90" dur="1" fill="hold">
                                          <p:stCondLst>
                                            <p:cond delay="0"/>
                                          </p:stCondLst>
                                        </p:cTn>
                                        <p:tgtEl>
                                          <p:spTgt spid="24589"/>
                                        </p:tgtEl>
                                        <p:attrNameLst>
                                          <p:attrName>style.visibility</p:attrName>
                                        </p:attrNameLst>
                                      </p:cBhvr>
                                      <p:to>
                                        <p:strVal val="visible"/>
                                      </p:to>
                                    </p:set>
                                    <p:animEffect transition="in" filter="fade">
                                      <p:cBhvr>
                                        <p:cTn id="91" dur="1000"/>
                                        <p:tgtEl>
                                          <p:spTgt spid="24589"/>
                                        </p:tgtEl>
                                      </p:cBhvr>
                                    </p:animEffect>
                                    <p:anim calcmode="lin" valueType="num">
                                      <p:cBhvr>
                                        <p:cTn id="92" dur="1000" fill="hold"/>
                                        <p:tgtEl>
                                          <p:spTgt spid="24589"/>
                                        </p:tgtEl>
                                        <p:attrNameLst>
                                          <p:attrName>ppt_x</p:attrName>
                                        </p:attrNameLst>
                                      </p:cBhvr>
                                      <p:tavLst>
                                        <p:tav tm="0">
                                          <p:val>
                                            <p:strVal val="#ppt_x"/>
                                          </p:val>
                                        </p:tav>
                                        <p:tav tm="100000">
                                          <p:val>
                                            <p:strVal val="#ppt_x"/>
                                          </p:val>
                                        </p:tav>
                                      </p:tavLst>
                                    </p:anim>
                                    <p:anim calcmode="lin" valueType="num">
                                      <p:cBhvr>
                                        <p:cTn id="93" dur="1000" fill="hold"/>
                                        <p:tgtEl>
                                          <p:spTgt spid="245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83" grpId="0" bldLvl="0" animBg="1"/>
      <p:bldP spid="24584" grpId="0" bldLvl="0" animBg="1"/>
      <p:bldP spid="24585" grpId="0" bldLvl="0" animBg="1"/>
      <p:bldP spid="24586" grpId="0" bldLvl="0" animBg="1"/>
      <p:bldP spid="24588" grpId="0" bldLvl="0" animBg="1"/>
      <p:bldP spid="24589" grpId="0" bldLvl="0" animBg="1"/>
      <p:bldP spid="24590" grpId="0"/>
      <p:bldP spid="24591" grpId="0"/>
      <p:bldP spid="24592" grpId="0"/>
      <p:bldP spid="24593" grpId="0"/>
      <p:bldP spid="24594" grpId="0"/>
      <p:bldP spid="24595" grpId="0"/>
      <p:bldP spid="24596"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30722"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30723"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30724"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未来发展</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方向</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30725"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5</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30726" name="Freeform 28"/>
          <p:cNvSpPr>
            <a:spLocks noEditPoints="1"/>
          </p:cNvSpPr>
          <p:nvPr/>
        </p:nvSpPr>
        <p:spPr>
          <a:xfrm>
            <a:off x="5376863" y="850900"/>
            <a:ext cx="1511300" cy="127793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ln>
        </p:spPr>
        <p:txBody>
          <a:bodyPr/>
          <a:lstStyle/>
          <a:p>
            <a:endParaRPr lang="zh-CN" altLang="en-US" sz="1800"/>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ldLvl="0" animBg="1"/>
      <p:bldP spid="30724" grpId="0"/>
      <p:bldP spid="307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2468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未来发展方向</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7" name="TextBox 6"/>
          <p:cNvSpPr txBox="1"/>
          <p:nvPr>
            <p:custDataLst>
              <p:tags r:id="rId4"/>
            </p:custDataLst>
          </p:nvPr>
        </p:nvSpPr>
        <p:spPr>
          <a:xfrm>
            <a:off x="1366838" y="1309688"/>
            <a:ext cx="2220912" cy="491490"/>
          </a:xfrm>
          <a:prstGeom prst="rect">
            <a:avLst/>
          </a:prstGeom>
          <a:noFill/>
          <a:ln w="9525">
            <a:noFill/>
          </a:ln>
        </p:spPr>
        <p:txBody>
          <a:bodyPr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方向一</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48" name="TextBox 7"/>
          <p:cNvSpPr txBox="1"/>
          <p:nvPr>
            <p:custDataLst>
              <p:tags r:id="rId5"/>
            </p:custDataLst>
          </p:nvPr>
        </p:nvSpPr>
        <p:spPr>
          <a:xfrm>
            <a:off x="1412875" y="1997075"/>
            <a:ext cx="3433763" cy="1753235"/>
          </a:xfrm>
          <a:prstGeom prst="rect">
            <a:avLst/>
          </a:prstGeom>
          <a:noFill/>
          <a:ln w="9525">
            <a:noFill/>
          </a:ln>
        </p:spPr>
        <p:txBody>
          <a:bodyPr anchor="t">
            <a:spAutoFit/>
          </a:bodyPr>
          <a:lstStyle/>
          <a:p>
            <a:pPr algn="just">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rPr>
              <a:t>将</a:t>
            </a:r>
            <a:r>
              <a:rPr lang="en-US" altLang="zh-CN" sz="1800" dirty="0" smtClean="0">
                <a:solidFill>
                  <a:schemeClr val="accent1"/>
                </a:solidFill>
                <a:latin typeface="微软雅黑" panose="020B0503020204020204" pitchFamily="34" charset="-122"/>
                <a:ea typeface="微软雅黑" panose="020B0503020204020204" pitchFamily="34" charset="-122"/>
              </a:rPr>
              <a:t>IAM</a:t>
            </a:r>
            <a:r>
              <a:rPr lang="zh-CN" altLang="en-US" sz="1800" dirty="0" smtClean="0">
                <a:solidFill>
                  <a:schemeClr val="accent1"/>
                </a:solidFill>
                <a:latin typeface="微软雅黑" panose="020B0503020204020204" pitchFamily="34" charset="-122"/>
                <a:ea typeface="微软雅黑" panose="020B0503020204020204" pitchFamily="34" charset="-122"/>
              </a:rPr>
              <a:t>的映射从层粒度精确到注意力头粒度。为每个注意力头独立建立映射，只替换相似度高的头，保留差异大的头</a:t>
            </a:r>
            <a:endParaRPr lang="zh-CN" altLang="en-US" sz="1800" dirty="0" smtClean="0">
              <a:solidFill>
                <a:schemeClr val="accent1"/>
              </a:solidFill>
              <a:latin typeface="微软雅黑" panose="020B0503020204020204" pitchFamily="34" charset="-122"/>
              <a:ea typeface="微软雅黑" panose="020B0503020204020204" pitchFamily="34" charset="-122"/>
            </a:endParaRPr>
          </a:p>
        </p:txBody>
      </p:sp>
      <p:sp>
        <p:nvSpPr>
          <p:cNvPr id="35849" name="Freeform 10"/>
          <p:cNvSpPr/>
          <p:nvPr>
            <p:custDataLst>
              <p:tags r:id="rId6"/>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7"/>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8"/>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52" name="TextBox 11"/>
          <p:cNvSpPr txBox="1"/>
          <p:nvPr>
            <p:custDataLst>
              <p:tags r:id="rId9"/>
            </p:custDataLst>
          </p:nvPr>
        </p:nvSpPr>
        <p:spPr>
          <a:xfrm>
            <a:off x="6184900" y="1309688"/>
            <a:ext cx="2220913" cy="491490"/>
          </a:xfrm>
          <a:prstGeom prst="rect">
            <a:avLst/>
          </a:prstGeom>
          <a:noFill/>
          <a:ln w="9525">
            <a:noFill/>
          </a:ln>
        </p:spPr>
        <p:txBody>
          <a:bodyPr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方向二</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53" name="TextBox 13"/>
          <p:cNvSpPr txBox="1"/>
          <p:nvPr>
            <p:custDataLst>
              <p:tags r:id="rId10"/>
            </p:custDataLst>
          </p:nvPr>
        </p:nvSpPr>
        <p:spPr>
          <a:xfrm>
            <a:off x="6196013" y="1997075"/>
            <a:ext cx="3432175" cy="1753235"/>
          </a:xfrm>
          <a:prstGeom prst="rect">
            <a:avLst/>
          </a:prstGeom>
          <a:noFill/>
          <a:ln w="9525">
            <a:noFill/>
          </a:ln>
        </p:spPr>
        <p:txBody>
          <a:bodyPr anchor="t">
            <a:spAutoFit/>
          </a:bodyPr>
          <a:lstStyle/>
          <a:p>
            <a:pPr algn="l">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rPr>
              <a:t>设计无需完整矩阵的相似度估算方法，使其可以兼容</a:t>
            </a:r>
            <a:r>
              <a:rPr lang="en-US" altLang="zh-CN" sz="1800" dirty="0">
                <a:solidFill>
                  <a:schemeClr val="accent1"/>
                </a:solidFill>
                <a:latin typeface="微软雅黑" panose="020B0503020204020204" pitchFamily="34" charset="-122"/>
                <a:ea typeface="微软雅黑" panose="020B0503020204020204" pitchFamily="34" charset="-122"/>
              </a:rPr>
              <a:t> FlashAttention </a:t>
            </a:r>
            <a:r>
              <a:rPr lang="zh-CN" altLang="en-US" sz="1800" dirty="0">
                <a:solidFill>
                  <a:schemeClr val="accent1"/>
                </a:solidFill>
                <a:latin typeface="微软雅黑" panose="020B0503020204020204" pitchFamily="34" charset="-122"/>
                <a:ea typeface="微软雅黑" panose="020B0503020204020204" pitchFamily="34" charset="-122"/>
              </a:rPr>
              <a:t>等高效注意力算法</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900"/>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900"/>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400"/>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35847"/>
                                        </p:tgtEl>
                                        <p:attrNameLst>
                                          <p:attrName>style.visibility</p:attrName>
                                        </p:attrNameLst>
                                      </p:cBhvr>
                                      <p:to>
                                        <p:strVal val="visible"/>
                                      </p:to>
                                    </p:set>
                                    <p:anim by="(-#ppt_w*2)" calcmode="lin" valueType="num">
                                      <p:cBhvr rctx="PPT">
                                        <p:cTn id="34" dur="250" autoRev="1" fill="hold">
                                          <p:stCondLst>
                                            <p:cond delay="0"/>
                                          </p:stCondLst>
                                        </p:cTn>
                                        <p:tgtEl>
                                          <p:spTgt spid="35847"/>
                                        </p:tgtEl>
                                        <p:attrNameLst>
                                          <p:attrName>ppt_w</p:attrName>
                                        </p:attrNameLst>
                                      </p:cBhvr>
                                    </p:anim>
                                    <p:anim by="(#ppt_w*0.50)" calcmode="lin" valueType="num">
                                      <p:cBhvr>
                                        <p:cTn id="35" dur="250" decel="50000" autoRev="1" fill="hold">
                                          <p:stCondLst>
                                            <p:cond delay="0"/>
                                          </p:stCondLst>
                                        </p:cTn>
                                        <p:tgtEl>
                                          <p:spTgt spid="35847"/>
                                        </p:tgtEl>
                                        <p:attrNameLst>
                                          <p:attrName>ppt_x</p:attrName>
                                        </p:attrNameLst>
                                      </p:cBhvr>
                                    </p:anim>
                                    <p:anim from="(-#ppt_h/2)" to="(#ppt_y)" calcmode="lin" valueType="num">
                                      <p:cBhvr>
                                        <p:cTn id="36" dur="500" fill="hold">
                                          <p:stCondLst>
                                            <p:cond delay="0"/>
                                          </p:stCondLst>
                                        </p:cTn>
                                        <p:tgtEl>
                                          <p:spTgt spid="35847"/>
                                        </p:tgtEl>
                                        <p:attrNameLst>
                                          <p:attrName>ppt_y</p:attrName>
                                        </p:attrNameLst>
                                      </p:cBhvr>
                                    </p:anim>
                                    <p:animRot by="21600000">
                                      <p:cBhvr>
                                        <p:cTn id="37" dur="500" fill="hold">
                                          <p:stCondLst>
                                            <p:cond delay="0"/>
                                          </p:stCondLst>
                                        </p:cTn>
                                        <p:tgtEl>
                                          <p:spTgt spid="35847"/>
                                        </p:tgtEl>
                                        <p:attrNameLst>
                                          <p:attrName>r</p:attrName>
                                        </p:attrNameLst>
                                      </p:cBhvr>
                                    </p:animRot>
                                  </p:childTnLst>
                                </p:cTn>
                              </p:par>
                            </p:childTnLst>
                          </p:cTn>
                        </p:par>
                        <p:par>
                          <p:cTn id="38" fill="hold">
                            <p:stCondLst>
                              <p:cond delay="2799"/>
                            </p:stCondLst>
                            <p:childTnLst>
                              <p:par>
                                <p:cTn id="39" presetID="22" presetClass="entr" presetSubtype="1" fill="hold" grpId="0" nodeType="afterEffect">
                                  <p:stCondLst>
                                    <p:cond delay="0"/>
                                  </p:stCondLst>
                                  <p:childTnLst>
                                    <p:set>
                                      <p:cBhvr>
                                        <p:cTn id="40" dur="1" fill="hold">
                                          <p:stCondLst>
                                            <p:cond delay="0"/>
                                          </p:stCondLst>
                                        </p:cTn>
                                        <p:tgtEl>
                                          <p:spTgt spid="35848"/>
                                        </p:tgtEl>
                                        <p:attrNameLst>
                                          <p:attrName>style.visibility</p:attrName>
                                        </p:attrNameLst>
                                      </p:cBhvr>
                                      <p:to>
                                        <p:strVal val="visible"/>
                                      </p:to>
                                    </p:set>
                                    <p:animEffect transition="in" filter="wipe(up)">
                                      <p:cBhvr>
                                        <p:cTn id="41" dur="500"/>
                                        <p:tgtEl>
                                          <p:spTgt spid="35848"/>
                                        </p:tgtEl>
                                      </p:cBhvr>
                                    </p:animEffect>
                                  </p:childTnLst>
                                </p:cTn>
                              </p:par>
                            </p:childTnLst>
                          </p:cTn>
                        </p:par>
                        <p:par>
                          <p:cTn id="42" fill="hold">
                            <p:stCondLst>
                              <p:cond delay="3299"/>
                            </p:stCondLst>
                            <p:childTnLst>
                              <p:par>
                                <p:cTn id="43" presetID="22" presetClass="entr" presetSubtype="4" fill="hold" nodeType="afterEffect">
                                  <p:stCondLst>
                                    <p:cond delay="0"/>
                                  </p:stCondLst>
                                  <p:childTnLst>
                                    <p:set>
                                      <p:cBhvr>
                                        <p:cTn id="44" dur="1" fill="hold">
                                          <p:stCondLst>
                                            <p:cond delay="0"/>
                                          </p:stCondLst>
                                        </p:cTn>
                                        <p:tgtEl>
                                          <p:spTgt spid="35849"/>
                                        </p:tgtEl>
                                        <p:attrNameLst>
                                          <p:attrName>style.visibility</p:attrName>
                                        </p:attrNameLst>
                                      </p:cBhvr>
                                      <p:to>
                                        <p:strVal val="visible"/>
                                      </p:to>
                                    </p:set>
                                    <p:animEffect transition="in" filter="wipe(down)">
                                      <p:cBhvr>
                                        <p:cTn id="45" dur="500"/>
                                        <p:tgtEl>
                                          <p:spTgt spid="35849"/>
                                        </p:tgtEl>
                                      </p:cBhvr>
                                    </p:animEffect>
                                  </p:childTnLst>
                                </p:cTn>
                              </p:par>
                            </p:childTnLst>
                          </p:cTn>
                        </p:par>
                        <p:par>
                          <p:cTn id="46" fill="hold">
                            <p:stCondLst>
                              <p:cond delay="3799"/>
                            </p:stCondLst>
                            <p:childTnLst>
                              <p:par>
                                <p:cTn id="47" presetID="22" presetClass="entr" presetSubtype="2" fill="hold" nodeType="afterEffect">
                                  <p:stCondLst>
                                    <p:cond delay="0"/>
                                  </p:stCondLst>
                                  <p:childTnLst>
                                    <p:set>
                                      <p:cBhvr>
                                        <p:cTn id="48" dur="1" fill="hold">
                                          <p:stCondLst>
                                            <p:cond delay="0"/>
                                          </p:stCondLst>
                                        </p:cTn>
                                        <p:tgtEl>
                                          <p:spTgt spid="35850"/>
                                        </p:tgtEl>
                                        <p:attrNameLst>
                                          <p:attrName>style.visibility</p:attrName>
                                        </p:attrNameLst>
                                      </p:cBhvr>
                                      <p:to>
                                        <p:strVal val="visible"/>
                                      </p:to>
                                    </p:set>
                                    <p:animEffect transition="in" filter="wipe(right)">
                                      <p:cBhvr>
                                        <p:cTn id="49" dur="300"/>
                                        <p:tgtEl>
                                          <p:spTgt spid="35850"/>
                                        </p:tgtEl>
                                      </p:cBhvr>
                                    </p:animEffect>
                                  </p:childTnLst>
                                </p:cTn>
                              </p:par>
                            </p:childTnLst>
                          </p:cTn>
                        </p:par>
                        <p:par>
                          <p:cTn id="50" fill="hold">
                            <p:stCondLst>
                              <p:cond delay="4299"/>
                            </p:stCondLst>
                            <p:childTnLst>
                              <p:par>
                                <p:cTn id="51" presetID="22" presetClass="entr" presetSubtype="8" fill="hold" nodeType="afterEffect">
                                  <p:stCondLst>
                                    <p:cond delay="0"/>
                                  </p:stCondLst>
                                  <p:childTnLst>
                                    <p:set>
                                      <p:cBhvr>
                                        <p:cTn id="52" dur="1" fill="hold">
                                          <p:stCondLst>
                                            <p:cond delay="0"/>
                                          </p:stCondLst>
                                        </p:cTn>
                                        <p:tgtEl>
                                          <p:spTgt spid="35851"/>
                                        </p:tgtEl>
                                        <p:attrNameLst>
                                          <p:attrName>style.visibility</p:attrName>
                                        </p:attrNameLst>
                                      </p:cBhvr>
                                      <p:to>
                                        <p:strVal val="visible"/>
                                      </p:to>
                                    </p:set>
                                    <p:animEffect transition="in" filter="wipe(left)">
                                      <p:cBhvr>
                                        <p:cTn id="53" dur="500"/>
                                        <p:tgtEl>
                                          <p:spTgt spid="35851"/>
                                        </p:tgtEl>
                                      </p:cBhvr>
                                    </p:animEffect>
                                  </p:childTnLst>
                                </p:cTn>
                              </p:par>
                            </p:childTnLst>
                          </p:cTn>
                        </p:par>
                        <p:par>
                          <p:cTn id="54" fill="hold">
                            <p:stCondLst>
                              <p:cond delay="4799"/>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35852"/>
                                        </p:tgtEl>
                                        <p:attrNameLst>
                                          <p:attrName>style.visibility</p:attrName>
                                        </p:attrNameLst>
                                      </p:cBhvr>
                                      <p:to>
                                        <p:strVal val="visible"/>
                                      </p:to>
                                    </p:set>
                                    <p:anim by="(-#ppt_w*2)" calcmode="lin" valueType="num">
                                      <p:cBhvr rctx="PPT">
                                        <p:cTn id="57" dur="250" autoRev="1" fill="hold">
                                          <p:stCondLst>
                                            <p:cond delay="0"/>
                                          </p:stCondLst>
                                        </p:cTn>
                                        <p:tgtEl>
                                          <p:spTgt spid="35852"/>
                                        </p:tgtEl>
                                        <p:attrNameLst>
                                          <p:attrName>ppt_w</p:attrName>
                                        </p:attrNameLst>
                                      </p:cBhvr>
                                    </p:anim>
                                    <p:anim by="(#ppt_w*0.50)" calcmode="lin" valueType="num">
                                      <p:cBhvr>
                                        <p:cTn id="58" dur="250" decel="50000" autoRev="1" fill="hold">
                                          <p:stCondLst>
                                            <p:cond delay="0"/>
                                          </p:stCondLst>
                                        </p:cTn>
                                        <p:tgtEl>
                                          <p:spTgt spid="35852"/>
                                        </p:tgtEl>
                                        <p:attrNameLst>
                                          <p:attrName>ppt_x</p:attrName>
                                        </p:attrNameLst>
                                      </p:cBhvr>
                                    </p:anim>
                                    <p:anim from="(-#ppt_h/2)" to="(#ppt_y)" calcmode="lin" valueType="num">
                                      <p:cBhvr>
                                        <p:cTn id="59" dur="500" fill="hold">
                                          <p:stCondLst>
                                            <p:cond delay="0"/>
                                          </p:stCondLst>
                                        </p:cTn>
                                        <p:tgtEl>
                                          <p:spTgt spid="35852"/>
                                        </p:tgtEl>
                                        <p:attrNameLst>
                                          <p:attrName>ppt_y</p:attrName>
                                        </p:attrNameLst>
                                      </p:cBhvr>
                                    </p:anim>
                                    <p:animRot by="21600000">
                                      <p:cBhvr>
                                        <p:cTn id="60" dur="500" fill="hold">
                                          <p:stCondLst>
                                            <p:cond delay="0"/>
                                          </p:stCondLst>
                                        </p:cTn>
                                        <p:tgtEl>
                                          <p:spTgt spid="35852"/>
                                        </p:tgtEl>
                                        <p:attrNameLst>
                                          <p:attrName>r</p:attrName>
                                        </p:attrNameLst>
                                      </p:cBhvr>
                                    </p:animRot>
                                  </p:childTnLst>
                                </p:cTn>
                              </p:par>
                            </p:childTnLst>
                          </p:cTn>
                        </p:par>
                        <p:par>
                          <p:cTn id="61" fill="hold">
                            <p:stCondLst>
                              <p:cond delay="5200"/>
                            </p:stCondLst>
                            <p:childTnLst>
                              <p:par>
                                <p:cTn id="62" presetID="22" presetClass="entr" presetSubtype="1" fill="hold" grpId="0" nodeType="afterEffect">
                                  <p:stCondLst>
                                    <p:cond delay="0"/>
                                  </p:stCondLst>
                                  <p:childTnLst>
                                    <p:set>
                                      <p:cBhvr>
                                        <p:cTn id="63" dur="1" fill="hold">
                                          <p:stCondLst>
                                            <p:cond delay="0"/>
                                          </p:stCondLst>
                                        </p:cTn>
                                        <p:tgtEl>
                                          <p:spTgt spid="35853"/>
                                        </p:tgtEl>
                                        <p:attrNameLst>
                                          <p:attrName>style.visibility</p:attrName>
                                        </p:attrNameLst>
                                      </p:cBhvr>
                                      <p:to>
                                        <p:strVal val="visible"/>
                                      </p:to>
                                    </p:set>
                                    <p:animEffect transition="in" filter="wipe(up)">
                                      <p:cBhvr>
                                        <p:cTn id="64"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7" grpId="0"/>
      <p:bldP spid="35848" grpId="0"/>
      <p:bldP spid="35852" grpId="0"/>
      <p:bldP spid="3585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smtClean="0">
                <a:solidFill>
                  <a:schemeClr val="accent2"/>
                </a:solidFill>
                <a:latin typeface="微软雅黑" panose="020B0503020204020204" pitchFamily="34" charset="-122"/>
                <a:ea typeface="微软雅黑" panose="020B0503020204020204" pitchFamily="34" charset="-122"/>
              </a:rPr>
              <a:t>感谢您的批评指正</a:t>
            </a:r>
            <a:endParaRPr lang="zh-CN" altLang="en-US" sz="60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17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tags/tag1.xml><?xml version="1.0" encoding="utf-8"?>
<p:tagLst xmlns:p="http://schemas.openxmlformats.org/presentationml/2006/main">
  <p:tag name="KSO_WM_DIAGRAM_VIRTUALLY_FRAME" val="{&quot;height&quot;:393.62496062992125,&quot;left&quot;:278.25,&quot;top&quot;:82.37503937007874,&quot;width&quot;:542.1250393700788}"/>
</p:tagLst>
</file>

<file path=ppt/tags/tag2.xml><?xml version="1.0" encoding="utf-8"?>
<p:tagLst xmlns:p="http://schemas.openxmlformats.org/presentationml/2006/main">
  <p:tag name="KSO_WM_DIAGRAM_VIRTUALLY_FRAME" val="{&quot;height&quot;:393.62496062992125,&quot;left&quot;:278.25,&quot;top&quot;:82.37503937007874,&quot;width&quot;:542.1250393700788}"/>
</p:tagLst>
</file>

<file path=ppt/tags/tag3.xml><?xml version="1.0" encoding="utf-8"?>
<p:tagLst xmlns:p="http://schemas.openxmlformats.org/presentationml/2006/main">
  <p:tag name="KSO_WM_DIAGRAM_VIRTUALLY_FRAME" val="{&quot;height&quot;:393.62496062992125,&quot;left&quot;:278.25,&quot;top&quot;:82.37503937007874,&quot;width&quot;:542.1250393700788}"/>
</p:tagLst>
</file>

<file path=ppt/tags/tag4.xml><?xml version="1.0" encoding="utf-8"?>
<p:tagLst xmlns:p="http://schemas.openxmlformats.org/presentationml/2006/main">
  <p:tag name="KSO_WM_DIAGRAM_VIRTUALLY_FRAME" val="{&quot;height&quot;:393.62496062992125,&quot;left&quot;:278.25,&quot;top&quot;:82.37503937007874,&quot;width&quot;:542.1250393700788}"/>
</p:tagLst>
</file>

<file path=ppt/tags/tag5.xml><?xml version="1.0" encoding="utf-8"?>
<p:tagLst xmlns:p="http://schemas.openxmlformats.org/presentationml/2006/main">
  <p:tag name="KSO_WM_DIAGRAM_VIRTUALLY_FRAME" val="{&quot;height&quot;:393.62496062992125,&quot;left&quot;:278.25,&quot;top&quot;:82.37503937007874,&quot;width&quot;:542.1250393700788}"/>
</p:tagLst>
</file>

<file path=ppt/tags/tag6.xml><?xml version="1.0" encoding="utf-8"?>
<p:tagLst xmlns:p="http://schemas.openxmlformats.org/presentationml/2006/main">
  <p:tag name="KSO_WM_DIAGRAM_VIRTUALLY_FRAME" val="{&quot;height&quot;:393.62496062992125,&quot;left&quot;:278.25,&quot;top&quot;:82.37503937007874,&quot;width&quot;:542.1250393700788}"/>
</p:tagLst>
</file>

<file path=ppt/tags/tag7.xml><?xml version="1.0" encoding="utf-8"?>
<p:tagLst xmlns:p="http://schemas.openxmlformats.org/presentationml/2006/main">
  <p:tag name="KSO_WM_DIAGRAM_VIRTUALLY_FRAME" val="{&quot;height&quot;:393.62496062992125,&quot;left&quot;:278.25,&quot;top&quot;:82.37503937007874,&quot;width&quot;:542.1250393700788}"/>
</p:tagLst>
</file>

<file path=ppt/tags/tag8.xml><?xml version="1.0" encoding="utf-8"?>
<p:tagLst xmlns:p="http://schemas.openxmlformats.org/presentationml/2006/main">
  <p:tag name="KSO_WM_DIAGRAM_VIRTUALLY_FRAME" val="{&quot;height&quot;:393.62496062992125,&quot;left&quot;:278.25,&quot;top&quot;:82.37503937007874,&quot;width&quot;:542.1250393700788}"/>
</p:tagLst>
</file>

<file path=ppt/tags/tag9.xml><?xml version="1.0" encoding="utf-8"?>
<p:tagLst xmlns:p="http://schemas.openxmlformats.org/presentationml/2006/main">
  <p:tag name="KSO_WM_DIAGRAM_VIRTUALLY_FRAME" val="{&quot;height&quot;:393.62496062992125,&quot;left&quot;:278.25,&quot;top&quot;:82.37503937007874,&quot;width&quot;:542.1250393700788}"/>
</p:tagLst>
</file>

<file path=ppt/tags/tag10.xml><?xml version="1.0" encoding="utf-8"?>
<p:tagLst xmlns:p="http://schemas.openxmlformats.org/presentationml/2006/main">
  <p:tag name="KSO_WM_DIAGRAM_VIRTUALLY_FRAME" val="{&quot;height&quot;:393.62496062992125,&quot;left&quot;:278.25,&quot;top&quot;:82.37503937007874,&quot;width&quot;:542.1250393700788}"/>
</p:tagLst>
</file>

<file path=ppt/tags/tag11.xml><?xml version="1.0" encoding="utf-8"?>
<p:tagLst xmlns:p="http://schemas.openxmlformats.org/presentationml/2006/main">
  <p:tag name="KSO_WM_DIAGRAM_VIRTUALLY_FRAME" val="{&quot;height&quot;:393.62496062992125,&quot;left&quot;:278.25,&quot;top&quot;:82.37503937007874,&quot;width&quot;:542.1250393700788}"/>
</p:tagLst>
</file>

<file path=ppt/tags/tag12.xml><?xml version="1.0" encoding="utf-8"?>
<p:tagLst xmlns:p="http://schemas.openxmlformats.org/presentationml/2006/main">
  <p:tag name="KSO_WM_DIAGRAM_VIRTUALLY_FRAME" val="{&quot;height&quot;:393.62496062992125,&quot;left&quot;:278.25,&quot;top&quot;:82.37503937007874,&quot;width&quot;:542.1250393700788}"/>
</p:tagLst>
</file>

<file path=ppt/tags/tag13.xml><?xml version="1.0" encoding="utf-8"?>
<p:tagLst xmlns:p="http://schemas.openxmlformats.org/presentationml/2006/main">
  <p:tag name="KSO_WM_DIAGRAM_VIRTUALLY_FRAME" val="{&quot;height&quot;:397.12503937007875,&quot;left&quot;:87.62503937007874,&quot;top&quot;:83.5,&quot;width&quot;:715.5}"/>
</p:tagLst>
</file>

<file path=ppt/tags/tag14.xml><?xml version="1.0" encoding="utf-8"?>
<p:tagLst xmlns:p="http://schemas.openxmlformats.org/presentationml/2006/main">
  <p:tag name="KSO_WM_DIAGRAM_VIRTUALLY_FRAME" val="{&quot;height&quot;:397.12503937007875,&quot;left&quot;:87.62503937007874,&quot;top&quot;:83.5,&quot;width&quot;:715.5}"/>
</p:tagLst>
</file>

<file path=ppt/tags/tag15.xml><?xml version="1.0" encoding="utf-8"?>
<p:tagLst xmlns:p="http://schemas.openxmlformats.org/presentationml/2006/main">
  <p:tag name="KSO_WM_DIAGRAM_VIRTUALLY_FRAME" val="{&quot;height&quot;:397.12503937007875,&quot;left&quot;:87.62503937007874,&quot;top&quot;:83.5,&quot;width&quot;:715.5}"/>
</p:tagLst>
</file>

<file path=ppt/tags/tag16.xml><?xml version="1.0" encoding="utf-8"?>
<p:tagLst xmlns:p="http://schemas.openxmlformats.org/presentationml/2006/main">
  <p:tag name="KSO_WM_DIAGRAM_VIRTUALLY_FRAME" val="{&quot;height&quot;:397.12503937007875,&quot;left&quot;:87.62503937007874,&quot;top&quot;:83.5,&quot;width&quot;:715.5}"/>
</p:tagLst>
</file>

<file path=ppt/tags/tag17.xml><?xml version="1.0" encoding="utf-8"?>
<p:tagLst xmlns:p="http://schemas.openxmlformats.org/presentationml/2006/main">
  <p:tag name="KSO_WM_DIAGRAM_VIRTUALLY_FRAME" val="{&quot;height&quot;:397.12503937007875,&quot;left&quot;:87.62503937007874,&quot;top&quot;:83.5,&quot;width&quot;:715.5}"/>
</p:tagLst>
</file>

<file path=ppt/tags/tag18.xml><?xml version="1.0" encoding="utf-8"?>
<p:tagLst xmlns:p="http://schemas.openxmlformats.org/presentationml/2006/main">
  <p:tag name="KSO_WM_DIAGRAM_VIRTUALLY_FRAME" val="{&quot;height&quot;:397.12503937007875,&quot;left&quot;:87.62503937007874,&quot;top&quot;:83.5,&quot;width&quot;:715.5}"/>
</p:tagLst>
</file>

<file path=ppt/tags/tag19.xml><?xml version="1.0" encoding="utf-8"?>
<p:tagLst xmlns:p="http://schemas.openxmlformats.org/presentationml/2006/main">
  <p:tag name="KSO_WM_DIAGRAM_VIRTUALLY_FRAME" val="{&quot;height&quot;:397.12503937007875,&quot;left&quot;:87.62503937007874,&quot;top&quot;:83.5,&quot;width&quot;:715.5}"/>
</p:tagLst>
</file>

<file path=ppt/tags/tag20.xml><?xml version="1.0" encoding="utf-8"?>
<p:tagLst xmlns:p="http://schemas.openxmlformats.org/presentationml/2006/main">
  <p:tag name="KSO_WM_DIAGRAM_VIRTUALLY_FRAME" val="{&quot;height&quot;:397.12503937007875,&quot;left&quot;:87.62503937007874,&quot;top&quot;:83.5,&quot;width&quot;:715.5}"/>
</p:tagLst>
</file>

<file path=ppt/tags/tag21.xml><?xml version="1.0" encoding="utf-8"?>
<p:tagLst xmlns:p="http://schemas.openxmlformats.org/presentationml/2006/main">
  <p:tag name="KSO_WM_DIAGRAM_VIRTUALLY_FRAME" val="{&quot;height&quot;:397.12503937007875,&quot;left&quot;:87.62503937007874,&quot;top&quot;:83.5,&quot;width&quot;:715.5}"/>
</p:tagLst>
</file>

<file path=ppt/tags/tag22.xml><?xml version="1.0" encoding="utf-8"?>
<p:tagLst xmlns:p="http://schemas.openxmlformats.org/presentationml/2006/main">
  <p:tag name="KSO_WM_DIAGRAM_VIRTUALLY_FRAME" val="{&quot;height&quot;:397.12503937007875,&quot;left&quot;:87.62503937007874,&quot;top&quot;:83.5,&quot;width&quot;:715.5}"/>
</p:tagLst>
</file>

<file path=ppt/theme/theme1.xml><?xml version="1.0" encoding="utf-8"?>
<a:theme xmlns:a="http://schemas.openxmlformats.org/drawingml/2006/main" name="1">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4113</Words>
  <Application>WPS 演示</Application>
  <PresentationFormat>自定义</PresentationFormat>
  <Paragraphs>296</Paragraphs>
  <Slides>36</Slides>
  <Notes>2</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36</vt:i4>
      </vt:variant>
    </vt:vector>
  </HeadingPairs>
  <TitlesOfParts>
    <vt:vector size="50" baseType="lpstr">
      <vt:lpstr>Arial</vt:lpstr>
      <vt:lpstr>宋体</vt:lpstr>
      <vt:lpstr>Wingdings</vt:lpstr>
      <vt:lpstr>微软雅黑</vt:lpstr>
      <vt:lpstr>仿宋_GB2312</vt:lpstr>
      <vt:lpstr>仿宋</vt:lpstr>
      <vt:lpstr>Calibri</vt:lpstr>
      <vt:lpstr>Arial Unicode MS</vt:lpstr>
      <vt:lpstr>仿宋_GB2312</vt:lpstr>
      <vt:lpstr>方正仿宋_GB2312</vt:lpstr>
      <vt:lpstr>Open Sans</vt:lpstr>
      <vt:lpstr>Segoe Print</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
  <dc:description>1</dc:description>
  <dc:subject>1</dc:subject>
  <cp:lastModifiedBy>徐凯威</cp:lastModifiedBy>
  <cp:revision>183</cp:revision>
  <dcterms:created xsi:type="dcterms:W3CDTF">2013-01-25T01:44:00Z</dcterms:created>
  <dcterms:modified xsi:type="dcterms:W3CDTF">2026-04-03T09:34:26Z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1BAC206E3D0343828404D2297830F097_13</vt:lpwstr>
  </property>
</Properties>
</file>