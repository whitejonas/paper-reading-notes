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773" r:id="rId4"/>
    <p:sldId id="832" r:id="rId6"/>
    <p:sldId id="745" r:id="rId7"/>
    <p:sldId id="804" r:id="rId8"/>
    <p:sldId id="831" r:id="rId9"/>
    <p:sldId id="807" r:id="rId10"/>
    <p:sldId id="783" r:id="rId11"/>
    <p:sldId id="805" r:id="rId12"/>
    <p:sldId id="806" r:id="rId13"/>
    <p:sldId id="808" r:id="rId14"/>
    <p:sldId id="809" r:id="rId15"/>
    <p:sldId id="789" r:id="rId16"/>
    <p:sldId id="810" r:id="rId17"/>
    <p:sldId id="811" r:id="rId18"/>
    <p:sldId id="812" r:id="rId19"/>
    <p:sldId id="814" r:id="rId20"/>
    <p:sldId id="816" r:id="rId21"/>
    <p:sldId id="817" r:id="rId22"/>
    <p:sldId id="819" r:id="rId23"/>
    <p:sldId id="820" r:id="rId24"/>
    <p:sldId id="821" r:id="rId25"/>
    <p:sldId id="794" r:id="rId26"/>
    <p:sldId id="776" r:id="rId27"/>
    <p:sldId id="822" r:id="rId28"/>
    <p:sldId id="823" r:id="rId29"/>
    <p:sldId id="824" r:id="rId30"/>
    <p:sldId id="825" r:id="rId31"/>
    <p:sldId id="826" r:id="rId32"/>
    <p:sldId id="827" r:id="rId33"/>
    <p:sldId id="829" r:id="rId34"/>
    <p:sldId id="796" r:id="rId35"/>
    <p:sldId id="830" r:id="rId36"/>
    <p:sldId id="803" r:id="rId37"/>
  </p:sldIdLst>
  <p:sldSz cx="12196445" cy="6858000"/>
  <p:notesSz cx="6858000" cy="9144000"/>
  <p:defaultTextStyle>
    <a:defPPr>
      <a:defRPr lang="zh-CN"/>
    </a:defPPr>
    <a:lvl1pPr marL="0" lvl="0"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256" userDrawn="1">
          <p15:clr>
            <a:srgbClr val="A4A3A4"/>
          </p15:clr>
        </p15:guide>
        <p15:guide id="2" pos="39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113E6A"/>
    <a:srgbClr val="006BBC"/>
    <a:srgbClr val="363636"/>
    <a:srgbClr val="FAFAFA"/>
    <a:srgbClr val="0F3D68"/>
    <a:srgbClr val="003366"/>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7" autoAdjust="0"/>
    <p:restoredTop sz="94660"/>
  </p:normalViewPr>
  <p:slideViewPr>
    <p:cSldViewPr snapToObjects="1" showGuides="1">
      <p:cViewPr varScale="1">
        <p:scale>
          <a:sx n="88" d="100"/>
          <a:sy n="88" d="100"/>
        </p:scale>
        <p:origin x="120" y="360"/>
      </p:cViewPr>
      <p:guideLst>
        <p:guide orient="horz" pos="2256"/>
        <p:guide pos="39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Grp="1" noRot="1" noChangeAspect="1"/>
          </p:cNvSpPr>
          <p:nvPr>
            <p:ph type="sldImg"/>
          </p:nvPr>
        </p:nvSpPr>
        <p:spPr>
          <a:xfrm>
            <a:off x="1143000" y="685800"/>
            <a:ext cx="4572000" cy="3429000"/>
          </a:xfrm>
          <a:prstGeom prst="rect">
            <a:avLst/>
          </a:prstGeom>
          <a:noFill/>
          <a:ln w="9525">
            <a:noFill/>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fontAlgn="base">
              <a:buChar char="•"/>
            </a:pPr>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p:cNvSpPr>
          <p:nvPr>
            <p:ph type="sldImg"/>
          </p:nvPr>
        </p:nvSpPr>
        <p:spPr>
          <a:xfrm>
            <a:off x="381000" y="685800"/>
            <a:ext cx="6096000" cy="3429000"/>
          </a:xfrm>
        </p:spPr>
      </p:sp>
      <p:sp>
        <p:nvSpPr>
          <p:cNvPr id="7170" name="文本占位符 2"/>
          <p:cNvSpPr>
            <a:spLocks noGrp="1"/>
          </p:cNvSpPr>
          <p:nvPr>
            <p:ph type="body"/>
          </p:nvPr>
        </p:nvSpPr>
        <p:spPr/>
        <p:txBody>
          <a:bodyPr wrap="square" lIns="91440" tIns="45720" rIns="91440" bIns="45720" anchor="ctr"/>
          <a:lstStyle/>
          <a:p>
            <a:pPr lvl="0"/>
            <a:r>
              <a:rPr lang="zh-CN" altLang="en-US" dirty="0" smtClean="0"/>
              <a:t>亮亮图文旗舰店</a:t>
            </a:r>
            <a:endParaRPr lang="zh-CN" altLang="en-US" dirty="0" smtClean="0"/>
          </a:p>
          <a:p>
            <a:pPr lvl="0"/>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3074"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bg>
      <p:bgPr>
        <a:blipFill rotWithShape="0">
          <a:blip r:embed="rId2" cstate="print"/>
          <a:stretch>
            <a:fillRect/>
          </a:stretch>
        </a:blipFill>
        <a:effectLst/>
      </p:bgPr>
    </p:bg>
    <p:spTree>
      <p:nvGrpSpPr>
        <p:cNvPr id="1" name=""/>
        <p:cNvGrpSpPr/>
        <p:nvPr/>
      </p:nvGrpSpPr>
      <p:grpSpPr>
        <a:xfrm>
          <a:off x="0" y="0"/>
          <a:ext cx="0" cy="0"/>
          <a:chOff x="0" y="0"/>
          <a:chExt cx="0" cy="0"/>
        </a:xfrm>
      </p:grpSpPr>
      <p:pic>
        <p:nvPicPr>
          <p:cNvPr id="4098" name="图片 3"/>
          <p:cNvPicPr>
            <a:picLocks noChangeAspect="1"/>
          </p:cNvPicPr>
          <p:nvPr userDrawn="1"/>
        </p:nvPicPr>
        <p:blipFill>
          <a:blip r:embed="rId3" cstate="print"/>
          <a:srcRect t="14301" b="13251"/>
          <a:stretch>
            <a:fillRect/>
          </a:stretch>
        </p:blipFill>
        <p:spPr>
          <a:xfrm>
            <a:off x="0" y="0"/>
            <a:ext cx="12196763" cy="6858000"/>
          </a:xfrm>
          <a:prstGeom prst="rect">
            <a:avLst/>
          </a:prstGeom>
          <a:noFill/>
          <a:ln w="9525">
            <a:noFill/>
          </a:ln>
        </p:spPr>
      </p:pic>
      <p:sp>
        <p:nvSpPr>
          <p:cNvPr id="5" name="矩形 4"/>
          <p:cNvSpPr>
            <a:spLocks noChangeArrowheads="1"/>
          </p:cNvSpPr>
          <p:nvPr/>
        </p:nvSpPr>
        <p:spPr bwMode="auto">
          <a:xfrm>
            <a:off x="0" y="0"/>
            <a:ext cx="12196763" cy="6858000"/>
          </a:xfrm>
          <a:prstGeom prst="rect">
            <a:avLst/>
          </a:prstGeom>
          <a:solidFill>
            <a:srgbClr val="003366">
              <a:alpha val="85881"/>
            </a:srgbClr>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a:spLocks noChangeArrowheads="1"/>
          </p:cNvSpPr>
          <p:nvPr/>
        </p:nvSpPr>
        <p:spPr bwMode="auto">
          <a:xfrm>
            <a:off x="5522913" y="0"/>
            <a:ext cx="6673850" cy="6858000"/>
          </a:xfrm>
          <a:prstGeom prst="rect">
            <a:avLst/>
          </a:prstGeom>
          <a:solidFill>
            <a:srgbClr val="F8F8F8"/>
          </a:solidFill>
          <a:ln>
            <a:noFill/>
          </a:ln>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8763"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524000" y="3602038"/>
            <a:ext cx="9148763"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0363"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203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411788"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3788" y="1600200"/>
            <a:ext cx="5413375"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0362"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93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93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5375" y="1681163"/>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5375" y="2505075"/>
            <a:ext cx="5184775"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4775" y="987425"/>
            <a:ext cx="617537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382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4775" y="987425"/>
            <a:ext cx="6175375"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accent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38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0"/>
            <a:ext cx="2743200" cy="5218113"/>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908050"/>
            <a:ext cx="8081963" cy="5218113"/>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cstate="print"/>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1027"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2" cstate="print"/>
          <a:stretch>
            <a:fillRect/>
          </a:stretch>
        </a:blipFill>
        <a:effectLst/>
      </p:bgPr>
    </p:bg>
    <p:spTree>
      <p:nvGrpSpPr>
        <p:cNvPr id="1" name=""/>
        <p:cNvGrpSpPr/>
        <p:nvPr/>
      </p:nvGrpSpPr>
      <p:grpSpPr>
        <a:xfrm>
          <a:off x="0" y="0"/>
          <a:ext cx="0" cy="0"/>
          <a:chOff x="0" y="0"/>
          <a:chExt cx="0" cy="0"/>
        </a:xfrm>
      </p:grpSpPr>
      <p:sp>
        <p:nvSpPr>
          <p:cNvPr id="3074" name="矩形 3"/>
          <p:cNvSpPr>
            <a:spLocks noChangeArrowheads="1"/>
          </p:cNvSpPr>
          <p:nvPr/>
        </p:nvSpPr>
        <p:spPr bwMode="auto">
          <a:xfrm>
            <a:off x="11582400" y="6381750"/>
            <a:ext cx="492125" cy="396875"/>
          </a:xfrm>
          <a:prstGeom prst="rect">
            <a:avLst/>
          </a:prstGeom>
          <a:solidFill>
            <a:srgbClr val="0F3D68"/>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TextBox 4"/>
          <p:cNvSpPr txBox="1"/>
          <p:nvPr/>
        </p:nvSpPr>
        <p:spPr>
          <a:xfrm>
            <a:off x="11609388" y="6410325"/>
            <a:ext cx="436562" cy="339725"/>
          </a:xfrm>
          <a:prstGeom prst="rect">
            <a:avLst/>
          </a:prstGeom>
          <a:noFill/>
          <a:ln w="9525">
            <a:noFill/>
          </a:ln>
        </p:spPr>
        <p:txBody>
          <a:bodyPr wrap="none" anchor="t">
            <a:spAutoFit/>
          </a:bodyPr>
          <a:lstStyle/>
          <a:p>
            <a:pPr lvl="0" indent="0" algn="ctr"/>
            <a:fld id="{9A0DB2DC-4C9A-4742-B13C-FB6460FD3503}" type="slidenum">
              <a:rPr lang="zh-CN" altLang="en-US" sz="1600" dirty="0">
                <a:solidFill>
                  <a:schemeClr val="accent2"/>
                </a:solidFill>
                <a:latin typeface="Arial" panose="020B0604020202020204" pitchFamily="34" charset="0"/>
                <a:ea typeface="宋体" panose="02010600030101010101" pitchFamily="2" charset="-122"/>
              </a:rPr>
            </a:fld>
            <a:endParaRPr lang="zh-CN" altLang="en-US" sz="1600" dirty="0">
              <a:solidFill>
                <a:schemeClr val="accent2"/>
              </a:solidFill>
              <a:latin typeface="Arial" panose="020B0604020202020204" pitchFamily="34" charset="0"/>
              <a:ea typeface="宋体" panose="02010600030101010101" pitchFamily="2" charset="-122"/>
            </a:endParaRPr>
          </a:p>
        </p:txBody>
      </p:sp>
      <p:sp>
        <p:nvSpPr>
          <p:cNvPr id="2052" name="Rectangle 2"/>
          <p:cNvSpPr>
            <a:spLocks noGrp="1"/>
          </p:cNvSpPr>
          <p:nvPr>
            <p:ph type="title"/>
          </p:nvPr>
        </p:nvSpPr>
        <p:spPr>
          <a:xfrm>
            <a:off x="609600" y="908050"/>
            <a:ext cx="10977563" cy="635000"/>
          </a:xfrm>
          <a:prstGeom prst="rect">
            <a:avLst/>
          </a:prstGeom>
          <a:noFill/>
          <a:ln w="9525">
            <a:noFill/>
          </a:ln>
        </p:spPr>
        <p:txBody>
          <a:bodyPr anchor="ctr"/>
          <a:lstStyle/>
          <a:p>
            <a:pPr lvl="0"/>
            <a:r>
              <a:rPr lang="zh-CN" altLang="zh-CN" dirty="0"/>
              <a:t>单击此处编辑母版标题样式</a:t>
            </a:r>
            <a:endParaRPr lang="zh-CN" altLang="zh-CN" dirty="0"/>
          </a:p>
        </p:txBody>
      </p:sp>
      <p:sp>
        <p:nvSpPr>
          <p:cNvPr id="2053" name="Rectangle 3"/>
          <p:cNvSpPr>
            <a:spLocks noGrp="1"/>
          </p:cNvSpPr>
          <p:nvPr>
            <p:ph type="body"/>
          </p:nvPr>
        </p:nvSpPr>
        <p:spPr>
          <a:xfrm>
            <a:off x="609600" y="1600200"/>
            <a:ext cx="10977563" cy="4525963"/>
          </a:xfrm>
          <a:prstGeom prst="rect">
            <a:avLst/>
          </a:prstGeom>
          <a:noFill/>
          <a:ln w="9525">
            <a:noFill/>
          </a:ln>
        </p:spPr>
        <p:txBody>
          <a:bodyPr anchor="t"/>
          <a:lstStyle/>
          <a:p>
            <a:pPr lvl="0" indent="-342900"/>
            <a:r>
              <a:rPr lang="zh-CN" altLang="zh-CN" dirty="0"/>
              <a:t>单击此处编辑母版文本样式</a:t>
            </a:r>
            <a:endParaRPr lang="zh-CN" altLang="zh-CN" dirty="0"/>
          </a:p>
          <a:p>
            <a:pPr lvl="1" indent="-285750"/>
            <a:r>
              <a:rPr lang="zh-CN" altLang="zh-CN" dirty="0"/>
              <a:t>第二级</a:t>
            </a:r>
            <a:endParaRPr lang="zh-CN" altLang="zh-CN" dirty="0"/>
          </a:p>
        </p:txBody>
      </p:sp>
      <p:sp>
        <p:nvSpPr>
          <p:cNvPr id="2054" name="矩形 1"/>
          <p:cNvSpPr>
            <a:spLocks noChangeArrowheads="1"/>
          </p:cNvSpPr>
          <p:nvPr/>
        </p:nvSpPr>
        <p:spPr bwMode="auto">
          <a:xfrm>
            <a:off x="0" y="6713538"/>
            <a:ext cx="12196763" cy="144463"/>
          </a:xfrm>
          <a:prstGeom prst="rect">
            <a:avLst/>
          </a:prstGeom>
          <a:solidFill>
            <a:srgbClr val="0F3D68"/>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400" fill="hold"/>
                                        <p:tgtEl>
                                          <p:spTgt spid="3075"/>
                                        </p:tgtEl>
                                        <p:attrNameLst>
                                          <p:attrName>ppt_w</p:attrName>
                                        </p:attrNameLst>
                                      </p:cBhvr>
                                      <p:tavLst>
                                        <p:tav tm="0">
                                          <p:val>
                                            <p:fltVal val="0"/>
                                          </p:val>
                                        </p:tav>
                                        <p:tav tm="100000">
                                          <p:val>
                                            <p:strVal val="#ppt_w"/>
                                          </p:val>
                                        </p:tav>
                                      </p:tavLst>
                                    </p:anim>
                                    <p:anim calcmode="lin" valueType="num">
                                      <p:cBhvr>
                                        <p:cTn id="8" dur="400" fill="hold"/>
                                        <p:tgtEl>
                                          <p:spTgt spid="3075"/>
                                        </p:tgtEl>
                                        <p:attrNameLst>
                                          <p:attrName>ppt_h</p:attrName>
                                        </p:attrNameLst>
                                      </p:cBhvr>
                                      <p:tavLst>
                                        <p:tav tm="0">
                                          <p:val>
                                            <p:fltVal val="0"/>
                                          </p:val>
                                        </p:tav>
                                        <p:tav tm="100000">
                                          <p:val>
                                            <p:strVal val="#ppt_h"/>
                                          </p:val>
                                        </p:tav>
                                      </p:tavLst>
                                    </p:anim>
                                    <p:anim calcmode="lin" valueType="num">
                                      <p:cBhvr>
                                        <p:cTn id="9" dur="400" fill="hold"/>
                                        <p:tgtEl>
                                          <p:spTgt spid="3075"/>
                                        </p:tgtEl>
                                        <p:attrNameLst>
                                          <p:attrName>style.rotation</p:attrName>
                                        </p:attrNameLst>
                                      </p:cBhvr>
                                      <p:tavLst>
                                        <p:tav tm="0">
                                          <p:val>
                                            <p:fltVal val="90"/>
                                          </p:val>
                                        </p:tav>
                                        <p:tav tm="100000">
                                          <p:val>
                                            <p:fltVal val="0"/>
                                          </p:val>
                                        </p:tav>
                                      </p:tavLst>
                                    </p:anim>
                                    <p:animEffect transition="in" filter="fade">
                                      <p:cBhvr>
                                        <p:cTn id="10" dur="4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p:bldLst>
  </p:timing>
  <p:hf sldNum="0" hdr="0" ftr="0" dt="0"/>
  <p:txStyles>
    <p:titleStyle>
      <a:lvl1pPr algn="l" rtl="0" eaLnBrk="0" fontAlgn="base" hangingPunct="0">
        <a:spcBef>
          <a:spcPct val="0"/>
        </a:spcBef>
        <a:spcAft>
          <a:spcPct val="0"/>
        </a:spcAft>
        <a:defRPr sz="2400" kern="1200">
          <a:solidFill>
            <a:schemeClr val="accent1"/>
          </a:solidFill>
          <a:latin typeface="+mj-lt"/>
          <a:ea typeface="+mj-ea"/>
          <a:cs typeface="+mj-cs"/>
        </a:defRPr>
      </a:lvl1pPr>
      <a:lvl2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2pPr>
      <a:lvl3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3pPr>
      <a:lvl4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4pPr>
      <a:lvl5pPr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5pPr>
      <a:lvl6pPr marL="4572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6pPr>
      <a:lvl7pPr marL="9144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7pPr>
      <a:lvl8pPr marL="13716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8pPr>
      <a:lvl9pPr marL="1828800" algn="l" rtl="0" eaLnBrk="0" fontAlgn="base" hangingPunct="0">
        <a:spcBef>
          <a:spcPct val="0"/>
        </a:spcBef>
        <a:spcAft>
          <a:spcPct val="0"/>
        </a:spcAft>
        <a:defRPr sz="2400">
          <a:solidFill>
            <a:schemeClr val="accent1"/>
          </a:solidFill>
          <a:latin typeface="Arial" panose="020B0604020202020204" pitchFamily="34" charset="0"/>
          <a:ea typeface="微软雅黑" panose="020B0503020204020204" pitchFamily="34" charset="-122"/>
        </a:defRPr>
      </a:lvl9pPr>
    </p:titleStyle>
    <p:bodyStyle>
      <a:lvl1pPr marL="342900" indent="-342900" algn="l" rtl="0" eaLnBrk="0" fontAlgn="base" hangingPunct="0">
        <a:spcBef>
          <a:spcPct val="20000"/>
        </a:spcBef>
        <a:spcAft>
          <a:spcPct val="0"/>
        </a:spcAft>
        <a:buChar char="•"/>
        <a:defRPr sz="2000" kern="12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accent1"/>
          </a:solidFill>
          <a:latin typeface="+mn-lt"/>
          <a:ea typeface="仿宋_GB2312" pitchFamily="1" charset="-122"/>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宋体" panose="02010600030101010101" pitchFamily="2"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7.png"/><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0.png"/><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22.png"/><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19.xml"/><Relationship Id="rId10" Type="http://schemas.openxmlformats.org/officeDocument/2006/relationships/tags" Target="../tags/tag10.xml"/><Relationship Id="rId1" Type="http://schemas.openxmlformats.org/officeDocument/2006/relationships/tags" Target="../tags/tag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1" Type="http://schemas.openxmlformats.org/officeDocument/2006/relationships/slideLayout" Target="../slideLayouts/slideLayout19.xml"/><Relationship Id="rId10" Type="http://schemas.openxmlformats.org/officeDocument/2006/relationships/tags" Target="../tags/tag20.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rPr>
              <a:t>SkipGPT: Dynamic Layer Pruning Reinvented with Token Awareness and Module Decoupling</a:t>
            </a:r>
            <a:endParaRPr lang="en-US" altLang="zh-CN" sz="3200" b="1" dirty="0">
              <a:solidFill>
                <a:schemeClr val="accent2"/>
              </a:solidFill>
              <a:latin typeface="微软雅黑" panose="020B0503020204020204" pitchFamily="34" charset="-122"/>
              <a:ea typeface="微软雅黑" panose="020B0503020204020204" pitchFamily="34" charset="-122"/>
            </a:endParaRPr>
          </a:p>
        </p:txBody>
      </p:sp>
      <p:sp>
        <p:nvSpPr>
          <p:cNvPr id="7174" name="TextBox 35"/>
          <p:cNvSpPr txBox="1"/>
          <p:nvPr/>
        </p:nvSpPr>
        <p:spPr>
          <a:xfrm>
            <a:off x="1546225" y="4365625"/>
            <a:ext cx="9520555" cy="1753235"/>
          </a:xfrm>
          <a:prstGeom prst="rect">
            <a:avLst/>
          </a:prstGeom>
          <a:noFill/>
          <a:ln w="9525">
            <a:noFill/>
          </a:ln>
        </p:spPr>
        <p:txBody>
          <a:bodyPr wrap="square" anchor="t">
            <a:spAutoFit/>
          </a:bodyPr>
          <a:lstStyle/>
          <a:p>
            <a:pPr algn="r">
              <a:lnSpc>
                <a:spcPct val="150000"/>
              </a:lnSpc>
            </a:pPr>
            <a:r>
              <a:rPr lang="en-US" altLang="zh-CN" sz="2400" dirty="0">
                <a:solidFill>
                  <a:schemeClr val="accent2"/>
                </a:solidFill>
                <a:latin typeface="微软雅黑" panose="020B0503020204020204" pitchFamily="34" charset="-122"/>
                <a:ea typeface="微软雅黑" panose="020B0503020204020204" pitchFamily="34" charset="-122"/>
                <a:sym typeface="+mn-ea"/>
              </a:rPr>
              <a:t> ICML 2025</a:t>
            </a:r>
            <a:endParaRPr lang="en-US" altLang="zh-CN" sz="2400" dirty="0">
              <a:solidFill>
                <a:schemeClr val="accent2"/>
              </a:solidFill>
              <a:latin typeface="微软雅黑" panose="020B0503020204020204" pitchFamily="34" charset="-122"/>
              <a:ea typeface="微软雅黑" panose="020B0503020204020204" pitchFamily="34" charset="-122"/>
            </a:endParaRPr>
          </a:p>
          <a:p>
            <a:pPr algn="r">
              <a:lnSpc>
                <a:spcPct val="150000"/>
              </a:lnSpc>
            </a:pPr>
            <a:r>
              <a:rPr lang="en-US" altLang="zh-CN" sz="2400" dirty="0">
                <a:solidFill>
                  <a:schemeClr val="accent2"/>
                </a:solidFill>
                <a:latin typeface="微软雅黑" panose="020B0503020204020204" pitchFamily="34" charset="-122"/>
                <a:ea typeface="微软雅黑" panose="020B0503020204020204" pitchFamily="34" charset="-122"/>
                <a:sym typeface="+mn-ea"/>
              </a:rPr>
              <a:t>2025.6.4</a:t>
            </a:r>
            <a:endParaRPr lang="en-US" altLang="zh-CN" sz="2400" dirty="0">
              <a:solidFill>
                <a:schemeClr val="accent2"/>
              </a:solidFill>
              <a:latin typeface="微软雅黑" panose="020B0503020204020204" pitchFamily="34" charset="-122"/>
              <a:ea typeface="微软雅黑" panose="020B0503020204020204" pitchFamily="34" charset="-122"/>
            </a:endParaRPr>
          </a:p>
          <a:p>
            <a:pPr algn="r">
              <a:lnSpc>
                <a:spcPct val="150000"/>
              </a:lnSpc>
            </a:pPr>
            <a:endParaRPr lang="en-US" altLang="zh-CN" sz="2400"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
        <p:nvSpPr>
          <p:cNvPr id="3" name="文本框 2"/>
          <p:cNvSpPr txBox="1"/>
          <p:nvPr/>
        </p:nvSpPr>
        <p:spPr>
          <a:xfrm>
            <a:off x="3145790" y="3573145"/>
            <a:ext cx="6598920" cy="398780"/>
          </a:xfrm>
          <a:prstGeom prst="rect">
            <a:avLst/>
          </a:prstGeom>
          <a:noFill/>
        </p:spPr>
        <p:txBody>
          <a:bodyPr wrap="square" rtlCol="0">
            <a:spAutoFit/>
          </a:bodyPr>
          <a:p>
            <a:r>
              <a:rPr lang="en-US" altLang="zh-CN" sz="2000" b="1" dirty="0">
                <a:solidFill>
                  <a:schemeClr val="accent2"/>
                </a:solidFill>
                <a:latin typeface="微软雅黑" panose="020B0503020204020204" pitchFamily="34" charset="-122"/>
                <a:ea typeface="微软雅黑" panose="020B0503020204020204" pitchFamily="34" charset="-122"/>
                <a:cs typeface="+mn-ea"/>
              </a:rPr>
              <a:t>引入Token感知与模块解耦的动态层剪</a:t>
            </a:r>
            <a:r>
              <a:rPr lang="zh-CN" altLang="en-US" sz="2000" b="1" dirty="0">
                <a:solidFill>
                  <a:schemeClr val="accent2"/>
                </a:solidFill>
                <a:latin typeface="微软雅黑" panose="020B0503020204020204" pitchFamily="34" charset="-122"/>
                <a:ea typeface="微软雅黑" panose="020B0503020204020204" pitchFamily="34" charset="-122"/>
                <a:cs typeface="+mn-ea"/>
              </a:rPr>
              <a:t>枝框架</a:t>
            </a:r>
            <a:endParaRPr lang="zh-CN" altLang="en-US" sz="2000" b="1" dirty="0">
              <a:solidFill>
                <a:schemeClr val="accent2"/>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par>
                                <p:cTn id="11" presetID="31" presetClass="entr" presetSubtype="0" fill="hold" grpId="0" nodeType="withEffect">
                                  <p:stCondLst>
                                    <p:cond delay="0"/>
                                  </p:stCondLst>
                                  <p:childTnLst>
                                    <p:set>
                                      <p:cBhvr>
                                        <p:cTn id="12" dur="1" fill="hold">
                                          <p:stCondLst>
                                            <p:cond delay="0"/>
                                          </p:stCondLst>
                                        </p:cTn>
                                        <p:tgtEl>
                                          <p:spTgt spid="7174"/>
                                        </p:tgtEl>
                                        <p:attrNameLst>
                                          <p:attrName>style.visibility</p:attrName>
                                        </p:attrNameLst>
                                      </p:cBhvr>
                                      <p:to>
                                        <p:strVal val="visible"/>
                                      </p:to>
                                    </p:set>
                                    <p:anim calcmode="lin" valueType="num">
                                      <p:cBhvr>
                                        <p:cTn id="13" dur="500" fill="hold"/>
                                        <p:tgtEl>
                                          <p:spTgt spid="7174"/>
                                        </p:tgtEl>
                                        <p:attrNameLst>
                                          <p:attrName>ppt_w</p:attrName>
                                        </p:attrNameLst>
                                      </p:cBhvr>
                                      <p:tavLst>
                                        <p:tav tm="0">
                                          <p:val>
                                            <p:fltVal val="0"/>
                                          </p:val>
                                        </p:tav>
                                        <p:tav tm="100000">
                                          <p:val>
                                            <p:strVal val="#ppt_w"/>
                                          </p:val>
                                        </p:tav>
                                      </p:tavLst>
                                    </p:anim>
                                    <p:anim calcmode="lin" valueType="num">
                                      <p:cBhvr>
                                        <p:cTn id="14" dur="500" fill="hold"/>
                                        <p:tgtEl>
                                          <p:spTgt spid="7174"/>
                                        </p:tgtEl>
                                        <p:attrNameLst>
                                          <p:attrName>ppt_h</p:attrName>
                                        </p:attrNameLst>
                                      </p:cBhvr>
                                      <p:tavLst>
                                        <p:tav tm="0">
                                          <p:val>
                                            <p:fltVal val="0"/>
                                          </p:val>
                                        </p:tav>
                                        <p:tav tm="100000">
                                          <p:val>
                                            <p:strVal val="#ppt_h"/>
                                          </p:val>
                                        </p:tav>
                                      </p:tavLst>
                                    </p:anim>
                                    <p:anim calcmode="lin" valueType="num">
                                      <p:cBhvr>
                                        <p:cTn id="15" dur="500" fill="hold"/>
                                        <p:tgtEl>
                                          <p:spTgt spid="7174"/>
                                        </p:tgtEl>
                                        <p:attrNameLst>
                                          <p:attrName>style.rotation</p:attrName>
                                        </p:attrNameLst>
                                      </p:cBhvr>
                                      <p:tavLst>
                                        <p:tav tm="0">
                                          <p:val>
                                            <p:fltVal val="90"/>
                                          </p:val>
                                        </p:tav>
                                        <p:tav tm="100000">
                                          <p:val>
                                            <p:fltVal val="0"/>
                                          </p:val>
                                        </p:tav>
                                      </p:tavLst>
                                    </p:anim>
                                    <p:animEffect transition="in" filter="fade">
                                      <p:cBhvr>
                                        <p:cTn id="16" dur="500"/>
                                        <p:tgtEl>
                                          <p:spTgt spid="7174"/>
                                        </p:tgtEl>
                                      </p:cBhvr>
                                    </p:animEffect>
                                  </p:childTnLst>
                                </p:cTn>
                              </p:par>
                            </p:childTnLst>
                          </p:cTn>
                        </p:par>
                        <p:par>
                          <p:cTn id="17" fill="hold">
                            <p:stCondLst>
                              <p:cond delay="9300"/>
                            </p:stCondLst>
                            <p:childTnLst>
                              <p:par>
                                <p:cTn id="18" presetID="16" presetClass="entr" presetSubtype="21" fill="hold" grpId="0" nodeType="afterEffect">
                                  <p:stCondLst>
                                    <p:cond delay="0"/>
                                  </p:stCondLst>
                                  <p:childTnLst>
                                    <p:set>
                                      <p:cBhvr>
                                        <p:cTn id="19" dur="1" fill="hold">
                                          <p:stCondLst>
                                            <p:cond delay="0"/>
                                          </p:stCondLst>
                                        </p:cTn>
                                        <p:tgtEl>
                                          <p:spTgt spid="7181"/>
                                        </p:tgtEl>
                                        <p:attrNameLst>
                                          <p:attrName>style.visibility</p:attrName>
                                        </p:attrNameLst>
                                      </p:cBhvr>
                                      <p:to>
                                        <p:strVal val="visible"/>
                                      </p:to>
                                    </p:set>
                                    <p:animEffect transition="in" filter="barn(inVertical)">
                                      <p:cBhvr>
                                        <p:cTn id="20"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4" grpId="0"/>
      <p:bldP spid="718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en-US" altLang="zh-CN" sz="3200" b="1" dirty="0">
                <a:solidFill>
                  <a:schemeClr val="accent2"/>
                </a:solidFill>
                <a:latin typeface="微软雅黑" panose="020B0503020204020204" pitchFamily="34" charset="-122"/>
                <a:ea typeface="微软雅黑" panose="020B0503020204020204" pitchFamily="34" charset="-122"/>
                <a:sym typeface="+mn-ea"/>
              </a:rPr>
              <a:t>SkipGPT: Dynamic Layer Pruning Reinvented with Token Awareness and Module Decoupling</a:t>
            </a:r>
            <a:endParaRPr lang="en-US" altLang="zh-CN" sz="3200" b="1" dirty="0">
              <a:solidFill>
                <a:schemeClr val="accent2"/>
              </a:solidFill>
              <a:latin typeface="微软雅黑" panose="020B0503020204020204" pitchFamily="34" charset="-122"/>
              <a:ea typeface="微软雅黑" panose="020B0503020204020204" pitchFamily="34" charset="-122"/>
              <a:sym typeface="+mn-ea"/>
            </a:endParaRPr>
          </a:p>
        </p:txBody>
      </p:sp>
      <p:sp>
        <p:nvSpPr>
          <p:cNvPr id="7174" name="TextBox 35"/>
          <p:cNvSpPr txBox="1"/>
          <p:nvPr/>
        </p:nvSpPr>
        <p:spPr>
          <a:xfrm>
            <a:off x="1202055" y="3845560"/>
            <a:ext cx="9864725" cy="2339975"/>
          </a:xfrm>
          <a:prstGeom prst="rect">
            <a:avLst/>
          </a:prstGeom>
          <a:noFill/>
          <a:ln w="9525">
            <a:noFill/>
          </a:ln>
        </p:spPr>
        <p:txBody>
          <a:bodyPr wrap="square" anchor="t">
            <a:noAutofit/>
          </a:bodyPr>
          <a:lstStyle/>
          <a:p>
            <a:pPr algn="l">
              <a:lnSpc>
                <a:spcPct val="150000"/>
              </a:lnSpc>
            </a:pPr>
            <a:r>
              <a:rPr lang="en-US" altLang="zh-CN" sz="2400" dirty="0">
                <a:solidFill>
                  <a:schemeClr val="accent2"/>
                </a:solidFill>
                <a:latin typeface="微软雅黑" panose="020B0503020204020204" pitchFamily="34" charset="-122"/>
                <a:ea typeface="微软雅黑" panose="020B0503020204020204" pitchFamily="34" charset="-122"/>
                <a:sym typeface="+mn-ea"/>
              </a:rPr>
              <a:t>Anhao Zhao, Fanghua Ye, Yingqi Fan, Junlong Tong, Zhiwei Fei, Hui Su, Xiaoyu Shen</a:t>
            </a:r>
            <a:endParaRPr lang="en-US" altLang="zh-CN" sz="2400" dirty="0">
              <a:solidFill>
                <a:schemeClr val="accent2"/>
              </a:solidFill>
              <a:latin typeface="微软雅黑" panose="020B0503020204020204" pitchFamily="34" charset="-122"/>
              <a:ea typeface="微软雅黑" panose="020B0503020204020204" pitchFamily="34" charset="-122"/>
              <a:sym typeface="+mn-ea"/>
            </a:endParaRPr>
          </a:p>
          <a:p>
            <a:pPr algn="l">
              <a:lnSpc>
                <a:spcPct val="150000"/>
              </a:lnSpc>
            </a:pPr>
            <a:r>
              <a:rPr lang="zh-CN" altLang="en-US" sz="2400" dirty="0">
                <a:solidFill>
                  <a:schemeClr val="accent2"/>
                </a:solidFill>
                <a:latin typeface="微软雅黑" panose="020B0503020204020204" pitchFamily="34" charset="-122"/>
                <a:ea typeface="微软雅黑" panose="020B0503020204020204" pitchFamily="34" charset="-122"/>
              </a:rPr>
              <a:t>上海交通大学、香港大学、南京大学、</a:t>
            </a:r>
            <a:r>
              <a:rPr lang="zh-CN" altLang="en-US" sz="2400" dirty="0">
                <a:solidFill>
                  <a:schemeClr val="accent2"/>
                </a:solidFill>
                <a:latin typeface="微软雅黑" panose="020B0503020204020204" pitchFamily="34" charset="-122"/>
                <a:ea typeface="微软雅黑" panose="020B0503020204020204" pitchFamily="34" charset="-122"/>
                <a:sym typeface="+mn-ea"/>
              </a:rPr>
              <a:t>宁波东方理工研究院、西南交通大学</a:t>
            </a:r>
            <a:endParaRPr lang="zh-CN" altLang="en-US" sz="2400"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sz="1800"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par>
                                <p:cTn id="11" presetID="31" presetClass="entr" presetSubtype="0" fill="hold" grpId="0" nodeType="withEffect">
                                  <p:stCondLst>
                                    <p:cond delay="0"/>
                                  </p:stCondLst>
                                  <p:childTnLst>
                                    <p:set>
                                      <p:cBhvr>
                                        <p:cTn id="12" dur="1" fill="hold">
                                          <p:stCondLst>
                                            <p:cond delay="0"/>
                                          </p:stCondLst>
                                        </p:cTn>
                                        <p:tgtEl>
                                          <p:spTgt spid="7174"/>
                                        </p:tgtEl>
                                        <p:attrNameLst>
                                          <p:attrName>style.visibility</p:attrName>
                                        </p:attrNameLst>
                                      </p:cBhvr>
                                      <p:to>
                                        <p:strVal val="visible"/>
                                      </p:to>
                                    </p:set>
                                    <p:anim calcmode="lin" valueType="num">
                                      <p:cBhvr>
                                        <p:cTn id="13" dur="500" fill="hold"/>
                                        <p:tgtEl>
                                          <p:spTgt spid="7174"/>
                                        </p:tgtEl>
                                        <p:attrNameLst>
                                          <p:attrName>ppt_w</p:attrName>
                                        </p:attrNameLst>
                                      </p:cBhvr>
                                      <p:tavLst>
                                        <p:tav tm="0">
                                          <p:val>
                                            <p:fltVal val="0"/>
                                          </p:val>
                                        </p:tav>
                                        <p:tav tm="100000">
                                          <p:val>
                                            <p:strVal val="#ppt_w"/>
                                          </p:val>
                                        </p:tav>
                                      </p:tavLst>
                                    </p:anim>
                                    <p:anim calcmode="lin" valueType="num">
                                      <p:cBhvr>
                                        <p:cTn id="14" dur="500" fill="hold"/>
                                        <p:tgtEl>
                                          <p:spTgt spid="7174"/>
                                        </p:tgtEl>
                                        <p:attrNameLst>
                                          <p:attrName>ppt_h</p:attrName>
                                        </p:attrNameLst>
                                      </p:cBhvr>
                                      <p:tavLst>
                                        <p:tav tm="0">
                                          <p:val>
                                            <p:fltVal val="0"/>
                                          </p:val>
                                        </p:tav>
                                        <p:tav tm="100000">
                                          <p:val>
                                            <p:strVal val="#ppt_h"/>
                                          </p:val>
                                        </p:tav>
                                      </p:tavLst>
                                    </p:anim>
                                    <p:anim calcmode="lin" valueType="num">
                                      <p:cBhvr>
                                        <p:cTn id="15" dur="500" fill="hold"/>
                                        <p:tgtEl>
                                          <p:spTgt spid="7174"/>
                                        </p:tgtEl>
                                        <p:attrNameLst>
                                          <p:attrName>style.rotation</p:attrName>
                                        </p:attrNameLst>
                                      </p:cBhvr>
                                      <p:tavLst>
                                        <p:tav tm="0">
                                          <p:val>
                                            <p:fltVal val="90"/>
                                          </p:val>
                                        </p:tav>
                                        <p:tav tm="100000">
                                          <p:val>
                                            <p:fltVal val="0"/>
                                          </p:val>
                                        </p:tav>
                                      </p:tavLst>
                                    </p:anim>
                                    <p:animEffect transition="in" filter="fade">
                                      <p:cBhvr>
                                        <p:cTn id="16" dur="500"/>
                                        <p:tgtEl>
                                          <p:spTgt spid="7174"/>
                                        </p:tgtEl>
                                      </p:cBhvr>
                                    </p:animEffect>
                                  </p:childTnLst>
                                </p:cTn>
                              </p:par>
                            </p:childTnLst>
                          </p:cTn>
                        </p:par>
                        <p:par>
                          <p:cTn id="17" fill="hold">
                            <p:stCondLst>
                              <p:cond delay="9300"/>
                            </p:stCondLst>
                            <p:childTnLst>
                              <p:par>
                                <p:cTn id="18" presetID="16" presetClass="entr" presetSubtype="21" fill="hold" grpId="0" nodeType="afterEffect">
                                  <p:stCondLst>
                                    <p:cond delay="0"/>
                                  </p:stCondLst>
                                  <p:childTnLst>
                                    <p:set>
                                      <p:cBhvr>
                                        <p:cTn id="19" dur="1" fill="hold">
                                          <p:stCondLst>
                                            <p:cond delay="0"/>
                                          </p:stCondLst>
                                        </p:cTn>
                                        <p:tgtEl>
                                          <p:spTgt spid="7181"/>
                                        </p:tgtEl>
                                        <p:attrNameLst>
                                          <p:attrName>style.visibility</p:attrName>
                                        </p:attrNameLst>
                                      </p:cBhvr>
                                      <p:to>
                                        <p:strVal val="visible"/>
                                      </p:to>
                                    </p:set>
                                    <p:animEffect transition="in" filter="barn(inVertical)">
                                      <p:cBhvr>
                                        <p:cTn id="20"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4" grpId="0"/>
      <p:bldP spid="718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024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sp>
        <p:nvSpPr>
          <p:cNvPr id="10243" name="Freeform 11"/>
          <p:cNvSpPr>
            <a:spLocks noEditPoints="1"/>
          </p:cNvSpPr>
          <p:nvPr/>
        </p:nvSpPr>
        <p:spPr>
          <a:xfrm>
            <a:off x="5595938" y="936625"/>
            <a:ext cx="1152525" cy="121761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404" h="1483">
                <a:moveTo>
                  <a:pt x="308" y="0"/>
                </a:moveTo>
                <a:lnTo>
                  <a:pt x="877" y="0"/>
                </a:lnTo>
                <a:cubicBezTo>
                  <a:pt x="984" y="0"/>
                  <a:pt x="1072" y="88"/>
                  <a:pt x="1072" y="195"/>
                </a:cubicBezTo>
                <a:lnTo>
                  <a:pt x="1072" y="456"/>
                </a:lnTo>
                <a:cubicBezTo>
                  <a:pt x="1010" y="504"/>
                  <a:pt x="973" y="550"/>
                  <a:pt x="924" y="616"/>
                </a:cubicBezTo>
                <a:lnTo>
                  <a:pt x="924" y="195"/>
                </a:lnTo>
                <a:cubicBezTo>
                  <a:pt x="924" y="169"/>
                  <a:pt x="903" y="147"/>
                  <a:pt x="877" y="147"/>
                </a:cubicBezTo>
                <a:lnTo>
                  <a:pt x="426" y="147"/>
                </a:lnTo>
                <a:lnTo>
                  <a:pt x="426" y="354"/>
                </a:lnTo>
                <a:cubicBezTo>
                  <a:pt x="426" y="374"/>
                  <a:pt x="409" y="391"/>
                  <a:pt x="389" y="391"/>
                </a:cubicBezTo>
                <a:lnTo>
                  <a:pt x="148" y="391"/>
                </a:lnTo>
                <a:lnTo>
                  <a:pt x="148" y="1111"/>
                </a:lnTo>
                <a:cubicBezTo>
                  <a:pt x="148" y="1138"/>
                  <a:pt x="169" y="1159"/>
                  <a:pt x="196" y="1159"/>
                </a:cubicBezTo>
                <a:lnTo>
                  <a:pt x="647" y="1159"/>
                </a:lnTo>
                <a:cubicBezTo>
                  <a:pt x="632" y="1208"/>
                  <a:pt x="619" y="1257"/>
                  <a:pt x="610" y="1307"/>
                </a:cubicBezTo>
                <a:lnTo>
                  <a:pt x="196" y="1307"/>
                </a:lnTo>
                <a:cubicBezTo>
                  <a:pt x="88" y="1307"/>
                  <a:pt x="0" y="1219"/>
                  <a:pt x="0" y="1111"/>
                </a:cubicBezTo>
                <a:lnTo>
                  <a:pt x="0" y="308"/>
                </a:lnTo>
                <a:lnTo>
                  <a:pt x="308" y="0"/>
                </a:lnTo>
                <a:close/>
                <a:moveTo>
                  <a:pt x="1246" y="478"/>
                </a:moveTo>
                <a:cubicBezTo>
                  <a:pt x="1266" y="490"/>
                  <a:pt x="1279" y="509"/>
                  <a:pt x="1284" y="536"/>
                </a:cubicBezTo>
                <a:cubicBezTo>
                  <a:pt x="1322" y="546"/>
                  <a:pt x="1359" y="571"/>
                  <a:pt x="1386" y="619"/>
                </a:cubicBezTo>
                <a:cubicBezTo>
                  <a:pt x="1404" y="661"/>
                  <a:pt x="1397" y="720"/>
                  <a:pt x="1372" y="765"/>
                </a:cubicBezTo>
                <a:cubicBezTo>
                  <a:pt x="1330" y="843"/>
                  <a:pt x="1273" y="938"/>
                  <a:pt x="1222" y="1016"/>
                </a:cubicBezTo>
                <a:cubicBezTo>
                  <a:pt x="1190" y="1029"/>
                  <a:pt x="1196" y="961"/>
                  <a:pt x="1208" y="944"/>
                </a:cubicBezTo>
                <a:cubicBezTo>
                  <a:pt x="1249" y="882"/>
                  <a:pt x="1284" y="824"/>
                  <a:pt x="1317" y="713"/>
                </a:cubicBezTo>
                <a:cubicBezTo>
                  <a:pt x="1324" y="661"/>
                  <a:pt x="1300" y="637"/>
                  <a:pt x="1284" y="614"/>
                </a:cubicBezTo>
                <a:cubicBezTo>
                  <a:pt x="1283" y="618"/>
                  <a:pt x="1282" y="623"/>
                  <a:pt x="1281" y="628"/>
                </a:cubicBezTo>
                <a:cubicBezTo>
                  <a:pt x="1250" y="614"/>
                  <a:pt x="1220" y="599"/>
                  <a:pt x="1189" y="582"/>
                </a:cubicBezTo>
                <a:cubicBezTo>
                  <a:pt x="1158" y="565"/>
                  <a:pt x="1129" y="543"/>
                  <a:pt x="1099" y="523"/>
                </a:cubicBezTo>
                <a:cubicBezTo>
                  <a:pt x="1157" y="473"/>
                  <a:pt x="1207" y="456"/>
                  <a:pt x="1246" y="478"/>
                </a:cubicBezTo>
                <a:close/>
                <a:moveTo>
                  <a:pt x="1268" y="683"/>
                </a:moveTo>
                <a:cubicBezTo>
                  <a:pt x="1242" y="770"/>
                  <a:pt x="1192" y="879"/>
                  <a:pt x="1121" y="1002"/>
                </a:cubicBezTo>
                <a:cubicBezTo>
                  <a:pt x="1086" y="1064"/>
                  <a:pt x="1045" y="1123"/>
                  <a:pt x="1003" y="1178"/>
                </a:cubicBezTo>
                <a:cubicBezTo>
                  <a:pt x="964" y="1159"/>
                  <a:pt x="925" y="1138"/>
                  <a:pt x="885" y="1116"/>
                </a:cubicBezTo>
                <a:cubicBezTo>
                  <a:pt x="843" y="1094"/>
                  <a:pt x="804" y="1066"/>
                  <a:pt x="764" y="1039"/>
                </a:cubicBezTo>
                <a:cubicBezTo>
                  <a:pt x="790" y="976"/>
                  <a:pt x="821" y="911"/>
                  <a:pt x="857" y="849"/>
                </a:cubicBezTo>
                <a:cubicBezTo>
                  <a:pt x="927" y="727"/>
                  <a:pt x="996" y="628"/>
                  <a:pt x="1058" y="562"/>
                </a:cubicBezTo>
                <a:cubicBezTo>
                  <a:pt x="1091" y="584"/>
                  <a:pt x="1124" y="608"/>
                  <a:pt x="1159" y="628"/>
                </a:cubicBezTo>
                <a:cubicBezTo>
                  <a:pt x="1195" y="649"/>
                  <a:pt x="1232" y="664"/>
                  <a:pt x="1268" y="683"/>
                </a:cubicBezTo>
                <a:close/>
                <a:moveTo>
                  <a:pt x="968" y="1222"/>
                </a:moveTo>
                <a:cubicBezTo>
                  <a:pt x="839" y="1379"/>
                  <a:pt x="708" y="1483"/>
                  <a:pt x="678" y="1466"/>
                </a:cubicBezTo>
                <a:cubicBezTo>
                  <a:pt x="648" y="1448"/>
                  <a:pt x="672" y="1283"/>
                  <a:pt x="743" y="1092"/>
                </a:cubicBezTo>
                <a:cubicBezTo>
                  <a:pt x="779" y="1116"/>
                  <a:pt x="816" y="1140"/>
                  <a:pt x="854" y="1162"/>
                </a:cubicBezTo>
                <a:cubicBezTo>
                  <a:pt x="892" y="1184"/>
                  <a:pt x="930" y="1202"/>
                  <a:pt x="968" y="1222"/>
                </a:cubicBezTo>
                <a:close/>
                <a:moveTo>
                  <a:pt x="508" y="258"/>
                </a:moveTo>
                <a:lnTo>
                  <a:pt x="833" y="258"/>
                </a:lnTo>
                <a:lnTo>
                  <a:pt x="833" y="333"/>
                </a:lnTo>
                <a:lnTo>
                  <a:pt x="508" y="333"/>
                </a:lnTo>
                <a:lnTo>
                  <a:pt x="508" y="258"/>
                </a:lnTo>
                <a:close/>
                <a:moveTo>
                  <a:pt x="256" y="756"/>
                </a:moveTo>
                <a:lnTo>
                  <a:pt x="446" y="756"/>
                </a:lnTo>
                <a:lnTo>
                  <a:pt x="446" y="831"/>
                </a:lnTo>
                <a:lnTo>
                  <a:pt x="256" y="831"/>
                </a:lnTo>
                <a:lnTo>
                  <a:pt x="256" y="756"/>
                </a:lnTo>
                <a:close/>
                <a:moveTo>
                  <a:pt x="256" y="583"/>
                </a:moveTo>
                <a:lnTo>
                  <a:pt x="833" y="583"/>
                </a:lnTo>
                <a:lnTo>
                  <a:pt x="833" y="658"/>
                </a:lnTo>
                <a:lnTo>
                  <a:pt x="256" y="658"/>
                </a:lnTo>
                <a:lnTo>
                  <a:pt x="256" y="583"/>
                </a:lnTo>
                <a:close/>
                <a:moveTo>
                  <a:pt x="256" y="423"/>
                </a:moveTo>
                <a:lnTo>
                  <a:pt x="833" y="423"/>
                </a:lnTo>
                <a:lnTo>
                  <a:pt x="833" y="498"/>
                </a:lnTo>
                <a:lnTo>
                  <a:pt x="256" y="498"/>
                </a:lnTo>
                <a:lnTo>
                  <a:pt x="256" y="423"/>
                </a:lnTo>
                <a:close/>
                <a:moveTo>
                  <a:pt x="192" y="323"/>
                </a:moveTo>
                <a:lnTo>
                  <a:pt x="334" y="323"/>
                </a:lnTo>
                <a:cubicBezTo>
                  <a:pt x="347" y="323"/>
                  <a:pt x="359" y="312"/>
                  <a:pt x="359" y="299"/>
                </a:cubicBezTo>
                <a:lnTo>
                  <a:pt x="359" y="157"/>
                </a:lnTo>
                <a:lnTo>
                  <a:pt x="192" y="323"/>
                </a:lnTo>
                <a:close/>
              </a:path>
            </a:pathLst>
          </a:custGeom>
          <a:solidFill>
            <a:srgbClr val="113E6A"/>
          </a:solidFill>
          <a:ln w="9525">
            <a:noFill/>
          </a:ln>
        </p:spPr>
        <p:txBody>
          <a:bodyPr/>
          <a:lstStyle/>
          <a:p>
            <a:endParaRPr lang="zh-CN" altLang="en-US"/>
          </a:p>
        </p:txBody>
      </p:sp>
      <p:sp>
        <p:nvSpPr>
          <p:cNvPr id="10244"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0245" name="TextBox 77"/>
          <p:cNvSpPr txBox="1"/>
          <p:nvPr/>
        </p:nvSpPr>
        <p:spPr>
          <a:xfrm>
            <a:off x="4548188" y="30686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摘要</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0246"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1</a:t>
            </a:r>
            <a:endParaRPr lang="zh-CN" altLang="en-US" sz="2600" dirty="0">
              <a:solidFill>
                <a:srgbClr val="363636"/>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wheel(1)">
                                      <p:cBhvr>
                                        <p:cTn id="7" dur="2000"/>
                                        <p:tgtEl>
                                          <p:spTgt spid="10242"/>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0243"/>
                                        </p:tgtEl>
                                        <p:attrNameLst>
                                          <p:attrName>style.visibility</p:attrName>
                                        </p:attrNameLst>
                                      </p:cBhvr>
                                      <p:to>
                                        <p:strVal val="visible"/>
                                      </p:to>
                                    </p:set>
                                    <p:anim calcmode="lin" valueType="num">
                                      <p:cBhvr>
                                        <p:cTn id="11" dur="400" fill="hold"/>
                                        <p:tgtEl>
                                          <p:spTgt spid="10243"/>
                                        </p:tgtEl>
                                        <p:attrNameLst>
                                          <p:attrName>ppt_w</p:attrName>
                                        </p:attrNameLst>
                                      </p:cBhvr>
                                      <p:tavLst>
                                        <p:tav tm="0">
                                          <p:val>
                                            <p:fltVal val="0"/>
                                          </p:val>
                                        </p:tav>
                                        <p:tav tm="100000">
                                          <p:val>
                                            <p:strVal val="#ppt_w"/>
                                          </p:val>
                                        </p:tav>
                                      </p:tavLst>
                                    </p:anim>
                                    <p:anim calcmode="lin" valueType="num">
                                      <p:cBhvr>
                                        <p:cTn id="12" dur="400" fill="hold"/>
                                        <p:tgtEl>
                                          <p:spTgt spid="10243"/>
                                        </p:tgtEl>
                                        <p:attrNameLst>
                                          <p:attrName>ppt_h</p:attrName>
                                        </p:attrNameLst>
                                      </p:cBhvr>
                                      <p:tavLst>
                                        <p:tav tm="0">
                                          <p:val>
                                            <p:fltVal val="0"/>
                                          </p:val>
                                        </p:tav>
                                        <p:tav tm="100000">
                                          <p:val>
                                            <p:strVal val="#ppt_h"/>
                                          </p:val>
                                        </p:tav>
                                      </p:tavLst>
                                    </p:anim>
                                    <p:anim calcmode="lin" valueType="num">
                                      <p:cBhvr>
                                        <p:cTn id="13" dur="400" fill="hold"/>
                                        <p:tgtEl>
                                          <p:spTgt spid="10243"/>
                                        </p:tgtEl>
                                        <p:attrNameLst>
                                          <p:attrName>style.rotation</p:attrName>
                                        </p:attrNameLst>
                                      </p:cBhvr>
                                      <p:tavLst>
                                        <p:tav tm="0">
                                          <p:val>
                                            <p:fltVal val="90"/>
                                          </p:val>
                                        </p:tav>
                                        <p:tav tm="100000">
                                          <p:val>
                                            <p:fltVal val="0"/>
                                          </p:val>
                                        </p:tav>
                                      </p:tavLst>
                                    </p:anim>
                                    <p:animEffect transition="in" filter="fade">
                                      <p:cBhvr>
                                        <p:cTn id="14" dur="400"/>
                                        <p:tgtEl>
                                          <p:spTgt spid="10243"/>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0244"/>
                                        </p:tgtEl>
                                        <p:attrNameLst>
                                          <p:attrName>style.visibility</p:attrName>
                                        </p:attrNameLst>
                                      </p:cBhvr>
                                      <p:to>
                                        <p:strVal val="visible"/>
                                      </p:to>
                                    </p:set>
                                    <p:animEffect transition="in" filter="barn(inVertical)">
                                      <p:cBhvr>
                                        <p:cTn id="18" dur="500"/>
                                        <p:tgtEl>
                                          <p:spTgt spid="10244"/>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0245"/>
                                        </p:tgtEl>
                                        <p:attrNameLst>
                                          <p:attrName>style.visibility</p:attrName>
                                        </p:attrNameLst>
                                      </p:cBhvr>
                                      <p:to>
                                        <p:strVal val="visible"/>
                                      </p:to>
                                    </p:set>
                                    <p:animEffect transition="in" filter="wipe(up)">
                                      <p:cBhvr>
                                        <p:cTn id="22" dur="500"/>
                                        <p:tgtEl>
                                          <p:spTgt spid="1024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wipe(down)">
                                      <p:cBhvr>
                                        <p:cTn id="25" dur="5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5" grpId="0"/>
      <p:bldP spid="102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摘要</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4" name="文本框 3"/>
          <p:cNvSpPr txBox="1"/>
          <p:nvPr/>
        </p:nvSpPr>
        <p:spPr>
          <a:xfrm>
            <a:off x="697865" y="1052830"/>
            <a:ext cx="9855200" cy="493204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大型语言模型（LLM）在各种任务中取得了显著性能，但也带来了巨大的计算成本。层剪枝已成为缓解大模型低效问题的一种策略</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传统的静态剪枝方法忽视了LLM推理中固有的两个关键动态特性：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（1）水平动态性，不同</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对计算的需求不同</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（2）垂直动态性，同一层内的</a:t>
            </a:r>
            <a:r>
              <a:rPr lang="en-US" altLang="zh-CN" sz="1800" dirty="0">
                <a:solidFill>
                  <a:schemeClr val="accent1"/>
                </a:solidFill>
                <a:latin typeface="微软雅黑" panose="020B0503020204020204" pitchFamily="34" charset="-122"/>
                <a:ea typeface="微软雅黑" panose="020B0503020204020204" pitchFamily="34" charset="-122"/>
                <a:cs typeface="+mn-ea"/>
              </a:rPr>
              <a:t>Attention</a:t>
            </a:r>
            <a:r>
              <a:rPr lang="zh-CN" altLang="en-US" sz="1800" dirty="0">
                <a:solidFill>
                  <a:schemeClr val="accent1"/>
                </a:solidFill>
                <a:latin typeface="微软雅黑" panose="020B0503020204020204" pitchFamily="34" charset="-122"/>
                <a:ea typeface="微软雅黑" panose="020B0503020204020204" pitchFamily="34" charset="-122"/>
                <a:cs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rPr>
              <a:t>MLP</a:t>
            </a:r>
            <a:r>
              <a:rPr lang="zh-CN" altLang="en-US" sz="1800" dirty="0">
                <a:solidFill>
                  <a:schemeClr val="accent1"/>
                </a:solidFill>
                <a:latin typeface="微软雅黑" panose="020B0503020204020204" pitchFamily="34" charset="-122"/>
                <a:ea typeface="微软雅黑" panose="020B0503020204020204" pitchFamily="34" charset="-122"/>
                <a:cs typeface="+mn-ea"/>
              </a:rPr>
              <a:t>模块功能不同、冗余程度不同</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摘要</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4" name="文本框 3"/>
          <p:cNvSpPr txBox="1"/>
          <p:nvPr/>
        </p:nvSpPr>
        <p:spPr>
          <a:xfrm>
            <a:off x="697865" y="1052830"/>
            <a:ext cx="9855200" cy="493204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文章提出了一个动态层剪枝框架</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skipGPT</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a:t>
            </a:r>
            <a:endParaRPr lang="en-US" altLang="zh-CN" sz="1800" dirty="0">
              <a:solidFill>
                <a:schemeClr val="accent1"/>
              </a:solidFill>
              <a:latin typeface="微软雅黑" panose="020B0503020204020204" pitchFamily="34" charset="-122"/>
              <a:ea typeface="微软雅黑" panose="020B0503020204020204" pitchFamily="34" charset="-122"/>
              <a:cs typeface="+mn-ea"/>
              <a:sym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1</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）根据</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的重要性动态分配计算资源：每个模块前的路由器以</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的隐藏状态为输入，为不同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生成不同的硬性跳过</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执行决策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2</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）对</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MLP</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Attention</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模块分别进行独立的剪枝决策：每个</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Attention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和</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MLP </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模块都有自己独立的路由器，它们的决策互不影响，可以针对两类模块的特性分别优化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944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摘要</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4" name="文本框 3"/>
          <p:cNvSpPr txBox="1"/>
          <p:nvPr/>
        </p:nvSpPr>
        <p:spPr>
          <a:xfrm>
            <a:off x="697865" y="1052830"/>
            <a:ext cx="9855200" cy="4932045"/>
          </a:xfrm>
          <a:prstGeom prst="rect">
            <a:avLst/>
          </a:prstGeom>
          <a:noFill/>
        </p:spPr>
        <p:txBody>
          <a:bodyPr wrap="square" rtlCol="0">
            <a:no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为了缓解训练不稳定性，文章提出了一种两阶段优化范式：</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解耦训练阶段：冻结整个</a:t>
            </a:r>
            <a:r>
              <a:rPr lang="en-US" altLang="zh-CN" sz="1800" dirty="0">
                <a:solidFill>
                  <a:schemeClr val="accent1"/>
                </a:solidFill>
                <a:latin typeface="微软雅黑" panose="020B0503020204020204" pitchFamily="34" charset="-122"/>
                <a:ea typeface="微软雅黑" panose="020B0503020204020204" pitchFamily="34" charset="-122"/>
                <a:cs typeface="+mn-ea"/>
              </a:rPr>
              <a:t> LLM </a:t>
            </a:r>
            <a:r>
              <a:rPr lang="zh-CN" altLang="en-US" sz="1800" dirty="0">
                <a:solidFill>
                  <a:schemeClr val="accent1"/>
                </a:solidFill>
                <a:latin typeface="微软雅黑" panose="020B0503020204020204" pitchFamily="34" charset="-122"/>
                <a:ea typeface="微软雅黑" panose="020B0503020204020204" pitchFamily="34" charset="-122"/>
                <a:cs typeface="+mn-ea"/>
              </a:rPr>
              <a:t>的参数，仅训练新添加的轻量级路由器，让它独立学习如何根据</a:t>
            </a:r>
            <a:r>
              <a:rPr lang="en-US" altLang="zh-CN" sz="1800" dirty="0">
                <a:solidFill>
                  <a:schemeClr val="accent1"/>
                </a:solidFill>
                <a:latin typeface="微软雅黑" panose="020B0503020204020204" pitchFamily="34" charset="-122"/>
                <a:ea typeface="微软雅黑" panose="020B0503020204020204" pitchFamily="34" charset="-122"/>
                <a:cs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特征动态分配计算资源</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LoRA </a:t>
            </a:r>
            <a:r>
              <a:rPr lang="zh-CN" altLang="en-US" sz="1800" dirty="0">
                <a:solidFill>
                  <a:schemeClr val="accent1"/>
                </a:solidFill>
                <a:latin typeface="微软雅黑" panose="020B0503020204020204" pitchFamily="34" charset="-122"/>
                <a:ea typeface="微软雅黑" panose="020B0503020204020204" pitchFamily="34" charset="-122"/>
                <a:cs typeface="+mn-ea"/>
              </a:rPr>
              <a:t>微调阶段：冻结已训练好的路由器，通过</a:t>
            </a:r>
            <a:r>
              <a:rPr lang="en-US" altLang="zh-CN" sz="1800" dirty="0">
                <a:solidFill>
                  <a:schemeClr val="accent1"/>
                </a:solidFill>
                <a:latin typeface="微软雅黑" panose="020B0503020204020204" pitchFamily="34" charset="-122"/>
                <a:ea typeface="微软雅黑" panose="020B0503020204020204" pitchFamily="34" charset="-122"/>
                <a:cs typeface="+mn-ea"/>
              </a:rPr>
              <a:t>LoRA </a:t>
            </a:r>
            <a:r>
              <a:rPr lang="zh-CN" altLang="en-US" sz="1800" dirty="0">
                <a:solidFill>
                  <a:schemeClr val="accent1"/>
                </a:solidFill>
                <a:latin typeface="微软雅黑" panose="020B0503020204020204" pitchFamily="34" charset="-122"/>
                <a:ea typeface="微软雅黑" panose="020B0503020204020204" pitchFamily="34" charset="-122"/>
                <a:cs typeface="+mn-ea"/>
              </a:rPr>
              <a:t>技术微调模型，使其适应被剪枝后的新计算路径，修复因层移除造成的性能损失</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1741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1741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1741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背景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1741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2</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17422" name="Freeform 13"/>
          <p:cNvSpPr>
            <a:spLocks noEditPoints="1"/>
          </p:cNvSpPr>
          <p:nvPr/>
        </p:nvSpPr>
        <p:spPr>
          <a:xfrm>
            <a:off x="5441950" y="830263"/>
            <a:ext cx="1489075" cy="1398587"/>
          </a:xfrm>
          <a:custGeom>
            <a:avLst/>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57" h="885">
                <a:moveTo>
                  <a:pt x="0" y="155"/>
                </a:moveTo>
                <a:cubicBezTo>
                  <a:pt x="0" y="278"/>
                  <a:pt x="0" y="400"/>
                  <a:pt x="0" y="523"/>
                </a:cubicBezTo>
                <a:cubicBezTo>
                  <a:pt x="0" y="533"/>
                  <a:pt x="161" y="687"/>
                  <a:pt x="181" y="707"/>
                </a:cubicBezTo>
                <a:cubicBezTo>
                  <a:pt x="202" y="728"/>
                  <a:pt x="355" y="885"/>
                  <a:pt x="368" y="885"/>
                </a:cubicBezTo>
                <a:cubicBezTo>
                  <a:pt x="442" y="885"/>
                  <a:pt x="516" y="885"/>
                  <a:pt x="589" y="885"/>
                </a:cubicBezTo>
                <a:cubicBezTo>
                  <a:pt x="620" y="885"/>
                  <a:pt x="632" y="856"/>
                  <a:pt x="645" y="837"/>
                </a:cubicBezTo>
                <a:cubicBezTo>
                  <a:pt x="645" y="684"/>
                  <a:pt x="645" y="532"/>
                  <a:pt x="645" y="380"/>
                </a:cubicBezTo>
                <a:cubicBezTo>
                  <a:pt x="631" y="385"/>
                  <a:pt x="590" y="368"/>
                  <a:pt x="582" y="391"/>
                </a:cubicBezTo>
                <a:cubicBezTo>
                  <a:pt x="577" y="401"/>
                  <a:pt x="582" y="573"/>
                  <a:pt x="582" y="608"/>
                </a:cubicBezTo>
                <a:cubicBezTo>
                  <a:pt x="582" y="643"/>
                  <a:pt x="592" y="822"/>
                  <a:pt x="567" y="822"/>
                </a:cubicBezTo>
                <a:cubicBezTo>
                  <a:pt x="507" y="822"/>
                  <a:pt x="447" y="822"/>
                  <a:pt x="387" y="822"/>
                </a:cubicBezTo>
                <a:cubicBezTo>
                  <a:pt x="368" y="822"/>
                  <a:pt x="376" y="760"/>
                  <a:pt x="376" y="741"/>
                </a:cubicBezTo>
                <a:cubicBezTo>
                  <a:pt x="376" y="710"/>
                  <a:pt x="376" y="679"/>
                  <a:pt x="376" y="649"/>
                </a:cubicBezTo>
                <a:cubicBezTo>
                  <a:pt x="376" y="565"/>
                  <a:pt x="376" y="551"/>
                  <a:pt x="324" y="516"/>
                </a:cubicBezTo>
                <a:cubicBezTo>
                  <a:pt x="300" y="516"/>
                  <a:pt x="301" y="509"/>
                  <a:pt x="280" y="509"/>
                </a:cubicBezTo>
                <a:cubicBezTo>
                  <a:pt x="209" y="509"/>
                  <a:pt x="137" y="509"/>
                  <a:pt x="66" y="509"/>
                </a:cubicBezTo>
                <a:cubicBezTo>
                  <a:pt x="66" y="398"/>
                  <a:pt x="66" y="287"/>
                  <a:pt x="66" y="177"/>
                </a:cubicBezTo>
                <a:cubicBezTo>
                  <a:pt x="66" y="168"/>
                  <a:pt x="69" y="169"/>
                  <a:pt x="74" y="162"/>
                </a:cubicBezTo>
                <a:cubicBezTo>
                  <a:pt x="155" y="162"/>
                  <a:pt x="236" y="162"/>
                  <a:pt x="317" y="162"/>
                </a:cubicBezTo>
                <a:cubicBezTo>
                  <a:pt x="333" y="151"/>
                  <a:pt x="375" y="115"/>
                  <a:pt x="376" y="92"/>
                </a:cubicBezTo>
                <a:cubicBezTo>
                  <a:pt x="274" y="92"/>
                  <a:pt x="172" y="92"/>
                  <a:pt x="70" y="92"/>
                </a:cubicBezTo>
                <a:cubicBezTo>
                  <a:pt x="42" y="92"/>
                  <a:pt x="0" y="131"/>
                  <a:pt x="0" y="155"/>
                </a:cubicBezTo>
                <a:close/>
                <a:moveTo>
                  <a:pt x="505" y="215"/>
                </a:moveTo>
                <a:lnTo>
                  <a:pt x="538" y="182"/>
                </a:lnTo>
                <a:lnTo>
                  <a:pt x="505" y="149"/>
                </a:lnTo>
                <a:cubicBezTo>
                  <a:pt x="504" y="148"/>
                  <a:pt x="504" y="146"/>
                  <a:pt x="505" y="145"/>
                </a:cubicBezTo>
                <a:lnTo>
                  <a:pt x="527" y="123"/>
                </a:lnTo>
                <a:cubicBezTo>
                  <a:pt x="528" y="122"/>
                  <a:pt x="530" y="122"/>
                  <a:pt x="531" y="123"/>
                </a:cubicBezTo>
                <a:lnTo>
                  <a:pt x="564" y="156"/>
                </a:lnTo>
                <a:lnTo>
                  <a:pt x="597" y="123"/>
                </a:lnTo>
                <a:cubicBezTo>
                  <a:pt x="599" y="122"/>
                  <a:pt x="601" y="122"/>
                  <a:pt x="602" y="123"/>
                </a:cubicBezTo>
                <a:lnTo>
                  <a:pt x="624" y="145"/>
                </a:lnTo>
                <a:cubicBezTo>
                  <a:pt x="625" y="146"/>
                  <a:pt x="625" y="148"/>
                  <a:pt x="624" y="149"/>
                </a:cubicBezTo>
                <a:lnTo>
                  <a:pt x="591" y="182"/>
                </a:lnTo>
                <a:lnTo>
                  <a:pt x="624" y="215"/>
                </a:lnTo>
                <a:cubicBezTo>
                  <a:pt x="625" y="217"/>
                  <a:pt x="625" y="219"/>
                  <a:pt x="624" y="220"/>
                </a:cubicBezTo>
                <a:lnTo>
                  <a:pt x="602" y="242"/>
                </a:lnTo>
                <a:cubicBezTo>
                  <a:pt x="601" y="243"/>
                  <a:pt x="599" y="243"/>
                  <a:pt x="597" y="242"/>
                </a:cubicBezTo>
                <a:lnTo>
                  <a:pt x="564" y="209"/>
                </a:lnTo>
                <a:lnTo>
                  <a:pt x="531" y="242"/>
                </a:lnTo>
                <a:cubicBezTo>
                  <a:pt x="530" y="243"/>
                  <a:pt x="528" y="243"/>
                  <a:pt x="527" y="242"/>
                </a:cubicBezTo>
                <a:lnTo>
                  <a:pt x="505" y="220"/>
                </a:lnTo>
                <a:cubicBezTo>
                  <a:pt x="504" y="219"/>
                  <a:pt x="504" y="217"/>
                  <a:pt x="505" y="215"/>
                </a:cubicBezTo>
                <a:close/>
                <a:moveTo>
                  <a:pt x="780" y="332"/>
                </a:moveTo>
                <a:lnTo>
                  <a:pt x="944" y="496"/>
                </a:lnTo>
                <a:cubicBezTo>
                  <a:pt x="957" y="509"/>
                  <a:pt x="957" y="530"/>
                  <a:pt x="944" y="543"/>
                </a:cubicBezTo>
                <a:lnTo>
                  <a:pt x="925" y="562"/>
                </a:lnTo>
                <a:cubicBezTo>
                  <a:pt x="912" y="575"/>
                  <a:pt x="891" y="575"/>
                  <a:pt x="878" y="562"/>
                </a:cubicBezTo>
                <a:lnTo>
                  <a:pt x="714" y="398"/>
                </a:lnTo>
                <a:lnTo>
                  <a:pt x="780" y="332"/>
                </a:lnTo>
                <a:close/>
                <a:moveTo>
                  <a:pt x="447" y="65"/>
                </a:moveTo>
                <a:cubicBezTo>
                  <a:pt x="512" y="0"/>
                  <a:pt x="617" y="0"/>
                  <a:pt x="682" y="65"/>
                </a:cubicBezTo>
                <a:cubicBezTo>
                  <a:pt x="740" y="123"/>
                  <a:pt x="747" y="213"/>
                  <a:pt x="701" y="278"/>
                </a:cubicBezTo>
                <a:lnTo>
                  <a:pt x="754" y="331"/>
                </a:lnTo>
                <a:cubicBezTo>
                  <a:pt x="756" y="333"/>
                  <a:pt x="756" y="337"/>
                  <a:pt x="754" y="339"/>
                </a:cubicBezTo>
                <a:lnTo>
                  <a:pt x="721" y="372"/>
                </a:lnTo>
                <a:cubicBezTo>
                  <a:pt x="719" y="374"/>
                  <a:pt x="715" y="374"/>
                  <a:pt x="713" y="372"/>
                </a:cubicBezTo>
                <a:lnTo>
                  <a:pt x="660" y="319"/>
                </a:lnTo>
                <a:cubicBezTo>
                  <a:pt x="595" y="364"/>
                  <a:pt x="505" y="358"/>
                  <a:pt x="447" y="300"/>
                </a:cubicBezTo>
                <a:cubicBezTo>
                  <a:pt x="382" y="235"/>
                  <a:pt x="382" y="130"/>
                  <a:pt x="447" y="65"/>
                </a:cubicBezTo>
                <a:close/>
                <a:moveTo>
                  <a:pt x="486" y="104"/>
                </a:moveTo>
                <a:cubicBezTo>
                  <a:pt x="529" y="60"/>
                  <a:pt x="600" y="60"/>
                  <a:pt x="643" y="104"/>
                </a:cubicBezTo>
                <a:cubicBezTo>
                  <a:pt x="687" y="147"/>
                  <a:pt x="687" y="218"/>
                  <a:pt x="643" y="261"/>
                </a:cubicBezTo>
                <a:cubicBezTo>
                  <a:pt x="600" y="305"/>
                  <a:pt x="529" y="305"/>
                  <a:pt x="486" y="261"/>
                </a:cubicBezTo>
                <a:cubicBezTo>
                  <a:pt x="442" y="218"/>
                  <a:pt x="442" y="147"/>
                  <a:pt x="486" y="104"/>
                </a:cubicBezTo>
                <a:close/>
                <a:moveTo>
                  <a:pt x="306" y="770"/>
                </a:moveTo>
                <a:cubicBezTo>
                  <a:pt x="304" y="706"/>
                  <a:pt x="303" y="643"/>
                  <a:pt x="302" y="579"/>
                </a:cubicBezTo>
                <a:cubicBezTo>
                  <a:pt x="241" y="579"/>
                  <a:pt x="179" y="579"/>
                  <a:pt x="118" y="579"/>
                </a:cubicBezTo>
                <a:cubicBezTo>
                  <a:pt x="117" y="580"/>
                  <a:pt x="116" y="581"/>
                  <a:pt x="115" y="581"/>
                </a:cubicBezTo>
                <a:cubicBezTo>
                  <a:pt x="179" y="644"/>
                  <a:pt x="242" y="707"/>
                  <a:pt x="306" y="770"/>
                </a:cubicBezTo>
                <a:close/>
                <a:moveTo>
                  <a:pt x="110" y="225"/>
                </a:moveTo>
                <a:cubicBezTo>
                  <a:pt x="110" y="233"/>
                  <a:pt x="110" y="242"/>
                  <a:pt x="110" y="250"/>
                </a:cubicBezTo>
                <a:cubicBezTo>
                  <a:pt x="110" y="259"/>
                  <a:pt x="116" y="265"/>
                  <a:pt x="125" y="265"/>
                </a:cubicBezTo>
                <a:cubicBezTo>
                  <a:pt x="209" y="265"/>
                  <a:pt x="292" y="265"/>
                  <a:pt x="376" y="265"/>
                </a:cubicBezTo>
                <a:cubicBezTo>
                  <a:pt x="399" y="265"/>
                  <a:pt x="394" y="228"/>
                  <a:pt x="387" y="214"/>
                </a:cubicBezTo>
                <a:cubicBezTo>
                  <a:pt x="338" y="214"/>
                  <a:pt x="288" y="214"/>
                  <a:pt x="239" y="214"/>
                </a:cubicBezTo>
                <a:cubicBezTo>
                  <a:pt x="209" y="214"/>
                  <a:pt x="110" y="206"/>
                  <a:pt x="110" y="225"/>
                </a:cubicBezTo>
                <a:close/>
                <a:moveTo>
                  <a:pt x="110" y="405"/>
                </a:moveTo>
                <a:cubicBezTo>
                  <a:pt x="110" y="416"/>
                  <a:pt x="110" y="427"/>
                  <a:pt x="110" y="439"/>
                </a:cubicBezTo>
                <a:cubicBezTo>
                  <a:pt x="110" y="447"/>
                  <a:pt x="113" y="450"/>
                  <a:pt x="121" y="450"/>
                </a:cubicBezTo>
                <a:cubicBezTo>
                  <a:pt x="211" y="450"/>
                  <a:pt x="301" y="450"/>
                  <a:pt x="390" y="450"/>
                </a:cubicBezTo>
                <a:cubicBezTo>
                  <a:pt x="392" y="440"/>
                  <a:pt x="400" y="402"/>
                  <a:pt x="379" y="402"/>
                </a:cubicBezTo>
                <a:cubicBezTo>
                  <a:pt x="296" y="402"/>
                  <a:pt x="212" y="402"/>
                  <a:pt x="129" y="402"/>
                </a:cubicBezTo>
                <a:cubicBezTo>
                  <a:pt x="123" y="402"/>
                  <a:pt x="115" y="404"/>
                  <a:pt x="110" y="405"/>
                </a:cubicBezTo>
                <a:close/>
                <a:moveTo>
                  <a:pt x="110" y="328"/>
                </a:moveTo>
                <a:cubicBezTo>
                  <a:pt x="110" y="333"/>
                  <a:pt x="110" y="338"/>
                  <a:pt x="110" y="343"/>
                </a:cubicBezTo>
                <a:cubicBezTo>
                  <a:pt x="110" y="351"/>
                  <a:pt x="113" y="351"/>
                  <a:pt x="118" y="357"/>
                </a:cubicBezTo>
                <a:cubicBezTo>
                  <a:pt x="205" y="357"/>
                  <a:pt x="292" y="357"/>
                  <a:pt x="379" y="357"/>
                </a:cubicBezTo>
                <a:cubicBezTo>
                  <a:pt x="384" y="355"/>
                  <a:pt x="389" y="353"/>
                  <a:pt x="394" y="350"/>
                </a:cubicBezTo>
                <a:cubicBezTo>
                  <a:pt x="394" y="344"/>
                  <a:pt x="394" y="338"/>
                  <a:pt x="394" y="332"/>
                </a:cubicBezTo>
                <a:cubicBezTo>
                  <a:pt x="394" y="320"/>
                  <a:pt x="390" y="317"/>
                  <a:pt x="387" y="309"/>
                </a:cubicBezTo>
                <a:cubicBezTo>
                  <a:pt x="336" y="309"/>
                  <a:pt x="286" y="309"/>
                  <a:pt x="236" y="309"/>
                </a:cubicBezTo>
                <a:cubicBezTo>
                  <a:pt x="211" y="309"/>
                  <a:pt x="187" y="309"/>
                  <a:pt x="162" y="309"/>
                </a:cubicBezTo>
                <a:cubicBezTo>
                  <a:pt x="131" y="310"/>
                  <a:pt x="110" y="299"/>
                  <a:pt x="110" y="328"/>
                </a:cubicBezTo>
                <a:close/>
              </a:path>
            </a:pathLst>
          </a:custGeom>
          <a:solidFill>
            <a:srgbClr val="113E6A"/>
          </a:solidFill>
          <a:ln w="9525">
            <a:noFill/>
          </a:ln>
        </p:spPr>
        <p:txBody>
          <a:bodyPr/>
          <a:lstStyle/>
          <a:p>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heel(1)">
                                      <p:cBhvr>
                                        <p:cTn id="7" dur="2000"/>
                                        <p:tgtEl>
                                          <p:spTgt spid="17410"/>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7422"/>
                                        </p:tgtEl>
                                        <p:attrNameLst>
                                          <p:attrName>style.visibility</p:attrName>
                                        </p:attrNameLst>
                                      </p:cBhvr>
                                      <p:to>
                                        <p:strVal val="visible"/>
                                      </p:to>
                                    </p:set>
                                    <p:anim calcmode="lin" valueType="num">
                                      <p:cBhvr>
                                        <p:cTn id="11" dur="400" fill="hold"/>
                                        <p:tgtEl>
                                          <p:spTgt spid="17422"/>
                                        </p:tgtEl>
                                        <p:attrNameLst>
                                          <p:attrName>ppt_w</p:attrName>
                                        </p:attrNameLst>
                                      </p:cBhvr>
                                      <p:tavLst>
                                        <p:tav tm="0">
                                          <p:val>
                                            <p:fltVal val="0"/>
                                          </p:val>
                                        </p:tav>
                                        <p:tav tm="100000">
                                          <p:val>
                                            <p:strVal val="#ppt_w"/>
                                          </p:val>
                                        </p:tav>
                                      </p:tavLst>
                                    </p:anim>
                                    <p:anim calcmode="lin" valueType="num">
                                      <p:cBhvr>
                                        <p:cTn id="12" dur="400" fill="hold"/>
                                        <p:tgtEl>
                                          <p:spTgt spid="17422"/>
                                        </p:tgtEl>
                                        <p:attrNameLst>
                                          <p:attrName>ppt_h</p:attrName>
                                        </p:attrNameLst>
                                      </p:cBhvr>
                                      <p:tavLst>
                                        <p:tav tm="0">
                                          <p:val>
                                            <p:fltVal val="0"/>
                                          </p:val>
                                        </p:tav>
                                        <p:tav tm="100000">
                                          <p:val>
                                            <p:strVal val="#ppt_h"/>
                                          </p:val>
                                        </p:tav>
                                      </p:tavLst>
                                    </p:anim>
                                    <p:anim calcmode="lin" valueType="num">
                                      <p:cBhvr>
                                        <p:cTn id="13" dur="400" fill="hold"/>
                                        <p:tgtEl>
                                          <p:spTgt spid="17422"/>
                                        </p:tgtEl>
                                        <p:attrNameLst>
                                          <p:attrName>style.rotation</p:attrName>
                                        </p:attrNameLst>
                                      </p:cBhvr>
                                      <p:tavLst>
                                        <p:tav tm="0">
                                          <p:val>
                                            <p:fltVal val="90"/>
                                          </p:val>
                                        </p:tav>
                                        <p:tav tm="100000">
                                          <p:val>
                                            <p:fltVal val="0"/>
                                          </p:val>
                                        </p:tav>
                                      </p:tavLst>
                                    </p:anim>
                                    <p:animEffect transition="in" filter="fade">
                                      <p:cBhvr>
                                        <p:cTn id="14" dur="400"/>
                                        <p:tgtEl>
                                          <p:spTgt spid="17422"/>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17411"/>
                                        </p:tgtEl>
                                        <p:attrNameLst>
                                          <p:attrName>style.visibility</p:attrName>
                                        </p:attrNameLst>
                                      </p:cBhvr>
                                      <p:to>
                                        <p:strVal val="visible"/>
                                      </p:to>
                                    </p:set>
                                    <p:animEffect transition="in" filter="barn(inVertical)">
                                      <p:cBhvr>
                                        <p:cTn id="18" dur="500"/>
                                        <p:tgtEl>
                                          <p:spTgt spid="1741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17412"/>
                                        </p:tgtEl>
                                        <p:attrNameLst>
                                          <p:attrName>style.visibility</p:attrName>
                                        </p:attrNameLst>
                                      </p:cBhvr>
                                      <p:to>
                                        <p:strVal val="visible"/>
                                      </p:to>
                                    </p:set>
                                    <p:animEffect transition="in" filter="wipe(up)">
                                      <p:cBhvr>
                                        <p:cTn id="22" dur="500"/>
                                        <p:tgtEl>
                                          <p:spTgt spid="174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wipe(down)">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12" grpId="0"/>
      <p:bldP spid="174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水平动态</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8042910" y="1484630"/>
            <a:ext cx="3575050" cy="4467225"/>
          </a:xfrm>
          <a:prstGeom prst="rect">
            <a:avLst/>
          </a:prstGeom>
          <a:noFill/>
          <a:ln w="9525">
            <a:noFill/>
          </a:ln>
        </p:spPr>
      </p:pic>
      <p:sp>
        <p:nvSpPr>
          <p:cNvPr id="2" name="文本框 1"/>
          <p:cNvSpPr txBox="1"/>
          <p:nvPr/>
        </p:nvSpPr>
        <p:spPr>
          <a:xfrm>
            <a:off x="481965" y="1340485"/>
            <a:ext cx="7266305" cy="258445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剪枝两个关键方面：水平动态、垂直动态</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水平动态：输入序列中的不同</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需要不同级别的计算量。当前的方法要么将资源分配给每层前</a:t>
            </a:r>
            <a:r>
              <a:rPr lang="en-US" altLang="zh-CN" sz="1800" dirty="0">
                <a:solidFill>
                  <a:schemeClr val="accent1"/>
                </a:solidFill>
                <a:latin typeface="微软雅黑" panose="020B0503020204020204" pitchFamily="34" charset="-122"/>
                <a:ea typeface="微软雅黑" panose="020B0503020204020204" pitchFamily="34" charset="-122"/>
                <a:cs typeface="+mn-ea"/>
              </a:rPr>
              <a:t>k</a:t>
            </a:r>
            <a:r>
              <a:rPr lang="zh-CN" altLang="en-US" sz="1800" dirty="0">
                <a:solidFill>
                  <a:schemeClr val="accent1"/>
                </a:solidFill>
                <a:latin typeface="微软雅黑" panose="020B0503020204020204" pitchFamily="34" charset="-122"/>
                <a:ea typeface="微软雅黑" panose="020B0503020204020204" pitchFamily="34" charset="-122"/>
                <a:cs typeface="+mn-ea"/>
              </a:rPr>
              <a:t>个最相关的</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，要么对所有</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强制执行固定的计算比例</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这些方法无法适应</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的复杂性，效率不佳</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819"/>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rPr>
              <a:t>垂直动态</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15364" name="Picture 2" descr="F:\快盘\商务图片\png\2531170_084420255000_2.png"/>
          <p:cNvPicPr>
            <a:picLocks noChangeAspect="1"/>
          </p:cNvPicPr>
          <p:nvPr/>
        </p:nvPicPr>
        <p:blipFill>
          <a:blip r:embed="rId1" cstate="print"/>
          <a:stretch>
            <a:fillRect/>
          </a:stretch>
        </p:blipFill>
        <p:spPr>
          <a:xfrm>
            <a:off x="8042910" y="1484630"/>
            <a:ext cx="3575050" cy="4467225"/>
          </a:xfrm>
          <a:prstGeom prst="rect">
            <a:avLst/>
          </a:prstGeom>
          <a:noFill/>
          <a:ln w="9525">
            <a:noFill/>
          </a:ln>
        </p:spPr>
      </p:pic>
      <p:sp>
        <p:nvSpPr>
          <p:cNvPr id="2" name="文本框 1"/>
          <p:cNvSpPr txBox="1"/>
          <p:nvPr/>
        </p:nvSpPr>
        <p:spPr>
          <a:xfrm>
            <a:off x="481965" y="1340485"/>
            <a:ext cx="7266305"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剪枝两个关键方面：水平动态、垂直动态</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垂直动态：每一层内的</a:t>
            </a:r>
            <a:r>
              <a:rPr lang="en-US" altLang="zh-CN" sz="1800" dirty="0">
                <a:solidFill>
                  <a:schemeClr val="accent1"/>
                </a:solidFill>
                <a:latin typeface="微软雅黑" panose="020B0503020204020204" pitchFamily="34" charset="-122"/>
                <a:ea typeface="微软雅黑" panose="020B0503020204020204" pitchFamily="34" charset="-122"/>
                <a:cs typeface="+mn-ea"/>
              </a:rPr>
              <a:t>MLP</a:t>
            </a:r>
            <a:r>
              <a:rPr lang="zh-CN" altLang="en-US" sz="1800" dirty="0">
                <a:solidFill>
                  <a:schemeClr val="accent1"/>
                </a:solidFill>
                <a:latin typeface="微软雅黑" panose="020B0503020204020204" pitchFamily="34" charset="-122"/>
                <a:ea typeface="微软雅黑" panose="020B0503020204020204" pitchFamily="34" charset="-122"/>
                <a:cs typeface="+mn-ea"/>
              </a:rPr>
              <a:t>和自注意力组件服务于不同的功能。每一层内的</a:t>
            </a:r>
            <a:r>
              <a:rPr lang="en-US" altLang="zh-CN" sz="1800" dirty="0">
                <a:solidFill>
                  <a:schemeClr val="accent1"/>
                </a:solidFill>
                <a:latin typeface="微软雅黑" panose="020B0503020204020204" pitchFamily="34" charset="-122"/>
                <a:ea typeface="微软雅黑" panose="020B0503020204020204" pitchFamily="34" charset="-122"/>
                <a:cs typeface="+mn-ea"/>
              </a:rPr>
              <a:t>MLP</a:t>
            </a:r>
            <a:r>
              <a:rPr lang="zh-CN" altLang="en-US" sz="1800" dirty="0">
                <a:solidFill>
                  <a:schemeClr val="accent1"/>
                </a:solidFill>
                <a:latin typeface="微软雅黑" panose="020B0503020204020204" pitchFamily="34" charset="-122"/>
                <a:ea typeface="微软雅黑" panose="020B0503020204020204" pitchFamily="34" charset="-122"/>
                <a:cs typeface="+mn-ea"/>
              </a:rPr>
              <a:t>和自注意力组件服务于不同的功能，但是大多数剪枝方法统一对它们进行剪枝。</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par>
                          <p:cTn id="19" fill="hold">
                            <p:stCondLst>
                              <p:cond delay="819"/>
                            </p:stCondLst>
                            <p:childTnLst>
                              <p:par>
                                <p:cTn id="20" presetID="42" presetClass="entr" presetSubtype="0" fill="hold" nodeType="afterEffect">
                                  <p:stCondLst>
                                    <p:cond delay="0"/>
                                  </p:stCondLst>
                                  <p:childTnLst>
                                    <p:set>
                                      <p:cBhvr>
                                        <p:cTn id="21" dur="1" fill="hold">
                                          <p:stCondLst>
                                            <p:cond delay="0"/>
                                          </p:stCondLst>
                                        </p:cTn>
                                        <p:tgtEl>
                                          <p:spTgt spid="15364"/>
                                        </p:tgtEl>
                                        <p:attrNameLst>
                                          <p:attrName>style.visibility</p:attrName>
                                        </p:attrNameLst>
                                      </p:cBhvr>
                                      <p:to>
                                        <p:strVal val="visible"/>
                                      </p:to>
                                    </p:set>
                                    <p:animEffect transition="in" filter="fade">
                                      <p:cBhvr>
                                        <p:cTn id="22" dur="1000"/>
                                        <p:tgtEl>
                                          <p:spTgt spid="15364"/>
                                        </p:tgtEl>
                                      </p:cBhvr>
                                    </p:animEffect>
                                    <p:anim calcmode="lin" valueType="num">
                                      <p:cBhvr>
                                        <p:cTn id="23" dur="1000" fill="hold"/>
                                        <p:tgtEl>
                                          <p:spTgt spid="15364"/>
                                        </p:tgtEl>
                                        <p:attrNameLst>
                                          <p:attrName>ppt_x</p:attrName>
                                        </p:attrNameLst>
                                      </p:cBhvr>
                                      <p:tavLst>
                                        <p:tav tm="0">
                                          <p:val>
                                            <p:strVal val="#ppt_x"/>
                                          </p:val>
                                        </p:tav>
                                        <p:tav tm="100000">
                                          <p:val>
                                            <p:strVal val="#ppt_x"/>
                                          </p:val>
                                        </p:tav>
                                      </p:tavLst>
                                    </p:anim>
                                    <p:anim calcmode="lin" valueType="num">
                                      <p:cBhvr>
                                        <p:cTn id="24" dur="1000" fill="hold"/>
                                        <p:tgtEl>
                                          <p:spTgt spid="153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5135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水平动态和垂直动态的重要性</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481965" y="1340485"/>
            <a:ext cx="10568305"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模块输入和输出之间的余弦相似度可以作为评估每个模块重要性的可靠指标</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模块产生的输出与其输入非常相似，表明变换极小</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a:t>
            </a:r>
            <a:r>
              <a:rPr lang="en-US" altLang="zh-CN" sz="1800" dirty="0">
                <a:solidFill>
                  <a:schemeClr val="accent1"/>
                </a:solidFill>
                <a:latin typeface="微软雅黑" panose="020B0503020204020204" pitchFamily="34" charset="-122"/>
                <a:ea typeface="微软雅黑" panose="020B0503020204020204" pitchFamily="34" charset="-122"/>
                <a:cs typeface="+mn-ea"/>
              </a:rPr>
              <a:t>Token</a:t>
            </a:r>
            <a:r>
              <a:rPr lang="zh-CN" altLang="en-US" sz="1800" dirty="0">
                <a:solidFill>
                  <a:schemeClr val="accent1"/>
                </a:solidFill>
                <a:latin typeface="微软雅黑" panose="020B0503020204020204" pitchFamily="34" charset="-122"/>
                <a:ea typeface="微软雅黑" panose="020B0503020204020204" pitchFamily="34" charset="-122"/>
                <a:cs typeface="+mn-ea"/>
              </a:rPr>
              <a:t>级别分析了每个模块的余弦相似度。具体来说，第</a:t>
            </a:r>
            <a:r>
              <a:rPr lang="en-US" altLang="zh-CN" sz="1800" dirty="0">
                <a:solidFill>
                  <a:schemeClr val="accent1"/>
                </a:solidFill>
                <a:latin typeface="微软雅黑" panose="020B0503020204020204" pitchFamily="34" charset="-122"/>
                <a:ea typeface="微软雅黑" panose="020B0503020204020204" pitchFamily="34" charset="-122"/>
                <a:cs typeface="+mn-ea"/>
              </a:rPr>
              <a:t>i</a:t>
            </a:r>
            <a:r>
              <a:rPr lang="zh-CN" altLang="en-US" sz="1800" dirty="0">
                <a:solidFill>
                  <a:schemeClr val="accent1"/>
                </a:solidFill>
                <a:latin typeface="微软雅黑" panose="020B0503020204020204" pitchFamily="34" charset="-122"/>
                <a:ea typeface="微软雅黑" panose="020B0503020204020204" pitchFamily="34" charset="-122"/>
                <a:cs typeface="+mn-ea"/>
              </a:rPr>
              <a:t>个模块在</a:t>
            </a:r>
            <a:r>
              <a:rPr lang="en-US" altLang="zh-CN" sz="1800" dirty="0">
                <a:solidFill>
                  <a:schemeClr val="accent1"/>
                </a:solidFill>
                <a:latin typeface="微软雅黑" panose="020B0503020204020204" pitchFamily="34" charset="-122"/>
                <a:ea typeface="微软雅黑" panose="020B0503020204020204" pitchFamily="34" charset="-122"/>
                <a:cs typeface="+mn-ea"/>
              </a:rPr>
              <a:t>Token t</a:t>
            </a:r>
            <a:r>
              <a:rPr lang="zh-CN" altLang="en-US" sz="1800" dirty="0">
                <a:solidFill>
                  <a:schemeClr val="accent1"/>
                </a:solidFill>
                <a:latin typeface="微软雅黑" panose="020B0503020204020204" pitchFamily="34" charset="-122"/>
                <a:ea typeface="微软雅黑" panose="020B0503020204020204" pitchFamily="34" charset="-122"/>
                <a:cs typeface="+mn-ea"/>
              </a:rPr>
              <a:t>处的余弦相似度计算如下：</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2425700" y="3268980"/>
            <a:ext cx="7086600" cy="219392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5135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水平动态和垂直动态的重要性</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4" name="图片 3"/>
          <p:cNvPicPr>
            <a:picLocks noChangeAspect="1"/>
          </p:cNvPicPr>
          <p:nvPr/>
        </p:nvPicPr>
        <p:blipFill>
          <a:blip r:embed="rId1"/>
          <a:stretch>
            <a:fillRect/>
          </a:stretch>
        </p:blipFill>
        <p:spPr>
          <a:xfrm>
            <a:off x="1849755" y="838835"/>
            <a:ext cx="8834120" cy="4712970"/>
          </a:xfrm>
          <a:prstGeom prst="rect">
            <a:avLst/>
          </a:prstGeom>
        </p:spPr>
      </p:pic>
      <p:sp>
        <p:nvSpPr>
          <p:cNvPr id="5" name="文本框 4"/>
          <p:cNvSpPr txBox="1"/>
          <p:nvPr/>
        </p:nvSpPr>
        <p:spPr>
          <a:xfrm>
            <a:off x="985520" y="5661025"/>
            <a:ext cx="9979025" cy="92202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用从BookCorpus数据集中随机选择的一个句子进行案例研究，分析了LLaMA-2-7B中15个连续Token的余弦相似度分布</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2530"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2531"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2532" name="TextBox 77"/>
          <p:cNvSpPr txBox="1"/>
          <p:nvPr/>
        </p:nvSpPr>
        <p:spPr>
          <a:xfrm>
            <a:off x="4602163" y="2852738"/>
            <a:ext cx="3168650" cy="76835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关键技术</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2533"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3</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2534" name="Freeform 12"/>
          <p:cNvSpPr>
            <a:spLocks noEditPoints="1"/>
          </p:cNvSpPr>
          <p:nvPr/>
        </p:nvSpPr>
        <p:spPr>
          <a:xfrm>
            <a:off x="5340350" y="798513"/>
            <a:ext cx="1517650" cy="14636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022" h="973">
                <a:moveTo>
                  <a:pt x="596" y="882"/>
                </a:moveTo>
                <a:lnTo>
                  <a:pt x="426" y="882"/>
                </a:lnTo>
                <a:cubicBezTo>
                  <a:pt x="414" y="882"/>
                  <a:pt x="403" y="892"/>
                  <a:pt x="403" y="904"/>
                </a:cubicBezTo>
                <a:cubicBezTo>
                  <a:pt x="403" y="916"/>
                  <a:pt x="414" y="926"/>
                  <a:pt x="426" y="926"/>
                </a:cubicBezTo>
                <a:lnTo>
                  <a:pt x="596" y="926"/>
                </a:lnTo>
                <a:cubicBezTo>
                  <a:pt x="609" y="926"/>
                  <a:pt x="619" y="916"/>
                  <a:pt x="619" y="904"/>
                </a:cubicBezTo>
                <a:cubicBezTo>
                  <a:pt x="619" y="892"/>
                  <a:pt x="609" y="882"/>
                  <a:pt x="596" y="882"/>
                </a:cubicBezTo>
                <a:close/>
                <a:moveTo>
                  <a:pt x="596" y="813"/>
                </a:moveTo>
                <a:lnTo>
                  <a:pt x="596" y="813"/>
                </a:lnTo>
                <a:lnTo>
                  <a:pt x="426" y="813"/>
                </a:lnTo>
                <a:cubicBezTo>
                  <a:pt x="414" y="813"/>
                  <a:pt x="403" y="823"/>
                  <a:pt x="403" y="835"/>
                </a:cubicBezTo>
                <a:cubicBezTo>
                  <a:pt x="403" y="848"/>
                  <a:pt x="414" y="858"/>
                  <a:pt x="426" y="858"/>
                </a:cubicBezTo>
                <a:lnTo>
                  <a:pt x="596" y="858"/>
                </a:lnTo>
                <a:cubicBezTo>
                  <a:pt x="609" y="858"/>
                  <a:pt x="619" y="848"/>
                  <a:pt x="619" y="835"/>
                </a:cubicBezTo>
                <a:cubicBezTo>
                  <a:pt x="619" y="823"/>
                  <a:pt x="609" y="813"/>
                  <a:pt x="596" y="813"/>
                </a:cubicBezTo>
                <a:close/>
                <a:moveTo>
                  <a:pt x="511" y="973"/>
                </a:moveTo>
                <a:lnTo>
                  <a:pt x="511" y="973"/>
                </a:lnTo>
                <a:lnTo>
                  <a:pt x="585" y="946"/>
                </a:lnTo>
                <a:lnTo>
                  <a:pt x="437" y="946"/>
                </a:lnTo>
                <a:lnTo>
                  <a:pt x="511" y="973"/>
                </a:lnTo>
                <a:close/>
                <a:moveTo>
                  <a:pt x="514" y="261"/>
                </a:moveTo>
                <a:lnTo>
                  <a:pt x="514" y="261"/>
                </a:lnTo>
                <a:lnTo>
                  <a:pt x="508" y="261"/>
                </a:lnTo>
                <a:cubicBezTo>
                  <a:pt x="384" y="261"/>
                  <a:pt x="272" y="362"/>
                  <a:pt x="272" y="486"/>
                </a:cubicBezTo>
                <a:cubicBezTo>
                  <a:pt x="272" y="611"/>
                  <a:pt x="377" y="682"/>
                  <a:pt x="388" y="721"/>
                </a:cubicBezTo>
                <a:cubicBezTo>
                  <a:pt x="398" y="759"/>
                  <a:pt x="388" y="778"/>
                  <a:pt x="416" y="787"/>
                </a:cubicBezTo>
                <a:cubicBezTo>
                  <a:pt x="444" y="796"/>
                  <a:pt x="508" y="794"/>
                  <a:pt x="508" y="794"/>
                </a:cubicBezTo>
                <a:lnTo>
                  <a:pt x="514" y="794"/>
                </a:lnTo>
                <a:cubicBezTo>
                  <a:pt x="514" y="794"/>
                  <a:pt x="578" y="796"/>
                  <a:pt x="606" y="787"/>
                </a:cubicBezTo>
                <a:cubicBezTo>
                  <a:pt x="634" y="778"/>
                  <a:pt x="624" y="759"/>
                  <a:pt x="634" y="721"/>
                </a:cubicBezTo>
                <a:cubicBezTo>
                  <a:pt x="645" y="682"/>
                  <a:pt x="750" y="611"/>
                  <a:pt x="750" y="486"/>
                </a:cubicBezTo>
                <a:cubicBezTo>
                  <a:pt x="750" y="362"/>
                  <a:pt x="638" y="261"/>
                  <a:pt x="514" y="261"/>
                </a:cubicBezTo>
                <a:close/>
                <a:moveTo>
                  <a:pt x="201" y="527"/>
                </a:moveTo>
                <a:lnTo>
                  <a:pt x="201" y="527"/>
                </a:lnTo>
                <a:cubicBezTo>
                  <a:pt x="201" y="509"/>
                  <a:pt x="183" y="495"/>
                  <a:pt x="162" y="495"/>
                </a:cubicBezTo>
                <a:lnTo>
                  <a:pt x="39" y="495"/>
                </a:lnTo>
                <a:cubicBezTo>
                  <a:pt x="17" y="495"/>
                  <a:pt x="0" y="509"/>
                  <a:pt x="0" y="527"/>
                </a:cubicBezTo>
                <a:cubicBezTo>
                  <a:pt x="0" y="544"/>
                  <a:pt x="17" y="558"/>
                  <a:pt x="39" y="558"/>
                </a:cubicBezTo>
                <a:lnTo>
                  <a:pt x="162" y="558"/>
                </a:lnTo>
                <a:cubicBezTo>
                  <a:pt x="183" y="558"/>
                  <a:pt x="201" y="544"/>
                  <a:pt x="201" y="527"/>
                </a:cubicBezTo>
                <a:close/>
                <a:moveTo>
                  <a:pt x="983" y="495"/>
                </a:moveTo>
                <a:lnTo>
                  <a:pt x="983" y="495"/>
                </a:lnTo>
                <a:lnTo>
                  <a:pt x="860" y="495"/>
                </a:lnTo>
                <a:cubicBezTo>
                  <a:pt x="839" y="495"/>
                  <a:pt x="822" y="509"/>
                  <a:pt x="822" y="527"/>
                </a:cubicBezTo>
                <a:cubicBezTo>
                  <a:pt x="822" y="544"/>
                  <a:pt x="839" y="558"/>
                  <a:pt x="860" y="558"/>
                </a:cubicBezTo>
                <a:lnTo>
                  <a:pt x="983" y="558"/>
                </a:lnTo>
                <a:cubicBezTo>
                  <a:pt x="1005" y="558"/>
                  <a:pt x="1022" y="544"/>
                  <a:pt x="1022" y="527"/>
                </a:cubicBezTo>
                <a:cubicBezTo>
                  <a:pt x="1022" y="509"/>
                  <a:pt x="1005" y="495"/>
                  <a:pt x="983" y="495"/>
                </a:cubicBezTo>
                <a:close/>
                <a:moveTo>
                  <a:pt x="782" y="296"/>
                </a:moveTo>
                <a:lnTo>
                  <a:pt x="782" y="296"/>
                </a:lnTo>
                <a:lnTo>
                  <a:pt x="869" y="209"/>
                </a:lnTo>
                <a:cubicBezTo>
                  <a:pt x="885" y="194"/>
                  <a:pt x="887" y="172"/>
                  <a:pt x="874" y="159"/>
                </a:cubicBezTo>
                <a:cubicBezTo>
                  <a:pt x="862" y="147"/>
                  <a:pt x="839" y="149"/>
                  <a:pt x="824" y="164"/>
                </a:cubicBezTo>
                <a:lnTo>
                  <a:pt x="737" y="251"/>
                </a:lnTo>
                <a:cubicBezTo>
                  <a:pt x="722" y="266"/>
                  <a:pt x="720" y="289"/>
                  <a:pt x="732" y="301"/>
                </a:cubicBezTo>
                <a:cubicBezTo>
                  <a:pt x="745" y="314"/>
                  <a:pt x="767" y="311"/>
                  <a:pt x="782" y="296"/>
                </a:cubicBezTo>
                <a:close/>
                <a:moveTo>
                  <a:pt x="508" y="201"/>
                </a:moveTo>
                <a:lnTo>
                  <a:pt x="508" y="201"/>
                </a:lnTo>
                <a:cubicBezTo>
                  <a:pt x="526" y="201"/>
                  <a:pt x="540" y="183"/>
                  <a:pt x="540" y="162"/>
                </a:cubicBezTo>
                <a:lnTo>
                  <a:pt x="540" y="39"/>
                </a:lnTo>
                <a:cubicBezTo>
                  <a:pt x="540" y="18"/>
                  <a:pt x="526" y="0"/>
                  <a:pt x="508" y="0"/>
                </a:cubicBezTo>
                <a:cubicBezTo>
                  <a:pt x="491" y="0"/>
                  <a:pt x="476" y="18"/>
                  <a:pt x="476" y="39"/>
                </a:cubicBezTo>
                <a:lnTo>
                  <a:pt x="476" y="162"/>
                </a:lnTo>
                <a:cubicBezTo>
                  <a:pt x="476" y="183"/>
                  <a:pt x="491" y="201"/>
                  <a:pt x="508" y="201"/>
                </a:cubicBezTo>
                <a:close/>
                <a:moveTo>
                  <a:pt x="229" y="283"/>
                </a:moveTo>
                <a:lnTo>
                  <a:pt x="229" y="283"/>
                </a:lnTo>
                <a:cubicBezTo>
                  <a:pt x="244" y="299"/>
                  <a:pt x="267" y="301"/>
                  <a:pt x="279" y="288"/>
                </a:cubicBezTo>
                <a:cubicBezTo>
                  <a:pt x="292" y="276"/>
                  <a:pt x="289" y="254"/>
                  <a:pt x="274" y="238"/>
                </a:cubicBezTo>
                <a:lnTo>
                  <a:pt x="187" y="151"/>
                </a:lnTo>
                <a:cubicBezTo>
                  <a:pt x="172" y="136"/>
                  <a:pt x="149" y="134"/>
                  <a:pt x="137" y="146"/>
                </a:cubicBezTo>
                <a:cubicBezTo>
                  <a:pt x="125" y="159"/>
                  <a:pt x="127" y="181"/>
                  <a:pt x="142" y="196"/>
                </a:cubicBezTo>
                <a:lnTo>
                  <a:pt x="229" y="283"/>
                </a:lnTo>
                <a:close/>
                <a:moveTo>
                  <a:pt x="240" y="756"/>
                </a:moveTo>
                <a:lnTo>
                  <a:pt x="240" y="756"/>
                </a:lnTo>
                <a:lnTo>
                  <a:pt x="153" y="843"/>
                </a:lnTo>
                <a:cubicBezTo>
                  <a:pt x="137" y="859"/>
                  <a:pt x="135" y="881"/>
                  <a:pt x="148" y="894"/>
                </a:cubicBezTo>
                <a:cubicBezTo>
                  <a:pt x="160" y="906"/>
                  <a:pt x="183" y="904"/>
                  <a:pt x="198" y="889"/>
                </a:cubicBezTo>
                <a:lnTo>
                  <a:pt x="285" y="802"/>
                </a:lnTo>
                <a:cubicBezTo>
                  <a:pt x="300" y="786"/>
                  <a:pt x="302" y="764"/>
                  <a:pt x="290" y="751"/>
                </a:cubicBezTo>
                <a:cubicBezTo>
                  <a:pt x="277" y="739"/>
                  <a:pt x="255" y="741"/>
                  <a:pt x="240" y="756"/>
                </a:cubicBezTo>
                <a:close/>
                <a:moveTo>
                  <a:pt x="793" y="769"/>
                </a:moveTo>
                <a:lnTo>
                  <a:pt x="793" y="769"/>
                </a:lnTo>
                <a:cubicBezTo>
                  <a:pt x="778" y="754"/>
                  <a:pt x="755" y="752"/>
                  <a:pt x="743" y="764"/>
                </a:cubicBezTo>
                <a:cubicBezTo>
                  <a:pt x="731" y="777"/>
                  <a:pt x="733" y="799"/>
                  <a:pt x="748" y="814"/>
                </a:cubicBezTo>
                <a:lnTo>
                  <a:pt x="835" y="901"/>
                </a:lnTo>
                <a:cubicBezTo>
                  <a:pt x="850" y="916"/>
                  <a:pt x="873" y="919"/>
                  <a:pt x="885" y="906"/>
                </a:cubicBezTo>
                <a:cubicBezTo>
                  <a:pt x="897" y="894"/>
                  <a:pt x="895" y="871"/>
                  <a:pt x="880" y="856"/>
                </a:cubicBezTo>
                <a:lnTo>
                  <a:pt x="793" y="769"/>
                </a:lnTo>
                <a:close/>
              </a:path>
            </a:pathLst>
          </a:custGeom>
          <a:solidFill>
            <a:srgbClr val="113E6A"/>
          </a:solidFill>
          <a:ln w="9525">
            <a:noFill/>
          </a:ln>
        </p:spPr>
        <p:txBody>
          <a:bodyPr/>
          <a:lstStyle/>
          <a:p>
            <a:endParaRPr lang="zh-CN" altLang="en-US"/>
          </a:p>
        </p:txBody>
      </p:sp>
      <p:pic>
        <p:nvPicPr>
          <p:cNvPr id="15" name="图片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wheel(1)">
                                      <p:cBhvr>
                                        <p:cTn id="7" dur="2000"/>
                                        <p:tgtEl>
                                          <p:spTgt spid="2253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22531"/>
                                        </p:tgtEl>
                                        <p:attrNameLst>
                                          <p:attrName>style.visibility</p:attrName>
                                        </p:attrNameLst>
                                      </p:cBhvr>
                                      <p:to>
                                        <p:strVal val="visible"/>
                                      </p:to>
                                    </p:set>
                                    <p:animEffect transition="in" filter="barn(inVertical)">
                                      <p:cBhvr>
                                        <p:cTn id="11" dur="500"/>
                                        <p:tgtEl>
                                          <p:spTgt spid="22531"/>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22532"/>
                                        </p:tgtEl>
                                        <p:attrNameLst>
                                          <p:attrName>style.visibility</p:attrName>
                                        </p:attrNameLst>
                                      </p:cBhvr>
                                      <p:to>
                                        <p:strVal val="visible"/>
                                      </p:to>
                                    </p:set>
                                    <p:animEffect transition="in" filter="wipe(up)">
                                      <p:cBhvr>
                                        <p:cTn id="15" dur="500"/>
                                        <p:tgtEl>
                                          <p:spTgt spid="2253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2533"/>
                                        </p:tgtEl>
                                        <p:attrNameLst>
                                          <p:attrName>style.visibility</p:attrName>
                                        </p:attrNameLst>
                                      </p:cBhvr>
                                      <p:to>
                                        <p:strVal val="visible"/>
                                      </p:to>
                                    </p:set>
                                    <p:animEffect transition="in" filter="wipe(down)">
                                      <p:cBhvr>
                                        <p:cTn id="18" dur="500"/>
                                        <p:tgtEl>
                                          <p:spTgt spid="22533"/>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22534"/>
                                        </p:tgtEl>
                                        <p:attrNameLst>
                                          <p:attrName>style.visibility</p:attrName>
                                        </p:attrNameLst>
                                      </p:cBhvr>
                                      <p:to>
                                        <p:strVal val="visible"/>
                                      </p:to>
                                    </p:set>
                                    <p:anim calcmode="lin" valueType="num">
                                      <p:cBhvr>
                                        <p:cTn id="22" dur="400" fill="hold"/>
                                        <p:tgtEl>
                                          <p:spTgt spid="22534"/>
                                        </p:tgtEl>
                                        <p:attrNameLst>
                                          <p:attrName>ppt_w</p:attrName>
                                        </p:attrNameLst>
                                      </p:cBhvr>
                                      <p:tavLst>
                                        <p:tav tm="0">
                                          <p:val>
                                            <p:fltVal val="0"/>
                                          </p:val>
                                        </p:tav>
                                        <p:tav tm="100000">
                                          <p:val>
                                            <p:strVal val="#ppt_w"/>
                                          </p:val>
                                        </p:tav>
                                      </p:tavLst>
                                    </p:anim>
                                    <p:anim calcmode="lin" valueType="num">
                                      <p:cBhvr>
                                        <p:cTn id="23" dur="400" fill="hold"/>
                                        <p:tgtEl>
                                          <p:spTgt spid="22534"/>
                                        </p:tgtEl>
                                        <p:attrNameLst>
                                          <p:attrName>ppt_h</p:attrName>
                                        </p:attrNameLst>
                                      </p:cBhvr>
                                      <p:tavLst>
                                        <p:tav tm="0">
                                          <p:val>
                                            <p:fltVal val="0"/>
                                          </p:val>
                                        </p:tav>
                                        <p:tav tm="100000">
                                          <p:val>
                                            <p:strVal val="#ppt_h"/>
                                          </p:val>
                                        </p:tav>
                                      </p:tavLst>
                                    </p:anim>
                                    <p:anim calcmode="lin" valueType="num">
                                      <p:cBhvr>
                                        <p:cTn id="24" dur="400" fill="hold"/>
                                        <p:tgtEl>
                                          <p:spTgt spid="22534"/>
                                        </p:tgtEl>
                                        <p:attrNameLst>
                                          <p:attrName>style.rotation</p:attrName>
                                        </p:attrNameLst>
                                      </p:cBhvr>
                                      <p:tavLst>
                                        <p:tav tm="0">
                                          <p:val>
                                            <p:fltVal val="90"/>
                                          </p:val>
                                        </p:tav>
                                        <p:tav tm="100000">
                                          <p:val>
                                            <p:fltVal val="0"/>
                                          </p:val>
                                        </p:tav>
                                      </p:tavLst>
                                    </p:anim>
                                    <p:animEffect transition="in" filter="fade">
                                      <p:cBhvr>
                                        <p:cTn id="25" dur="4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p:bldP spid="22532" grpId="0"/>
      <p:bldP spid="225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346011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Gumbel-Softmax</a:t>
            </a:r>
            <a:endParaRPr lang="en-US" alt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553720" y="1412875"/>
            <a:ext cx="11310620" cy="92202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离散决策不可微，无法进行基于梯度的优化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Gumbel-Softmax分布是类别分布的连续近似，将离散样本转换为可微的连续样本，以便进行基于梯度的优化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2785745" y="4149090"/>
            <a:ext cx="5750560" cy="1021080"/>
          </a:xfrm>
          <a:prstGeom prst="rect">
            <a:avLst/>
          </a:prstGeom>
        </p:spPr>
      </p:pic>
      <p:sp>
        <p:nvSpPr>
          <p:cNvPr id="6" name="文本框 5"/>
          <p:cNvSpPr txBox="1"/>
          <p:nvPr/>
        </p:nvSpPr>
        <p:spPr>
          <a:xfrm>
            <a:off x="553720" y="2780665"/>
            <a:ext cx="11311890" cy="92202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Gumbel-Max：用</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π1,π2,…,πk</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表示一个k类类别分布的类别概率，选择具有最高logπi+gi 值的类别，其中gi是噪声，来自</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Gumbel</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分布</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Gumbel(0,1)</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r>
              <a:rPr lang="zh-CN" altLang="en-US" sz="1800" dirty="0">
                <a:solidFill>
                  <a:schemeClr val="accent1"/>
                </a:solidFill>
                <a:latin typeface="微软雅黑" panose="020B0503020204020204" pitchFamily="34" charset="-122"/>
                <a:ea typeface="微软雅黑" panose="020B0503020204020204" pitchFamily="34" charset="-122"/>
                <a:cs typeface="+mn-ea"/>
              </a:rPr>
              <a:t>的独立同分布样本：</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346011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Gumbel-Softmax</a:t>
            </a:r>
            <a:endParaRPr lang="en-US" alt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553720" y="1412875"/>
            <a:ext cx="11310620" cy="50673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由于</a:t>
            </a:r>
            <a:r>
              <a:rPr lang="en-US" altLang="zh-CN" sz="1800" dirty="0">
                <a:solidFill>
                  <a:schemeClr val="accent1"/>
                </a:solidFill>
                <a:latin typeface="微软雅黑" panose="020B0503020204020204" pitchFamily="34" charset="-122"/>
                <a:ea typeface="微软雅黑" panose="020B0503020204020204" pitchFamily="34" charset="-122"/>
                <a:cs typeface="+mn-ea"/>
              </a:rPr>
              <a:t> argmax </a:t>
            </a:r>
            <a:r>
              <a:rPr lang="zh-CN" altLang="en-US" sz="1800" dirty="0">
                <a:solidFill>
                  <a:schemeClr val="accent1"/>
                </a:solidFill>
                <a:latin typeface="微软雅黑" panose="020B0503020204020204" pitchFamily="34" charset="-122"/>
                <a:ea typeface="微软雅黑" panose="020B0503020204020204" pitchFamily="34" charset="-122"/>
                <a:cs typeface="+mn-ea"/>
              </a:rPr>
              <a:t>是不可微的，</a:t>
            </a:r>
            <a:r>
              <a:rPr lang="en-US" altLang="zh-CN" sz="1800" dirty="0">
                <a:solidFill>
                  <a:schemeClr val="accent1"/>
                </a:solidFill>
                <a:latin typeface="微软雅黑" panose="020B0503020204020204" pitchFamily="34" charset="-122"/>
                <a:ea typeface="微软雅黑" panose="020B0503020204020204" pitchFamily="34" charset="-122"/>
                <a:cs typeface="+mn-ea"/>
              </a:rPr>
              <a:t>Gumbel-Softmax</a:t>
            </a:r>
            <a:r>
              <a:rPr lang="zh-CN" altLang="en-US" sz="1800" dirty="0">
                <a:solidFill>
                  <a:schemeClr val="accent1"/>
                </a:solidFill>
                <a:latin typeface="微软雅黑" panose="020B0503020204020204" pitchFamily="34" charset="-122"/>
                <a:ea typeface="微软雅黑" panose="020B0503020204020204" pitchFamily="34" charset="-122"/>
                <a:cs typeface="+mn-ea"/>
              </a:rPr>
              <a:t>用一个</a:t>
            </a:r>
            <a:r>
              <a:rPr lang="en-US" altLang="zh-CN" sz="1800" dirty="0">
                <a:solidFill>
                  <a:schemeClr val="accent1"/>
                </a:solidFill>
                <a:latin typeface="微软雅黑" panose="020B0503020204020204" pitchFamily="34" charset="-122"/>
                <a:ea typeface="微软雅黑" panose="020B0503020204020204" pitchFamily="34" charset="-122"/>
                <a:cs typeface="+mn-ea"/>
              </a:rPr>
              <a:t>softmax</a:t>
            </a:r>
            <a:r>
              <a:rPr lang="zh-CN" altLang="en-US" sz="1800" dirty="0">
                <a:solidFill>
                  <a:schemeClr val="accent1"/>
                </a:solidFill>
                <a:latin typeface="微软雅黑" panose="020B0503020204020204" pitchFamily="34" charset="-122"/>
                <a:ea typeface="微软雅黑" panose="020B0503020204020204" pitchFamily="34" charset="-122"/>
                <a:cs typeface="+mn-ea"/>
              </a:rPr>
              <a:t>函数替代它，产生近似类别分布的连续样本</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a:stretch>
            <a:fillRect/>
          </a:stretch>
        </p:blipFill>
        <p:spPr>
          <a:xfrm>
            <a:off x="1516380" y="2295525"/>
            <a:ext cx="9163050" cy="2266950"/>
          </a:xfrm>
          <a:prstGeom prst="rect">
            <a:avLst/>
          </a:prstGeom>
        </p:spPr>
      </p:pic>
      <p:sp>
        <p:nvSpPr>
          <p:cNvPr id="5" name="文本框 4"/>
          <p:cNvSpPr txBox="1"/>
          <p:nvPr/>
        </p:nvSpPr>
        <p:spPr>
          <a:xfrm>
            <a:off x="1201420" y="5013325"/>
            <a:ext cx="9980295" cy="922020"/>
          </a:xfrm>
          <a:prstGeom prst="rect">
            <a:avLst/>
          </a:prstGeom>
        </p:spPr>
        <p:txBody>
          <a:bodyPr wrap="square">
            <a:spAutoFit/>
          </a:bodyPr>
          <a:p>
            <a:pPr marL="0" indent="0"/>
            <a:r>
              <a:rPr lang="en-US" altLang="zh-CN" sz="1800" b="0" i="0" dirty="0">
                <a:solidFill>
                  <a:schemeClr val="accent1"/>
                </a:solidFill>
                <a:latin typeface="微软雅黑" panose="020B0503020204020204" pitchFamily="34" charset="-122"/>
                <a:ea typeface="微软雅黑" panose="020B0503020204020204" pitchFamily="34" charset="-122"/>
                <a:cs typeface="+mn-ea"/>
              </a:rPr>
              <a:t>当 τ→0 </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时，</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指数内部的数值会被放大，使得原本较大的  logπi+gi 变得极大，而较小的变得极小。经过 softmax 后，最大的那个值会趋近于 1，其他值趋近于 0。此时的分布非常尖锐，几乎就是一个 one-hot 向量</a:t>
            </a:r>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868045" cy="553085"/>
          </a:xfrm>
          <a:prstGeom prst="rect">
            <a:avLst/>
          </a:prstGeom>
          <a:noFill/>
          <a:ln w="9525">
            <a:noFill/>
          </a:ln>
        </p:spPr>
        <p:txBody>
          <a:bodyPr wrap="none" anchor="t">
            <a:spAutoFit/>
          </a:bodyPr>
          <a:lstStyle/>
          <a:p>
            <a:pPr algn="l"/>
            <a:r>
              <a:rPr lang="en-US" altLang="zh-CN" sz="3000" b="1" dirty="0">
                <a:solidFill>
                  <a:schemeClr val="accent1"/>
                </a:solidFill>
                <a:latin typeface="微软雅黑" panose="020B0503020204020204" pitchFamily="34" charset="-122"/>
                <a:ea typeface="微软雅黑" panose="020B0503020204020204" pitchFamily="34" charset="-122"/>
              </a:rPr>
              <a:t>STE</a:t>
            </a:r>
            <a:endParaRPr lang="en-US" alt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553720" y="1285240"/>
            <a:ext cx="11310620" cy="2999740"/>
          </a:xfrm>
          <a:prstGeom prst="rect">
            <a:avLst/>
          </a:prstGeom>
          <a:noFill/>
        </p:spPr>
        <p:txBody>
          <a:bodyPr wrap="square" rtlCol="0">
            <a:spAutoFit/>
          </a:bodyPr>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Straight-Through</a:t>
            </a:r>
            <a:r>
              <a:rPr lang="zh-CN" altLang="en-US" sz="1800" dirty="0">
                <a:solidFill>
                  <a:schemeClr val="accent1"/>
                </a:solidFill>
                <a:latin typeface="微软雅黑" panose="020B0503020204020204" pitchFamily="34" charset="-122"/>
                <a:ea typeface="微软雅黑" panose="020B0503020204020204" pitchFamily="34" charset="-122"/>
                <a:cs typeface="+mn-ea"/>
              </a:rPr>
              <a:t>估计器：实现了离散采样，同时保留了反向传播的可微性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前向传播：路由器输出概率（如</a:t>
            </a:r>
            <a:r>
              <a:rPr lang="en-US" altLang="zh-CN" sz="1800" dirty="0">
                <a:solidFill>
                  <a:schemeClr val="accent1"/>
                </a:solidFill>
                <a:latin typeface="微软雅黑" panose="020B0503020204020204" pitchFamily="34" charset="-122"/>
                <a:ea typeface="微软雅黑" panose="020B0503020204020204" pitchFamily="34" charset="-122"/>
                <a:cs typeface="+mn-ea"/>
              </a:rPr>
              <a:t> 0.82/0.18</a:t>
            </a:r>
            <a:r>
              <a:rPr lang="zh-CN" altLang="en-US" sz="1800" dirty="0">
                <a:solidFill>
                  <a:schemeClr val="accent1"/>
                </a:solidFill>
                <a:latin typeface="微软雅黑" panose="020B0503020204020204" pitchFamily="34" charset="-122"/>
                <a:ea typeface="微软雅黑" panose="020B0503020204020204" pitchFamily="34" charset="-122"/>
                <a:cs typeface="+mn-ea"/>
              </a:rPr>
              <a:t>），经过</a:t>
            </a:r>
            <a:r>
              <a:rPr lang="en-US" altLang="zh-CN" sz="1800" dirty="0">
                <a:solidFill>
                  <a:schemeClr val="accent1"/>
                </a:solidFill>
                <a:latin typeface="微软雅黑" panose="020B0503020204020204" pitchFamily="34" charset="-122"/>
                <a:ea typeface="微软雅黑" panose="020B0503020204020204" pitchFamily="34" charset="-122"/>
                <a:cs typeface="+mn-ea"/>
              </a:rPr>
              <a:t> Gumbel-Softmax </a:t>
            </a:r>
            <a:r>
              <a:rPr lang="zh-CN" altLang="en-US" sz="1800" dirty="0">
                <a:solidFill>
                  <a:schemeClr val="accent1"/>
                </a:solidFill>
                <a:latin typeface="微软雅黑" panose="020B0503020204020204" pitchFamily="34" charset="-122"/>
                <a:ea typeface="微软雅黑" panose="020B0503020204020204" pitchFamily="34" charset="-122"/>
                <a:cs typeface="+mn-ea"/>
              </a:rPr>
              <a:t>后，</a:t>
            </a:r>
            <a:r>
              <a:rPr lang="en-US" altLang="zh-CN" sz="1800" dirty="0">
                <a:solidFill>
                  <a:schemeClr val="accent1"/>
                </a:solidFill>
                <a:latin typeface="微软雅黑" panose="020B0503020204020204" pitchFamily="34" charset="-122"/>
                <a:ea typeface="微软雅黑" panose="020B0503020204020204" pitchFamily="34" charset="-122"/>
                <a:cs typeface="+mn-ea"/>
              </a:rPr>
              <a:t>STE </a:t>
            </a:r>
            <a:r>
              <a:rPr lang="zh-CN" altLang="en-US" sz="1800" dirty="0">
                <a:solidFill>
                  <a:schemeClr val="accent1"/>
                </a:solidFill>
                <a:latin typeface="微软雅黑" panose="020B0503020204020204" pitchFamily="34" charset="-122"/>
                <a:ea typeface="微软雅黑" panose="020B0503020204020204" pitchFamily="34" charset="-122"/>
                <a:cs typeface="+mn-ea"/>
              </a:rPr>
              <a:t>将其转化为硬性决策（</a:t>
            </a:r>
            <a:r>
              <a:rPr lang="en-US" altLang="zh-CN" sz="1800" dirty="0">
                <a:solidFill>
                  <a:schemeClr val="accent1"/>
                </a:solidFill>
                <a:latin typeface="微软雅黑" panose="020B0503020204020204" pitchFamily="34" charset="-122"/>
                <a:ea typeface="微软雅黑" panose="020B0503020204020204" pitchFamily="34" charset="-122"/>
                <a:cs typeface="+mn-ea"/>
              </a:rPr>
              <a:t>0 </a:t>
            </a:r>
            <a:r>
              <a:rPr lang="zh-CN" altLang="en-US" sz="1800" dirty="0">
                <a:solidFill>
                  <a:schemeClr val="accent1"/>
                </a:solidFill>
                <a:latin typeface="微软雅黑" panose="020B0503020204020204" pitchFamily="34" charset="-122"/>
                <a:ea typeface="微软雅黑" panose="020B0503020204020204" pitchFamily="34" charset="-122"/>
                <a:cs typeface="+mn-ea"/>
              </a:rPr>
              <a:t>或</a:t>
            </a:r>
            <a:r>
              <a:rPr lang="en-US" altLang="zh-CN" sz="1800" dirty="0">
                <a:solidFill>
                  <a:schemeClr val="accent1"/>
                </a:solidFill>
                <a:latin typeface="微软雅黑" panose="020B0503020204020204" pitchFamily="34" charset="-122"/>
                <a:ea typeface="微软雅黑" panose="020B0503020204020204" pitchFamily="34" charset="-122"/>
                <a:cs typeface="+mn-ea"/>
              </a:rPr>
              <a:t> 1</a:t>
            </a:r>
            <a:r>
              <a:rPr lang="zh-CN" altLang="en-US" sz="1800" dirty="0">
                <a:solidFill>
                  <a:schemeClr val="accent1"/>
                </a:solidFill>
                <a:latin typeface="微软雅黑" panose="020B0503020204020204" pitchFamily="34" charset="-122"/>
                <a:ea typeface="微软雅黑" panose="020B0503020204020204" pitchFamily="34" charset="-122"/>
                <a:cs typeface="+mn-ea"/>
              </a:rPr>
              <a:t>），决定</a:t>
            </a:r>
            <a:r>
              <a:rPr lang="en-US" altLang="zh-CN" sz="1800" dirty="0">
                <a:solidFill>
                  <a:schemeClr val="accent1"/>
                </a:solidFill>
                <a:latin typeface="微软雅黑" panose="020B0503020204020204" pitchFamily="34" charset="-122"/>
                <a:ea typeface="微软雅黑" panose="020B0503020204020204" pitchFamily="34" charset="-122"/>
                <a:cs typeface="+mn-ea"/>
              </a:rPr>
              <a:t> token </a:t>
            </a:r>
            <a:r>
              <a:rPr lang="zh-CN" altLang="en-US" sz="1800" dirty="0">
                <a:solidFill>
                  <a:schemeClr val="accent1"/>
                </a:solidFill>
                <a:latin typeface="微软雅黑" panose="020B0503020204020204" pitchFamily="34" charset="-122"/>
                <a:ea typeface="微软雅黑" panose="020B0503020204020204" pitchFamily="34" charset="-122"/>
                <a:cs typeface="+mn-ea"/>
              </a:rPr>
              <a:t>是执行模块还是跳过</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反向传播：梯度不直接走硬性决策，而是通过</a:t>
            </a:r>
            <a:r>
              <a:rPr lang="en-US" altLang="zh-CN" sz="1800" dirty="0">
                <a:solidFill>
                  <a:schemeClr val="accent1"/>
                </a:solidFill>
                <a:latin typeface="微软雅黑" panose="020B0503020204020204" pitchFamily="34" charset="-122"/>
                <a:ea typeface="微软雅黑" panose="020B0503020204020204" pitchFamily="34" charset="-122"/>
                <a:cs typeface="+mn-ea"/>
              </a:rPr>
              <a:t> STE </a:t>
            </a:r>
            <a:r>
              <a:rPr lang="zh-CN" altLang="en-US" sz="1800" dirty="0">
                <a:solidFill>
                  <a:schemeClr val="accent1"/>
                </a:solidFill>
                <a:latin typeface="微软雅黑" panose="020B0503020204020204" pitchFamily="34" charset="-122"/>
                <a:ea typeface="微软雅黑" panose="020B0503020204020204" pitchFamily="34" charset="-122"/>
                <a:cs typeface="+mn-ea"/>
              </a:rPr>
              <a:t>构建的捷径，流回到路由器输出的软概率（</a:t>
            </a:r>
            <a:r>
              <a:rPr lang="en-US" altLang="zh-CN" sz="1800" dirty="0">
                <a:solidFill>
                  <a:schemeClr val="accent1"/>
                </a:solidFill>
                <a:latin typeface="微软雅黑" panose="020B0503020204020204" pitchFamily="34" charset="-122"/>
                <a:ea typeface="微软雅黑" panose="020B0503020204020204" pitchFamily="34" charset="-122"/>
                <a:cs typeface="+mn-ea"/>
              </a:rPr>
              <a:t>0.82/0.18</a:t>
            </a:r>
            <a:r>
              <a:rPr lang="zh-CN" altLang="en-US" sz="1800" dirty="0">
                <a:solidFill>
                  <a:schemeClr val="accent1"/>
                </a:solidFill>
                <a:latin typeface="微软雅黑" panose="020B0503020204020204" pitchFamily="34" charset="-122"/>
                <a:ea typeface="微软雅黑" panose="020B0503020204020204" pitchFamily="34" charset="-122"/>
                <a:cs typeface="+mn-ea"/>
              </a:rPr>
              <a:t>），从而更新路由器权重</a:t>
            </a:r>
            <a:r>
              <a:rPr lang="en-US" altLang="zh-CN" sz="1800" dirty="0">
                <a:solidFill>
                  <a:schemeClr val="accent1"/>
                </a:solidFill>
                <a:latin typeface="微软雅黑" panose="020B0503020204020204" pitchFamily="34" charset="-122"/>
                <a:ea typeface="微软雅黑" panose="020B0503020204020204" pitchFamily="34" charset="-122"/>
                <a:cs typeface="+mn-ea"/>
              </a:rPr>
              <a:t> </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1"/>
          <a:stretch>
            <a:fillRect/>
          </a:stretch>
        </p:blipFill>
        <p:spPr>
          <a:xfrm>
            <a:off x="2641600" y="4364990"/>
            <a:ext cx="6722110" cy="80010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zh-CN" sz="3000" b="1" dirty="0">
                <a:solidFill>
                  <a:schemeClr val="accent1"/>
                </a:solidFill>
                <a:latin typeface="微软雅黑" panose="020B0503020204020204" pitchFamily="34" charset="-122"/>
                <a:ea typeface="微软雅黑" panose="020B0503020204020204" pitchFamily="34" charset="-122"/>
              </a:rPr>
              <a:t>路由实现</a:t>
            </a:r>
            <a:endParaRPr lang="zh-CN" alt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3" name="图片 2"/>
          <p:cNvPicPr>
            <a:picLocks noChangeAspect="1"/>
          </p:cNvPicPr>
          <p:nvPr/>
        </p:nvPicPr>
        <p:blipFill>
          <a:blip r:embed="rId1"/>
          <a:stretch>
            <a:fillRect/>
          </a:stretch>
        </p:blipFill>
        <p:spPr>
          <a:xfrm>
            <a:off x="5302250" y="1052830"/>
            <a:ext cx="6894195" cy="3799205"/>
          </a:xfrm>
          <a:prstGeom prst="rect">
            <a:avLst/>
          </a:prstGeom>
        </p:spPr>
      </p:pic>
      <p:sp>
        <p:nvSpPr>
          <p:cNvPr id="4" name="文本框 3"/>
          <p:cNvSpPr txBox="1"/>
          <p:nvPr/>
        </p:nvSpPr>
        <p:spPr>
          <a:xfrm>
            <a:off x="481330" y="1196340"/>
            <a:ext cx="4476750" cy="3415030"/>
          </a:xfrm>
          <a:prstGeom prst="rect">
            <a:avLst/>
          </a:prstGeom>
          <a:noFill/>
        </p:spPr>
        <p:txBody>
          <a:bodyPr wrap="square" rtlCol="0">
            <a:spAutoFit/>
          </a:bodyPr>
          <a:p>
            <a:pPr algn="l">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一个Token x</a:t>
            </a:r>
            <a:r>
              <a:rPr lang="zh-CN" altLang="en-US" sz="1800" baseline="-25000" dirty="0">
                <a:solidFill>
                  <a:schemeClr val="accent1"/>
                </a:solidFill>
                <a:latin typeface="微软雅黑" panose="020B0503020204020204" pitchFamily="34" charset="-122"/>
                <a:ea typeface="微软雅黑" panose="020B0503020204020204" pitchFamily="34" charset="-122"/>
                <a:cs typeface="+mn-ea"/>
                <a:sym typeface="+mn-ea"/>
              </a:rPr>
              <a:t>l</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在进入第l个Transformer模块 f</a:t>
            </a:r>
            <a:r>
              <a:rPr lang="zh-CN" altLang="en-US" sz="1800" baseline="-25000" dirty="0">
                <a:solidFill>
                  <a:schemeClr val="accent1"/>
                </a:solidFill>
                <a:latin typeface="微软雅黑" panose="020B0503020204020204" pitchFamily="34" charset="-122"/>
                <a:ea typeface="微软雅黑" panose="020B0503020204020204" pitchFamily="34" charset="-122"/>
                <a:cs typeface="+mn-ea"/>
                <a:sym typeface="+mn-ea"/>
              </a:rPr>
              <a:t>l</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前，先经过一个路由器函数，这是一个简单的线性投影，产生一个二维向量表示的类别分布 </a:t>
            </a:r>
            <a:endParaRPr lang="zh-CN" altLang="en-US" sz="1800" dirty="0">
              <a:solidFill>
                <a:schemeClr val="accent1"/>
              </a:solidFill>
              <a:latin typeface="微软雅黑" panose="020B0503020204020204" pitchFamily="34" charset="-122"/>
              <a:ea typeface="微软雅黑" panose="020B0503020204020204" pitchFamily="34" charset="-122"/>
              <a:cs typeface="+mn-ea"/>
              <a:sym typeface="+mn-ea"/>
            </a:endParaRPr>
          </a:p>
          <a:p>
            <a:pPr algn="l">
              <a:lnSpc>
                <a:spcPct val="150000"/>
              </a:lnSpc>
              <a:buClrTx/>
              <a:buSzTx/>
              <a:buFontTx/>
            </a:pPr>
            <a:endParaRPr lang="zh-CN" altLang="en-US" sz="1800" dirty="0">
              <a:solidFill>
                <a:schemeClr val="accent1"/>
              </a:solidFill>
              <a:latin typeface="微软雅黑" panose="020B0503020204020204" pitchFamily="34" charset="-122"/>
              <a:ea typeface="微软雅黑" panose="020B0503020204020204" pitchFamily="34" charset="-122"/>
              <a:cs typeface="+mn-ea"/>
              <a:sym typeface="+mn-ea"/>
            </a:endParaRPr>
          </a:p>
          <a:p>
            <a:pPr algn="l">
              <a:lnSpc>
                <a:spcPct val="150000"/>
              </a:lnSpc>
              <a:buClrTx/>
              <a:buSzTx/>
              <a:buFontTx/>
            </a:pP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其中第一个元素表示跳过该模块的概率，第二个元素表示执行该模块的概率。</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FontTx/>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2"/>
          <a:stretch>
            <a:fillRect/>
          </a:stretch>
        </p:blipFill>
        <p:spPr>
          <a:xfrm>
            <a:off x="1633855" y="2564765"/>
            <a:ext cx="2181225" cy="37655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zh-CN" sz="3000" b="1" dirty="0">
                <a:solidFill>
                  <a:schemeClr val="accent1"/>
                </a:solidFill>
                <a:latin typeface="微软雅黑" panose="020B0503020204020204" pitchFamily="34" charset="-122"/>
                <a:ea typeface="微软雅黑" panose="020B0503020204020204" pitchFamily="34" charset="-122"/>
              </a:rPr>
              <a:t>路由实现</a:t>
            </a:r>
            <a:endParaRPr lang="zh-CN" altLang="zh-CN"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770255" y="1412875"/>
            <a:ext cx="10590530" cy="1476375"/>
          </a:xfrm>
          <a:prstGeom prst="rect">
            <a:avLst/>
          </a:prstGeom>
        </p:spPr>
        <p:txBody>
          <a:bodyPr wrap="square">
            <a:spAutoFit/>
          </a:bodyPr>
          <a:p>
            <a:pPr marL="0" indent="0"/>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r>
              <a:rPr lang="zh-CN" altLang="en-US" sz="1800" b="0" i="0" dirty="0">
                <a:solidFill>
                  <a:schemeClr val="accent1"/>
                </a:solidFill>
                <a:latin typeface="微软雅黑" panose="020B0503020204020204" pitchFamily="34" charset="-122"/>
                <a:ea typeface="微软雅黑" panose="020B0503020204020204" pitchFamily="34" charset="-122"/>
                <a:cs typeface="+mn-ea"/>
              </a:rPr>
              <a:t>在对</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r</a:t>
            </a:r>
            <a:r>
              <a:rPr lang="en-US" altLang="zh-CN" sz="1800" b="0" i="0" baseline="-25000" dirty="0">
                <a:solidFill>
                  <a:schemeClr val="accent1"/>
                </a:solidFill>
                <a:latin typeface="微软雅黑" panose="020B0503020204020204" pitchFamily="34" charset="-122"/>
                <a:ea typeface="微软雅黑" panose="020B0503020204020204" pitchFamily="34" charset="-122"/>
                <a:cs typeface="+mn-ea"/>
              </a:rPr>
              <a:t>l</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应用Gumbel-Softmax</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和</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ST Gumbel</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估计器后，我们得到一个</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one-hot</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向量</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 g</a:t>
            </a:r>
            <a:r>
              <a:rPr lang="en-US" altLang="zh-CN" sz="1800" b="0" i="0" baseline="-25000" dirty="0">
                <a:solidFill>
                  <a:schemeClr val="accent1"/>
                </a:solidFill>
                <a:latin typeface="微软雅黑" panose="020B0503020204020204" pitchFamily="34" charset="-122"/>
                <a:ea typeface="微软雅黑" panose="020B0503020204020204" pitchFamily="34" charset="-122"/>
                <a:cs typeface="+mn-ea"/>
              </a:rPr>
              <a:t>l</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∈{0,1}</a:t>
            </a:r>
            <a:r>
              <a:rPr lang="en-US" altLang="zh-CN" sz="1800" b="0" i="0" baseline="30000" dirty="0">
                <a:solidFill>
                  <a:schemeClr val="accent1"/>
                </a:solidFill>
                <a:latin typeface="微软雅黑" panose="020B0503020204020204" pitchFamily="34" charset="-122"/>
                <a:ea typeface="微软雅黑" panose="020B0503020204020204" pitchFamily="34" charset="-122"/>
                <a:cs typeface="+mn-ea"/>
              </a:rPr>
              <a:t>2</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。因此，下一个模块的输入计算如下：</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a:p>
            <a:pPr marL="0" indent="0"/>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a:p>
            <a:pPr marL="0" indent="0"/>
            <a:endParaRPr lang="en-US" altLang="zh-CN" sz="1800" b="0" i="0" dirty="0">
              <a:solidFill>
                <a:schemeClr val="accent1"/>
              </a:solidFill>
              <a:latin typeface="微软雅黑" panose="020B0503020204020204" pitchFamily="34" charset="-122"/>
              <a:ea typeface="微软雅黑" panose="020B0503020204020204" pitchFamily="34" charset="-122"/>
              <a:cs typeface="+mn-ea"/>
            </a:endParaRPr>
          </a:p>
        </p:txBody>
      </p:sp>
      <p:sp>
        <p:nvSpPr>
          <p:cNvPr id="7" name="文本框 6"/>
          <p:cNvSpPr txBox="1"/>
          <p:nvPr/>
        </p:nvSpPr>
        <p:spPr>
          <a:xfrm>
            <a:off x="769620" y="3933190"/>
            <a:ext cx="9984105" cy="1978660"/>
          </a:xfrm>
          <a:prstGeom prst="rect">
            <a:avLst/>
          </a:prstGeom>
        </p:spPr>
        <p:txBody>
          <a:bodyPr wrap="square">
            <a:noAutofit/>
          </a:bodyPr>
          <a:p>
            <a:pPr marL="0" indent="0">
              <a:lnSpc>
                <a:spcPct val="150000"/>
              </a:lnSpc>
            </a:pPr>
            <a:r>
              <a:rPr lang="zh-CN" altLang="en-US" sz="1800" b="0" i="0" dirty="0">
                <a:solidFill>
                  <a:schemeClr val="accent1"/>
                </a:solidFill>
                <a:latin typeface="微软雅黑" panose="020B0503020204020204" pitchFamily="34" charset="-122"/>
                <a:ea typeface="微软雅黑" panose="020B0503020204020204" pitchFamily="34" charset="-122"/>
                <a:cs typeface="+mn-ea"/>
              </a:rPr>
              <a:t>在前向传播中，路由器做出硬性决策，要么执行（</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1</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）要么跳过（</a:t>
            </a:r>
            <a:r>
              <a:rPr lang="en-US" altLang="zh-CN" sz="1800" b="0" i="0" dirty="0">
                <a:solidFill>
                  <a:schemeClr val="accent1"/>
                </a:solidFill>
                <a:latin typeface="微软雅黑" panose="020B0503020204020204" pitchFamily="34" charset="-122"/>
                <a:ea typeface="微软雅黑" panose="020B0503020204020204" pitchFamily="34" charset="-122"/>
                <a:cs typeface="+mn-ea"/>
              </a:rPr>
              <a:t>0</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）。在反向传播中，梯度使用软概率反向传播</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1"/>
          <a:stretch>
            <a:fillRect/>
          </a:stretch>
        </p:blipFill>
        <p:spPr>
          <a:xfrm>
            <a:off x="1705610" y="2780665"/>
            <a:ext cx="8399145" cy="849630"/>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损失函数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7" name="文本框 6"/>
          <p:cNvSpPr txBox="1"/>
          <p:nvPr/>
        </p:nvSpPr>
        <p:spPr>
          <a:xfrm>
            <a:off x="985520" y="5085080"/>
            <a:ext cx="9984105" cy="1087120"/>
          </a:xfrm>
          <a:prstGeom prst="rect">
            <a:avLst/>
          </a:prstGeom>
        </p:spPr>
        <p:txBody>
          <a:bodyPr wrap="square">
            <a:noAutofit/>
          </a:bodyPr>
          <a:p>
            <a:pPr marL="0" indent="0">
              <a:lnSpc>
                <a:spcPct val="150000"/>
              </a:lnSpc>
            </a:pPr>
            <a:r>
              <a:rPr lang="en-US" altLang="zh-CN" sz="1800" b="0" i="0" dirty="0">
                <a:solidFill>
                  <a:schemeClr val="accent1"/>
                </a:solidFill>
                <a:latin typeface="微软雅黑" panose="020B0503020204020204" pitchFamily="34" charset="-122"/>
                <a:ea typeface="微软雅黑" panose="020B0503020204020204" pitchFamily="34" charset="-122"/>
                <a:cs typeface="+mn-ea"/>
              </a:rPr>
              <a:t>T</a:t>
            </a:r>
            <a:r>
              <a:rPr lang="zh-CN" altLang="en-US" sz="1800" b="0" i="0" dirty="0">
                <a:solidFill>
                  <a:schemeClr val="accent1"/>
                </a:solidFill>
                <a:latin typeface="微软雅黑" panose="020B0503020204020204" pitchFamily="34" charset="-122"/>
                <a:ea typeface="微软雅黑" panose="020B0503020204020204" pitchFamily="34" charset="-122"/>
                <a:cs typeface="+mn-ea"/>
              </a:rPr>
              <a:t>是用户定义的目标稀疏度</a:t>
            </a:r>
            <a:endParaRPr lang="zh-CN" altLang="en-US" sz="1800" b="0" i="0" dirty="0">
              <a:solidFill>
                <a:schemeClr val="accent1"/>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1"/>
          <a:stretch>
            <a:fillRect/>
          </a:stretch>
        </p:blipFill>
        <p:spPr>
          <a:xfrm>
            <a:off x="4225925" y="1340485"/>
            <a:ext cx="3434715" cy="1604010"/>
          </a:xfrm>
          <a:prstGeom prst="rect">
            <a:avLst/>
          </a:prstGeom>
        </p:spPr>
      </p:pic>
      <p:sp>
        <p:nvSpPr>
          <p:cNvPr id="8" name="文本框 7"/>
          <p:cNvSpPr txBox="1"/>
          <p:nvPr/>
        </p:nvSpPr>
        <p:spPr>
          <a:xfrm>
            <a:off x="1012825" y="1052830"/>
            <a:ext cx="4065270" cy="368300"/>
          </a:xfrm>
          <a:prstGeom prst="rect">
            <a:avLst/>
          </a:prstGeom>
          <a:noFill/>
        </p:spPr>
        <p:txBody>
          <a:bodyPr wrap="square" rtlCol="0">
            <a:spAutoFit/>
          </a:bodyPr>
          <a:p>
            <a:r>
              <a:rPr lang="zh-CN" altLang="en-US" sz="1800" dirty="0">
                <a:solidFill>
                  <a:schemeClr val="accent1"/>
                </a:solidFill>
                <a:latin typeface="微软雅黑" panose="020B0503020204020204" pitchFamily="34" charset="-122"/>
                <a:ea typeface="微软雅黑" panose="020B0503020204020204" pitchFamily="34" charset="-122"/>
                <a:cs typeface="+mn-ea"/>
              </a:rPr>
              <a:t>稀疏度r:</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
        <p:nvSpPr>
          <p:cNvPr id="9" name="文本框 8"/>
          <p:cNvSpPr txBox="1"/>
          <p:nvPr/>
        </p:nvSpPr>
        <p:spPr>
          <a:xfrm>
            <a:off x="985520" y="3140710"/>
            <a:ext cx="10300970" cy="92202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其中t是Token索引，l代表模块索引，L是LLM的总层数，S表示序列长度。为了满足不同的计算需求，我们引入了一个稀疏度正则化项：</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10" name="图片 9"/>
          <p:cNvPicPr>
            <a:picLocks noChangeAspect="1"/>
          </p:cNvPicPr>
          <p:nvPr/>
        </p:nvPicPr>
        <p:blipFill>
          <a:blip r:embed="rId2"/>
          <a:stretch>
            <a:fillRect/>
          </a:stretch>
        </p:blipFill>
        <p:spPr>
          <a:xfrm>
            <a:off x="4010025" y="4220845"/>
            <a:ext cx="3731895" cy="82359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1706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损失函数</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8" name="文本框 7"/>
          <p:cNvSpPr txBox="1"/>
          <p:nvPr/>
        </p:nvSpPr>
        <p:spPr>
          <a:xfrm>
            <a:off x="1012825" y="1052830"/>
            <a:ext cx="4065270" cy="368300"/>
          </a:xfrm>
          <a:prstGeom prst="rect">
            <a:avLst/>
          </a:prstGeom>
          <a:noFill/>
        </p:spPr>
        <p:txBody>
          <a:bodyPr wrap="square" rtlCol="0">
            <a:spAutoFit/>
          </a:bodyPr>
          <a:p>
            <a:r>
              <a:rPr lang="zh-CN" altLang="en-US" sz="1800" dirty="0">
                <a:solidFill>
                  <a:schemeClr val="accent1"/>
                </a:solidFill>
                <a:latin typeface="微软雅黑" panose="020B0503020204020204" pitchFamily="34" charset="-122"/>
                <a:ea typeface="微软雅黑" panose="020B0503020204020204" pitchFamily="34" charset="-122"/>
                <a:cs typeface="+mn-ea"/>
              </a:rPr>
              <a:t>总的损失函数</a:t>
            </a:r>
            <a:r>
              <a:rPr lang="en-US" altLang="zh-CN" sz="1800" dirty="0">
                <a:solidFill>
                  <a:schemeClr val="accent1"/>
                </a:solidFill>
                <a:latin typeface="微软雅黑" panose="020B0503020204020204" pitchFamily="34" charset="-122"/>
                <a:ea typeface="微软雅黑" panose="020B0503020204020204" pitchFamily="34" charset="-122"/>
                <a:cs typeface="+mn-ea"/>
              </a:rPr>
              <a:t>:</a:t>
            </a: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1"/>
          <a:stretch>
            <a:fillRect/>
          </a:stretch>
        </p:blipFill>
        <p:spPr>
          <a:xfrm>
            <a:off x="3218180" y="1844675"/>
            <a:ext cx="5048250" cy="1066800"/>
          </a:xfrm>
          <a:prstGeom prst="rect">
            <a:avLst/>
          </a:prstGeom>
        </p:spPr>
      </p:pic>
      <p:sp>
        <p:nvSpPr>
          <p:cNvPr id="3" name="文本框 2"/>
          <p:cNvSpPr txBox="1"/>
          <p:nvPr/>
        </p:nvSpPr>
        <p:spPr>
          <a:xfrm>
            <a:off x="1012825" y="3500755"/>
            <a:ext cx="9068435" cy="645160"/>
          </a:xfrm>
          <a:prstGeom prst="rect">
            <a:avLst/>
          </a:prstGeom>
          <a:noFill/>
        </p:spPr>
        <p:txBody>
          <a:bodyPr wrap="square" rtlCol="0">
            <a:spAutoFit/>
          </a:bodyPr>
          <a:p>
            <a:r>
              <a:rPr lang="zh-CN" altLang="en-US" sz="1800" dirty="0">
                <a:solidFill>
                  <a:schemeClr val="accent1"/>
                </a:solidFill>
                <a:latin typeface="微软雅黑" panose="020B0503020204020204" pitchFamily="34" charset="-122"/>
                <a:ea typeface="微软雅黑" panose="020B0503020204020204" pitchFamily="34" charset="-122"/>
                <a:cs typeface="+mn-ea"/>
              </a:rPr>
              <a:t>其中 L</a:t>
            </a:r>
            <a:r>
              <a:rPr lang="en-US" altLang="zh-CN" sz="1800" baseline="-25000" dirty="0">
                <a:solidFill>
                  <a:schemeClr val="accent1"/>
                </a:solidFill>
                <a:latin typeface="微软雅黑" panose="020B0503020204020204" pitchFamily="34" charset="-122"/>
                <a:ea typeface="微软雅黑" panose="020B0503020204020204" pitchFamily="34" charset="-122"/>
                <a:cs typeface="+mn-ea"/>
              </a:rPr>
              <a:t>lm</a:t>
            </a:r>
            <a:r>
              <a:rPr lang="zh-CN" altLang="en-US" sz="1800" dirty="0">
                <a:solidFill>
                  <a:schemeClr val="accent1"/>
                </a:solidFill>
                <a:latin typeface="微软雅黑" panose="020B0503020204020204" pitchFamily="34" charset="-122"/>
                <a:ea typeface="微软雅黑" panose="020B0503020204020204" pitchFamily="34" charset="-122"/>
                <a:cs typeface="+mn-ea"/>
              </a:rPr>
              <a:t> 是标准的语言建模损失，代表平均预测下一个Token的负对数似然。超参数 α 控制稀疏惩罚在总损失函数中的强度</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2849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两阶段训练范式</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4" name="图片 3"/>
          <p:cNvPicPr>
            <a:picLocks noChangeAspect="1"/>
          </p:cNvPicPr>
          <p:nvPr/>
        </p:nvPicPr>
        <p:blipFill>
          <a:blip r:embed="rId1"/>
          <a:stretch>
            <a:fillRect/>
          </a:stretch>
        </p:blipFill>
        <p:spPr>
          <a:xfrm>
            <a:off x="5302250" y="1052830"/>
            <a:ext cx="6894195" cy="3799205"/>
          </a:xfrm>
          <a:prstGeom prst="rect">
            <a:avLst/>
          </a:prstGeom>
        </p:spPr>
      </p:pic>
      <p:sp>
        <p:nvSpPr>
          <p:cNvPr id="5" name="文本框 4"/>
          <p:cNvSpPr txBox="1"/>
          <p:nvPr/>
        </p:nvSpPr>
        <p:spPr>
          <a:xfrm>
            <a:off x="481965" y="1340485"/>
            <a:ext cx="4065270" cy="341503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由于路由器从随机初始化开始，而LLM已经预训练，直接训练可能导致不稳定且次优的剪枝决策。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初始阶段：路由器调优，其他模型参数冻结。在每个模块前添加一个轻量级的线性层，所有路由器参数合计仅占LLaMA2-7B总参数的0.007%</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27"/>
          <p:cNvSpPr txBox="1"/>
          <p:nvPr/>
        </p:nvSpPr>
        <p:spPr>
          <a:xfrm>
            <a:off x="1012825" y="176213"/>
            <a:ext cx="2849880" cy="553085"/>
          </a:xfrm>
          <a:prstGeom prst="rect">
            <a:avLst/>
          </a:prstGeom>
          <a:noFill/>
          <a:ln w="9525">
            <a:noFill/>
          </a:ln>
        </p:spPr>
        <p:txBody>
          <a:bodyPr wrap="none" anchor="t">
            <a:spAutoFit/>
          </a:bodyPr>
          <a:lstStyle/>
          <a:p>
            <a:pPr algn="l"/>
            <a:r>
              <a:rPr lang="zh-CN" altLang="en-US" sz="3000" b="1" dirty="0">
                <a:solidFill>
                  <a:schemeClr val="accent1"/>
                </a:solidFill>
                <a:latin typeface="微软雅黑" panose="020B0503020204020204" pitchFamily="34" charset="-122"/>
                <a:ea typeface="微软雅黑" panose="020B0503020204020204" pitchFamily="34" charset="-122"/>
              </a:rPr>
              <a:t>两阶段训练范式</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536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pic>
        <p:nvPicPr>
          <p:cNvPr id="4" name="图片 3"/>
          <p:cNvPicPr>
            <a:picLocks noChangeAspect="1"/>
          </p:cNvPicPr>
          <p:nvPr/>
        </p:nvPicPr>
        <p:blipFill>
          <a:blip r:embed="rId1"/>
          <a:stretch>
            <a:fillRect/>
          </a:stretch>
        </p:blipFill>
        <p:spPr>
          <a:xfrm>
            <a:off x="5302250" y="1052830"/>
            <a:ext cx="6894195" cy="3799205"/>
          </a:xfrm>
          <a:prstGeom prst="rect">
            <a:avLst/>
          </a:prstGeom>
        </p:spPr>
      </p:pic>
      <p:sp>
        <p:nvSpPr>
          <p:cNvPr id="5" name="文本框 4"/>
          <p:cNvSpPr txBox="1"/>
          <p:nvPr/>
        </p:nvSpPr>
        <p:spPr>
          <a:xfrm>
            <a:off x="481965" y="1340485"/>
            <a:ext cx="4065270" cy="1753235"/>
          </a:xfrm>
          <a:prstGeom prst="rect">
            <a:avLst/>
          </a:prstGeom>
          <a:noFill/>
        </p:spPr>
        <p:txBody>
          <a:bodyPr wrap="square" rtlCol="0">
            <a:spAutoFit/>
          </a:bodyPr>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rPr>
              <a:t>LoRA</a:t>
            </a:r>
            <a:r>
              <a:rPr lang="zh-CN" altLang="en-US" sz="1800" dirty="0">
                <a:solidFill>
                  <a:schemeClr val="accent1"/>
                </a:solidFill>
                <a:latin typeface="微软雅黑" panose="020B0503020204020204" pitchFamily="34" charset="-122"/>
                <a:ea typeface="微软雅黑" panose="020B0503020204020204" pitchFamily="34" charset="-122"/>
                <a:cs typeface="+mn-ea"/>
              </a:rPr>
              <a:t>微调阶段：冻结已经训练好的路由器，使用</a:t>
            </a:r>
            <a:r>
              <a:rPr lang="en-US" altLang="zh-CN" sz="1800" dirty="0">
                <a:solidFill>
                  <a:schemeClr val="accent1"/>
                </a:solidFill>
                <a:latin typeface="微软雅黑" panose="020B0503020204020204" pitchFamily="34" charset="-122"/>
                <a:ea typeface="微软雅黑" panose="020B0503020204020204" pitchFamily="34" charset="-122"/>
                <a:cs typeface="+mn-ea"/>
              </a:rPr>
              <a:t> LoRA </a:t>
            </a:r>
            <a:r>
              <a:rPr lang="zh-CN" altLang="en-US" sz="1800" dirty="0">
                <a:solidFill>
                  <a:schemeClr val="accent1"/>
                </a:solidFill>
                <a:latin typeface="微软雅黑" panose="020B0503020204020204" pitchFamily="34" charset="-122"/>
                <a:ea typeface="微软雅黑" panose="020B0503020204020204" pitchFamily="34" charset="-122"/>
                <a:cs typeface="+mn-ea"/>
              </a:rPr>
              <a:t>技术对</a:t>
            </a:r>
            <a:r>
              <a:rPr lang="en-US" altLang="zh-CN" sz="1800" dirty="0">
                <a:solidFill>
                  <a:schemeClr val="accent1"/>
                </a:solidFill>
                <a:latin typeface="微软雅黑" panose="020B0503020204020204" pitchFamily="34" charset="-122"/>
                <a:ea typeface="微软雅黑" panose="020B0503020204020204" pitchFamily="34" charset="-122"/>
                <a:cs typeface="+mn-ea"/>
              </a:rPr>
              <a:t> LLM </a:t>
            </a:r>
            <a:r>
              <a:rPr lang="zh-CN" altLang="en-US" sz="1800" dirty="0">
                <a:solidFill>
                  <a:schemeClr val="accent1"/>
                </a:solidFill>
                <a:latin typeface="微软雅黑" panose="020B0503020204020204" pitchFamily="34" charset="-122"/>
                <a:ea typeface="微软雅黑" panose="020B0503020204020204" pitchFamily="34" charset="-122"/>
                <a:cs typeface="+mn-ea"/>
              </a:rPr>
              <a:t>本身的参数进行微调。</a:t>
            </a:r>
            <a:r>
              <a:rPr lang="en-US" altLang="zh-CN" sz="1800" dirty="0">
                <a:solidFill>
                  <a:schemeClr val="accent1"/>
                </a:solidFill>
                <a:latin typeface="微软雅黑" panose="020B0503020204020204" pitchFamily="34" charset="-122"/>
                <a:ea typeface="微软雅黑" panose="020B0503020204020204" pitchFamily="34" charset="-122"/>
                <a:cs typeface="+mn-ea"/>
              </a:rPr>
              <a:t>LoRA</a:t>
            </a:r>
            <a:r>
              <a:rPr lang="zh-CN" altLang="en-US" sz="1800" dirty="0">
                <a:solidFill>
                  <a:schemeClr val="accent1"/>
                </a:solidFill>
                <a:latin typeface="微软雅黑" panose="020B0503020204020204" pitchFamily="34" charset="-122"/>
                <a:ea typeface="微软雅黑" panose="020B0503020204020204" pitchFamily="34" charset="-122"/>
                <a:cs typeface="+mn-ea"/>
              </a:rPr>
              <a:t>能够以最小的计算开销实现对</a:t>
            </a:r>
            <a:r>
              <a:rPr lang="en-US" altLang="zh-CN" sz="1800" dirty="0">
                <a:solidFill>
                  <a:schemeClr val="accent1"/>
                </a:solidFill>
                <a:latin typeface="微软雅黑" panose="020B0503020204020204" pitchFamily="34" charset="-122"/>
                <a:ea typeface="微软雅黑" panose="020B0503020204020204" pitchFamily="34" charset="-122"/>
                <a:cs typeface="+mn-ea"/>
              </a:rPr>
              <a:t>LLM</a:t>
            </a:r>
            <a:r>
              <a:rPr lang="zh-CN" altLang="en-US" sz="1800" dirty="0">
                <a:solidFill>
                  <a:schemeClr val="accent1"/>
                </a:solidFill>
                <a:latin typeface="微软雅黑" panose="020B0503020204020204" pitchFamily="34" charset="-122"/>
                <a:ea typeface="微软雅黑" panose="020B0503020204020204" pitchFamily="34" charset="-122"/>
                <a:cs typeface="+mn-ea"/>
              </a:rPr>
              <a:t>的高效精调</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p:cTn id="7" dur="300" fill="hold"/>
                                        <p:tgtEl>
                                          <p:spTgt spid="15363"/>
                                        </p:tgtEl>
                                        <p:attrNameLst>
                                          <p:attrName>ppt_w</p:attrName>
                                        </p:attrNameLst>
                                      </p:cBhvr>
                                      <p:tavLst>
                                        <p:tav tm="0">
                                          <p:val>
                                            <p:fltVal val="0"/>
                                          </p:val>
                                        </p:tav>
                                        <p:tav tm="100000">
                                          <p:val>
                                            <p:strVal val="#ppt_w"/>
                                          </p:val>
                                        </p:tav>
                                      </p:tavLst>
                                    </p:anim>
                                    <p:anim calcmode="lin" valueType="num">
                                      <p:cBhvr>
                                        <p:cTn id="8" dur="300" fill="hold"/>
                                        <p:tgtEl>
                                          <p:spTgt spid="15363"/>
                                        </p:tgtEl>
                                        <p:attrNameLst>
                                          <p:attrName>ppt_h</p:attrName>
                                        </p:attrNameLst>
                                      </p:cBhvr>
                                      <p:tavLst>
                                        <p:tav tm="0">
                                          <p:val>
                                            <p:fltVal val="0"/>
                                          </p:val>
                                        </p:tav>
                                        <p:tav tm="100000">
                                          <p:val>
                                            <p:strVal val="#ppt_h"/>
                                          </p:val>
                                        </p:tav>
                                      </p:tavLst>
                                    </p:anim>
                                    <p:anim calcmode="lin" valueType="num">
                                      <p:cBhvr>
                                        <p:cTn id="9" dur="300" fill="hold"/>
                                        <p:tgtEl>
                                          <p:spTgt spid="15363"/>
                                        </p:tgtEl>
                                        <p:attrNameLst>
                                          <p:attrName>style.rotation</p:attrName>
                                        </p:attrNameLst>
                                      </p:cBhvr>
                                      <p:tavLst>
                                        <p:tav tm="0">
                                          <p:val>
                                            <p:fltVal val="90"/>
                                          </p:val>
                                        </p:tav>
                                        <p:tav tm="100000">
                                          <p:val>
                                            <p:fltVal val="0"/>
                                          </p:val>
                                        </p:tav>
                                      </p:tavLst>
                                    </p:anim>
                                    <p:animEffect transition="in" filter="fade">
                                      <p:cBhvr>
                                        <p:cTn id="10" dur="300"/>
                                        <p:tgtEl>
                                          <p:spTgt spid="1536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5362"/>
                                        </p:tgtEl>
                                        <p:attrNameLst>
                                          <p:attrName>style.visibility</p:attrName>
                                        </p:attrNameLst>
                                      </p:cBhvr>
                                      <p:to>
                                        <p:strVal val="visible"/>
                                      </p:to>
                                    </p:set>
                                    <p:anim calcmode="lin" valueType="num">
                                      <p:cBhvr>
                                        <p:cTn id="14" dur="400" fill="hold"/>
                                        <p:tgtEl>
                                          <p:spTgt spid="1536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5362"/>
                                        </p:tgtEl>
                                        <p:attrNameLst>
                                          <p:attrName>ppt_y</p:attrName>
                                        </p:attrNameLst>
                                      </p:cBhvr>
                                      <p:tavLst>
                                        <p:tav tm="0">
                                          <p:val>
                                            <p:strVal val="#ppt_y"/>
                                          </p:val>
                                        </p:tav>
                                        <p:tav tm="100000">
                                          <p:val>
                                            <p:strVal val="#ppt_y"/>
                                          </p:val>
                                        </p:tav>
                                      </p:tavLst>
                                    </p:anim>
                                    <p:anim calcmode="lin" valueType="num">
                                      <p:cBhvr>
                                        <p:cTn id="16" dur="400" fill="hold"/>
                                        <p:tgtEl>
                                          <p:spTgt spid="1536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536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26626"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26627"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26628"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优点和</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不足之处</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26629"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4</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26630" name="Freeform 11"/>
          <p:cNvSpPr>
            <a:spLocks noEditPoints="1"/>
          </p:cNvSpPr>
          <p:nvPr/>
        </p:nvSpPr>
        <p:spPr>
          <a:xfrm>
            <a:off x="5354638" y="850900"/>
            <a:ext cx="1489075" cy="12874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w="9525">
            <a:noFill/>
          </a:ln>
        </p:spPr>
        <p:txBody>
          <a:bodyPr/>
          <a:lstStyle/>
          <a:p>
            <a:endParaRPr lang="zh-CN" altLang="en-US"/>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heel(1)">
                                      <p:cBhvr>
                                        <p:cTn id="7" dur="2000"/>
                                        <p:tgtEl>
                                          <p:spTgt spid="26626"/>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26630"/>
                                        </p:tgtEl>
                                        <p:attrNameLst>
                                          <p:attrName>style.visibility</p:attrName>
                                        </p:attrNameLst>
                                      </p:cBhvr>
                                      <p:to>
                                        <p:strVal val="visible"/>
                                      </p:to>
                                    </p:set>
                                    <p:anim calcmode="lin" valueType="num">
                                      <p:cBhvr>
                                        <p:cTn id="11" dur="400" fill="hold"/>
                                        <p:tgtEl>
                                          <p:spTgt spid="26630"/>
                                        </p:tgtEl>
                                        <p:attrNameLst>
                                          <p:attrName>ppt_w</p:attrName>
                                        </p:attrNameLst>
                                      </p:cBhvr>
                                      <p:tavLst>
                                        <p:tav tm="0">
                                          <p:val>
                                            <p:fltVal val="0"/>
                                          </p:val>
                                        </p:tav>
                                        <p:tav tm="100000">
                                          <p:val>
                                            <p:strVal val="#ppt_w"/>
                                          </p:val>
                                        </p:tav>
                                      </p:tavLst>
                                    </p:anim>
                                    <p:anim calcmode="lin" valueType="num">
                                      <p:cBhvr>
                                        <p:cTn id="12" dur="400" fill="hold"/>
                                        <p:tgtEl>
                                          <p:spTgt spid="26630"/>
                                        </p:tgtEl>
                                        <p:attrNameLst>
                                          <p:attrName>ppt_h</p:attrName>
                                        </p:attrNameLst>
                                      </p:cBhvr>
                                      <p:tavLst>
                                        <p:tav tm="0">
                                          <p:val>
                                            <p:fltVal val="0"/>
                                          </p:val>
                                        </p:tav>
                                        <p:tav tm="100000">
                                          <p:val>
                                            <p:strVal val="#ppt_h"/>
                                          </p:val>
                                        </p:tav>
                                      </p:tavLst>
                                    </p:anim>
                                    <p:anim calcmode="lin" valueType="num">
                                      <p:cBhvr>
                                        <p:cTn id="13" dur="400" fill="hold"/>
                                        <p:tgtEl>
                                          <p:spTgt spid="26630"/>
                                        </p:tgtEl>
                                        <p:attrNameLst>
                                          <p:attrName>style.rotation</p:attrName>
                                        </p:attrNameLst>
                                      </p:cBhvr>
                                      <p:tavLst>
                                        <p:tav tm="0">
                                          <p:val>
                                            <p:fltVal val="90"/>
                                          </p:val>
                                        </p:tav>
                                        <p:tav tm="100000">
                                          <p:val>
                                            <p:fltVal val="0"/>
                                          </p:val>
                                        </p:tav>
                                      </p:tavLst>
                                    </p:anim>
                                    <p:animEffect transition="in" filter="fade">
                                      <p:cBhvr>
                                        <p:cTn id="14" dur="400"/>
                                        <p:tgtEl>
                                          <p:spTgt spid="26630"/>
                                        </p:tgtEl>
                                      </p:cBhvr>
                                    </p:animEffect>
                                  </p:childTnLst>
                                </p:cTn>
                              </p:par>
                            </p:childTnLst>
                          </p:cTn>
                        </p:par>
                        <p:par>
                          <p:cTn id="15" fill="hold">
                            <p:stCondLst>
                              <p:cond delay="2500"/>
                            </p:stCondLst>
                            <p:childTnLst>
                              <p:par>
                                <p:cTn id="16" presetID="16" presetClass="entr" presetSubtype="21" fill="hold" nodeType="afterEffect">
                                  <p:stCondLst>
                                    <p:cond delay="0"/>
                                  </p:stCondLst>
                                  <p:childTnLst>
                                    <p:set>
                                      <p:cBhvr>
                                        <p:cTn id="17" dur="1" fill="hold">
                                          <p:stCondLst>
                                            <p:cond delay="0"/>
                                          </p:stCondLst>
                                        </p:cTn>
                                        <p:tgtEl>
                                          <p:spTgt spid="26627"/>
                                        </p:tgtEl>
                                        <p:attrNameLst>
                                          <p:attrName>style.visibility</p:attrName>
                                        </p:attrNameLst>
                                      </p:cBhvr>
                                      <p:to>
                                        <p:strVal val="visible"/>
                                      </p:to>
                                    </p:set>
                                    <p:animEffect transition="in" filter="barn(inVertical)">
                                      <p:cBhvr>
                                        <p:cTn id="18" dur="500"/>
                                        <p:tgtEl>
                                          <p:spTgt spid="26627"/>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26628"/>
                                        </p:tgtEl>
                                        <p:attrNameLst>
                                          <p:attrName>style.visibility</p:attrName>
                                        </p:attrNameLst>
                                      </p:cBhvr>
                                      <p:to>
                                        <p:strVal val="visible"/>
                                      </p:to>
                                    </p:set>
                                    <p:animEffect transition="in" filter="wipe(up)">
                                      <p:cBhvr>
                                        <p:cTn id="22" dur="500"/>
                                        <p:tgtEl>
                                          <p:spTgt spid="2662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629"/>
                                        </p:tgtEl>
                                        <p:attrNameLst>
                                          <p:attrName>style.visibility</p:attrName>
                                        </p:attrNameLst>
                                      </p:cBhvr>
                                      <p:to>
                                        <p:strVal val="visible"/>
                                      </p:to>
                                    </p:set>
                                    <p:animEffect transition="in" filter="wipe(down)">
                                      <p:cBhvr>
                                        <p:cTn id="25"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nimBg="1"/>
      <p:bldP spid="26628" grpId="0"/>
      <p:bldP spid="266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1057910" y="227648"/>
            <a:ext cx="1706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实验设置</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a:p>
        </p:txBody>
      </p:sp>
      <p:sp>
        <p:nvSpPr>
          <p:cNvPr id="4" name="文本框 3"/>
          <p:cNvSpPr txBox="1"/>
          <p:nvPr/>
        </p:nvSpPr>
        <p:spPr>
          <a:xfrm>
            <a:off x="1057910" y="908685"/>
            <a:ext cx="10572115" cy="5908040"/>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模型：</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LLaMA2-7B</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LLaMA2-13B</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LLaMA3.1-8B</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训练数据： RedPajama-Data-1T-Sample 数据集</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GPU</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ea"/>
              </a:rPr>
              <a:t>：单卡</a:t>
            </a:r>
            <a:r>
              <a:rPr lang="en-US" altLang="zh-CN" sz="1800" dirty="0">
                <a:solidFill>
                  <a:schemeClr val="accent1"/>
                </a:solidFill>
                <a:latin typeface="微软雅黑" panose="020B0503020204020204" pitchFamily="34" charset="-122"/>
                <a:ea typeface="微软雅黑" panose="020B0503020204020204" pitchFamily="34" charset="-122"/>
                <a:cs typeface="+mn-ea"/>
                <a:sym typeface="+mn-ea"/>
              </a:rPr>
              <a:t>A800</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评估基准：</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常识推理：BoolQ、PIQA、HellaSwag、WinoGrande、ARC-easy、ARC-challenge、OpenbookQA (OBQA)</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indent="457200">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语言建模：WikiText2 (WT2) 和 PTB 的零样本困惑度 (PPL)</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训练步骤：10,000 步，批量大小 16</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第一阶段 (路由器调优)：学习率 2e</a:t>
            </a:r>
            <a:r>
              <a:rPr lang="zh-CN" altLang="en-US" sz="1800" baseline="30000" dirty="0">
                <a:solidFill>
                  <a:schemeClr val="accent1"/>
                </a:solidFill>
                <a:latin typeface="微软雅黑" panose="020B0503020204020204" pitchFamily="34" charset="-122"/>
                <a:ea typeface="微软雅黑" panose="020B0503020204020204" pitchFamily="34" charset="-122"/>
                <a:cs typeface="+mn-ea"/>
              </a:rPr>
              <a:t>-3</a:t>
            </a:r>
            <a:r>
              <a:rPr lang="zh-CN" altLang="en-US" sz="1800" dirty="0">
                <a:solidFill>
                  <a:schemeClr val="accent1"/>
                </a:solidFill>
                <a:latin typeface="微软雅黑" panose="020B0503020204020204" pitchFamily="34" charset="-122"/>
                <a:ea typeface="微软雅黑" panose="020B0503020204020204" pitchFamily="34" charset="-122"/>
                <a:cs typeface="+mn-ea"/>
              </a:rPr>
              <a:t>，Gumbel-Softmax 温度 τ 从 5 线性退火到 1</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第二阶段 (LoRA 微调)：学习率 2e</a:t>
            </a:r>
            <a:r>
              <a:rPr lang="zh-CN" altLang="en-US" sz="1800" baseline="30000" dirty="0">
                <a:solidFill>
                  <a:schemeClr val="accent1"/>
                </a:solidFill>
                <a:latin typeface="微软雅黑" panose="020B0503020204020204" pitchFamily="34" charset="-122"/>
                <a:ea typeface="微软雅黑" panose="020B0503020204020204" pitchFamily="34" charset="-122"/>
                <a:cs typeface="+mn-ea"/>
              </a:rPr>
              <a:t>−4</a:t>
            </a:r>
            <a:r>
              <a:rPr lang="zh-CN" altLang="en-US" sz="1800" dirty="0">
                <a:solidFill>
                  <a:schemeClr val="accent1"/>
                </a:solidFill>
                <a:latin typeface="微软雅黑" panose="020B0503020204020204" pitchFamily="34" charset="-122"/>
                <a:ea typeface="微软雅黑" panose="020B0503020204020204" pitchFamily="34" charset="-122"/>
                <a:cs typeface="+mn-ea"/>
              </a:rPr>
              <a:t>，预热比 0.1，余弦学习率调度器，优化器 AdamW</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en-US" altLang="zh-CN"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pic>
        <p:nvPicPr>
          <p:cNvPr id="3" name="图片 2"/>
          <p:cNvPicPr/>
          <p:nvPr/>
        </p:nvPicPr>
        <p:blipFill>
          <a:blip r:embed="rId1"/>
          <a:stretch>
            <a:fillRect/>
          </a:stretch>
        </p:blipFill>
        <p:spPr>
          <a:xfrm>
            <a:off x="2209800" y="477520"/>
            <a:ext cx="9335770" cy="3239770"/>
          </a:xfrm>
          <a:prstGeom prst="rect">
            <a:avLst/>
          </a:prstGeom>
        </p:spPr>
      </p:pic>
      <p:pic>
        <p:nvPicPr>
          <p:cNvPr id="5" name="图片 4"/>
          <p:cNvPicPr/>
          <p:nvPr/>
        </p:nvPicPr>
        <p:blipFill>
          <a:blip r:embed="rId2"/>
          <a:stretch>
            <a:fillRect/>
          </a:stretch>
        </p:blipFill>
        <p:spPr>
          <a:xfrm>
            <a:off x="2209800" y="3717290"/>
            <a:ext cx="9335135" cy="288988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sp>
        <p:nvSpPr>
          <p:cNvPr id="4" name="文本框 3"/>
          <p:cNvSpPr txBox="1"/>
          <p:nvPr/>
        </p:nvSpPr>
        <p:spPr>
          <a:xfrm>
            <a:off x="985520" y="1196975"/>
            <a:ext cx="10616565" cy="2584450"/>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在 25% 稀疏度（即约 25% 的参数不参与计算）下，仅进行路由器调优的结果：</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性能恢复：SkipGPT-RT 在 LLaMA2-7B 上平均准确率 62.29%，远超所有静态剪枝基线，甚至接近密集模型的 68.69%</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困惑度：在 WikiText2 和 PTB 上，SkipGPT-RT 的 PPL 远低于其他静态方法，说明语言建模能力保持得更好</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高稀疏度：在 40% 稀疏度下，SkipGPT-RT 仍能保持较好的性能，而静态方法几乎崩溃</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pic>
        <p:nvPicPr>
          <p:cNvPr id="6" name="图片 5"/>
          <p:cNvPicPr/>
          <p:nvPr/>
        </p:nvPicPr>
        <p:blipFill>
          <a:blip r:embed="rId1"/>
          <a:stretch>
            <a:fillRect/>
          </a:stretch>
        </p:blipFill>
        <p:spPr>
          <a:xfrm>
            <a:off x="3362325" y="44450"/>
            <a:ext cx="7700010" cy="3416935"/>
          </a:xfrm>
          <a:prstGeom prst="rect">
            <a:avLst/>
          </a:prstGeom>
        </p:spPr>
      </p:pic>
      <p:pic>
        <p:nvPicPr>
          <p:cNvPr id="7" name="图片 6"/>
          <p:cNvPicPr/>
          <p:nvPr/>
        </p:nvPicPr>
        <p:blipFill>
          <a:blip r:embed="rId2"/>
          <a:stretch>
            <a:fillRect/>
          </a:stretch>
        </p:blipFill>
        <p:spPr>
          <a:xfrm>
            <a:off x="3289935" y="3573145"/>
            <a:ext cx="7891145" cy="307657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sp>
        <p:nvSpPr>
          <p:cNvPr id="3" name="文本框 2"/>
          <p:cNvSpPr txBox="1"/>
          <p:nvPr/>
        </p:nvSpPr>
        <p:spPr>
          <a:xfrm>
            <a:off x="885825" y="1719580"/>
            <a:ext cx="9399905" cy="216852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第二阶段 LoRA 微调后的结果：</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 LLaMA2-7B 上，SkipGPT-RT-L 的平均准确率 69.50%，不仅高于所有剪枝基线，甚至超过了原始密集模型 (68.69%) 和 LoRA 微调后的密集模型 (69.98%)</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在 LLaMA2-13B 和 LLaMA3.1-8B 上也观察到类似趋势，验证了方法的普适性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sp>
        <p:nvSpPr>
          <p:cNvPr id="5" name="文本框 4"/>
          <p:cNvSpPr txBox="1"/>
          <p:nvPr/>
        </p:nvSpPr>
        <p:spPr>
          <a:xfrm>
            <a:off x="3558222" y="-2906395"/>
            <a:ext cx="5080000" cy="337185"/>
          </a:xfrm>
          <a:prstGeom prst="rect">
            <a:avLst/>
          </a:prstGeom>
        </p:spPr>
        <p:txBody>
          <a:bodyPr>
            <a:spAutoFit/>
          </a:bodyPr>
          <a:p>
            <a:pPr marL="0">
              <a:spcBef>
                <a:spcPct val="0"/>
              </a:spcBef>
              <a:spcAft>
                <a:spcPct val="0"/>
              </a:spcAft>
              <a:buFont typeface="Arial" panose="020B0604020202020204"/>
            </a:pPr>
            <a:endParaRPr lang="zh-CN" altLang="en-US" sz="1600" b="0" i="0">
              <a:solidFill>
                <a:srgbClr val="333333"/>
              </a:solidFill>
              <a:latin typeface="Open Sans"/>
              <a:ea typeface="Open Sans"/>
            </a:endParaRPr>
          </a:p>
        </p:txBody>
      </p:sp>
      <p:pic>
        <p:nvPicPr>
          <p:cNvPr id="4" name="图片 3"/>
          <p:cNvPicPr>
            <a:picLocks noChangeAspect="1"/>
          </p:cNvPicPr>
          <p:nvPr/>
        </p:nvPicPr>
        <p:blipFill>
          <a:blip r:embed="rId1"/>
          <a:stretch>
            <a:fillRect/>
          </a:stretch>
        </p:blipFill>
        <p:spPr>
          <a:xfrm>
            <a:off x="1202055" y="980440"/>
            <a:ext cx="9758045" cy="3404235"/>
          </a:xfrm>
          <a:prstGeom prst="rect">
            <a:avLst/>
          </a:prstGeom>
        </p:spPr>
      </p:pic>
      <p:sp>
        <p:nvSpPr>
          <p:cNvPr id="6" name="文本框 5"/>
          <p:cNvSpPr txBox="1"/>
          <p:nvPr/>
        </p:nvSpPr>
        <p:spPr>
          <a:xfrm>
            <a:off x="1129665" y="4869180"/>
            <a:ext cx="8907145" cy="1337945"/>
          </a:xfrm>
          <a:prstGeom prst="rect">
            <a:avLst/>
          </a:prstGeom>
          <a:noFill/>
        </p:spPr>
        <p:txBody>
          <a:bodyPr wrap="square" rtlCol="0">
            <a:spAutoFit/>
          </a:bodyPr>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动态方法（MoD、D-LLM）在训练初期损失较高且波动大</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静态方法恢复训练（如 SliceGPT）收敛缓慢</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cs typeface="+mn-ea"/>
              </a:rPr>
              <a:t>SkipGPT 的两阶段训练曲线最平滑，收敛最快，最终损失最低，证明了其训练稳定性</a:t>
            </a:r>
            <a:endParaRPr lang="zh-CN" altLang="en-US"/>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27"/>
          <p:cNvSpPr txBox="1"/>
          <p:nvPr/>
        </p:nvSpPr>
        <p:spPr>
          <a:xfrm>
            <a:off x="986155" y="227648"/>
            <a:ext cx="944880" cy="553085"/>
          </a:xfrm>
          <a:prstGeom prst="rect">
            <a:avLst/>
          </a:prstGeom>
          <a:noFill/>
          <a:ln w="9525">
            <a:noFill/>
          </a:ln>
        </p:spPr>
        <p:txBody>
          <a:bodyPr wrap="none" anchor="t">
            <a:spAutoFit/>
          </a:bodyPr>
          <a:lstStyle/>
          <a:p>
            <a:pPr algn="ctr"/>
            <a:r>
              <a:rPr lang="zh-CN" altLang="en-US" sz="3000" b="1" dirty="0">
                <a:solidFill>
                  <a:srgbClr val="363636"/>
                </a:solidFill>
                <a:latin typeface="微软雅黑" panose="020B0503020204020204" pitchFamily="34" charset="-122"/>
                <a:ea typeface="微软雅黑" panose="020B0503020204020204" pitchFamily="34" charset="-122"/>
                <a:sym typeface="+mn-ea"/>
              </a:rPr>
              <a:t>实验</a:t>
            </a:r>
            <a:endParaRPr lang="zh-CN" altLang="en-US" sz="3000" b="1" dirty="0">
              <a:solidFill>
                <a:schemeClr val="accent1"/>
              </a:solidFill>
              <a:latin typeface="微软雅黑" panose="020B0503020204020204" pitchFamily="34" charset="-122"/>
              <a:ea typeface="微软雅黑" panose="020B0503020204020204" pitchFamily="34" charset="-122"/>
            </a:endParaRPr>
          </a:p>
        </p:txBody>
      </p:sp>
      <p:sp>
        <p:nvSpPr>
          <p:cNvPr id="12291"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2" name="文本框 1"/>
          <p:cNvSpPr txBox="1"/>
          <p:nvPr/>
        </p:nvSpPr>
        <p:spPr>
          <a:xfrm>
            <a:off x="3557905" y="-1376045"/>
            <a:ext cx="3022600" cy="248285"/>
          </a:xfrm>
          <a:prstGeom prst="rect">
            <a:avLst/>
          </a:prstGeom>
        </p:spPr>
        <p:txBody>
          <a:bodyPr>
            <a:noAutofit/>
          </a:bodyPr>
          <a:p>
            <a:pPr marL="0" indent="0">
              <a:spcBef>
                <a:spcPct val="0"/>
              </a:spcBef>
              <a:spcAft>
                <a:spcPct val="0"/>
              </a:spcAft>
              <a:buFont typeface="Arial" panose="020B0604020202020204"/>
              <a:buChar char="•"/>
            </a:pPr>
            <a:endParaRPr lang="zh-CN" altLang="en-US" sz="1600" b="0" i="0">
              <a:solidFill>
                <a:srgbClr val="333333"/>
              </a:solidFill>
              <a:latin typeface="Open Sans"/>
              <a:ea typeface="Open Sans"/>
            </a:endParaRPr>
          </a:p>
        </p:txBody>
      </p:sp>
      <p:sp>
        <p:nvSpPr>
          <p:cNvPr id="6" name="文本框 5"/>
          <p:cNvSpPr txBox="1"/>
          <p:nvPr/>
        </p:nvSpPr>
        <p:spPr>
          <a:xfrm>
            <a:off x="901700" y="4869180"/>
            <a:ext cx="10591800" cy="2168525"/>
          </a:xfrm>
          <a:prstGeom prst="rect">
            <a:avLst/>
          </a:prstGeom>
          <a:noFill/>
        </p:spPr>
        <p:txBody>
          <a:bodyPr wrap="square" rtlCol="0">
            <a:spAutoFit/>
          </a:bodyPr>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在 45% 稀疏度模型中，随着上下文长度增加，注意力和 MLP 的激活率变化：</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随着上下文增长，后面的 token 需要更多的注意力计算。同时，它们需要更少的 MLP 计算</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1800" dirty="0">
                <a:solidFill>
                  <a:schemeClr val="accent1"/>
                </a:solidFill>
                <a:latin typeface="微软雅黑" panose="020B0503020204020204" pitchFamily="34" charset="-122"/>
                <a:ea typeface="微软雅黑" panose="020B0503020204020204" pitchFamily="34" charset="-122"/>
                <a:cs typeface="+mn-ea"/>
              </a:rPr>
              <a:t>由此推测，早期阶段模型需依赖 MLP 进行任务识别；后期任务明确，更依赖注意力进行上下文聚合</a:t>
            </a:r>
            <a:endParaRPr lang="zh-CN" altLang="en-US" sz="1800" dirty="0">
              <a:solidFill>
                <a:schemeClr val="accent1"/>
              </a:solidFill>
              <a:latin typeface="微软雅黑" panose="020B0503020204020204" pitchFamily="34" charset="-122"/>
              <a:ea typeface="微软雅黑" panose="020B0503020204020204" pitchFamily="34" charset="-122"/>
              <a:cs typeface="+mn-ea"/>
            </a:endParaRPr>
          </a:p>
          <a:p>
            <a:pPr algn="l">
              <a:lnSpc>
                <a:spcPct val="150000"/>
              </a:lnSpc>
              <a:buClrTx/>
              <a:buSzTx/>
              <a:buNone/>
            </a:pPr>
            <a:endParaRPr lang="en-US" altLang="zh-CN" sz="1800"/>
          </a:p>
          <a:p>
            <a:pPr>
              <a:lnSpc>
                <a:spcPct val="150000"/>
              </a:lnSpc>
            </a:pPr>
            <a:endParaRPr lang="en-US" altLang="zh-CN" sz="1800"/>
          </a:p>
        </p:txBody>
      </p:sp>
      <p:pic>
        <p:nvPicPr>
          <p:cNvPr id="3" name="图片 2"/>
          <p:cNvPicPr>
            <a:picLocks noChangeAspect="1"/>
          </p:cNvPicPr>
          <p:nvPr/>
        </p:nvPicPr>
        <p:blipFill>
          <a:blip r:embed="rId1"/>
          <a:stretch>
            <a:fillRect/>
          </a:stretch>
        </p:blipFill>
        <p:spPr>
          <a:xfrm>
            <a:off x="3218180" y="692785"/>
            <a:ext cx="5621655" cy="3855085"/>
          </a:xfrm>
          <a:prstGeom prst="rect">
            <a:avLst/>
          </a:prstGeom>
        </p:spPr>
      </p:pic>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p:cTn id="7" dur="300" fill="hold"/>
                                        <p:tgtEl>
                                          <p:spTgt spid="12291"/>
                                        </p:tgtEl>
                                        <p:attrNameLst>
                                          <p:attrName>ppt_w</p:attrName>
                                        </p:attrNameLst>
                                      </p:cBhvr>
                                      <p:tavLst>
                                        <p:tav tm="0">
                                          <p:val>
                                            <p:fltVal val="0"/>
                                          </p:val>
                                        </p:tav>
                                        <p:tav tm="100000">
                                          <p:val>
                                            <p:strVal val="#ppt_w"/>
                                          </p:val>
                                        </p:tav>
                                      </p:tavLst>
                                    </p:anim>
                                    <p:anim calcmode="lin" valueType="num">
                                      <p:cBhvr>
                                        <p:cTn id="8" dur="300" fill="hold"/>
                                        <p:tgtEl>
                                          <p:spTgt spid="12291"/>
                                        </p:tgtEl>
                                        <p:attrNameLst>
                                          <p:attrName>ppt_h</p:attrName>
                                        </p:attrNameLst>
                                      </p:cBhvr>
                                      <p:tavLst>
                                        <p:tav tm="0">
                                          <p:val>
                                            <p:fltVal val="0"/>
                                          </p:val>
                                        </p:tav>
                                        <p:tav tm="100000">
                                          <p:val>
                                            <p:strVal val="#ppt_h"/>
                                          </p:val>
                                        </p:tav>
                                      </p:tavLst>
                                    </p:anim>
                                    <p:anim calcmode="lin" valueType="num">
                                      <p:cBhvr>
                                        <p:cTn id="9" dur="300" fill="hold"/>
                                        <p:tgtEl>
                                          <p:spTgt spid="12291"/>
                                        </p:tgtEl>
                                        <p:attrNameLst>
                                          <p:attrName>style.rotation</p:attrName>
                                        </p:attrNameLst>
                                      </p:cBhvr>
                                      <p:tavLst>
                                        <p:tav tm="0">
                                          <p:val>
                                            <p:fltVal val="90"/>
                                          </p:val>
                                        </p:tav>
                                        <p:tav tm="100000">
                                          <p:val>
                                            <p:fltVal val="0"/>
                                          </p:val>
                                        </p:tav>
                                      </p:tavLst>
                                    </p:anim>
                                    <p:animEffect transition="in" filter="fade">
                                      <p:cBhvr>
                                        <p:cTn id="10" dur="300"/>
                                        <p:tgtEl>
                                          <p:spTgt spid="12291"/>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12290"/>
                                        </p:tgtEl>
                                        <p:attrNameLst>
                                          <p:attrName>style.visibility</p:attrName>
                                        </p:attrNameLst>
                                      </p:cBhvr>
                                      <p:to>
                                        <p:strVal val="visible"/>
                                      </p:to>
                                    </p:set>
                                    <p:anim calcmode="lin" valueType="num">
                                      <p:cBhvr>
                                        <p:cTn id="14" dur="400" fill="hold"/>
                                        <p:tgtEl>
                                          <p:spTgt spid="12290"/>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12290"/>
                                        </p:tgtEl>
                                        <p:attrNameLst>
                                          <p:attrName>ppt_y</p:attrName>
                                        </p:attrNameLst>
                                      </p:cBhvr>
                                      <p:tavLst>
                                        <p:tav tm="0">
                                          <p:val>
                                            <p:strVal val="#ppt_y"/>
                                          </p:val>
                                        </p:tav>
                                        <p:tav tm="100000">
                                          <p:val>
                                            <p:strVal val="#ppt_y"/>
                                          </p:val>
                                        </p:tav>
                                      </p:tavLst>
                                    </p:anim>
                                    <p:anim calcmode="lin" valueType="num">
                                      <p:cBhvr>
                                        <p:cTn id="16" dur="400" fill="hold"/>
                                        <p:tgtEl>
                                          <p:spTgt spid="12290"/>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12290"/>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不足之处</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7" name="TextBox 6"/>
          <p:cNvSpPr txBox="1"/>
          <p:nvPr>
            <p:custDataLst>
              <p:tags r:id="rId4"/>
            </p:custDataLst>
          </p:nvPr>
        </p:nvSpPr>
        <p:spPr>
          <a:xfrm>
            <a:off x="1366838" y="1309688"/>
            <a:ext cx="2220912" cy="491490"/>
          </a:xfrm>
          <a:prstGeom prst="rect">
            <a:avLst/>
          </a:prstGeom>
          <a:noFill/>
          <a:ln w="9525">
            <a:noFill/>
          </a:ln>
        </p:spPr>
        <p:txBody>
          <a:bodyPr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推理延迟</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48" name="TextBox 7"/>
          <p:cNvSpPr txBox="1"/>
          <p:nvPr>
            <p:custDataLst>
              <p:tags r:id="rId5"/>
            </p:custDataLst>
          </p:nvPr>
        </p:nvSpPr>
        <p:spPr>
          <a:xfrm>
            <a:off x="1412875" y="1997075"/>
            <a:ext cx="3433763" cy="2999740"/>
          </a:xfrm>
          <a:prstGeom prst="rect">
            <a:avLst/>
          </a:prstGeom>
          <a:noFill/>
          <a:ln w="9525">
            <a:noFill/>
          </a:ln>
        </p:spPr>
        <p:txBody>
          <a:bodyPr anchor="t">
            <a:spAutoFit/>
          </a:bodyPr>
          <a:lstStyle/>
          <a:p>
            <a:pPr algn="just">
              <a:lnSpc>
                <a:spcPct val="150000"/>
              </a:lnSpc>
            </a:pPr>
            <a:r>
              <a:rPr lang="zh-CN" altLang="en-US" sz="1800" dirty="0" smtClean="0">
                <a:solidFill>
                  <a:schemeClr val="accent1"/>
                </a:solidFill>
                <a:latin typeface="微软雅黑" panose="020B0503020204020204" pitchFamily="34" charset="-122"/>
                <a:ea typeface="微软雅黑" panose="020B0503020204020204" pitchFamily="34" charset="-122"/>
              </a:rPr>
              <a:t>虽然论文强调路由器参数极少（仅占</a:t>
            </a:r>
            <a:r>
              <a:rPr lang="en-US" altLang="zh-CN" sz="1800" dirty="0" smtClean="0">
                <a:solidFill>
                  <a:schemeClr val="accent1"/>
                </a:solidFill>
                <a:latin typeface="微软雅黑" panose="020B0503020204020204" pitchFamily="34" charset="-122"/>
                <a:ea typeface="微软雅黑" panose="020B0503020204020204" pitchFamily="34" charset="-122"/>
              </a:rPr>
              <a:t> 0.007%</a:t>
            </a:r>
            <a:r>
              <a:rPr lang="zh-CN" altLang="en-US" sz="1800" dirty="0" smtClean="0">
                <a:solidFill>
                  <a:schemeClr val="accent1"/>
                </a:solidFill>
                <a:latin typeface="微软雅黑" panose="020B0503020204020204" pitchFamily="34" charset="-122"/>
                <a:ea typeface="微软雅黑" panose="020B0503020204020204" pitchFamily="34" charset="-122"/>
              </a:rPr>
              <a:t>），但推理时每个</a:t>
            </a:r>
            <a:r>
              <a:rPr lang="en-US" altLang="zh-CN" sz="1800" dirty="0" smtClean="0">
                <a:solidFill>
                  <a:schemeClr val="accent1"/>
                </a:solidFill>
                <a:latin typeface="微软雅黑" panose="020B0503020204020204" pitchFamily="34" charset="-122"/>
                <a:ea typeface="微软雅黑" panose="020B0503020204020204" pitchFamily="34" charset="-122"/>
              </a:rPr>
              <a:t> token </a:t>
            </a:r>
            <a:r>
              <a:rPr lang="zh-CN" altLang="en-US" sz="1800" dirty="0" smtClean="0">
                <a:solidFill>
                  <a:schemeClr val="accent1"/>
                </a:solidFill>
                <a:latin typeface="微软雅黑" panose="020B0503020204020204" pitchFamily="34" charset="-122"/>
                <a:ea typeface="微软雅黑" panose="020B0503020204020204" pitchFamily="34" charset="-122"/>
              </a:rPr>
              <a:t>在每经过一个模块前都必须计算一次路由器。对于需要极低延迟的实时应用（如对话系统），这种微小的额外开销可能会累积</a:t>
            </a:r>
            <a:endParaRPr lang="zh-CN" altLang="en-US" sz="1800" dirty="0" smtClean="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custDataLst>
              <p:tags r:id="rId6"/>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7"/>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8"/>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52" name="TextBox 11"/>
          <p:cNvSpPr txBox="1"/>
          <p:nvPr>
            <p:custDataLst>
              <p:tags r:id="rId9"/>
            </p:custDataLst>
          </p:nvPr>
        </p:nvSpPr>
        <p:spPr>
          <a:xfrm>
            <a:off x="6184900" y="1310005"/>
            <a:ext cx="4228465" cy="491490"/>
          </a:xfrm>
          <a:prstGeom prst="rect">
            <a:avLst/>
          </a:prstGeom>
          <a:noFill/>
          <a:ln w="9525">
            <a:noFill/>
          </a:ln>
        </p:spPr>
        <p:txBody>
          <a:bodyPr wrap="square" anchor="t">
            <a:spAutoFit/>
          </a:bodyPr>
          <a:lstStyle/>
          <a:p>
            <a:r>
              <a:rPr lang="zh-CN" altLang="en-US" sz="2600" dirty="0">
                <a:solidFill>
                  <a:schemeClr val="accent2"/>
                </a:solidFill>
                <a:latin typeface="微软雅黑" panose="020B0503020204020204" pitchFamily="34" charset="-122"/>
                <a:ea typeface="微软雅黑" panose="020B0503020204020204" pitchFamily="34" charset="-122"/>
              </a:rPr>
              <a:t>线程束发散</a:t>
            </a:r>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53" name="TextBox 13"/>
          <p:cNvSpPr txBox="1"/>
          <p:nvPr>
            <p:custDataLst>
              <p:tags r:id="rId10"/>
            </p:custDataLst>
          </p:nvPr>
        </p:nvSpPr>
        <p:spPr>
          <a:xfrm>
            <a:off x="6196013" y="1997075"/>
            <a:ext cx="3432175" cy="2999740"/>
          </a:xfrm>
          <a:prstGeom prst="rect">
            <a:avLst/>
          </a:prstGeom>
          <a:noFill/>
          <a:ln w="9525">
            <a:noFill/>
          </a:ln>
        </p:spPr>
        <p:txBody>
          <a:bodyPr anchor="t">
            <a:spAutoFit/>
          </a:bodyPr>
          <a:lstStyle/>
          <a:p>
            <a:pPr algn="just">
              <a:lnSpc>
                <a:spcPct val="150000"/>
              </a:lnSpc>
            </a:pPr>
            <a:r>
              <a:rPr lang="en-US" altLang="zh-CN" sz="1800" dirty="0">
                <a:solidFill>
                  <a:schemeClr val="accent1"/>
                </a:solidFill>
                <a:latin typeface="微软雅黑" panose="020B0503020204020204" pitchFamily="34" charset="-122"/>
                <a:ea typeface="微软雅黑" panose="020B0503020204020204" pitchFamily="34" charset="-122"/>
              </a:rPr>
              <a:t>GPU </a:t>
            </a:r>
            <a:r>
              <a:rPr lang="zh-CN" altLang="en-US" sz="1800" dirty="0">
                <a:solidFill>
                  <a:schemeClr val="accent1"/>
                </a:solidFill>
                <a:latin typeface="微软雅黑" panose="020B0503020204020204" pitchFamily="34" charset="-122"/>
                <a:ea typeface="微软雅黑" panose="020B0503020204020204" pitchFamily="34" charset="-122"/>
              </a:rPr>
              <a:t>擅长处理规整的、一致的计算（如矩阵乘法）。</a:t>
            </a:r>
            <a:r>
              <a:rPr lang="en-US" altLang="zh-CN" sz="1800" dirty="0">
                <a:solidFill>
                  <a:schemeClr val="accent1"/>
                </a:solidFill>
                <a:latin typeface="微软雅黑" panose="020B0503020204020204" pitchFamily="34" charset="-122"/>
                <a:ea typeface="微软雅黑" panose="020B0503020204020204" pitchFamily="34" charset="-122"/>
              </a:rPr>
              <a:t>SkipGPT </a:t>
            </a:r>
            <a:r>
              <a:rPr lang="zh-CN" altLang="en-US" sz="1800" dirty="0">
                <a:solidFill>
                  <a:schemeClr val="accent1"/>
                </a:solidFill>
                <a:latin typeface="微软雅黑" panose="020B0503020204020204" pitchFamily="34" charset="-122"/>
                <a:ea typeface="微软雅黑" panose="020B0503020204020204" pitchFamily="34" charset="-122"/>
              </a:rPr>
              <a:t>的动态剪枝会导致同一个</a:t>
            </a:r>
            <a:r>
              <a:rPr lang="en-US" altLang="zh-CN" sz="1800" dirty="0">
                <a:solidFill>
                  <a:schemeClr val="accent1"/>
                </a:solidFill>
                <a:latin typeface="微软雅黑" panose="020B0503020204020204" pitchFamily="34" charset="-122"/>
                <a:ea typeface="微软雅黑" panose="020B0503020204020204" pitchFamily="34" charset="-122"/>
              </a:rPr>
              <a:t> warp </a:t>
            </a:r>
            <a:r>
              <a:rPr lang="zh-CN" altLang="en-US" sz="1800" dirty="0">
                <a:solidFill>
                  <a:schemeClr val="accent1"/>
                </a:solidFill>
                <a:latin typeface="微软雅黑" panose="020B0503020204020204" pitchFamily="34" charset="-122"/>
                <a:ea typeface="微软雅黑" panose="020B0503020204020204" pitchFamily="34" charset="-122"/>
              </a:rPr>
              <a:t>内的不同</a:t>
            </a:r>
            <a:r>
              <a:rPr lang="en-US" altLang="zh-CN" sz="1800" dirty="0">
                <a:solidFill>
                  <a:schemeClr val="accent1"/>
                </a:solidFill>
                <a:latin typeface="微软雅黑" panose="020B0503020204020204" pitchFamily="34" charset="-122"/>
                <a:ea typeface="微软雅黑" panose="020B0503020204020204" pitchFamily="34" charset="-122"/>
              </a:rPr>
              <a:t> token </a:t>
            </a:r>
            <a:r>
              <a:rPr lang="zh-CN" altLang="en-US" sz="1800" dirty="0">
                <a:solidFill>
                  <a:schemeClr val="accent1"/>
                </a:solidFill>
                <a:latin typeface="微软雅黑" panose="020B0503020204020204" pitchFamily="34" charset="-122"/>
                <a:ea typeface="微软雅黑" panose="020B0503020204020204" pitchFamily="34" charset="-122"/>
              </a:rPr>
              <a:t>走不同的执行路径，这会引起线程束发散，导致</a:t>
            </a:r>
            <a:r>
              <a:rPr lang="en-US" altLang="zh-CN" sz="1800" dirty="0">
                <a:solidFill>
                  <a:schemeClr val="accent1"/>
                </a:solidFill>
                <a:latin typeface="微软雅黑" panose="020B0503020204020204" pitchFamily="34" charset="-122"/>
                <a:ea typeface="微软雅黑" panose="020B0503020204020204" pitchFamily="34" charset="-122"/>
              </a:rPr>
              <a:t>GPU </a:t>
            </a:r>
            <a:r>
              <a:rPr lang="zh-CN" altLang="en-US" sz="1800" dirty="0">
                <a:solidFill>
                  <a:schemeClr val="accent1"/>
                </a:solidFill>
                <a:latin typeface="微软雅黑" panose="020B0503020204020204" pitchFamily="34" charset="-122"/>
                <a:ea typeface="微软雅黑" panose="020B0503020204020204" pitchFamily="34" charset="-122"/>
              </a:rPr>
              <a:t>需要串行化处理不同的路径，降低硬件利用率</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819"/>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319"/>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819"/>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319"/>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p:stCondLst>
                              <p:cond delay="2769"/>
                            </p:stCondLst>
                            <p:childTnLst>
                              <p:par>
                                <p:cTn id="39" presetID="22" presetClass="entr" presetSubtype="1" fill="hold" grpId="0" nodeType="afterEffect">
                                  <p:stCondLst>
                                    <p:cond delay="0"/>
                                  </p:stCondLst>
                                  <p:childTnLst>
                                    <p:set>
                                      <p:cBhvr>
                                        <p:cTn id="40" dur="1" fill="hold">
                                          <p:stCondLst>
                                            <p:cond delay="0"/>
                                          </p:stCondLst>
                                        </p:cTn>
                                        <p:tgtEl>
                                          <p:spTgt spid="35848"/>
                                        </p:tgtEl>
                                        <p:attrNameLst>
                                          <p:attrName>style.visibility</p:attrName>
                                        </p:attrNameLst>
                                      </p:cBhvr>
                                      <p:to>
                                        <p:strVal val="visible"/>
                                      </p:to>
                                    </p:set>
                                    <p:animEffect transition="in" filter="wipe(up)">
                                      <p:cBhvr>
                                        <p:cTn id="41" dur="500"/>
                                        <p:tgtEl>
                                          <p:spTgt spid="35848"/>
                                        </p:tgtEl>
                                      </p:cBhvr>
                                    </p:animEffect>
                                  </p:childTnLst>
                                </p:cTn>
                              </p:par>
                            </p:childTnLst>
                          </p:cTn>
                        </p:par>
                        <p:par>
                          <p:cTn id="42" fill="hold">
                            <p:stCondLst>
                              <p:cond delay="3269"/>
                            </p:stCondLst>
                            <p:childTnLst>
                              <p:par>
                                <p:cTn id="43" presetID="22" presetClass="entr" presetSubtype="4" fill="hold" nodeType="afterEffect">
                                  <p:stCondLst>
                                    <p:cond delay="0"/>
                                  </p:stCondLst>
                                  <p:childTnLst>
                                    <p:set>
                                      <p:cBhvr>
                                        <p:cTn id="44" dur="1" fill="hold">
                                          <p:stCondLst>
                                            <p:cond delay="0"/>
                                          </p:stCondLst>
                                        </p:cTn>
                                        <p:tgtEl>
                                          <p:spTgt spid="35849"/>
                                        </p:tgtEl>
                                        <p:attrNameLst>
                                          <p:attrName>style.visibility</p:attrName>
                                        </p:attrNameLst>
                                      </p:cBhvr>
                                      <p:to>
                                        <p:strVal val="visible"/>
                                      </p:to>
                                    </p:set>
                                    <p:animEffect transition="in" filter="wipe(down)">
                                      <p:cBhvr>
                                        <p:cTn id="45" dur="500"/>
                                        <p:tgtEl>
                                          <p:spTgt spid="35849"/>
                                        </p:tgtEl>
                                      </p:cBhvr>
                                    </p:animEffect>
                                  </p:childTnLst>
                                </p:cTn>
                              </p:par>
                            </p:childTnLst>
                          </p:cTn>
                        </p:par>
                        <p:par>
                          <p:cTn id="46" fill="hold">
                            <p:stCondLst>
                              <p:cond delay="3769"/>
                            </p:stCondLst>
                            <p:childTnLst>
                              <p:par>
                                <p:cTn id="47" presetID="22" presetClass="entr" presetSubtype="2" fill="hold" nodeType="afterEffect">
                                  <p:stCondLst>
                                    <p:cond delay="0"/>
                                  </p:stCondLst>
                                  <p:childTnLst>
                                    <p:set>
                                      <p:cBhvr>
                                        <p:cTn id="48" dur="1" fill="hold">
                                          <p:stCondLst>
                                            <p:cond delay="0"/>
                                          </p:stCondLst>
                                        </p:cTn>
                                        <p:tgtEl>
                                          <p:spTgt spid="35850"/>
                                        </p:tgtEl>
                                        <p:attrNameLst>
                                          <p:attrName>style.visibility</p:attrName>
                                        </p:attrNameLst>
                                      </p:cBhvr>
                                      <p:to>
                                        <p:strVal val="visible"/>
                                      </p:to>
                                    </p:set>
                                    <p:animEffect transition="in" filter="wipe(right)">
                                      <p:cBhvr>
                                        <p:cTn id="49" dur="300"/>
                                        <p:tgtEl>
                                          <p:spTgt spid="35850"/>
                                        </p:tgtEl>
                                      </p:cBhvr>
                                    </p:animEffect>
                                  </p:childTnLst>
                                </p:cTn>
                              </p:par>
                            </p:childTnLst>
                          </p:cTn>
                        </p:par>
                        <p:par>
                          <p:cTn id="50" fill="hold">
                            <p:stCondLst>
                              <p:cond delay="4269"/>
                            </p:stCondLst>
                            <p:childTnLst>
                              <p:par>
                                <p:cTn id="51" presetID="22" presetClass="entr" presetSubtype="8" fill="hold" nodeType="afterEffect">
                                  <p:stCondLst>
                                    <p:cond delay="0"/>
                                  </p:stCondLst>
                                  <p:childTnLst>
                                    <p:set>
                                      <p:cBhvr>
                                        <p:cTn id="52" dur="1" fill="hold">
                                          <p:stCondLst>
                                            <p:cond delay="0"/>
                                          </p:stCondLst>
                                        </p:cTn>
                                        <p:tgtEl>
                                          <p:spTgt spid="35851"/>
                                        </p:tgtEl>
                                        <p:attrNameLst>
                                          <p:attrName>style.visibility</p:attrName>
                                        </p:attrNameLst>
                                      </p:cBhvr>
                                      <p:to>
                                        <p:strVal val="visible"/>
                                      </p:to>
                                    </p:set>
                                    <p:animEffect transition="in" filter="wipe(left)">
                                      <p:cBhvr>
                                        <p:cTn id="53" dur="500"/>
                                        <p:tgtEl>
                                          <p:spTgt spid="35851"/>
                                        </p:tgtEl>
                                      </p:cBhvr>
                                    </p:animEffect>
                                  </p:childTnLst>
                                </p:cTn>
                              </p:par>
                            </p:childTnLst>
                          </p:cTn>
                        </p:par>
                        <p:par>
                          <p:cTn id="54" fill="hold">
                            <p:stCondLst>
                              <p:cond delay="4769"/>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35852"/>
                                        </p:tgtEl>
                                        <p:attrNameLst>
                                          <p:attrName>style.visibility</p:attrName>
                                        </p:attrNameLst>
                                      </p:cBhvr>
                                      <p:to>
                                        <p:strVal val="visible"/>
                                      </p:to>
                                    </p:set>
                                    <p:anim by="(-#ppt_w*2)" calcmode="lin" valueType="num">
                                      <p:cBhvr rctx="PPT">
                                        <p:cTn id="57" dur="250" autoRev="1" fill="hold">
                                          <p:stCondLst>
                                            <p:cond delay="0"/>
                                          </p:stCondLst>
                                        </p:cTn>
                                        <p:tgtEl>
                                          <p:spTgt spid="35852"/>
                                        </p:tgtEl>
                                        <p:attrNameLst>
                                          <p:attrName>ppt_w</p:attrName>
                                        </p:attrNameLst>
                                      </p:cBhvr>
                                    </p:anim>
                                    <p:anim by="(#ppt_w*0.50)" calcmode="lin" valueType="num">
                                      <p:cBhvr>
                                        <p:cTn id="58" dur="250" decel="50000" autoRev="1" fill="hold">
                                          <p:stCondLst>
                                            <p:cond delay="0"/>
                                          </p:stCondLst>
                                        </p:cTn>
                                        <p:tgtEl>
                                          <p:spTgt spid="35852"/>
                                        </p:tgtEl>
                                        <p:attrNameLst>
                                          <p:attrName>ppt_x</p:attrName>
                                        </p:attrNameLst>
                                      </p:cBhvr>
                                    </p:anim>
                                    <p:anim from="(-#ppt_h/2)" to="(#ppt_y)" calcmode="lin" valueType="num">
                                      <p:cBhvr>
                                        <p:cTn id="59" dur="500" fill="hold">
                                          <p:stCondLst>
                                            <p:cond delay="0"/>
                                          </p:stCondLst>
                                        </p:cTn>
                                        <p:tgtEl>
                                          <p:spTgt spid="35852"/>
                                        </p:tgtEl>
                                        <p:attrNameLst>
                                          <p:attrName>ppt_y</p:attrName>
                                        </p:attrNameLst>
                                      </p:cBhvr>
                                    </p:anim>
                                    <p:animRot by="21600000">
                                      <p:cBhvr>
                                        <p:cTn id="60" dur="500" fill="hold">
                                          <p:stCondLst>
                                            <p:cond delay="0"/>
                                          </p:stCondLst>
                                        </p:cTn>
                                        <p:tgtEl>
                                          <p:spTgt spid="35852"/>
                                        </p:tgtEl>
                                        <p:attrNameLst>
                                          <p:attrName>r</p:attrName>
                                        </p:attrNameLst>
                                      </p:cBhvr>
                                    </p:animRot>
                                  </p:childTnLst>
                                </p:cTn>
                              </p:par>
                            </p:childTnLst>
                          </p:cTn>
                        </p:par>
                        <p:par>
                          <p:cTn id="61" fill="hold">
                            <p:stCondLst>
                              <p:cond delay="5269"/>
                            </p:stCondLst>
                            <p:childTnLst>
                              <p:par>
                                <p:cTn id="62" presetID="22" presetClass="entr" presetSubtype="1" fill="hold" grpId="0" nodeType="afterEffect">
                                  <p:stCondLst>
                                    <p:cond delay="0"/>
                                  </p:stCondLst>
                                  <p:childTnLst>
                                    <p:set>
                                      <p:cBhvr>
                                        <p:cTn id="63" dur="1" fill="hold">
                                          <p:stCondLst>
                                            <p:cond delay="0"/>
                                          </p:stCondLst>
                                        </p:cTn>
                                        <p:tgtEl>
                                          <p:spTgt spid="35853"/>
                                        </p:tgtEl>
                                        <p:attrNameLst>
                                          <p:attrName>style.visibility</p:attrName>
                                        </p:attrNameLst>
                                      </p:cBhvr>
                                      <p:to>
                                        <p:strVal val="visible"/>
                                      </p:to>
                                    </p:set>
                                    <p:animEffect transition="in" filter="wipe(up)">
                                      <p:cBhvr>
                                        <p:cTn id="64"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7" grpId="0"/>
      <p:bldP spid="35848" grpId="0"/>
      <p:bldP spid="35852" grpId="0"/>
      <p:bldP spid="3585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0">
          <a:blip r:embed="rId1" cstate="print"/>
          <a:stretch>
            <a:fillRect/>
          </a:stretch>
        </a:blipFill>
        <a:effectLst/>
      </p:bgPr>
    </p:bg>
    <p:spTree>
      <p:nvGrpSpPr>
        <p:cNvPr id="1" name=""/>
        <p:cNvGrpSpPr/>
        <p:nvPr/>
      </p:nvGrpSpPr>
      <p:grpSpPr>
        <a:xfrm>
          <a:off x="0" y="0"/>
          <a:ext cx="0" cy="0"/>
          <a:chOff x="0" y="0"/>
          <a:chExt cx="0" cy="0"/>
        </a:xfrm>
      </p:grpSpPr>
      <p:sp>
        <p:nvSpPr>
          <p:cNvPr id="30722" name="Oval 5"/>
          <p:cNvSpPr/>
          <p:nvPr/>
        </p:nvSpPr>
        <p:spPr>
          <a:xfrm>
            <a:off x="4062413" y="627063"/>
            <a:ext cx="4141787" cy="4144962"/>
          </a:xfrm>
          <a:prstGeom prst="ellipse">
            <a:avLst/>
          </a:prstGeom>
          <a:solidFill>
            <a:srgbClr val="FFFFFF"/>
          </a:solidFill>
          <a:ln w="9525">
            <a:noFill/>
          </a:ln>
        </p:spPr>
        <p:txBody>
          <a:bodyPr anchor="t"/>
          <a:lstStyle/>
          <a:p>
            <a:endParaRPr lang="zh-CN" altLang="en-US" dirty="0">
              <a:solidFill>
                <a:srgbClr val="004C54"/>
              </a:solidFill>
              <a:latin typeface="Arial" panose="020B0604020202020204" pitchFamily="34" charset="0"/>
              <a:ea typeface="宋体" panose="02010600030101010101" pitchFamily="2" charset="-122"/>
            </a:endParaRPr>
          </a:p>
        </p:txBody>
      </p:sp>
      <p:sp>
        <p:nvSpPr>
          <p:cNvPr id="30723" name="Line 12"/>
          <p:cNvSpPr/>
          <p:nvPr/>
        </p:nvSpPr>
        <p:spPr>
          <a:xfrm>
            <a:off x="4195763" y="2740025"/>
            <a:ext cx="3808412" cy="0"/>
          </a:xfrm>
          <a:prstGeom prst="line">
            <a:avLst/>
          </a:prstGeom>
          <a:ln w="12700" cap="flat" cmpd="sng">
            <a:solidFill>
              <a:schemeClr val="bg2"/>
            </a:solidFill>
            <a:prstDash val="solid"/>
            <a:round/>
            <a:headEnd type="none" w="med" len="med"/>
            <a:tailEnd type="none" w="med" len="med"/>
          </a:ln>
        </p:spPr>
      </p:sp>
      <p:sp>
        <p:nvSpPr>
          <p:cNvPr id="30724" name="TextBox 77"/>
          <p:cNvSpPr txBox="1"/>
          <p:nvPr/>
        </p:nvSpPr>
        <p:spPr>
          <a:xfrm>
            <a:off x="4602163" y="2852738"/>
            <a:ext cx="3168650" cy="1445260"/>
          </a:xfrm>
          <a:prstGeom prst="rect">
            <a:avLst/>
          </a:prstGeom>
          <a:noFill/>
          <a:ln w="9525">
            <a:noFill/>
          </a:ln>
        </p:spPr>
        <p:txBody>
          <a:bodyPr anchor="t">
            <a:spAutoFit/>
          </a:bodyPr>
          <a:lstStyle/>
          <a:p>
            <a:pPr algn="ctr"/>
            <a:r>
              <a:rPr lang="zh-CN" altLang="en-US" sz="4400" b="1" dirty="0">
                <a:solidFill>
                  <a:srgbClr val="363636"/>
                </a:solidFill>
                <a:latin typeface="微软雅黑" panose="020B0503020204020204" pitchFamily="34" charset="-122"/>
                <a:ea typeface="微软雅黑" panose="020B0503020204020204" pitchFamily="34" charset="-122"/>
              </a:rPr>
              <a:t>未来发展</a:t>
            </a:r>
            <a:endParaRPr lang="zh-CN" altLang="en-US" sz="4400" b="1" dirty="0">
              <a:solidFill>
                <a:srgbClr val="363636"/>
              </a:solidFill>
              <a:latin typeface="微软雅黑" panose="020B0503020204020204" pitchFamily="34" charset="-122"/>
              <a:ea typeface="微软雅黑" panose="020B0503020204020204" pitchFamily="34" charset="-122"/>
            </a:endParaRPr>
          </a:p>
          <a:p>
            <a:pPr algn="ctr"/>
            <a:r>
              <a:rPr lang="zh-CN" altLang="en-US" sz="4400" b="1" dirty="0">
                <a:solidFill>
                  <a:srgbClr val="363636"/>
                </a:solidFill>
                <a:latin typeface="微软雅黑" panose="020B0503020204020204" pitchFamily="34" charset="-122"/>
                <a:ea typeface="微软雅黑" panose="020B0503020204020204" pitchFamily="34" charset="-122"/>
              </a:rPr>
              <a:t>方向</a:t>
            </a:r>
            <a:endParaRPr lang="zh-CN" altLang="en-US" sz="4400" b="1" dirty="0">
              <a:solidFill>
                <a:srgbClr val="363636"/>
              </a:solidFill>
              <a:latin typeface="微软雅黑" panose="020B0503020204020204" pitchFamily="34" charset="-122"/>
              <a:ea typeface="微软雅黑" panose="020B0503020204020204" pitchFamily="34" charset="-122"/>
            </a:endParaRPr>
          </a:p>
        </p:txBody>
      </p:sp>
      <p:sp>
        <p:nvSpPr>
          <p:cNvPr id="30725" name="Rectangle 14"/>
          <p:cNvSpPr/>
          <p:nvPr/>
        </p:nvSpPr>
        <p:spPr>
          <a:xfrm>
            <a:off x="5634038" y="2255838"/>
            <a:ext cx="930275" cy="400050"/>
          </a:xfrm>
          <a:prstGeom prst="rect">
            <a:avLst/>
          </a:prstGeom>
          <a:noFill/>
          <a:ln w="9525">
            <a:noFill/>
          </a:ln>
        </p:spPr>
        <p:txBody>
          <a:bodyPr wrap="none" lIns="0" tIns="0" rIns="0" bIns="0" anchor="t">
            <a:spAutoFit/>
          </a:bodyPr>
          <a:lstStyle/>
          <a:p>
            <a:r>
              <a:rPr lang="zh-CN" altLang="en-US" sz="2600" dirty="0">
                <a:solidFill>
                  <a:srgbClr val="363636"/>
                </a:solidFill>
                <a:latin typeface="微软雅黑" panose="020B0503020204020204" pitchFamily="34" charset="-122"/>
                <a:ea typeface="微软雅黑" panose="020B0503020204020204" pitchFamily="34" charset="-122"/>
              </a:rPr>
              <a:t>Part </a:t>
            </a:r>
            <a:r>
              <a:rPr lang="en-US" altLang="zh-CN" sz="2600" dirty="0">
                <a:solidFill>
                  <a:srgbClr val="363636"/>
                </a:solidFill>
                <a:latin typeface="微软雅黑" panose="020B0503020204020204" pitchFamily="34" charset="-122"/>
                <a:ea typeface="微软雅黑" panose="020B0503020204020204" pitchFamily="34" charset="-122"/>
              </a:rPr>
              <a:t>5</a:t>
            </a:r>
            <a:endParaRPr lang="zh-CN" altLang="en-US" sz="2600" dirty="0">
              <a:solidFill>
                <a:srgbClr val="363636"/>
              </a:solidFill>
              <a:latin typeface="微软雅黑" panose="020B0503020204020204" pitchFamily="34" charset="-122"/>
              <a:ea typeface="微软雅黑" panose="020B0503020204020204" pitchFamily="34" charset="-122"/>
            </a:endParaRPr>
          </a:p>
        </p:txBody>
      </p:sp>
      <p:sp>
        <p:nvSpPr>
          <p:cNvPr id="30726" name="Freeform 28"/>
          <p:cNvSpPr>
            <a:spLocks noEditPoints="1"/>
          </p:cNvSpPr>
          <p:nvPr/>
        </p:nvSpPr>
        <p:spPr>
          <a:xfrm>
            <a:off x="5376863" y="850900"/>
            <a:ext cx="1511300" cy="1277938"/>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923" h="771">
                <a:moveTo>
                  <a:pt x="303" y="0"/>
                </a:moveTo>
                <a:lnTo>
                  <a:pt x="819" y="0"/>
                </a:lnTo>
                <a:cubicBezTo>
                  <a:pt x="848" y="0"/>
                  <a:pt x="873" y="12"/>
                  <a:pt x="892" y="31"/>
                </a:cubicBezTo>
                <a:cubicBezTo>
                  <a:pt x="911" y="50"/>
                  <a:pt x="923" y="76"/>
                  <a:pt x="923" y="104"/>
                </a:cubicBezTo>
                <a:lnTo>
                  <a:pt x="923" y="313"/>
                </a:lnTo>
                <a:cubicBezTo>
                  <a:pt x="923" y="341"/>
                  <a:pt x="911" y="367"/>
                  <a:pt x="892" y="386"/>
                </a:cubicBezTo>
                <a:cubicBezTo>
                  <a:pt x="873" y="405"/>
                  <a:pt x="848" y="416"/>
                  <a:pt x="819" y="416"/>
                </a:cubicBezTo>
                <a:lnTo>
                  <a:pt x="737" y="416"/>
                </a:lnTo>
                <a:lnTo>
                  <a:pt x="626" y="553"/>
                </a:lnTo>
                <a:lnTo>
                  <a:pt x="584" y="605"/>
                </a:lnTo>
                <a:lnTo>
                  <a:pt x="584" y="537"/>
                </a:lnTo>
                <a:lnTo>
                  <a:pt x="584" y="416"/>
                </a:lnTo>
                <a:lnTo>
                  <a:pt x="494" y="416"/>
                </a:lnTo>
                <a:cubicBezTo>
                  <a:pt x="499" y="401"/>
                  <a:pt x="502" y="385"/>
                  <a:pt x="502" y="368"/>
                </a:cubicBezTo>
                <a:lnTo>
                  <a:pt x="608" y="368"/>
                </a:lnTo>
                <a:lnTo>
                  <a:pt x="632" y="368"/>
                </a:lnTo>
                <a:lnTo>
                  <a:pt x="632" y="392"/>
                </a:lnTo>
                <a:lnTo>
                  <a:pt x="632" y="470"/>
                </a:lnTo>
                <a:lnTo>
                  <a:pt x="707" y="377"/>
                </a:lnTo>
                <a:lnTo>
                  <a:pt x="714" y="368"/>
                </a:lnTo>
                <a:lnTo>
                  <a:pt x="726" y="368"/>
                </a:lnTo>
                <a:lnTo>
                  <a:pt x="819" y="368"/>
                </a:lnTo>
                <a:cubicBezTo>
                  <a:pt x="834" y="368"/>
                  <a:pt x="848" y="362"/>
                  <a:pt x="858" y="352"/>
                </a:cubicBezTo>
                <a:cubicBezTo>
                  <a:pt x="868" y="342"/>
                  <a:pt x="875" y="328"/>
                  <a:pt x="875" y="313"/>
                </a:cubicBezTo>
                <a:lnTo>
                  <a:pt x="875" y="104"/>
                </a:lnTo>
                <a:cubicBezTo>
                  <a:pt x="875" y="89"/>
                  <a:pt x="868" y="75"/>
                  <a:pt x="858" y="65"/>
                </a:cubicBezTo>
                <a:cubicBezTo>
                  <a:pt x="848" y="55"/>
                  <a:pt x="834" y="48"/>
                  <a:pt x="819" y="48"/>
                </a:cubicBezTo>
                <a:lnTo>
                  <a:pt x="303" y="48"/>
                </a:lnTo>
                <a:cubicBezTo>
                  <a:pt x="288" y="48"/>
                  <a:pt x="274" y="55"/>
                  <a:pt x="264" y="65"/>
                </a:cubicBezTo>
                <a:cubicBezTo>
                  <a:pt x="253" y="75"/>
                  <a:pt x="247" y="89"/>
                  <a:pt x="247" y="104"/>
                </a:cubicBezTo>
                <a:lnTo>
                  <a:pt x="247" y="293"/>
                </a:lnTo>
                <a:cubicBezTo>
                  <a:pt x="235" y="311"/>
                  <a:pt x="228" y="333"/>
                  <a:pt x="226" y="356"/>
                </a:cubicBezTo>
                <a:cubicBezTo>
                  <a:pt x="219" y="347"/>
                  <a:pt x="210" y="338"/>
                  <a:pt x="201" y="332"/>
                </a:cubicBezTo>
                <a:cubicBezTo>
                  <a:pt x="200" y="325"/>
                  <a:pt x="199" y="319"/>
                  <a:pt x="199" y="313"/>
                </a:cubicBezTo>
                <a:lnTo>
                  <a:pt x="199" y="104"/>
                </a:lnTo>
                <a:cubicBezTo>
                  <a:pt x="199" y="76"/>
                  <a:pt x="211" y="50"/>
                  <a:pt x="230" y="31"/>
                </a:cubicBezTo>
                <a:cubicBezTo>
                  <a:pt x="248" y="12"/>
                  <a:pt x="274" y="0"/>
                  <a:pt x="303" y="0"/>
                </a:cubicBezTo>
                <a:close/>
                <a:moveTo>
                  <a:pt x="130" y="344"/>
                </a:moveTo>
                <a:lnTo>
                  <a:pt x="130" y="344"/>
                </a:lnTo>
                <a:cubicBezTo>
                  <a:pt x="83" y="344"/>
                  <a:pt x="45" y="382"/>
                  <a:pt x="45" y="429"/>
                </a:cubicBezTo>
                <a:cubicBezTo>
                  <a:pt x="45" y="476"/>
                  <a:pt x="83" y="514"/>
                  <a:pt x="130" y="514"/>
                </a:cubicBezTo>
                <a:cubicBezTo>
                  <a:pt x="177" y="514"/>
                  <a:pt x="215" y="476"/>
                  <a:pt x="215" y="429"/>
                </a:cubicBezTo>
                <a:cubicBezTo>
                  <a:pt x="215" y="382"/>
                  <a:pt x="177" y="344"/>
                  <a:pt x="130" y="344"/>
                </a:cubicBezTo>
                <a:close/>
                <a:moveTo>
                  <a:pt x="364" y="265"/>
                </a:moveTo>
                <a:lnTo>
                  <a:pt x="364" y="265"/>
                </a:lnTo>
                <a:cubicBezTo>
                  <a:pt x="307" y="265"/>
                  <a:pt x="261" y="311"/>
                  <a:pt x="261" y="368"/>
                </a:cubicBezTo>
                <a:cubicBezTo>
                  <a:pt x="261" y="425"/>
                  <a:pt x="307" y="471"/>
                  <a:pt x="364" y="471"/>
                </a:cubicBezTo>
                <a:cubicBezTo>
                  <a:pt x="420" y="471"/>
                  <a:pt x="466" y="425"/>
                  <a:pt x="466" y="368"/>
                </a:cubicBezTo>
                <a:cubicBezTo>
                  <a:pt x="466" y="311"/>
                  <a:pt x="420" y="265"/>
                  <a:pt x="364" y="265"/>
                </a:cubicBezTo>
                <a:close/>
                <a:moveTo>
                  <a:pt x="274" y="748"/>
                </a:moveTo>
                <a:lnTo>
                  <a:pt x="274" y="748"/>
                </a:lnTo>
                <a:lnTo>
                  <a:pt x="274" y="601"/>
                </a:lnTo>
                <a:lnTo>
                  <a:pt x="285" y="601"/>
                </a:lnTo>
                <a:lnTo>
                  <a:pt x="285" y="748"/>
                </a:lnTo>
                <a:lnTo>
                  <a:pt x="285" y="771"/>
                </a:lnTo>
                <a:lnTo>
                  <a:pt x="446" y="771"/>
                </a:lnTo>
                <a:lnTo>
                  <a:pt x="446" y="748"/>
                </a:lnTo>
                <a:lnTo>
                  <a:pt x="446" y="601"/>
                </a:lnTo>
                <a:lnTo>
                  <a:pt x="457" y="601"/>
                </a:lnTo>
                <a:lnTo>
                  <a:pt x="457" y="748"/>
                </a:lnTo>
                <a:lnTo>
                  <a:pt x="522" y="748"/>
                </a:lnTo>
                <a:lnTo>
                  <a:pt x="522" y="548"/>
                </a:lnTo>
                <a:cubicBezTo>
                  <a:pt x="522" y="512"/>
                  <a:pt x="493" y="483"/>
                  <a:pt x="458" y="483"/>
                </a:cubicBezTo>
                <a:cubicBezTo>
                  <a:pt x="262" y="483"/>
                  <a:pt x="468" y="483"/>
                  <a:pt x="271" y="483"/>
                </a:cubicBezTo>
                <a:cubicBezTo>
                  <a:pt x="236" y="483"/>
                  <a:pt x="207" y="512"/>
                  <a:pt x="207" y="548"/>
                </a:cubicBezTo>
                <a:lnTo>
                  <a:pt x="207" y="748"/>
                </a:lnTo>
                <a:cubicBezTo>
                  <a:pt x="218" y="748"/>
                  <a:pt x="245" y="748"/>
                  <a:pt x="274" y="748"/>
                </a:cubicBezTo>
                <a:close/>
                <a:moveTo>
                  <a:pt x="55" y="743"/>
                </a:moveTo>
                <a:lnTo>
                  <a:pt x="55" y="743"/>
                </a:lnTo>
                <a:lnTo>
                  <a:pt x="55" y="622"/>
                </a:lnTo>
                <a:lnTo>
                  <a:pt x="65" y="622"/>
                </a:lnTo>
                <a:lnTo>
                  <a:pt x="65" y="743"/>
                </a:lnTo>
                <a:lnTo>
                  <a:pt x="65" y="757"/>
                </a:lnTo>
                <a:lnTo>
                  <a:pt x="174" y="757"/>
                </a:lnTo>
                <a:lnTo>
                  <a:pt x="174" y="548"/>
                </a:lnTo>
                <a:cubicBezTo>
                  <a:pt x="174" y="540"/>
                  <a:pt x="175" y="532"/>
                  <a:pt x="177" y="524"/>
                </a:cubicBezTo>
                <a:lnTo>
                  <a:pt x="53" y="524"/>
                </a:lnTo>
                <a:cubicBezTo>
                  <a:pt x="24" y="524"/>
                  <a:pt x="0" y="548"/>
                  <a:pt x="0" y="577"/>
                </a:cubicBezTo>
                <a:lnTo>
                  <a:pt x="0" y="743"/>
                </a:lnTo>
                <a:cubicBezTo>
                  <a:pt x="10" y="743"/>
                  <a:pt x="32" y="743"/>
                  <a:pt x="55" y="743"/>
                </a:cubicBezTo>
                <a:close/>
              </a:path>
            </a:pathLst>
          </a:custGeom>
          <a:solidFill>
            <a:srgbClr val="113E6A"/>
          </a:solidFill>
          <a:ln w="9525">
            <a:noFill/>
          </a:ln>
        </p:spPr>
        <p:txBody>
          <a:bodyPr/>
          <a:lstStyle/>
          <a:p>
            <a:endParaRPr lang="zh-CN" altLang="en-US"/>
          </a:p>
        </p:txBody>
      </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8741" y="91674"/>
            <a:ext cx="2646380" cy="503185"/>
          </a:xfrm>
          <a:prstGeom prst="rect">
            <a:avLst/>
          </a:prstGeom>
        </p:spPr>
      </p:pic>
    </p:spTree>
  </p:cSld>
  <p:clrMapOvr>
    <a:masterClrMapping/>
  </p:clrMapOvr>
  <p:transition advTm="85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wheel(1)">
                                      <p:cBhvr>
                                        <p:cTn id="7" dur="2000"/>
                                        <p:tgtEl>
                                          <p:spTgt spid="3072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30723"/>
                                        </p:tgtEl>
                                        <p:attrNameLst>
                                          <p:attrName>style.visibility</p:attrName>
                                        </p:attrNameLst>
                                      </p:cBhvr>
                                      <p:to>
                                        <p:strVal val="visible"/>
                                      </p:to>
                                    </p:set>
                                    <p:animEffect transition="in" filter="barn(inVertical)">
                                      <p:cBhvr>
                                        <p:cTn id="11" dur="500"/>
                                        <p:tgtEl>
                                          <p:spTgt spid="30723"/>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30724"/>
                                        </p:tgtEl>
                                        <p:attrNameLst>
                                          <p:attrName>style.visibility</p:attrName>
                                        </p:attrNameLst>
                                      </p:cBhvr>
                                      <p:to>
                                        <p:strVal val="visible"/>
                                      </p:to>
                                    </p:set>
                                    <p:animEffect transition="in" filter="wipe(up)">
                                      <p:cBhvr>
                                        <p:cTn id="15" dur="500"/>
                                        <p:tgtEl>
                                          <p:spTgt spid="3072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725"/>
                                        </p:tgtEl>
                                        <p:attrNameLst>
                                          <p:attrName>style.visibility</p:attrName>
                                        </p:attrNameLst>
                                      </p:cBhvr>
                                      <p:to>
                                        <p:strVal val="visible"/>
                                      </p:to>
                                    </p:set>
                                    <p:animEffect transition="in" filter="wipe(down)">
                                      <p:cBhvr>
                                        <p:cTn id="18" dur="500"/>
                                        <p:tgtEl>
                                          <p:spTgt spid="30725"/>
                                        </p:tgtEl>
                                      </p:cBhvr>
                                    </p:animEffect>
                                  </p:childTnLst>
                                </p:cTn>
                              </p:par>
                            </p:childTnLst>
                          </p:cTn>
                        </p:par>
                        <p:par>
                          <p:cTn id="19" fill="hold">
                            <p:stCondLst>
                              <p:cond delay="3000"/>
                            </p:stCondLst>
                            <p:childTnLst>
                              <p:par>
                                <p:cTn id="20" presetID="31" presetClass="entr" presetSubtype="0" fill="hold" nodeType="afterEffect">
                                  <p:stCondLst>
                                    <p:cond delay="0"/>
                                  </p:stCondLst>
                                  <p:childTnLst>
                                    <p:set>
                                      <p:cBhvr>
                                        <p:cTn id="21" dur="1" fill="hold">
                                          <p:stCondLst>
                                            <p:cond delay="0"/>
                                          </p:stCondLst>
                                        </p:cTn>
                                        <p:tgtEl>
                                          <p:spTgt spid="30726"/>
                                        </p:tgtEl>
                                        <p:attrNameLst>
                                          <p:attrName>style.visibility</p:attrName>
                                        </p:attrNameLst>
                                      </p:cBhvr>
                                      <p:to>
                                        <p:strVal val="visible"/>
                                      </p:to>
                                    </p:set>
                                    <p:anim calcmode="lin" valueType="num">
                                      <p:cBhvr>
                                        <p:cTn id="22" dur="400" fill="hold"/>
                                        <p:tgtEl>
                                          <p:spTgt spid="30726"/>
                                        </p:tgtEl>
                                        <p:attrNameLst>
                                          <p:attrName>ppt_w</p:attrName>
                                        </p:attrNameLst>
                                      </p:cBhvr>
                                      <p:tavLst>
                                        <p:tav tm="0">
                                          <p:val>
                                            <p:fltVal val="0"/>
                                          </p:val>
                                        </p:tav>
                                        <p:tav tm="100000">
                                          <p:val>
                                            <p:strVal val="#ppt_w"/>
                                          </p:val>
                                        </p:tav>
                                      </p:tavLst>
                                    </p:anim>
                                    <p:anim calcmode="lin" valueType="num">
                                      <p:cBhvr>
                                        <p:cTn id="23" dur="400" fill="hold"/>
                                        <p:tgtEl>
                                          <p:spTgt spid="30726"/>
                                        </p:tgtEl>
                                        <p:attrNameLst>
                                          <p:attrName>ppt_h</p:attrName>
                                        </p:attrNameLst>
                                      </p:cBhvr>
                                      <p:tavLst>
                                        <p:tav tm="0">
                                          <p:val>
                                            <p:fltVal val="0"/>
                                          </p:val>
                                        </p:tav>
                                        <p:tav tm="100000">
                                          <p:val>
                                            <p:strVal val="#ppt_h"/>
                                          </p:val>
                                        </p:tav>
                                      </p:tavLst>
                                    </p:anim>
                                    <p:anim calcmode="lin" valueType="num">
                                      <p:cBhvr>
                                        <p:cTn id="24" dur="400" fill="hold"/>
                                        <p:tgtEl>
                                          <p:spTgt spid="30726"/>
                                        </p:tgtEl>
                                        <p:attrNameLst>
                                          <p:attrName>style.rotation</p:attrName>
                                        </p:attrNameLst>
                                      </p:cBhvr>
                                      <p:tavLst>
                                        <p:tav tm="0">
                                          <p:val>
                                            <p:fltVal val="90"/>
                                          </p:val>
                                        </p:tav>
                                        <p:tav tm="100000">
                                          <p:val>
                                            <p:fltVal val="0"/>
                                          </p:val>
                                        </p:tav>
                                      </p:tavLst>
                                    </p:anim>
                                    <p:animEffect transition="in" filter="fade">
                                      <p:cBhvr>
                                        <p:cTn id="25" dur="4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4" grpId="0"/>
      <p:bldP spid="307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27"/>
          <p:cNvSpPr txBox="1"/>
          <p:nvPr/>
        </p:nvSpPr>
        <p:spPr>
          <a:xfrm>
            <a:off x="1012825" y="176213"/>
            <a:ext cx="1706880" cy="553085"/>
          </a:xfrm>
          <a:prstGeom prst="rect">
            <a:avLst/>
          </a:prstGeom>
          <a:noFill/>
          <a:ln w="9525">
            <a:noFill/>
          </a:ln>
        </p:spPr>
        <p:txBody>
          <a:bodyPr wrap="none" anchor="t">
            <a:spAutoFit/>
          </a:bodyPr>
          <a:lstStyle/>
          <a:p>
            <a:r>
              <a:rPr lang="zh-CN" sz="3000" b="1" dirty="0">
                <a:solidFill>
                  <a:schemeClr val="accent1"/>
                </a:solidFill>
                <a:latin typeface="微软雅黑" panose="020B0503020204020204" pitchFamily="34" charset="-122"/>
                <a:ea typeface="微软雅黑" panose="020B0503020204020204" pitchFamily="34" charset="-122"/>
              </a:rPr>
              <a:t>发展方向</a:t>
            </a:r>
            <a:endParaRPr lang="zh-CN" sz="3000" b="1" dirty="0">
              <a:solidFill>
                <a:schemeClr val="accent1"/>
              </a:solidFill>
              <a:latin typeface="微软雅黑" panose="020B0503020204020204" pitchFamily="34" charset="-122"/>
              <a:ea typeface="微软雅黑" panose="020B0503020204020204" pitchFamily="34" charset="-122"/>
            </a:endParaRPr>
          </a:p>
        </p:txBody>
      </p:sp>
      <p:sp>
        <p:nvSpPr>
          <p:cNvPr id="35843" name="Freeform 5"/>
          <p:cNvSpPr/>
          <p:nvPr/>
        </p:nvSpPr>
        <p:spPr>
          <a:xfrm>
            <a:off x="427038" y="220663"/>
            <a:ext cx="474662" cy="560387"/>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Lst>
            <a:rect l="0" t="0" r="0" b="0"/>
            <a:pathLst>
              <a:path w="574" h="681">
                <a:moveTo>
                  <a:pt x="120" y="441"/>
                </a:moveTo>
                <a:cubicBezTo>
                  <a:pt x="153" y="441"/>
                  <a:pt x="183" y="454"/>
                  <a:pt x="205" y="476"/>
                </a:cubicBezTo>
                <a:lnTo>
                  <a:pt x="389" y="329"/>
                </a:lnTo>
                <a:cubicBezTo>
                  <a:pt x="383" y="317"/>
                  <a:pt x="380" y="303"/>
                  <a:pt x="380" y="289"/>
                </a:cubicBezTo>
                <a:cubicBezTo>
                  <a:pt x="380" y="271"/>
                  <a:pt x="384" y="255"/>
                  <a:pt x="392" y="241"/>
                </a:cubicBezTo>
                <a:lnTo>
                  <a:pt x="270" y="138"/>
                </a:lnTo>
                <a:cubicBezTo>
                  <a:pt x="256" y="151"/>
                  <a:pt x="237" y="159"/>
                  <a:pt x="217" y="159"/>
                </a:cubicBezTo>
                <a:cubicBezTo>
                  <a:pt x="173" y="159"/>
                  <a:pt x="137" y="123"/>
                  <a:pt x="137" y="79"/>
                </a:cubicBezTo>
                <a:cubicBezTo>
                  <a:pt x="137" y="36"/>
                  <a:pt x="173" y="0"/>
                  <a:pt x="217" y="0"/>
                </a:cubicBezTo>
                <a:cubicBezTo>
                  <a:pt x="260" y="0"/>
                  <a:pt x="296" y="36"/>
                  <a:pt x="296" y="79"/>
                </a:cubicBezTo>
                <a:cubicBezTo>
                  <a:pt x="296" y="91"/>
                  <a:pt x="293" y="103"/>
                  <a:pt x="289" y="113"/>
                </a:cubicBezTo>
                <a:lnTo>
                  <a:pt x="412" y="217"/>
                </a:lnTo>
                <a:cubicBezTo>
                  <a:pt x="429" y="201"/>
                  <a:pt x="452" y="192"/>
                  <a:pt x="477" y="192"/>
                </a:cubicBezTo>
                <a:cubicBezTo>
                  <a:pt x="530" y="192"/>
                  <a:pt x="574" y="235"/>
                  <a:pt x="574" y="289"/>
                </a:cubicBezTo>
                <a:cubicBezTo>
                  <a:pt x="574" y="342"/>
                  <a:pt x="530" y="386"/>
                  <a:pt x="477" y="386"/>
                </a:cubicBezTo>
                <a:cubicBezTo>
                  <a:pt x="449" y="386"/>
                  <a:pt x="424" y="374"/>
                  <a:pt x="406" y="355"/>
                </a:cubicBezTo>
                <a:lnTo>
                  <a:pt x="224" y="501"/>
                </a:lnTo>
                <a:cubicBezTo>
                  <a:pt x="234" y="518"/>
                  <a:pt x="240" y="539"/>
                  <a:pt x="240" y="561"/>
                </a:cubicBezTo>
                <a:cubicBezTo>
                  <a:pt x="240" y="627"/>
                  <a:pt x="186" y="681"/>
                  <a:pt x="120" y="681"/>
                </a:cubicBezTo>
                <a:cubicBezTo>
                  <a:pt x="54" y="681"/>
                  <a:pt x="0" y="627"/>
                  <a:pt x="0" y="561"/>
                </a:cubicBezTo>
                <a:cubicBezTo>
                  <a:pt x="0" y="495"/>
                  <a:pt x="54" y="441"/>
                  <a:pt x="120" y="441"/>
                </a:cubicBezTo>
                <a:close/>
              </a:path>
            </a:pathLst>
          </a:custGeom>
          <a:solidFill>
            <a:srgbClr val="113E6A"/>
          </a:solidFill>
          <a:ln w="9525">
            <a:noFill/>
          </a:ln>
        </p:spPr>
        <p:txBody>
          <a:bodyPr/>
          <a:lstStyle/>
          <a:p>
            <a:endParaRPr lang="zh-CN" altLang="en-US" sz="1800"/>
          </a:p>
        </p:txBody>
      </p:sp>
      <p:sp>
        <p:nvSpPr>
          <p:cNvPr id="35844" name="Freeform 10"/>
          <p:cNvSpPr/>
          <p:nvPr>
            <p:custDataLst>
              <p:tags r:id="rId1"/>
            </p:custDataLst>
          </p:nvPr>
        </p:nvSpPr>
        <p:spPr>
          <a:xfrm>
            <a:off x="1227138" y="1060450"/>
            <a:ext cx="4154487"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45" name="Freeform 11"/>
          <p:cNvSpPr/>
          <p:nvPr>
            <p:custDataLst>
              <p:tags r:id="rId2"/>
            </p:custDataLst>
          </p:nvPr>
        </p:nvSpPr>
        <p:spPr>
          <a:xfrm>
            <a:off x="1112838"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46" name="Freeform 12"/>
          <p:cNvSpPr/>
          <p:nvPr>
            <p:custDataLst>
              <p:tags r:id="rId3"/>
            </p:custDataLst>
          </p:nvPr>
        </p:nvSpPr>
        <p:spPr>
          <a:xfrm>
            <a:off x="1112838"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47" name="TextBox 6"/>
          <p:cNvSpPr txBox="1"/>
          <p:nvPr>
            <p:custDataLst>
              <p:tags r:id="rId4"/>
            </p:custDataLst>
          </p:nvPr>
        </p:nvSpPr>
        <p:spPr>
          <a:xfrm>
            <a:off x="1366838" y="1309688"/>
            <a:ext cx="2220912" cy="491490"/>
          </a:xfrm>
          <a:prstGeom prst="rect">
            <a:avLst/>
          </a:prstGeom>
          <a:noFill/>
          <a:ln w="9525">
            <a:noFill/>
          </a:ln>
        </p:spPr>
        <p:txBody>
          <a:bodyPr anchor="t">
            <a:spAutoFit/>
          </a:bodyPr>
          <a:lstStyle/>
          <a:p>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48" name="TextBox 7"/>
          <p:cNvSpPr txBox="1"/>
          <p:nvPr>
            <p:custDataLst>
              <p:tags r:id="rId5"/>
            </p:custDataLst>
          </p:nvPr>
        </p:nvSpPr>
        <p:spPr>
          <a:xfrm>
            <a:off x="1412875" y="1997075"/>
            <a:ext cx="3433763" cy="2999740"/>
          </a:xfrm>
          <a:prstGeom prst="rect">
            <a:avLst/>
          </a:prstGeom>
          <a:noFill/>
          <a:ln w="9525">
            <a:noFill/>
          </a:ln>
        </p:spPr>
        <p:txBody>
          <a:bodyPr anchor="t">
            <a:spAutoFit/>
          </a:bodyPr>
          <a:lstStyle/>
          <a:p>
            <a:pPr algn="just">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sym typeface="+mn-ea"/>
              </a:rPr>
              <a:t>实验部分发现在所有剪枝率下，注意力模块被剪掉的比例始终高于</a:t>
            </a:r>
            <a:r>
              <a:rPr lang="en-US" altLang="zh-CN" sz="1800" dirty="0">
                <a:solidFill>
                  <a:schemeClr val="accent1"/>
                </a:solidFill>
                <a:latin typeface="微软雅黑" panose="020B0503020204020204" pitchFamily="34" charset="-122"/>
                <a:ea typeface="微软雅黑" panose="020B0503020204020204" pitchFamily="34" charset="-122"/>
                <a:sym typeface="+mn-ea"/>
              </a:rPr>
              <a:t> MLP </a:t>
            </a:r>
            <a:r>
              <a:rPr lang="zh-CN" altLang="en-US" sz="1800" dirty="0">
                <a:solidFill>
                  <a:schemeClr val="accent1"/>
                </a:solidFill>
                <a:latin typeface="微软雅黑" panose="020B0503020204020204" pitchFamily="34" charset="-122"/>
                <a:ea typeface="微软雅黑" panose="020B0503020204020204" pitchFamily="34" charset="-122"/>
                <a:sym typeface="+mn-ea"/>
              </a:rPr>
              <a:t>模块</a:t>
            </a:r>
            <a:endParaRPr lang="zh-CN" altLang="en-US" sz="1800" dirty="0">
              <a:solidFill>
                <a:schemeClr val="accent1"/>
              </a:solidFill>
              <a:latin typeface="微软雅黑" panose="020B0503020204020204" pitchFamily="34" charset="-122"/>
              <a:ea typeface="微软雅黑" panose="020B0503020204020204" pitchFamily="34" charset="-122"/>
            </a:endParaRPr>
          </a:p>
          <a:p>
            <a:pPr algn="just">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sym typeface="+mn-ea"/>
              </a:rPr>
              <a:t>这揭示了当前</a:t>
            </a:r>
            <a:r>
              <a:rPr lang="en-US" altLang="zh-CN" sz="1800" dirty="0">
                <a:solidFill>
                  <a:schemeClr val="accent1"/>
                </a:solidFill>
                <a:latin typeface="微软雅黑" panose="020B0503020204020204" pitchFamily="34" charset="-122"/>
                <a:ea typeface="微软雅黑" panose="020B0503020204020204" pitchFamily="34" charset="-122"/>
                <a:sym typeface="+mn-ea"/>
              </a:rPr>
              <a:t> Transformer </a:t>
            </a:r>
            <a:r>
              <a:rPr lang="zh-CN" altLang="en-US" sz="1800" dirty="0">
                <a:solidFill>
                  <a:schemeClr val="accent1"/>
                </a:solidFill>
                <a:latin typeface="微软雅黑" panose="020B0503020204020204" pitchFamily="34" charset="-122"/>
                <a:ea typeface="微软雅黑" panose="020B0503020204020204" pitchFamily="34" charset="-122"/>
                <a:sym typeface="+mn-ea"/>
              </a:rPr>
              <a:t>架构中，注意力模块可能比</a:t>
            </a:r>
            <a:r>
              <a:rPr lang="en-US" altLang="zh-CN" sz="1800" dirty="0">
                <a:solidFill>
                  <a:schemeClr val="accent1"/>
                </a:solidFill>
                <a:latin typeface="微软雅黑" panose="020B0503020204020204" pitchFamily="34" charset="-122"/>
                <a:ea typeface="微软雅黑" panose="020B0503020204020204" pitchFamily="34" charset="-122"/>
                <a:sym typeface="+mn-ea"/>
              </a:rPr>
              <a:t> MLP </a:t>
            </a:r>
            <a:r>
              <a:rPr lang="zh-CN" altLang="en-US" sz="1800" dirty="0">
                <a:solidFill>
                  <a:schemeClr val="accent1"/>
                </a:solidFill>
                <a:latin typeface="微软雅黑" panose="020B0503020204020204" pitchFamily="34" charset="-122"/>
                <a:ea typeface="微软雅黑" panose="020B0503020204020204" pitchFamily="34" charset="-122"/>
                <a:sym typeface="+mn-ea"/>
              </a:rPr>
              <a:t>模块存在更多的结构性冗余。未来模型可以重新平衡两者的比例</a:t>
            </a:r>
            <a:endParaRPr lang="zh-CN" altLang="en-US" sz="1800" dirty="0" smtClean="0">
              <a:solidFill>
                <a:schemeClr val="accent1"/>
              </a:solidFill>
              <a:latin typeface="微软雅黑" panose="020B0503020204020204" pitchFamily="34" charset="-122"/>
              <a:ea typeface="微软雅黑" panose="020B0503020204020204" pitchFamily="34" charset="-122"/>
            </a:endParaRPr>
          </a:p>
        </p:txBody>
      </p:sp>
      <p:sp>
        <p:nvSpPr>
          <p:cNvPr id="35849" name="Freeform 10"/>
          <p:cNvSpPr/>
          <p:nvPr>
            <p:custDataLst>
              <p:tags r:id="rId6"/>
            </p:custDataLst>
          </p:nvPr>
        </p:nvSpPr>
        <p:spPr>
          <a:xfrm>
            <a:off x="6045200" y="1060450"/>
            <a:ext cx="4154488" cy="5043488"/>
          </a:xfrm>
          <a:custGeom>
            <a:avLst/>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0" t="0" r="0" b="0"/>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tx2"/>
          </a:solidFill>
          <a:ln w="9525" cap="flat" cmpd="sng">
            <a:solidFill>
              <a:schemeClr val="bg2"/>
            </a:solidFill>
            <a:prstDash val="solid"/>
            <a:round/>
            <a:headEnd type="none" w="med" len="med"/>
            <a:tailEnd type="none" w="med" len="med"/>
          </a:ln>
        </p:spPr>
        <p:txBody>
          <a:bodyPr/>
          <a:lstStyle/>
          <a:p>
            <a:endParaRPr lang="zh-CN" altLang="en-US" sz="1800"/>
          </a:p>
        </p:txBody>
      </p:sp>
      <p:sp>
        <p:nvSpPr>
          <p:cNvPr id="35850" name="Freeform 11"/>
          <p:cNvSpPr/>
          <p:nvPr>
            <p:custDataLst>
              <p:tags r:id="rId7"/>
            </p:custDataLst>
          </p:nvPr>
        </p:nvSpPr>
        <p:spPr>
          <a:xfrm>
            <a:off x="5930900" y="1204913"/>
            <a:ext cx="107950" cy="630237"/>
          </a:xfrm>
          <a:custGeom>
            <a:avLst/>
            <a:gdLst/>
            <a:ahLst/>
            <a:cxnLst>
              <a:cxn ang="0">
                <a:pos x="2147483647" y="0"/>
              </a:cxn>
              <a:cxn ang="0">
                <a:pos x="0" y="2147483647"/>
              </a:cxn>
              <a:cxn ang="0">
                <a:pos x="0" y="2147483647"/>
              </a:cxn>
              <a:cxn ang="0">
                <a:pos x="2147483647" y="2147483647"/>
              </a:cxn>
              <a:cxn ang="0">
                <a:pos x="2147483647" y="0"/>
              </a:cxn>
            </a:cxnLst>
            <a:rect l="0" t="0" r="0" b="0"/>
            <a:pathLst>
              <a:path w="139" h="806">
                <a:moveTo>
                  <a:pt x="139" y="0"/>
                </a:moveTo>
                <a:lnTo>
                  <a:pt x="0" y="110"/>
                </a:lnTo>
                <a:lnTo>
                  <a:pt x="0" y="806"/>
                </a:lnTo>
                <a:lnTo>
                  <a:pt x="139" y="696"/>
                </a:lnTo>
                <a:lnTo>
                  <a:pt x="139" y="0"/>
                </a:lnTo>
                <a:close/>
              </a:path>
            </a:pathLst>
          </a:custGeom>
          <a:solidFill>
            <a:schemeClr val="accent1"/>
          </a:solidFill>
          <a:ln w="9525">
            <a:noFill/>
          </a:ln>
        </p:spPr>
        <p:txBody>
          <a:bodyPr/>
          <a:lstStyle/>
          <a:p>
            <a:endParaRPr lang="zh-CN" altLang="en-US" sz="1800"/>
          </a:p>
        </p:txBody>
      </p:sp>
      <p:sp>
        <p:nvSpPr>
          <p:cNvPr id="35851" name="Freeform 12"/>
          <p:cNvSpPr/>
          <p:nvPr>
            <p:custDataLst>
              <p:tags r:id="rId8"/>
            </p:custDataLst>
          </p:nvPr>
        </p:nvSpPr>
        <p:spPr>
          <a:xfrm>
            <a:off x="5930900" y="1290638"/>
            <a:ext cx="2794000" cy="544512"/>
          </a:xfrm>
          <a:custGeom>
            <a:avLst/>
            <a:gdLst/>
            <a:ahLst/>
            <a:cxnLst>
              <a:cxn ang="0">
                <a:pos x="2147483647" y="0"/>
              </a:cxn>
              <a:cxn ang="0">
                <a:pos x="0" y="0"/>
              </a:cxn>
              <a:cxn ang="0">
                <a:pos x="0" y="2147483647"/>
              </a:cxn>
              <a:cxn ang="0">
                <a:pos x="2147483647" y="2147483647"/>
              </a:cxn>
              <a:cxn ang="0">
                <a:pos x="2147483647" y="2147483647"/>
              </a:cxn>
              <a:cxn ang="0">
                <a:pos x="2147483647" y="0"/>
              </a:cxn>
            </a:cxnLst>
            <a:rect l="0" t="0" r="0" b="0"/>
            <a:pathLst>
              <a:path w="3591" h="696">
                <a:moveTo>
                  <a:pt x="3591" y="0"/>
                </a:moveTo>
                <a:lnTo>
                  <a:pt x="0" y="0"/>
                </a:lnTo>
                <a:lnTo>
                  <a:pt x="0" y="696"/>
                </a:lnTo>
                <a:lnTo>
                  <a:pt x="3591" y="696"/>
                </a:lnTo>
                <a:lnTo>
                  <a:pt x="3383" y="353"/>
                </a:lnTo>
                <a:lnTo>
                  <a:pt x="3591" y="0"/>
                </a:lnTo>
                <a:close/>
              </a:path>
            </a:pathLst>
          </a:custGeom>
          <a:solidFill>
            <a:srgbClr val="113E6A"/>
          </a:solidFill>
          <a:ln w="9525">
            <a:noFill/>
          </a:ln>
        </p:spPr>
        <p:txBody>
          <a:bodyPr/>
          <a:lstStyle/>
          <a:p>
            <a:endParaRPr lang="zh-CN" altLang="en-US" sz="1800"/>
          </a:p>
        </p:txBody>
      </p:sp>
      <p:sp>
        <p:nvSpPr>
          <p:cNvPr id="35852" name="TextBox 11"/>
          <p:cNvSpPr txBox="1"/>
          <p:nvPr>
            <p:custDataLst>
              <p:tags r:id="rId9"/>
            </p:custDataLst>
          </p:nvPr>
        </p:nvSpPr>
        <p:spPr>
          <a:xfrm>
            <a:off x="6184900" y="1310005"/>
            <a:ext cx="4228465" cy="491490"/>
          </a:xfrm>
          <a:prstGeom prst="rect">
            <a:avLst/>
          </a:prstGeom>
          <a:noFill/>
          <a:ln w="9525">
            <a:noFill/>
          </a:ln>
        </p:spPr>
        <p:txBody>
          <a:bodyPr wrap="square" anchor="t">
            <a:spAutoFit/>
          </a:bodyPr>
          <a:lstStyle/>
          <a:p>
            <a:endParaRPr lang="zh-CN" altLang="en-US" sz="2600" dirty="0">
              <a:solidFill>
                <a:schemeClr val="accent2"/>
              </a:solidFill>
              <a:latin typeface="微软雅黑" panose="020B0503020204020204" pitchFamily="34" charset="-122"/>
              <a:ea typeface="微软雅黑" panose="020B0503020204020204" pitchFamily="34" charset="-122"/>
            </a:endParaRPr>
          </a:p>
        </p:txBody>
      </p:sp>
      <p:sp>
        <p:nvSpPr>
          <p:cNvPr id="35853" name="TextBox 13"/>
          <p:cNvSpPr txBox="1"/>
          <p:nvPr>
            <p:custDataLst>
              <p:tags r:id="rId10"/>
            </p:custDataLst>
          </p:nvPr>
        </p:nvSpPr>
        <p:spPr>
          <a:xfrm>
            <a:off x="6196013" y="1997075"/>
            <a:ext cx="3432175" cy="2168525"/>
          </a:xfrm>
          <a:prstGeom prst="rect">
            <a:avLst/>
          </a:prstGeom>
          <a:noFill/>
          <a:ln w="9525">
            <a:noFill/>
          </a:ln>
        </p:spPr>
        <p:txBody>
          <a:bodyPr anchor="t">
            <a:spAutoFit/>
          </a:bodyPr>
          <a:lstStyle/>
          <a:p>
            <a:pPr algn="just">
              <a:lnSpc>
                <a:spcPct val="150000"/>
              </a:lnSpc>
            </a:pPr>
            <a:r>
              <a:rPr lang="zh-CN" altLang="en-US" sz="1800" dirty="0">
                <a:solidFill>
                  <a:schemeClr val="accent1"/>
                </a:solidFill>
                <a:latin typeface="微软雅黑" panose="020B0503020204020204" pitchFamily="34" charset="-122"/>
                <a:ea typeface="微软雅黑" panose="020B0503020204020204" pitchFamily="34" charset="-122"/>
              </a:rPr>
              <a:t>实验主要集中在</a:t>
            </a:r>
            <a:r>
              <a:rPr lang="en-US" altLang="zh-CN" sz="1800" dirty="0">
                <a:solidFill>
                  <a:schemeClr val="accent1"/>
                </a:solidFill>
                <a:latin typeface="微软雅黑" panose="020B0503020204020204" pitchFamily="34" charset="-122"/>
                <a:ea typeface="微软雅黑" panose="020B0503020204020204" pitchFamily="34" charset="-122"/>
              </a:rPr>
              <a:t>7B-13B</a:t>
            </a:r>
            <a:r>
              <a:rPr lang="zh-CN" altLang="en-US" sz="1800" dirty="0">
                <a:solidFill>
                  <a:schemeClr val="accent1"/>
                </a:solidFill>
                <a:latin typeface="微软雅黑" panose="020B0503020204020204" pitchFamily="34" charset="-122"/>
                <a:ea typeface="微软雅黑" panose="020B0503020204020204" pitchFamily="34" charset="-122"/>
              </a:rPr>
              <a:t>参数的模型，可在</a:t>
            </a:r>
            <a:r>
              <a:rPr lang="en-US" altLang="zh-CN" sz="1800" dirty="0">
                <a:solidFill>
                  <a:schemeClr val="accent1"/>
                </a:solidFill>
                <a:latin typeface="微软雅黑" panose="020B0503020204020204" pitchFamily="34" charset="-122"/>
                <a:ea typeface="微软雅黑" panose="020B0503020204020204" pitchFamily="34" charset="-122"/>
              </a:rPr>
              <a:t>100B</a:t>
            </a:r>
            <a:r>
              <a:rPr lang="zh-CN" altLang="en-US" sz="1800" dirty="0">
                <a:solidFill>
                  <a:schemeClr val="accent1"/>
                </a:solidFill>
                <a:latin typeface="微软雅黑" panose="020B0503020204020204" pitchFamily="34" charset="-122"/>
                <a:ea typeface="微软雅黑" panose="020B0503020204020204" pitchFamily="34" charset="-122"/>
              </a:rPr>
              <a:t>甚至更大规模的模型上验证</a:t>
            </a:r>
            <a:r>
              <a:rPr lang="en-US" altLang="zh-CN" sz="1800" dirty="0">
                <a:solidFill>
                  <a:schemeClr val="accent1"/>
                </a:solidFill>
                <a:latin typeface="微软雅黑" panose="020B0503020204020204" pitchFamily="34" charset="-122"/>
                <a:ea typeface="微软雅黑" panose="020B0503020204020204" pitchFamily="34" charset="-122"/>
              </a:rPr>
              <a:t>SkipGPT</a:t>
            </a:r>
            <a:r>
              <a:rPr lang="zh-CN" altLang="en-US" sz="1800" dirty="0">
                <a:solidFill>
                  <a:schemeClr val="accent1"/>
                </a:solidFill>
                <a:latin typeface="微软雅黑" panose="020B0503020204020204" pitchFamily="34" charset="-122"/>
                <a:ea typeface="微软雅黑" panose="020B0503020204020204" pitchFamily="34" charset="-122"/>
              </a:rPr>
              <a:t>的有效性，并探索训练开销（第一阶段仍需走完整模型）的解决方案</a:t>
            </a:r>
            <a:endParaRPr lang="zh-CN" altLang="en-US" sz="1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3804">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p:cTn id="7" dur="300" fill="hold"/>
                                        <p:tgtEl>
                                          <p:spTgt spid="35843"/>
                                        </p:tgtEl>
                                        <p:attrNameLst>
                                          <p:attrName>ppt_w</p:attrName>
                                        </p:attrNameLst>
                                      </p:cBhvr>
                                      <p:tavLst>
                                        <p:tav tm="0">
                                          <p:val>
                                            <p:fltVal val="0"/>
                                          </p:val>
                                        </p:tav>
                                        <p:tav tm="100000">
                                          <p:val>
                                            <p:strVal val="#ppt_w"/>
                                          </p:val>
                                        </p:tav>
                                      </p:tavLst>
                                    </p:anim>
                                    <p:anim calcmode="lin" valueType="num">
                                      <p:cBhvr>
                                        <p:cTn id="8" dur="300" fill="hold"/>
                                        <p:tgtEl>
                                          <p:spTgt spid="35843"/>
                                        </p:tgtEl>
                                        <p:attrNameLst>
                                          <p:attrName>ppt_h</p:attrName>
                                        </p:attrNameLst>
                                      </p:cBhvr>
                                      <p:tavLst>
                                        <p:tav tm="0">
                                          <p:val>
                                            <p:fltVal val="0"/>
                                          </p:val>
                                        </p:tav>
                                        <p:tav tm="100000">
                                          <p:val>
                                            <p:strVal val="#ppt_h"/>
                                          </p:val>
                                        </p:tav>
                                      </p:tavLst>
                                    </p:anim>
                                    <p:anim calcmode="lin" valueType="num">
                                      <p:cBhvr>
                                        <p:cTn id="9" dur="300" fill="hold"/>
                                        <p:tgtEl>
                                          <p:spTgt spid="35843"/>
                                        </p:tgtEl>
                                        <p:attrNameLst>
                                          <p:attrName>style.rotation</p:attrName>
                                        </p:attrNameLst>
                                      </p:cBhvr>
                                      <p:tavLst>
                                        <p:tav tm="0">
                                          <p:val>
                                            <p:fltVal val="90"/>
                                          </p:val>
                                        </p:tav>
                                        <p:tav tm="100000">
                                          <p:val>
                                            <p:fltVal val="0"/>
                                          </p:val>
                                        </p:tav>
                                      </p:tavLst>
                                    </p:anim>
                                    <p:animEffect transition="in" filter="fade">
                                      <p:cBhvr>
                                        <p:cTn id="10" dur="300"/>
                                        <p:tgtEl>
                                          <p:spTgt spid="35843"/>
                                        </p:tgtEl>
                                      </p:cBhvr>
                                    </p:animEffect>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35842"/>
                                        </p:tgtEl>
                                        <p:attrNameLst>
                                          <p:attrName>style.visibility</p:attrName>
                                        </p:attrNameLst>
                                      </p:cBhvr>
                                      <p:to>
                                        <p:strVal val="visible"/>
                                      </p:to>
                                    </p:set>
                                    <p:anim calcmode="lin" valueType="num">
                                      <p:cBhvr>
                                        <p:cTn id="14" dur="400" fill="hold"/>
                                        <p:tgtEl>
                                          <p:spTgt spid="35842"/>
                                        </p:tgtEl>
                                        <p:attrNameLst>
                                          <p:attrName>ppt_x</p:attrName>
                                        </p:attrNameLst>
                                      </p:cBhvr>
                                      <p:tavLst>
                                        <p:tav tm="0">
                                          <p:val>
                                            <p:strVal val="#ppt_x"/>
                                          </p:val>
                                        </p:tav>
                                        <p:tav tm="50000">
                                          <p:val>
                                            <p:strVal val="#ppt_x+.1"/>
                                          </p:val>
                                        </p:tav>
                                        <p:tav tm="100000">
                                          <p:val>
                                            <p:strVal val="#ppt_x"/>
                                          </p:val>
                                        </p:tav>
                                      </p:tavLst>
                                    </p:anim>
                                    <p:anim calcmode="lin" valueType="num">
                                      <p:cBhvr>
                                        <p:cTn id="15" dur="400" fill="hold"/>
                                        <p:tgtEl>
                                          <p:spTgt spid="35842"/>
                                        </p:tgtEl>
                                        <p:attrNameLst>
                                          <p:attrName>ppt_y</p:attrName>
                                        </p:attrNameLst>
                                      </p:cBhvr>
                                      <p:tavLst>
                                        <p:tav tm="0">
                                          <p:val>
                                            <p:strVal val="#ppt_y"/>
                                          </p:val>
                                        </p:tav>
                                        <p:tav tm="100000">
                                          <p:val>
                                            <p:strVal val="#ppt_y"/>
                                          </p:val>
                                        </p:tav>
                                      </p:tavLst>
                                    </p:anim>
                                    <p:anim calcmode="lin" valueType="num">
                                      <p:cBhvr>
                                        <p:cTn id="16" dur="400" fill="hold"/>
                                        <p:tgtEl>
                                          <p:spTgt spid="35842"/>
                                        </p:tgtEl>
                                        <p:attrNameLst>
                                          <p:attrName>ppt_h</p:attrName>
                                        </p:attrNameLst>
                                      </p:cBhvr>
                                      <p:tavLst>
                                        <p:tav tm="0">
                                          <p:val>
                                            <p:strVal val="#ppt_h/10"/>
                                          </p:val>
                                        </p:tav>
                                        <p:tav tm="50000">
                                          <p:val>
                                            <p:strVal val="#ppt_h+.01"/>
                                          </p:val>
                                        </p:tav>
                                        <p:tav tm="100000">
                                          <p:val>
                                            <p:strVal val="#ppt_h"/>
                                          </p:val>
                                        </p:tav>
                                      </p:tavLst>
                                    </p:anim>
                                    <p:anim calcmode="lin" valueType="num">
                                      <p:cBhvr>
                                        <p:cTn id="17" dur="400" fill="hold"/>
                                        <p:tgtEl>
                                          <p:spTgt spid="358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400" tmFilter="0,0; .5, 1; 1, 1"/>
                                        <p:tgtEl>
                                          <p:spTgt spid="35842"/>
                                        </p:tgtEl>
                                      </p:cBhvr>
                                    </p:animEffect>
                                  </p:childTnLst>
                                </p:cTn>
                              </p:par>
                            </p:childTnLst>
                          </p:cTn>
                        </p:par>
                        <p:par>
                          <p:cTn id="19" fill="hold">
                            <p:stCondLst>
                              <p:cond delay="819"/>
                            </p:stCondLst>
                            <p:childTnLst>
                              <p:par>
                                <p:cTn id="20" presetID="22" presetClass="entr" presetSubtype="4" fill="hold" nodeType="after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wipe(down)">
                                      <p:cBhvr>
                                        <p:cTn id="22" dur="500"/>
                                        <p:tgtEl>
                                          <p:spTgt spid="35844"/>
                                        </p:tgtEl>
                                      </p:cBhvr>
                                    </p:animEffect>
                                  </p:childTnLst>
                                </p:cTn>
                              </p:par>
                            </p:childTnLst>
                          </p:cTn>
                        </p:par>
                        <p:par>
                          <p:cTn id="23" fill="hold">
                            <p:stCondLst>
                              <p:cond delay="1319"/>
                            </p:stCondLst>
                            <p:childTnLst>
                              <p:par>
                                <p:cTn id="24" presetID="22" presetClass="entr" presetSubtype="2" fill="hold" nodeType="afterEffect">
                                  <p:stCondLst>
                                    <p:cond delay="0"/>
                                  </p:stCondLst>
                                  <p:childTnLst>
                                    <p:set>
                                      <p:cBhvr>
                                        <p:cTn id="25" dur="1" fill="hold">
                                          <p:stCondLst>
                                            <p:cond delay="0"/>
                                          </p:stCondLst>
                                        </p:cTn>
                                        <p:tgtEl>
                                          <p:spTgt spid="35845"/>
                                        </p:tgtEl>
                                        <p:attrNameLst>
                                          <p:attrName>style.visibility</p:attrName>
                                        </p:attrNameLst>
                                      </p:cBhvr>
                                      <p:to>
                                        <p:strVal val="visible"/>
                                      </p:to>
                                    </p:set>
                                    <p:animEffect transition="in" filter="wipe(right)">
                                      <p:cBhvr>
                                        <p:cTn id="26" dur="300"/>
                                        <p:tgtEl>
                                          <p:spTgt spid="35845"/>
                                        </p:tgtEl>
                                      </p:cBhvr>
                                    </p:animEffect>
                                  </p:childTnLst>
                                </p:cTn>
                              </p:par>
                            </p:childTnLst>
                          </p:cTn>
                        </p:par>
                        <p:par>
                          <p:cTn id="27" fill="hold">
                            <p:stCondLst>
                              <p:cond delay="1819"/>
                            </p:stCondLst>
                            <p:childTnLst>
                              <p:par>
                                <p:cTn id="28" presetID="22" presetClass="entr" presetSubtype="8" fill="hold" nodeType="afterEffect">
                                  <p:stCondLst>
                                    <p:cond delay="0"/>
                                  </p:stCondLst>
                                  <p:childTnLst>
                                    <p:set>
                                      <p:cBhvr>
                                        <p:cTn id="29" dur="1" fill="hold">
                                          <p:stCondLst>
                                            <p:cond delay="0"/>
                                          </p:stCondLst>
                                        </p:cTn>
                                        <p:tgtEl>
                                          <p:spTgt spid="35846"/>
                                        </p:tgtEl>
                                        <p:attrNameLst>
                                          <p:attrName>style.visibility</p:attrName>
                                        </p:attrNameLst>
                                      </p:cBhvr>
                                      <p:to>
                                        <p:strVal val="visible"/>
                                      </p:to>
                                    </p:set>
                                    <p:animEffect transition="in" filter="wipe(left)">
                                      <p:cBhvr>
                                        <p:cTn id="30" dur="500"/>
                                        <p:tgtEl>
                                          <p:spTgt spid="35846"/>
                                        </p:tgtEl>
                                      </p:cBhvr>
                                    </p:animEffect>
                                  </p:childTnLst>
                                </p:cTn>
                              </p:par>
                            </p:childTnLst>
                          </p:cTn>
                        </p:par>
                        <p:par>
                          <p:cTn id="31" fill="hold">
                            <p:stCondLst>
                              <p:cond delay="2319"/>
                            </p:stCondLst>
                            <p:childTnLst>
                              <p:par>
                                <p:cTn id="32" presetID="56" presetClass="entr" presetSubtype="0" fill="hold" grpId="0" nodeType="afterEffect">
                                  <p:stCondLst>
                                    <p:cond delay="0"/>
                                  </p:stCondLst>
                                  <p:iterate type="lt">
                                    <p:tmPct val="10000"/>
                                  </p:iterate>
                                  <p:childTnLst>
                                    <p:set>
                                      <p:cBhvr>
                                        <p:cTn id="33" dur="1" fill="hold">
                                          <p:stCondLst>
                                            <p:cond delay="0"/>
                                          </p:stCondLst>
                                        </p:cTn>
                                        <p:tgtEl>
                                          <p:spTgt spid="35847"/>
                                        </p:tgtEl>
                                        <p:attrNameLst>
                                          <p:attrName>style.visibility</p:attrName>
                                        </p:attrNameLst>
                                      </p:cBhvr>
                                      <p:to>
                                        <p:strVal val="visible"/>
                                      </p:to>
                                    </p:set>
                                    <p:anim by="(-#ppt_w*2)" calcmode="lin" valueType="num">
                                      <p:cBhvr rctx="PPT">
                                        <p:cTn id="34" dur="250" autoRev="1" fill="hold">
                                          <p:stCondLst>
                                            <p:cond delay="0"/>
                                          </p:stCondLst>
                                        </p:cTn>
                                        <p:tgtEl>
                                          <p:spTgt spid="35847"/>
                                        </p:tgtEl>
                                        <p:attrNameLst>
                                          <p:attrName>ppt_w</p:attrName>
                                        </p:attrNameLst>
                                      </p:cBhvr>
                                    </p:anim>
                                    <p:anim by="(#ppt_w*0.50)" calcmode="lin" valueType="num">
                                      <p:cBhvr>
                                        <p:cTn id="35" dur="250" decel="50000" autoRev="1" fill="hold">
                                          <p:stCondLst>
                                            <p:cond delay="0"/>
                                          </p:stCondLst>
                                        </p:cTn>
                                        <p:tgtEl>
                                          <p:spTgt spid="35847"/>
                                        </p:tgtEl>
                                        <p:attrNameLst>
                                          <p:attrName>ppt_x</p:attrName>
                                        </p:attrNameLst>
                                      </p:cBhvr>
                                    </p:anim>
                                    <p:anim from="(-#ppt_h/2)" to="(#ppt_y)" calcmode="lin" valueType="num">
                                      <p:cBhvr>
                                        <p:cTn id="36" dur="500" fill="hold">
                                          <p:stCondLst>
                                            <p:cond delay="0"/>
                                          </p:stCondLst>
                                        </p:cTn>
                                        <p:tgtEl>
                                          <p:spTgt spid="35847"/>
                                        </p:tgtEl>
                                        <p:attrNameLst>
                                          <p:attrName>ppt_y</p:attrName>
                                        </p:attrNameLst>
                                      </p:cBhvr>
                                    </p:anim>
                                    <p:animRot by="21600000">
                                      <p:cBhvr>
                                        <p:cTn id="37" dur="500" fill="hold">
                                          <p:stCondLst>
                                            <p:cond delay="0"/>
                                          </p:stCondLst>
                                        </p:cTn>
                                        <p:tgtEl>
                                          <p:spTgt spid="35847"/>
                                        </p:tgtEl>
                                        <p:attrNameLst>
                                          <p:attrName>r</p:attrName>
                                        </p:attrNameLst>
                                      </p:cBhvr>
                                    </p:animRot>
                                  </p:childTnLst>
                                </p:cTn>
                              </p:par>
                            </p:childTnLst>
                          </p:cTn>
                        </p:par>
                        <p:par>
                          <p:cTn id="38" fill="hold">
                            <p:stCondLst>
                              <p:cond delay="2619"/>
                            </p:stCondLst>
                            <p:childTnLst>
                              <p:par>
                                <p:cTn id="39" presetID="22" presetClass="entr" presetSubtype="1" fill="hold" grpId="0" nodeType="afterEffect">
                                  <p:stCondLst>
                                    <p:cond delay="0"/>
                                  </p:stCondLst>
                                  <p:childTnLst>
                                    <p:set>
                                      <p:cBhvr>
                                        <p:cTn id="40" dur="1" fill="hold">
                                          <p:stCondLst>
                                            <p:cond delay="0"/>
                                          </p:stCondLst>
                                        </p:cTn>
                                        <p:tgtEl>
                                          <p:spTgt spid="35848"/>
                                        </p:tgtEl>
                                        <p:attrNameLst>
                                          <p:attrName>style.visibility</p:attrName>
                                        </p:attrNameLst>
                                      </p:cBhvr>
                                      <p:to>
                                        <p:strVal val="visible"/>
                                      </p:to>
                                    </p:set>
                                    <p:animEffect transition="in" filter="wipe(up)">
                                      <p:cBhvr>
                                        <p:cTn id="41" dur="500"/>
                                        <p:tgtEl>
                                          <p:spTgt spid="35848"/>
                                        </p:tgtEl>
                                      </p:cBhvr>
                                    </p:animEffect>
                                  </p:childTnLst>
                                </p:cTn>
                              </p:par>
                            </p:childTnLst>
                          </p:cTn>
                        </p:par>
                        <p:par>
                          <p:cTn id="42" fill="hold">
                            <p:stCondLst>
                              <p:cond delay="3119"/>
                            </p:stCondLst>
                            <p:childTnLst>
                              <p:par>
                                <p:cTn id="43" presetID="22" presetClass="entr" presetSubtype="4" fill="hold" nodeType="afterEffect">
                                  <p:stCondLst>
                                    <p:cond delay="0"/>
                                  </p:stCondLst>
                                  <p:childTnLst>
                                    <p:set>
                                      <p:cBhvr>
                                        <p:cTn id="44" dur="1" fill="hold">
                                          <p:stCondLst>
                                            <p:cond delay="0"/>
                                          </p:stCondLst>
                                        </p:cTn>
                                        <p:tgtEl>
                                          <p:spTgt spid="35849"/>
                                        </p:tgtEl>
                                        <p:attrNameLst>
                                          <p:attrName>style.visibility</p:attrName>
                                        </p:attrNameLst>
                                      </p:cBhvr>
                                      <p:to>
                                        <p:strVal val="visible"/>
                                      </p:to>
                                    </p:set>
                                    <p:animEffect transition="in" filter="wipe(down)">
                                      <p:cBhvr>
                                        <p:cTn id="45" dur="500"/>
                                        <p:tgtEl>
                                          <p:spTgt spid="35849"/>
                                        </p:tgtEl>
                                      </p:cBhvr>
                                    </p:animEffect>
                                  </p:childTnLst>
                                </p:cTn>
                              </p:par>
                            </p:childTnLst>
                          </p:cTn>
                        </p:par>
                        <p:par>
                          <p:cTn id="46" fill="hold">
                            <p:stCondLst>
                              <p:cond delay="3619"/>
                            </p:stCondLst>
                            <p:childTnLst>
                              <p:par>
                                <p:cTn id="47" presetID="22" presetClass="entr" presetSubtype="2" fill="hold" nodeType="afterEffect">
                                  <p:stCondLst>
                                    <p:cond delay="0"/>
                                  </p:stCondLst>
                                  <p:childTnLst>
                                    <p:set>
                                      <p:cBhvr>
                                        <p:cTn id="48" dur="1" fill="hold">
                                          <p:stCondLst>
                                            <p:cond delay="0"/>
                                          </p:stCondLst>
                                        </p:cTn>
                                        <p:tgtEl>
                                          <p:spTgt spid="35850"/>
                                        </p:tgtEl>
                                        <p:attrNameLst>
                                          <p:attrName>style.visibility</p:attrName>
                                        </p:attrNameLst>
                                      </p:cBhvr>
                                      <p:to>
                                        <p:strVal val="visible"/>
                                      </p:to>
                                    </p:set>
                                    <p:animEffect transition="in" filter="wipe(right)">
                                      <p:cBhvr>
                                        <p:cTn id="49" dur="300"/>
                                        <p:tgtEl>
                                          <p:spTgt spid="35850"/>
                                        </p:tgtEl>
                                      </p:cBhvr>
                                    </p:animEffect>
                                  </p:childTnLst>
                                </p:cTn>
                              </p:par>
                            </p:childTnLst>
                          </p:cTn>
                        </p:par>
                        <p:par>
                          <p:cTn id="50" fill="hold">
                            <p:stCondLst>
                              <p:cond delay="4119"/>
                            </p:stCondLst>
                            <p:childTnLst>
                              <p:par>
                                <p:cTn id="51" presetID="22" presetClass="entr" presetSubtype="8" fill="hold" nodeType="afterEffect">
                                  <p:stCondLst>
                                    <p:cond delay="0"/>
                                  </p:stCondLst>
                                  <p:childTnLst>
                                    <p:set>
                                      <p:cBhvr>
                                        <p:cTn id="52" dur="1" fill="hold">
                                          <p:stCondLst>
                                            <p:cond delay="0"/>
                                          </p:stCondLst>
                                        </p:cTn>
                                        <p:tgtEl>
                                          <p:spTgt spid="35851"/>
                                        </p:tgtEl>
                                        <p:attrNameLst>
                                          <p:attrName>style.visibility</p:attrName>
                                        </p:attrNameLst>
                                      </p:cBhvr>
                                      <p:to>
                                        <p:strVal val="visible"/>
                                      </p:to>
                                    </p:set>
                                    <p:animEffect transition="in" filter="wipe(left)">
                                      <p:cBhvr>
                                        <p:cTn id="53" dur="500"/>
                                        <p:tgtEl>
                                          <p:spTgt spid="35851"/>
                                        </p:tgtEl>
                                      </p:cBhvr>
                                    </p:animEffect>
                                  </p:childTnLst>
                                </p:cTn>
                              </p:par>
                            </p:childTnLst>
                          </p:cTn>
                        </p:par>
                        <p:par>
                          <p:cTn id="54" fill="hold">
                            <p:stCondLst>
                              <p:cond delay="4619"/>
                            </p:stCondLst>
                            <p:childTnLst>
                              <p:par>
                                <p:cTn id="55" presetID="56" presetClass="entr" presetSubtype="0" fill="hold" grpId="0" nodeType="afterEffect">
                                  <p:stCondLst>
                                    <p:cond delay="0"/>
                                  </p:stCondLst>
                                  <p:iterate type="lt">
                                    <p:tmPct val="10000"/>
                                  </p:iterate>
                                  <p:childTnLst>
                                    <p:set>
                                      <p:cBhvr>
                                        <p:cTn id="56" dur="1" fill="hold">
                                          <p:stCondLst>
                                            <p:cond delay="0"/>
                                          </p:stCondLst>
                                        </p:cTn>
                                        <p:tgtEl>
                                          <p:spTgt spid="35852"/>
                                        </p:tgtEl>
                                        <p:attrNameLst>
                                          <p:attrName>style.visibility</p:attrName>
                                        </p:attrNameLst>
                                      </p:cBhvr>
                                      <p:to>
                                        <p:strVal val="visible"/>
                                      </p:to>
                                    </p:set>
                                    <p:anim by="(-#ppt_w*2)" calcmode="lin" valueType="num">
                                      <p:cBhvr rctx="PPT">
                                        <p:cTn id="57" dur="250" autoRev="1" fill="hold">
                                          <p:stCondLst>
                                            <p:cond delay="0"/>
                                          </p:stCondLst>
                                        </p:cTn>
                                        <p:tgtEl>
                                          <p:spTgt spid="35852"/>
                                        </p:tgtEl>
                                        <p:attrNameLst>
                                          <p:attrName>ppt_w</p:attrName>
                                        </p:attrNameLst>
                                      </p:cBhvr>
                                    </p:anim>
                                    <p:anim by="(#ppt_w*0.50)" calcmode="lin" valueType="num">
                                      <p:cBhvr>
                                        <p:cTn id="58" dur="250" decel="50000" autoRev="1" fill="hold">
                                          <p:stCondLst>
                                            <p:cond delay="0"/>
                                          </p:stCondLst>
                                        </p:cTn>
                                        <p:tgtEl>
                                          <p:spTgt spid="35852"/>
                                        </p:tgtEl>
                                        <p:attrNameLst>
                                          <p:attrName>ppt_x</p:attrName>
                                        </p:attrNameLst>
                                      </p:cBhvr>
                                    </p:anim>
                                    <p:anim from="(-#ppt_h/2)" to="(#ppt_y)" calcmode="lin" valueType="num">
                                      <p:cBhvr>
                                        <p:cTn id="59" dur="500" fill="hold">
                                          <p:stCondLst>
                                            <p:cond delay="0"/>
                                          </p:stCondLst>
                                        </p:cTn>
                                        <p:tgtEl>
                                          <p:spTgt spid="35852"/>
                                        </p:tgtEl>
                                        <p:attrNameLst>
                                          <p:attrName>ppt_y</p:attrName>
                                        </p:attrNameLst>
                                      </p:cBhvr>
                                    </p:anim>
                                    <p:animRot by="21600000">
                                      <p:cBhvr>
                                        <p:cTn id="60" dur="500" fill="hold">
                                          <p:stCondLst>
                                            <p:cond delay="0"/>
                                          </p:stCondLst>
                                        </p:cTn>
                                        <p:tgtEl>
                                          <p:spTgt spid="35852"/>
                                        </p:tgtEl>
                                        <p:attrNameLst>
                                          <p:attrName>r</p:attrName>
                                        </p:attrNameLst>
                                      </p:cBhvr>
                                    </p:animRot>
                                  </p:childTnLst>
                                </p:cTn>
                              </p:par>
                            </p:childTnLst>
                          </p:cTn>
                        </p:par>
                        <p:par>
                          <p:cTn id="61" fill="hold">
                            <p:stCondLst>
                              <p:cond delay="4920"/>
                            </p:stCondLst>
                            <p:childTnLst>
                              <p:par>
                                <p:cTn id="62" presetID="22" presetClass="entr" presetSubtype="1" fill="hold" grpId="0" nodeType="afterEffect">
                                  <p:stCondLst>
                                    <p:cond delay="0"/>
                                  </p:stCondLst>
                                  <p:childTnLst>
                                    <p:set>
                                      <p:cBhvr>
                                        <p:cTn id="63" dur="1" fill="hold">
                                          <p:stCondLst>
                                            <p:cond delay="0"/>
                                          </p:stCondLst>
                                        </p:cTn>
                                        <p:tgtEl>
                                          <p:spTgt spid="35853"/>
                                        </p:tgtEl>
                                        <p:attrNameLst>
                                          <p:attrName>style.visibility</p:attrName>
                                        </p:attrNameLst>
                                      </p:cBhvr>
                                      <p:to>
                                        <p:strVal val="visible"/>
                                      </p:to>
                                    </p:set>
                                    <p:animEffect transition="in" filter="wipe(up)">
                                      <p:cBhvr>
                                        <p:cTn id="64" dur="500"/>
                                        <p:tgtEl>
                                          <p:spTgt spid="35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7" grpId="0"/>
      <p:bldP spid="35848" grpId="0"/>
      <p:bldP spid="35852" grpId="0"/>
      <p:bldP spid="3585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txBox="1"/>
          <p:nvPr/>
        </p:nvSpPr>
        <p:spPr>
          <a:xfrm>
            <a:off x="769938" y="2311400"/>
            <a:ext cx="10728325" cy="817563"/>
          </a:xfrm>
          <a:prstGeom prst="rect">
            <a:avLst/>
          </a:prstGeom>
          <a:noFill/>
          <a:ln w="9525">
            <a:noFill/>
          </a:ln>
        </p:spPr>
        <p:txBody>
          <a:bodyPr anchor="ctr"/>
          <a:lstStyle/>
          <a:p>
            <a:pPr algn="ctr"/>
            <a:r>
              <a:rPr lang="zh-CN" altLang="en-US" sz="6000" b="1" dirty="0" smtClean="0">
                <a:solidFill>
                  <a:schemeClr val="accent2"/>
                </a:solidFill>
                <a:latin typeface="微软雅黑" panose="020B0503020204020204" pitchFamily="34" charset="-122"/>
                <a:ea typeface="微软雅黑" panose="020B0503020204020204" pitchFamily="34" charset="-122"/>
              </a:rPr>
              <a:t>感谢您的批评指正</a:t>
            </a:r>
            <a:endParaRPr lang="zh-CN" altLang="en-US" sz="6000" b="1" dirty="0">
              <a:solidFill>
                <a:schemeClr val="accent2"/>
              </a:solidFill>
              <a:latin typeface="微软雅黑" panose="020B0503020204020204" pitchFamily="34" charset="-122"/>
              <a:ea typeface="微软雅黑" panose="020B0503020204020204" pitchFamily="34" charset="-122"/>
            </a:endParaRPr>
          </a:p>
        </p:txBody>
      </p:sp>
      <p:sp>
        <p:nvSpPr>
          <p:cNvPr id="7181" name="Rectangle 5"/>
          <p:cNvSpPr/>
          <p:nvPr/>
        </p:nvSpPr>
        <p:spPr>
          <a:xfrm>
            <a:off x="34925" y="6745288"/>
            <a:ext cx="12196763" cy="41275"/>
          </a:xfrm>
          <a:prstGeom prst="rect">
            <a:avLst/>
          </a:prstGeom>
          <a:solidFill>
            <a:srgbClr val="FFFFFF"/>
          </a:solidFill>
          <a:ln w="9525">
            <a:noFill/>
          </a:ln>
        </p:spPr>
        <p:txBody>
          <a:bodyPr anchor="t"/>
          <a:lstStyle/>
          <a:p>
            <a:endParaRPr lang="zh-CN" altLang="en-US" dirty="0">
              <a:latin typeface="Arial" panose="020B0604020202020204" pitchFamily="34" charset="0"/>
              <a:ea typeface="宋体" panose="02010600030101010101" pitchFamily="2" charset="-122"/>
            </a:endParaRPr>
          </a:p>
        </p:txBody>
      </p:sp>
      <p:cxnSp>
        <p:nvCxnSpPr>
          <p:cNvPr id="6158" name="直接连接符 2"/>
          <p:cNvCxnSpPr/>
          <p:nvPr/>
        </p:nvCxnSpPr>
        <p:spPr>
          <a:xfrm>
            <a:off x="1201738" y="2159000"/>
            <a:ext cx="9864725" cy="0"/>
          </a:xfrm>
          <a:prstGeom prst="line">
            <a:avLst/>
          </a:prstGeom>
          <a:ln w="9525" cap="flat" cmpd="sng">
            <a:solidFill>
              <a:schemeClr val="accent2"/>
            </a:solidFill>
            <a:prstDash val="dash"/>
            <a:round/>
            <a:headEnd type="none" w="med" len="med"/>
            <a:tailEnd type="none" w="med" len="med"/>
          </a:ln>
        </p:spPr>
      </p:cxnSp>
      <p:cxnSp>
        <p:nvCxnSpPr>
          <p:cNvPr id="6159" name="直接连接符 17"/>
          <p:cNvCxnSpPr/>
          <p:nvPr/>
        </p:nvCxnSpPr>
        <p:spPr>
          <a:xfrm>
            <a:off x="1201738" y="3284538"/>
            <a:ext cx="9864725" cy="0"/>
          </a:xfrm>
          <a:prstGeom prst="line">
            <a:avLst/>
          </a:prstGeom>
          <a:ln w="9525" cap="flat" cmpd="sng">
            <a:solidFill>
              <a:schemeClr val="accent2"/>
            </a:solidFill>
            <a:prstDash val="dash"/>
            <a:round/>
            <a:headEnd type="none" w="med" len="med"/>
            <a:tailEnd type="none" w="med" len="med"/>
          </a:ln>
        </p:spPr>
      </p:cxnSp>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87345" y="943854"/>
            <a:ext cx="4220005" cy="802395"/>
          </a:xfrm>
          <a:prstGeom prst="rect">
            <a:avLst/>
          </a:prstGeom>
        </p:spPr>
      </p:pic>
    </p:spTree>
  </p:cSld>
  <p:clrMapOvr>
    <a:masterClrMapping/>
  </p:clrMapOvr>
  <p:transition spd="slow" advTm="7871">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by="(-#ppt_w*2)" calcmode="lin" valueType="num">
                                      <p:cBhvr rctx="PPT">
                                        <p:cTn id="7" dur="500" autoRev="1" fill="hold">
                                          <p:stCondLst>
                                            <p:cond delay="0"/>
                                          </p:stCondLst>
                                        </p:cTn>
                                        <p:tgtEl>
                                          <p:spTgt spid="7171"/>
                                        </p:tgtEl>
                                        <p:attrNameLst>
                                          <p:attrName>ppt_w</p:attrName>
                                        </p:attrNameLst>
                                      </p:cBhvr>
                                    </p:anim>
                                    <p:anim by="(#ppt_w*0.50)" calcmode="lin" valueType="num">
                                      <p:cBhvr>
                                        <p:cTn id="8" dur="500" decel="50000" autoRev="1" fill="hold">
                                          <p:stCondLst>
                                            <p:cond delay="0"/>
                                          </p:stCondLst>
                                        </p:cTn>
                                        <p:tgtEl>
                                          <p:spTgt spid="7171"/>
                                        </p:tgtEl>
                                        <p:attrNameLst>
                                          <p:attrName>ppt_x</p:attrName>
                                        </p:attrNameLst>
                                      </p:cBhvr>
                                    </p:anim>
                                    <p:anim from="(-#ppt_h/2)" to="(#ppt_y)" calcmode="lin" valueType="num">
                                      <p:cBhvr>
                                        <p:cTn id="9" dur="1000" fill="hold">
                                          <p:stCondLst>
                                            <p:cond delay="0"/>
                                          </p:stCondLst>
                                        </p:cTn>
                                        <p:tgtEl>
                                          <p:spTgt spid="7171"/>
                                        </p:tgtEl>
                                        <p:attrNameLst>
                                          <p:attrName>ppt_y</p:attrName>
                                        </p:attrNameLst>
                                      </p:cBhvr>
                                    </p:anim>
                                    <p:animRot by="21600000">
                                      <p:cBhvr>
                                        <p:cTn id="10" dur="1000" fill="hold">
                                          <p:stCondLst>
                                            <p:cond delay="0"/>
                                          </p:stCondLst>
                                        </p:cTn>
                                        <p:tgtEl>
                                          <p:spTgt spid="7171"/>
                                        </p:tgtEl>
                                        <p:attrNameLst>
                                          <p:attrName>r</p:attrName>
                                        </p:attrNameLst>
                                      </p:cBhvr>
                                    </p:animRot>
                                  </p:childTnLst>
                                </p:cTn>
                              </p:par>
                            </p:childTnLst>
                          </p:cTn>
                        </p:par>
                        <p:par>
                          <p:cTn id="11" fill="hold">
                            <p:stCondLst>
                              <p:cond delay="1700"/>
                            </p:stCondLst>
                            <p:childTnLst>
                              <p:par>
                                <p:cTn id="12" presetID="16" presetClass="entr" presetSubtype="21" fill="hold" grpId="0" nodeType="afterEffect">
                                  <p:stCondLst>
                                    <p:cond delay="0"/>
                                  </p:stCondLst>
                                  <p:childTnLst>
                                    <p:set>
                                      <p:cBhvr>
                                        <p:cTn id="13" dur="1" fill="hold">
                                          <p:stCondLst>
                                            <p:cond delay="0"/>
                                          </p:stCondLst>
                                        </p:cTn>
                                        <p:tgtEl>
                                          <p:spTgt spid="7181"/>
                                        </p:tgtEl>
                                        <p:attrNameLst>
                                          <p:attrName>style.visibility</p:attrName>
                                        </p:attrNameLst>
                                      </p:cBhvr>
                                      <p:to>
                                        <p:strVal val="visible"/>
                                      </p:to>
                                    </p:set>
                                    <p:animEffect transition="in" filter="barn(inVertical)">
                                      <p:cBhvr>
                                        <p:cTn id="14"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81" grpId="0" bldLvl="0" animBg="1"/>
    </p:bldLst>
  </p:timing>
</p:sld>
</file>

<file path=ppt/tags/tag1.xml><?xml version="1.0" encoding="utf-8"?>
<p:tagLst xmlns:p="http://schemas.openxmlformats.org/presentationml/2006/main">
  <p:tag name="KSO_WM_DIAGRAM_VIRTUALLY_FRAME" val="{&quot;height&quot;:397.12503937007875,&quot;left&quot;:87.62503937007874,&quot;top&quot;:83.5,&quot;width&quot;:732.3249606299212}"/>
</p:tagLst>
</file>

<file path=ppt/tags/tag2.xml><?xml version="1.0" encoding="utf-8"?>
<p:tagLst xmlns:p="http://schemas.openxmlformats.org/presentationml/2006/main">
  <p:tag name="KSO_WM_DIAGRAM_VIRTUALLY_FRAME" val="{&quot;height&quot;:397.12503937007875,&quot;left&quot;:87.62503937007874,&quot;top&quot;:83.5,&quot;width&quot;:732.3249606299212}"/>
</p:tagLst>
</file>

<file path=ppt/tags/tag3.xml><?xml version="1.0" encoding="utf-8"?>
<p:tagLst xmlns:p="http://schemas.openxmlformats.org/presentationml/2006/main">
  <p:tag name="KSO_WM_DIAGRAM_VIRTUALLY_FRAME" val="{&quot;height&quot;:397.12503937007875,&quot;left&quot;:87.62503937007874,&quot;top&quot;:83.5,&quot;width&quot;:732.3249606299212}"/>
</p:tagLst>
</file>

<file path=ppt/tags/tag4.xml><?xml version="1.0" encoding="utf-8"?>
<p:tagLst xmlns:p="http://schemas.openxmlformats.org/presentationml/2006/main">
  <p:tag name="KSO_WM_DIAGRAM_VIRTUALLY_FRAME" val="{&quot;height&quot;:397.12503937007875,&quot;left&quot;:87.62503937007874,&quot;top&quot;:83.5,&quot;width&quot;:732.3249606299212}"/>
</p:tagLst>
</file>

<file path=ppt/tags/tag5.xml><?xml version="1.0" encoding="utf-8"?>
<p:tagLst xmlns:p="http://schemas.openxmlformats.org/presentationml/2006/main">
  <p:tag name="KSO_WM_DIAGRAM_VIRTUALLY_FRAME" val="{&quot;height&quot;:397.12503937007875,&quot;left&quot;:87.62503937007874,&quot;top&quot;:83.5,&quot;width&quot;:732.3249606299212}"/>
</p:tagLst>
</file>

<file path=ppt/tags/tag6.xml><?xml version="1.0" encoding="utf-8"?>
<p:tagLst xmlns:p="http://schemas.openxmlformats.org/presentationml/2006/main">
  <p:tag name="KSO_WM_DIAGRAM_VIRTUALLY_FRAME" val="{&quot;height&quot;:397.12503937007875,&quot;left&quot;:87.62503937007874,&quot;top&quot;:83.5,&quot;width&quot;:732.3249606299212}"/>
</p:tagLst>
</file>

<file path=ppt/tags/tag7.xml><?xml version="1.0" encoding="utf-8"?>
<p:tagLst xmlns:p="http://schemas.openxmlformats.org/presentationml/2006/main">
  <p:tag name="KSO_WM_DIAGRAM_VIRTUALLY_FRAME" val="{&quot;height&quot;:397.12503937007875,&quot;left&quot;:87.62503937007874,&quot;top&quot;:83.5,&quot;width&quot;:732.3249606299212}"/>
</p:tagLst>
</file>

<file path=ppt/tags/tag8.xml><?xml version="1.0" encoding="utf-8"?>
<p:tagLst xmlns:p="http://schemas.openxmlformats.org/presentationml/2006/main">
  <p:tag name="KSO_WM_DIAGRAM_VIRTUALLY_FRAME" val="{&quot;height&quot;:397.12503937007875,&quot;left&quot;:87.62503937007874,&quot;top&quot;:83.5,&quot;width&quot;:732.3249606299212}"/>
</p:tagLst>
</file>

<file path=ppt/tags/tag9.xml><?xml version="1.0" encoding="utf-8"?>
<p:tagLst xmlns:p="http://schemas.openxmlformats.org/presentationml/2006/main">
  <p:tag name="KSO_WM_DIAGRAM_VIRTUALLY_FRAME" val="{&quot;height&quot;:397.12503937007875,&quot;left&quot;:87.62503937007874,&quot;top&quot;:83.5,&quot;width&quot;:732.3249606299212}"/>
</p:tagLst>
</file>

<file path=ppt/tags/tag10.xml><?xml version="1.0" encoding="utf-8"?>
<p:tagLst xmlns:p="http://schemas.openxmlformats.org/presentationml/2006/main">
  <p:tag name="KSO_WM_DIAGRAM_VIRTUALLY_FRAME" val="{&quot;height&quot;:397.12503937007875,&quot;left&quot;:87.62503937007874,&quot;top&quot;:83.5,&quot;width&quot;:732.3249606299212}"/>
</p:tagLst>
</file>

<file path=ppt/tags/tag11.xml><?xml version="1.0" encoding="utf-8"?>
<p:tagLst xmlns:p="http://schemas.openxmlformats.org/presentationml/2006/main">
  <p:tag name="KSO_WM_DIAGRAM_VIRTUALLY_FRAME" val="{&quot;height&quot;:397.12503937007875,&quot;left&quot;:87.62503937007874,&quot;top&quot;:83.5,&quot;width&quot;:732.3249606299212}"/>
</p:tagLst>
</file>

<file path=ppt/tags/tag12.xml><?xml version="1.0" encoding="utf-8"?>
<p:tagLst xmlns:p="http://schemas.openxmlformats.org/presentationml/2006/main">
  <p:tag name="KSO_WM_DIAGRAM_VIRTUALLY_FRAME" val="{&quot;height&quot;:397.12503937007875,&quot;left&quot;:87.62503937007874,&quot;top&quot;:83.5,&quot;width&quot;:732.3249606299212}"/>
</p:tagLst>
</file>

<file path=ppt/tags/tag13.xml><?xml version="1.0" encoding="utf-8"?>
<p:tagLst xmlns:p="http://schemas.openxmlformats.org/presentationml/2006/main">
  <p:tag name="KSO_WM_DIAGRAM_VIRTUALLY_FRAME" val="{&quot;height&quot;:397.12503937007875,&quot;left&quot;:87.62503937007874,&quot;top&quot;:83.5,&quot;width&quot;:732.3249606299212}"/>
</p:tagLst>
</file>

<file path=ppt/tags/tag14.xml><?xml version="1.0" encoding="utf-8"?>
<p:tagLst xmlns:p="http://schemas.openxmlformats.org/presentationml/2006/main">
  <p:tag name="KSO_WM_DIAGRAM_VIRTUALLY_FRAME" val="{&quot;height&quot;:397.12503937007875,&quot;left&quot;:87.62503937007874,&quot;top&quot;:83.5,&quot;width&quot;:732.3249606299212}"/>
</p:tagLst>
</file>

<file path=ppt/tags/tag15.xml><?xml version="1.0" encoding="utf-8"?>
<p:tagLst xmlns:p="http://schemas.openxmlformats.org/presentationml/2006/main">
  <p:tag name="KSO_WM_DIAGRAM_VIRTUALLY_FRAME" val="{&quot;height&quot;:397.12503937007875,&quot;left&quot;:87.62503937007874,&quot;top&quot;:83.5,&quot;width&quot;:732.3249606299212}"/>
</p:tagLst>
</file>

<file path=ppt/tags/tag16.xml><?xml version="1.0" encoding="utf-8"?>
<p:tagLst xmlns:p="http://schemas.openxmlformats.org/presentationml/2006/main">
  <p:tag name="KSO_WM_DIAGRAM_VIRTUALLY_FRAME" val="{&quot;height&quot;:397.12503937007875,&quot;left&quot;:87.62503937007874,&quot;top&quot;:83.5,&quot;width&quot;:732.3249606299212}"/>
</p:tagLst>
</file>

<file path=ppt/tags/tag17.xml><?xml version="1.0" encoding="utf-8"?>
<p:tagLst xmlns:p="http://schemas.openxmlformats.org/presentationml/2006/main">
  <p:tag name="KSO_WM_DIAGRAM_VIRTUALLY_FRAME" val="{&quot;height&quot;:397.12503937007875,&quot;left&quot;:87.62503937007874,&quot;top&quot;:83.5,&quot;width&quot;:732.3249606299212}"/>
</p:tagLst>
</file>

<file path=ppt/tags/tag18.xml><?xml version="1.0" encoding="utf-8"?>
<p:tagLst xmlns:p="http://schemas.openxmlformats.org/presentationml/2006/main">
  <p:tag name="KSO_WM_DIAGRAM_VIRTUALLY_FRAME" val="{&quot;height&quot;:397.12503937007875,&quot;left&quot;:87.62503937007874,&quot;top&quot;:83.5,&quot;width&quot;:732.3249606299212}"/>
</p:tagLst>
</file>

<file path=ppt/tags/tag19.xml><?xml version="1.0" encoding="utf-8"?>
<p:tagLst xmlns:p="http://schemas.openxmlformats.org/presentationml/2006/main">
  <p:tag name="KSO_WM_DIAGRAM_VIRTUALLY_FRAME" val="{&quot;height&quot;:397.12503937007875,&quot;left&quot;:87.62503937007874,&quot;top&quot;:83.5,&quot;width&quot;:732.3249606299212}"/>
</p:tagLst>
</file>

<file path=ppt/tags/tag20.xml><?xml version="1.0" encoding="utf-8"?>
<p:tagLst xmlns:p="http://schemas.openxmlformats.org/presentationml/2006/main">
  <p:tag name="KSO_WM_DIAGRAM_VIRTUALLY_FRAME" val="{&quot;height&quot;:397.12503937007875,&quot;left&quot;:87.62503937007874,&quot;top&quot;:83.5,&quot;width&quot;:732.3249606299212}"/>
</p:tagLst>
</file>

<file path=ppt/theme/theme1.xml><?xml version="1.0" encoding="utf-8"?>
<a:theme xmlns:a="http://schemas.openxmlformats.org/drawingml/2006/main" name="1">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2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2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
      <a:dk1>
        <a:srgbClr val="004C54"/>
      </a:dk1>
      <a:lt1>
        <a:srgbClr val="009EB0"/>
      </a:lt1>
      <a:dk2>
        <a:srgbClr val="DDDDDD"/>
      </a:dk2>
      <a:lt2>
        <a:srgbClr val="808080"/>
      </a:lt2>
      <a:accent1>
        <a:srgbClr val="292929"/>
      </a:accent1>
      <a:accent2>
        <a:srgbClr val="FFFFFF"/>
      </a:accent2>
      <a:accent3>
        <a:srgbClr val="AACCD4"/>
      </a:accent3>
      <a:accent4>
        <a:srgbClr val="004046"/>
      </a:accent4>
      <a:accent5>
        <a:srgbClr val="ACACAC"/>
      </a:accent5>
      <a:accent6>
        <a:srgbClr val="E7E7E7"/>
      </a:accent6>
      <a:hlink>
        <a:srgbClr val="B3B3B3"/>
      </a:hlink>
      <a:folHlink>
        <a:srgbClr val="404040"/>
      </a:folHlink>
    </a:clrScheme>
    <a:fontScheme name="3_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3_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3786</Words>
  <Application>WPS 演示</Application>
  <PresentationFormat>自定义</PresentationFormat>
  <Paragraphs>214</Paragraphs>
  <Slides>33</Slides>
  <Notes>2</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33</vt:i4>
      </vt:variant>
    </vt:vector>
  </HeadingPairs>
  <TitlesOfParts>
    <vt:vector size="46" baseType="lpstr">
      <vt:lpstr>Arial</vt:lpstr>
      <vt:lpstr>宋体</vt:lpstr>
      <vt:lpstr>Wingdings</vt:lpstr>
      <vt:lpstr>微软雅黑</vt:lpstr>
      <vt:lpstr>仿宋_GB2312</vt:lpstr>
      <vt:lpstr>仿宋</vt:lpstr>
      <vt:lpstr>Calibri</vt:lpstr>
      <vt:lpstr>Arial Unicode MS</vt:lpstr>
      <vt:lpstr>Arial</vt:lpstr>
      <vt:lpstr>Open Sans</vt:lpstr>
      <vt:lpstr>Segoe Print</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
  <dc:description>1</dc:description>
  <dc:subject>1</dc:subject>
  <cp:lastModifiedBy>徐凯威</cp:lastModifiedBy>
  <cp:revision>211</cp:revision>
  <dcterms:created xsi:type="dcterms:W3CDTF">2013-01-25T01:44:00Z</dcterms:created>
  <dcterms:modified xsi:type="dcterms:W3CDTF">2026-03-20T07:26:27Z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69CBCD8D2E754818945E1A64E49CB25E_13</vt:lpwstr>
  </property>
</Properties>
</file>