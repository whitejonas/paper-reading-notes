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0"/>
  </p:handoutMasterIdLst>
  <p:sldIdLst>
    <p:sldId id="773" r:id="rId4"/>
    <p:sldId id="745" r:id="rId6"/>
    <p:sldId id="776" r:id="rId7"/>
    <p:sldId id="804" r:id="rId8"/>
    <p:sldId id="805" r:id="rId9"/>
    <p:sldId id="807" r:id="rId10"/>
    <p:sldId id="777" r:id="rId11"/>
    <p:sldId id="808" r:id="rId12"/>
    <p:sldId id="809" r:id="rId13"/>
    <p:sldId id="810" r:id="rId14"/>
    <p:sldId id="811" r:id="rId15"/>
    <p:sldId id="812" r:id="rId16"/>
    <p:sldId id="813" r:id="rId17"/>
    <p:sldId id="814" r:id="rId18"/>
    <p:sldId id="815" r:id="rId19"/>
    <p:sldId id="816" r:id="rId20"/>
    <p:sldId id="778" r:id="rId21"/>
    <p:sldId id="817" r:id="rId22"/>
    <p:sldId id="779" r:id="rId23"/>
    <p:sldId id="818" r:id="rId24"/>
    <p:sldId id="819" r:id="rId25"/>
    <p:sldId id="820" r:id="rId26"/>
    <p:sldId id="821" r:id="rId27"/>
    <p:sldId id="822" r:id="rId28"/>
    <p:sldId id="803" r:id="rId29"/>
  </p:sldIdLst>
  <p:sldSz cx="12196445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13E6A"/>
    <a:srgbClr val="006BBC"/>
    <a:srgbClr val="363636"/>
    <a:srgbClr val="FAFAFA"/>
    <a:srgbClr val="0F3D68"/>
    <a:srgbClr val="00336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77" autoAdjust="0"/>
    <p:restoredTop sz="94660"/>
  </p:normalViewPr>
  <p:slideViewPr>
    <p:cSldViewPr snapToObjects="1" showGuides="1">
      <p:cViewPr varScale="1">
        <p:scale>
          <a:sx n="88" d="100"/>
          <a:sy n="88" d="100"/>
        </p:scale>
        <p:origin x="120" y="360"/>
      </p:cViewPr>
      <p:guideLst>
        <p:guide orient="horz" pos="2159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pPr lvl="0"/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170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/>
          <a:lstStyle/>
          <a:p>
            <a:pPr lvl="0"/>
            <a:r>
              <a:rPr lang="zh-CN" altLang="en-US" dirty="0" smtClean="0"/>
              <a:t>亮亮图文旗舰店</a:t>
            </a:r>
            <a:endParaRPr lang="zh-CN" altLang="en-US" dirty="0" smtClean="0"/>
          </a:p>
          <a:p>
            <a:pPr lvl="0"/>
            <a:r>
              <a:rPr lang="en-US" altLang="zh-CN" dirty="0" smtClean="0"/>
              <a:t>https://liangliangtuwen.tmall.com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bg>
      <p:bgPr>
        <a:blipFill rotWithShape="0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3"/>
          <p:cNvPicPr>
            <a:picLocks noChangeAspect="1"/>
          </p:cNvPicPr>
          <p:nvPr userDrawn="1"/>
        </p:nvPicPr>
        <p:blipFill>
          <a:blip r:embed="rId3" cstate="print"/>
          <a:srcRect t="14301" b="13251"/>
          <a:stretch>
            <a:fillRect/>
          </a:stretch>
        </p:blipFill>
        <p:spPr>
          <a:xfrm>
            <a:off x="0" y="0"/>
            <a:ext cx="1219676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0"/>
            <a:ext cx="12196763" cy="6858000"/>
          </a:xfrm>
          <a:prstGeom prst="rect">
            <a:avLst/>
          </a:prstGeom>
          <a:solidFill>
            <a:srgbClr val="003366">
              <a:alpha val="8588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522913" y="0"/>
            <a:ext cx="66738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3"/>
          <p:cNvSpPr>
            <a:spLocks noChangeArrowheads="1"/>
          </p:cNvSpPr>
          <p:nvPr/>
        </p:nvSpPr>
        <p:spPr bwMode="auto">
          <a:xfrm>
            <a:off x="11582400" y="6381750"/>
            <a:ext cx="492125" cy="396875"/>
          </a:xfrm>
          <a:prstGeom prst="rect">
            <a:avLst/>
          </a:prstGeom>
          <a:solidFill>
            <a:srgbClr val="0F3D68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TextBox 4"/>
          <p:cNvSpPr txBox="1"/>
          <p:nvPr/>
        </p:nvSpPr>
        <p:spPr>
          <a:xfrm>
            <a:off x="11609388" y="6410325"/>
            <a:ext cx="436562" cy="3397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fld id="{9A0DB2DC-4C9A-4742-B13C-FB6460FD3503}" type="slidenum">
              <a:rPr lang="zh-CN" altLang="en-US" sz="16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6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2053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</p:txBody>
      </p:sp>
      <p:sp>
        <p:nvSpPr>
          <p:cNvPr id="2054" name="矩形 1"/>
          <p:cNvSpPr>
            <a:spLocks noChangeArrowheads="1"/>
          </p:cNvSpPr>
          <p:nvPr/>
        </p:nvSpPr>
        <p:spPr bwMode="auto">
          <a:xfrm>
            <a:off x="0" y="6713538"/>
            <a:ext cx="12196763" cy="144463"/>
          </a:xfrm>
          <a:prstGeom prst="rect">
            <a:avLst/>
          </a:prstGeom>
          <a:solidFill>
            <a:srgbClr val="0F3D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6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6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推理加速综述</a:t>
            </a:r>
            <a:endParaRPr lang="zh-CN" altLang="en-US" sz="6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</p:spTree>
  </p:cSld>
  <p:clrMapOvr>
    <a:masterClrMapping/>
  </p:clrMapOvr>
  <p:transition spd="slow" advTm="787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99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Freeform 11"/>
          <p:cNvSpPr>
            <a:spLocks noEditPoints="1"/>
          </p:cNvSpPr>
          <p:nvPr/>
        </p:nvSpPr>
        <p:spPr>
          <a:xfrm>
            <a:off x="5595938" y="936625"/>
            <a:ext cx="1152525" cy="1217613"/>
          </a:xfrm>
          <a:custGeom>
            <a:avLst/>
            <a:gdLst/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404" h="1483">
                <a:moveTo>
                  <a:pt x="308" y="0"/>
                </a:moveTo>
                <a:lnTo>
                  <a:pt x="877" y="0"/>
                </a:lnTo>
                <a:cubicBezTo>
                  <a:pt x="984" y="0"/>
                  <a:pt x="1072" y="88"/>
                  <a:pt x="1072" y="195"/>
                </a:cubicBezTo>
                <a:lnTo>
                  <a:pt x="1072" y="456"/>
                </a:lnTo>
                <a:cubicBezTo>
                  <a:pt x="1010" y="504"/>
                  <a:pt x="973" y="550"/>
                  <a:pt x="924" y="616"/>
                </a:cubicBezTo>
                <a:lnTo>
                  <a:pt x="924" y="195"/>
                </a:lnTo>
                <a:cubicBezTo>
                  <a:pt x="924" y="169"/>
                  <a:pt x="903" y="147"/>
                  <a:pt x="877" y="147"/>
                </a:cubicBezTo>
                <a:lnTo>
                  <a:pt x="426" y="147"/>
                </a:lnTo>
                <a:lnTo>
                  <a:pt x="426" y="354"/>
                </a:lnTo>
                <a:cubicBezTo>
                  <a:pt x="426" y="374"/>
                  <a:pt x="409" y="391"/>
                  <a:pt x="389" y="391"/>
                </a:cubicBezTo>
                <a:lnTo>
                  <a:pt x="148" y="391"/>
                </a:lnTo>
                <a:lnTo>
                  <a:pt x="148" y="1111"/>
                </a:lnTo>
                <a:cubicBezTo>
                  <a:pt x="148" y="1138"/>
                  <a:pt x="169" y="1159"/>
                  <a:pt x="196" y="1159"/>
                </a:cubicBezTo>
                <a:lnTo>
                  <a:pt x="647" y="1159"/>
                </a:lnTo>
                <a:cubicBezTo>
                  <a:pt x="632" y="1208"/>
                  <a:pt x="619" y="1257"/>
                  <a:pt x="610" y="1307"/>
                </a:cubicBezTo>
                <a:lnTo>
                  <a:pt x="196" y="1307"/>
                </a:lnTo>
                <a:cubicBezTo>
                  <a:pt x="88" y="1307"/>
                  <a:pt x="0" y="1219"/>
                  <a:pt x="0" y="1111"/>
                </a:cubicBezTo>
                <a:lnTo>
                  <a:pt x="0" y="308"/>
                </a:lnTo>
                <a:lnTo>
                  <a:pt x="308" y="0"/>
                </a:lnTo>
                <a:close/>
                <a:moveTo>
                  <a:pt x="1246" y="478"/>
                </a:moveTo>
                <a:cubicBezTo>
                  <a:pt x="1266" y="490"/>
                  <a:pt x="1279" y="509"/>
                  <a:pt x="1284" y="536"/>
                </a:cubicBezTo>
                <a:cubicBezTo>
                  <a:pt x="1322" y="546"/>
                  <a:pt x="1359" y="571"/>
                  <a:pt x="1386" y="619"/>
                </a:cubicBezTo>
                <a:cubicBezTo>
                  <a:pt x="1404" y="661"/>
                  <a:pt x="1397" y="720"/>
                  <a:pt x="1372" y="765"/>
                </a:cubicBezTo>
                <a:cubicBezTo>
                  <a:pt x="1330" y="843"/>
                  <a:pt x="1273" y="938"/>
                  <a:pt x="1222" y="1016"/>
                </a:cubicBezTo>
                <a:cubicBezTo>
                  <a:pt x="1190" y="1029"/>
                  <a:pt x="1196" y="961"/>
                  <a:pt x="1208" y="944"/>
                </a:cubicBezTo>
                <a:cubicBezTo>
                  <a:pt x="1249" y="882"/>
                  <a:pt x="1284" y="824"/>
                  <a:pt x="1317" y="713"/>
                </a:cubicBezTo>
                <a:cubicBezTo>
                  <a:pt x="1324" y="661"/>
                  <a:pt x="1300" y="637"/>
                  <a:pt x="1284" y="614"/>
                </a:cubicBezTo>
                <a:cubicBezTo>
                  <a:pt x="1283" y="618"/>
                  <a:pt x="1282" y="623"/>
                  <a:pt x="1281" y="628"/>
                </a:cubicBezTo>
                <a:cubicBezTo>
                  <a:pt x="1250" y="614"/>
                  <a:pt x="1220" y="599"/>
                  <a:pt x="1189" y="582"/>
                </a:cubicBezTo>
                <a:cubicBezTo>
                  <a:pt x="1158" y="565"/>
                  <a:pt x="1129" y="543"/>
                  <a:pt x="1099" y="523"/>
                </a:cubicBezTo>
                <a:cubicBezTo>
                  <a:pt x="1157" y="473"/>
                  <a:pt x="1207" y="456"/>
                  <a:pt x="1246" y="478"/>
                </a:cubicBezTo>
                <a:close/>
                <a:moveTo>
                  <a:pt x="1268" y="683"/>
                </a:moveTo>
                <a:cubicBezTo>
                  <a:pt x="1242" y="770"/>
                  <a:pt x="1192" y="879"/>
                  <a:pt x="1121" y="1002"/>
                </a:cubicBezTo>
                <a:cubicBezTo>
                  <a:pt x="1086" y="1064"/>
                  <a:pt x="1045" y="1123"/>
                  <a:pt x="1003" y="1178"/>
                </a:cubicBezTo>
                <a:cubicBezTo>
                  <a:pt x="964" y="1159"/>
                  <a:pt x="925" y="1138"/>
                  <a:pt x="885" y="1116"/>
                </a:cubicBezTo>
                <a:cubicBezTo>
                  <a:pt x="843" y="1094"/>
                  <a:pt x="804" y="1066"/>
                  <a:pt x="764" y="1039"/>
                </a:cubicBezTo>
                <a:cubicBezTo>
                  <a:pt x="790" y="976"/>
                  <a:pt x="821" y="911"/>
                  <a:pt x="857" y="849"/>
                </a:cubicBezTo>
                <a:cubicBezTo>
                  <a:pt x="927" y="727"/>
                  <a:pt x="996" y="628"/>
                  <a:pt x="1058" y="562"/>
                </a:cubicBezTo>
                <a:cubicBezTo>
                  <a:pt x="1091" y="584"/>
                  <a:pt x="1124" y="608"/>
                  <a:pt x="1159" y="628"/>
                </a:cubicBezTo>
                <a:cubicBezTo>
                  <a:pt x="1195" y="649"/>
                  <a:pt x="1232" y="664"/>
                  <a:pt x="1268" y="683"/>
                </a:cubicBezTo>
                <a:close/>
                <a:moveTo>
                  <a:pt x="968" y="1222"/>
                </a:moveTo>
                <a:cubicBezTo>
                  <a:pt x="839" y="1379"/>
                  <a:pt x="708" y="1483"/>
                  <a:pt x="678" y="1466"/>
                </a:cubicBezTo>
                <a:cubicBezTo>
                  <a:pt x="648" y="1448"/>
                  <a:pt x="672" y="1283"/>
                  <a:pt x="743" y="1092"/>
                </a:cubicBezTo>
                <a:cubicBezTo>
                  <a:pt x="779" y="1116"/>
                  <a:pt x="816" y="1140"/>
                  <a:pt x="854" y="1162"/>
                </a:cubicBezTo>
                <a:cubicBezTo>
                  <a:pt x="892" y="1184"/>
                  <a:pt x="930" y="1202"/>
                  <a:pt x="968" y="1222"/>
                </a:cubicBezTo>
                <a:close/>
                <a:moveTo>
                  <a:pt x="508" y="258"/>
                </a:moveTo>
                <a:lnTo>
                  <a:pt x="833" y="258"/>
                </a:lnTo>
                <a:lnTo>
                  <a:pt x="833" y="333"/>
                </a:lnTo>
                <a:lnTo>
                  <a:pt x="508" y="333"/>
                </a:lnTo>
                <a:lnTo>
                  <a:pt x="508" y="258"/>
                </a:lnTo>
                <a:close/>
                <a:moveTo>
                  <a:pt x="256" y="756"/>
                </a:moveTo>
                <a:lnTo>
                  <a:pt x="446" y="756"/>
                </a:lnTo>
                <a:lnTo>
                  <a:pt x="446" y="831"/>
                </a:lnTo>
                <a:lnTo>
                  <a:pt x="256" y="831"/>
                </a:lnTo>
                <a:lnTo>
                  <a:pt x="256" y="756"/>
                </a:lnTo>
                <a:close/>
                <a:moveTo>
                  <a:pt x="256" y="583"/>
                </a:moveTo>
                <a:lnTo>
                  <a:pt x="833" y="583"/>
                </a:lnTo>
                <a:lnTo>
                  <a:pt x="833" y="658"/>
                </a:lnTo>
                <a:lnTo>
                  <a:pt x="256" y="658"/>
                </a:lnTo>
                <a:lnTo>
                  <a:pt x="256" y="583"/>
                </a:lnTo>
                <a:close/>
                <a:moveTo>
                  <a:pt x="256" y="423"/>
                </a:moveTo>
                <a:lnTo>
                  <a:pt x="833" y="423"/>
                </a:lnTo>
                <a:lnTo>
                  <a:pt x="833" y="498"/>
                </a:lnTo>
                <a:lnTo>
                  <a:pt x="256" y="498"/>
                </a:lnTo>
                <a:lnTo>
                  <a:pt x="256" y="423"/>
                </a:lnTo>
                <a:close/>
                <a:moveTo>
                  <a:pt x="192" y="323"/>
                </a:moveTo>
                <a:lnTo>
                  <a:pt x="334" y="323"/>
                </a:lnTo>
                <a:cubicBezTo>
                  <a:pt x="347" y="323"/>
                  <a:pt x="359" y="312"/>
                  <a:pt x="359" y="299"/>
                </a:cubicBezTo>
                <a:lnTo>
                  <a:pt x="359" y="157"/>
                </a:lnTo>
                <a:lnTo>
                  <a:pt x="192" y="323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5" name="TextBox 77"/>
          <p:cNvSpPr txBox="1"/>
          <p:nvPr/>
        </p:nvSpPr>
        <p:spPr>
          <a:xfrm>
            <a:off x="4548505" y="3068955"/>
            <a:ext cx="33102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46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5" grpId="0"/>
      <p:bldP spid="102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222440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81965" y="813435"/>
            <a:ext cx="11163935" cy="1018540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= 让 LLM 不只回答一次,而是反复思考-行动-观察,直到把一个任务做完的程序</a:t>
            </a:r>
            <a:endParaRPr lang="zh-CN" altLang="en-US" sz="180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1965" y="1400810"/>
            <a:ext cx="7694295" cy="577532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 LLM 调用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spcBef>
                <a:spcPts val="800"/>
              </a:spcBef>
              <a:spcAft>
                <a:spcPts val="800"/>
              </a:spcAft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用户输入 prompt → 模型输出一段文字 → 结束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调用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用户给任务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→ 模型思考(LLM call 1)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决定调工具(tool call:搜索/查数据库/执行代码)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拿到工具返回结果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再思考(LLM call 2)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再调工具(tool call)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...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          → 直到判断任务完成 → 输出最终结果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8585" y="4484370"/>
            <a:ext cx="5676900" cy="12858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095" y="1485265"/>
            <a:ext cx="5100955" cy="140462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412940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的几种典型形态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-310515" y="2852420"/>
            <a:ext cx="11163935" cy="1018540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50000"/>
              </a:lnSpc>
              <a:buClrTx/>
              <a:buSzTx/>
              <a:buFontTx/>
            </a:pPr>
            <a:endParaRPr lang="en-US" altLang="zh-CN" sz="180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53440" y="925830"/>
          <a:ext cx="10488930" cy="4605655"/>
        </p:xfrm>
        <a:graphic>
          <a:graphicData uri="http://schemas.openxmlformats.org/drawingml/2006/table">
            <a:tbl>
              <a:tblPr/>
              <a:tblGrid>
                <a:gridCol w="3250565"/>
                <a:gridCol w="3281045"/>
                <a:gridCol w="3957320"/>
              </a:tblGrid>
              <a:tr h="6254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形态</a:t>
                      </a:r>
                      <a:endParaRPr lang="zh-CN" altLang="en-US" sz="16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典型例子</a:t>
                      </a:r>
                      <a:endParaRPr lang="zh-CN" altLang="en-US" sz="16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特点</a:t>
                      </a:r>
                      <a:endParaRPr lang="zh-CN" altLang="en-US" sz="16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ReAct(Reason+Act,推理+行动,单 Agent 循环)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LangChain、AutoGPT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一个 LLM反复思考→工具→观察,最经典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3060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多 Agent 协作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MetaGPT、AutoGen、CrewAI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多个 LLM 扮演不同角色互相对话(产品经理 / 程序员 / 测试)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54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DAG-style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LLMCompiler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先规划成函数调用图,再并发执行多个 tool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2933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Reasoning Agent(推理型 Agent)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OpenAI o1、DeepSeek R1、QwQ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思考过程本身就很长,不一定调外部工具,但内部 CoT(Chain-of-Thought,思维链) 可达数万 token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547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RAG Agent(检索增强型 Agent)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Perplexity、企业知识库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思考 + 检索 + 生成,本质是带工具(检索)的 Agent</a:t>
                      </a:r>
                      <a:endParaRPr lang="zh-CN" altLang="en-US" sz="16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1012825" y="176213"/>
            <a:ext cx="531876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调用的区别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91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-310515" y="2852420"/>
            <a:ext cx="11163935" cy="1018540"/>
          </a:xfrm>
          <a:prstGeom prst="rect">
            <a:avLst/>
          </a:prstGeom>
        </p:spPr>
        <p:txBody>
          <a:bodyPr wrap="square">
            <a:noAutofit/>
          </a:bodyPr>
          <a:p>
            <a:pPr marL="0" algn="l">
              <a:lnSpc>
                <a:spcPct val="150000"/>
              </a:lnSpc>
              <a:buClrTx/>
              <a:buSzTx/>
              <a:buFontTx/>
            </a:pPr>
            <a:endParaRPr lang="en-US" altLang="zh-CN" sz="180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53440" y="1111885"/>
          <a:ext cx="10488930" cy="3888740"/>
        </p:xfrm>
        <a:graphic>
          <a:graphicData uri="http://schemas.openxmlformats.org/drawingml/2006/table">
            <a:tbl>
              <a:tblPr/>
              <a:tblGrid>
                <a:gridCol w="1968500"/>
                <a:gridCol w="2650490"/>
                <a:gridCol w="5869940"/>
              </a:tblGrid>
              <a:tr h="654685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维度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普通 LLM 调用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Agent 调用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823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Prompt 谁写的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用户手写一句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框架自动动态拼接 </a:t>
                      </a: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Prompt</a:t>
                      </a: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，包含目标、工具列表、历史思考、工具返回结果、请继续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7595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输出怎么用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直接展示给用户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程序解析输出，而不是直接展示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输出通常是结构化格式（</a:t>
                      </a: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JSON）</a:t>
                      </a: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，如：</a:t>
                      </a:r>
                      <a:endParaRPr lang="en-US" altLang="zh-CN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{</a:t>
                      </a:r>
                      <a:endParaRPr lang="en-US" altLang="zh-CN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  action: search,</a:t>
                      </a:r>
                      <a:endParaRPr lang="en-US" altLang="zh-CN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  query: </a:t>
                      </a: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中国2024年</a:t>
                      </a: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GDP</a:t>
                      </a: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增长率,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  reason: </a:t>
                      </a: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需要查询最新的经济数据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altLang="zh-CN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}</a:t>
                      </a:r>
                      <a:endParaRPr lang="en-US" altLang="zh-CN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7823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何时停止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模型输出 EOS 就停止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程序主动判断，不完全由模型决定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zh-CN" altLang="en-US" sz="180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tool call就继续,输出final answer 才停,超过最大轮数强制终止</a:t>
                      </a:r>
                      <a:endParaRPr lang="zh-CN" altLang="en-US" sz="180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sz="1800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412" name="TextBox 77"/>
          <p:cNvSpPr txBox="1"/>
          <p:nvPr/>
        </p:nvSpPr>
        <p:spPr>
          <a:xfrm>
            <a:off x="4602163" y="2852738"/>
            <a:ext cx="3168650" cy="14452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目前存在的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3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2" name="Freeform 13"/>
          <p:cNvSpPr>
            <a:spLocks noEditPoints="1"/>
          </p:cNvSpPr>
          <p:nvPr/>
        </p:nvSpPr>
        <p:spPr>
          <a:xfrm>
            <a:off x="5441950" y="830263"/>
            <a:ext cx="1489075" cy="1398587"/>
          </a:xfrm>
          <a:custGeom>
            <a:avLst/>
            <a:gdLst/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ldLvl="0" animBg="1"/>
      <p:bldP spid="17412" grpId="0"/>
      <p:bldP spid="174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38847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—— trajectory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级队头阻塞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230" y="1052830"/>
            <a:ext cx="1060958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多轮交互：一次用户任务 = 多次 LLM 调用,trajectory 很长。FCFS 调度按请求排队会让短任务被长任务卡死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7230" y="2338070"/>
            <a:ext cx="10907395" cy="376872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vLLM 的 continuous batching 调度器看到的是一堆独立的 HTTP 请求,不知道哪些请求属于同一个任务的多步。它对一次请求的认知是: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进来 → prefill → decode → EOS → 结束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调度器无法区分: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这是一个刚来的 1-step 简单任务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(用户问天气,下一步就是 final answer)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还是一个已经跑到第 8 步、还要再跑 5 步的长任务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 FCFS(先来先服务)下,先到的长任务会一直排在前面,后到的短任务只能等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4285" y="3501390"/>
            <a:ext cx="5676900" cy="128587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6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847725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 ——trajectory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级队头阻塞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230" y="1052830"/>
            <a:ext cx="1060958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多轮交互：一次用户任务 = 多次 LLM 调用,trajectory 很长。FCFS 调度按请求排队会让短任务被长任务卡死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7230" y="2338070"/>
            <a:ext cx="10907395" cy="376872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35" y="2505075"/>
            <a:ext cx="10925175" cy="184785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19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——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工具阻塞 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230" y="1052830"/>
            <a:ext cx="1060958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call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后,要等外部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API/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数据库返回,这中间需要几秒到几十秒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7230" y="2338070"/>
            <a:ext cx="10907395" cy="376872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465" y="2132965"/>
            <a:ext cx="8562975" cy="348615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8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——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工具阻塞 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230" y="1052830"/>
            <a:ext cx="1060958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 </a:t>
            </a: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：释放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返回后下次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call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需要重新预填充整段历史。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后期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prompt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动辄几万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token,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重新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就浪费了几秒的算力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3141345"/>
            <a:ext cx="10636250" cy="138874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8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 ——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工具阻塞 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7230" y="1052830"/>
            <a:ext cx="1060958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 </a:t>
            </a: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保留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占着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不能释放，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算力闲置，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利用率降低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2565400"/>
            <a:ext cx="11058525" cy="254317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2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——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 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浪费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475" y="1038860"/>
            <a:ext cx="10609580" cy="4941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普通</a:t>
            </a: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LLM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：一次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chat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请求来了 → 算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→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边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decode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边用 →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EOS → KV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直接丢弃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457200" lvl="1" indent="45720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生命周期就是单次请求,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是纯粹的</a:t>
            </a:r>
            <a:r>
              <a:rPr 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中间变量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prompt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不是用户手写的一句话,而是框架自动拼出来的一大段: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trajectory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 5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要用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 1-4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KV(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同一历史的扩展)。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 90% 都是共享的,只有最后一段是新的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900" y="3068955"/>
            <a:ext cx="8763000" cy="164782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——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 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浪费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475" y="1038860"/>
            <a:ext cx="10609580" cy="4941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--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enable-prefix-caching (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RadixAttention)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确实做了一定复用,但两个限制让它在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场景效果不佳: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a)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只能复用前缀完全相同的部分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prompt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通常由很多模块拼起来，其中前几段可能高度相似，但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RAG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或工具结果会引入很多局部变化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755" y="3789045"/>
            <a:ext cx="7628255" cy="16649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69620" y="5733415"/>
            <a:ext cx="94024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传统 prefix cache 就只能复用前面的System + Tools + Few-shot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不能识别出 Chunk A、Chunk B、Chunk C 这些片段其实也都重复出现了</a:t>
            </a:r>
            <a:endParaRPr lang="en-US" altLang="zh-CN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 ——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 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浪费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475" y="1038860"/>
            <a:ext cx="10609580" cy="4941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--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enable-prefix-caching (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RadixAttention)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确实做了一定复用,但两个限制让它在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场景效果不佳: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b) prefix 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抖动严重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45720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trajectory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 5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想复用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 1-4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KV,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但中间隔着几秒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时间。这期间显存压力大,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cache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可能已经被释放,下次只能重新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prefill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4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27"/>
          <p:cNvSpPr txBox="1"/>
          <p:nvPr/>
        </p:nvSpPr>
        <p:spPr>
          <a:xfrm>
            <a:off x="1012825" y="176530"/>
            <a:ext cx="98863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 ——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依赖图复杂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13316" name="TextBox 3"/>
          <p:cNvSpPr txBox="1"/>
          <p:nvPr/>
        </p:nvSpPr>
        <p:spPr>
          <a:xfrm>
            <a:off x="1174750" y="-1179512"/>
            <a:ext cx="184150" cy="55403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5475" y="1038860"/>
            <a:ext cx="10609580" cy="4941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单 </a:t>
            </a: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(ReAct)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是单链: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step 1 → step 2 → step 3,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前一步必须出完才能启动后一步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 </a:t>
            </a:r>
            <a:r>
              <a:rPr lang="en-US" altLang="zh-CN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Agent </a:t>
            </a:r>
            <a:r>
              <a:rPr lang="zh-CN" altLang="en-US" sz="1800" b="0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系统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MetaGPT、AutoGen、CrewAI)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DAG(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有向无环图):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vLLM / TGI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这类引擎只接收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请求队列,每个请求是独立的。所以它看不出这三个请求是并发的、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Reviewer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在等谁、哪些请求共享同一段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</a:t>
            </a:r>
            <a:endParaRPr lang="en-US" altLang="zh-CN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本来 DAG 的最长路径是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Planner + 1 个 Worker + Reviewer ≈ 30s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实际跑成串行 → Planner + 3 个 Worker 串行 + Reviewer ≈ 70s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5700" y="2708910"/>
            <a:ext cx="6724650" cy="100965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20"/>
                            </p:stCondLst>
                            <p:childTnLst>
                              <p:par>
                                <p:cTn id="20" presetID="4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400" tmFilter="0,0; .5, 1; 1, 1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val 5"/>
          <p:cNvSpPr/>
          <p:nvPr/>
        </p:nvSpPr>
        <p:spPr>
          <a:xfrm>
            <a:off x="4062413" y="627063"/>
            <a:ext cx="4141787" cy="4144962"/>
          </a:xfrm>
          <a:prstGeom prst="ellipse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sz="1800" dirty="0">
              <a:solidFill>
                <a:srgbClr val="004C54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1" name="Line 12"/>
          <p:cNvSpPr/>
          <p:nvPr/>
        </p:nvSpPr>
        <p:spPr>
          <a:xfrm>
            <a:off x="4195763" y="2740025"/>
            <a:ext cx="3808412" cy="0"/>
          </a:xfrm>
          <a:prstGeom prst="line">
            <a:avLst/>
          </a:prstGeom>
          <a:ln w="1270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2" name="TextBox 77"/>
          <p:cNvSpPr txBox="1"/>
          <p:nvPr/>
        </p:nvSpPr>
        <p:spPr>
          <a:xfrm>
            <a:off x="4602163" y="2852738"/>
            <a:ext cx="3168650" cy="7683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优化方法</a:t>
            </a:r>
            <a:endParaRPr lang="zh-CN" altLang="en-US" sz="4400" b="1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3" name="Rectangle 14"/>
          <p:cNvSpPr/>
          <p:nvPr/>
        </p:nvSpPr>
        <p:spPr>
          <a:xfrm>
            <a:off x="5634038" y="2255838"/>
            <a:ext cx="930275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2600" dirty="0">
                <a:solidFill>
                  <a:srgbClr val="36363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600" dirty="0">
              <a:solidFill>
                <a:srgbClr val="36363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4" name="Freeform 12"/>
          <p:cNvSpPr>
            <a:spLocks noEditPoints="1"/>
          </p:cNvSpPr>
          <p:nvPr/>
        </p:nvSpPr>
        <p:spPr>
          <a:xfrm>
            <a:off x="5340350" y="798513"/>
            <a:ext cx="1517650" cy="14636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0" t="0" r="0" b="0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741" y="91674"/>
            <a:ext cx="2646380" cy="503185"/>
          </a:xfrm>
          <a:prstGeom prst="rect">
            <a:avLst/>
          </a:prstGeom>
        </p:spPr>
      </p:pic>
    </p:spTree>
  </p:cSld>
  <p:clrMapOvr>
    <a:masterClrMapping/>
  </p:clrMapOvr>
  <p:transition advTm="85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bldLvl="0" animBg="1"/>
      <p:bldP spid="22532" grpId="0"/>
      <p:bldP spid="225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420116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1: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Trajectory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01700" y="1125220"/>
            <a:ext cx="9896475" cy="3065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核心思路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：不再把调度单位看作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单次 LLM 请求，而是升级成一条完整的 Agent 执行轨迹（trajectory）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。调度器可以做出更聪明的决策，比如：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v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允许短轨迹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插队：如果后面来的轨迹很短，可以绕过正在排队的长轨迹先执行（类似 Shortest Remaining Processing Time 调度）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vl="1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为重要轨迹预留 GPU 时间片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：确保高 SLO 任务不被干扰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lvl="0"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在 tool 等待期间主动换出 KV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：把 GPU 腾给其他轨迹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27"/>
          <p:cNvSpPr txBox="1"/>
          <p:nvPr/>
        </p:nvSpPr>
        <p:spPr>
          <a:xfrm>
            <a:off x="1012825" y="176213"/>
            <a:ext cx="420116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1: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Trajectory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调度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39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901700" y="1125220"/>
            <a:ext cx="9896475" cy="3065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65150" y="1052830"/>
          <a:ext cx="10715625" cy="5344160"/>
        </p:xfrm>
        <a:graphic>
          <a:graphicData uri="http://schemas.openxmlformats.org/drawingml/2006/table">
            <a:tbl>
              <a:tblPr/>
              <a:tblGrid>
                <a:gridCol w="1421130"/>
                <a:gridCol w="2156460"/>
                <a:gridCol w="7138035"/>
              </a:tblGrid>
              <a:tr h="36957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论文</a:t>
                      </a:r>
                      <a:endParaRPr lang="zh-CN" altLang="en-US" sz="14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视角</a:t>
                      </a:r>
                      <a:endParaRPr lang="zh-CN" altLang="en-US" sz="14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核心贡献</a:t>
                      </a:r>
                      <a:endParaRPr lang="zh-CN" altLang="en-US" sz="140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484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Parrot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DAG-aware(有向无环图感知) 调度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用 Semantic Variable(语义变量) 把多个 LLM 请求还原成有数据流的 DAG(有向无环图),跨请求共享 prefix(前缀),优化的目标是"整条任务的端到端延迟"而不是单次请求的 TTFT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484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Conveyor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tool中断时调度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检测到 LLM 输出 tool call时主动决定是否换出 KV、是否调度其他请求,不再被动等 tool 返回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075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Autellix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Trajectory 调度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把 Agent 视作"通用程序",感知多轮依赖与 thinking-tool(思考-工具) 切换,以 trajectory为单位做 SRTF(Shortest Remaining Time First,剩余最短时间优先) 类调度,实测 4-15× 优于 vLLM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484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Tempo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应用感知调度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同一集群同时跑聊天/Agent/推理流多种负载时,按各自 SLO(服务等级目标) 做 Goodput(有效吞吐) 优化,避免互相干扰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9610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Concur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多 Agent 准入控制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在入口判断 Agent 是否值得跑(能否在 SLO 内完成),提前拒掉无效 Agent,避免占住 KV / 算力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893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Hive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多 Agent 横向扩展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算法层(Agent 数量)和任务层(每个 Agent 的请求)双层弹性扩缩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60755"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Mixture-of-Agents erving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MoA架构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i="0" dirty="0">
                          <a:solidFill>
                            <a:schemeClr val="accen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MoA 天然有 fan-out 拓扑,做 tree-routing(树形路由) + 依赖感知的 prefill-decode overlap(预填充-解码阶段重叠)</a:t>
                      </a:r>
                      <a:endParaRPr lang="zh-CN" altLang="en-US" sz="1400" b="0" i="0" dirty="0">
                        <a:solidFill>
                          <a:schemeClr val="accent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196840" y="-236855"/>
            <a:ext cx="406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70218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2: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 Call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阻塞 — 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不能空等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30605" y="1223010"/>
            <a:ext cx="10645140" cy="469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两个互补思路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时间维度：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执行与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推理时间重叠，不等待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完全返回，提前启动下一步推理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空间维度：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Tool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执行期间将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KV Cache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卸载到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CPU/SSD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，为其他请求腾出 </a:t>
            </a:r>
            <a:r>
              <a:rPr lang="en-US" altLang="zh-CN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GPU </a:t>
            </a: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显存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6235" y="3357245"/>
            <a:ext cx="9311640" cy="2094230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702183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2: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Tool Call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阻塞 — 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 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不能空等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2" name="文本框 1"/>
          <p:cNvSpPr txBox="1"/>
          <p:nvPr/>
        </p:nvSpPr>
        <p:spPr>
          <a:xfrm>
            <a:off x="841375" y="1485265"/>
            <a:ext cx="10645140" cy="4693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98182" y="1052830"/>
          <a:ext cx="10488930" cy="5019675"/>
        </p:xfrm>
        <a:graphic>
          <a:graphicData uri="http://schemas.openxmlformats.org/drawingml/2006/table">
            <a:tbl>
              <a:tblPr/>
              <a:tblGrid>
                <a:gridCol w="2401570"/>
                <a:gridCol w="5778500"/>
                <a:gridCol w="2308860"/>
              </a:tblGrid>
              <a:tr h="63055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思路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重叠方向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LLMCompiler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让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planner(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规划器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一次性产出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call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DAG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，看清哪些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之间无依赖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这些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直接并发执行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不串行排队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↔ tool(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工具间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并行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Conveyor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还在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decode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参数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(JSON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还没出完整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只要参数前缀已经够用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就让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partial execution(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部分执行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边输出边跑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decode ↔ tool(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解码与工具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重叠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APIServe / InferCept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等待期间把这条请求的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KV(Key-Value Cache,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键值缓存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换出到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CPU/SSD,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显存让给其他正在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decode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的请求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返回时再换回来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↔ GPU(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显存与算力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Parallel function calling(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并行函数调用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在模型训练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推理协议层支持一次输出多个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call,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客户端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SDK(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软件开发工具包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直接并发执行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已大规模落地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↔ tool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并行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工业落地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43414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</a:t>
            </a: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913765" y="1125220"/>
            <a:ext cx="10160635" cy="1188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把 KV 从缓存提升为可调度的变量,带 TTL(还能存放多久)、共享关系(哪些请求共享同一段)、复用模式(只能前缀复用还是任意位置)</a:t>
            </a: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3990" y="2925445"/>
            <a:ext cx="6724650" cy="183832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43414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</a:t>
            </a: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</a:t>
            </a:r>
            <a:r>
              <a:rPr lang="zh-CN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913765" y="1125220"/>
            <a:ext cx="8866505" cy="1178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53440" y="980440"/>
          <a:ext cx="10488930" cy="5287010"/>
        </p:xfrm>
        <a:graphic>
          <a:graphicData uri="http://schemas.openxmlformats.org/drawingml/2006/table">
            <a:tbl>
              <a:tblPr/>
              <a:tblGrid>
                <a:gridCol w="1838960"/>
                <a:gridCol w="2194560"/>
                <a:gridCol w="6455410"/>
              </a:tblGrid>
              <a:tr h="43053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视角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关键贡献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79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ChunkAttention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前缀感知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kernel(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算子内核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attention(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注意力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kernel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层就识别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哪些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是共享前缀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在高共享率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system prompt,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系统提示词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场景下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attention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提速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3.2-4.8×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8338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CacheBlend 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突破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只能前缀复用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限制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RAG(Retrieval-Augmented Generation,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检索增强生成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里多个独立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chunk(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分片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不是前缀关系也想复用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KV;CacheBlend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直接拼接独立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chunk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只对受拼接影响的关键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选择性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recompute(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重计算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避免全量重算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791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Tokencake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中心化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serving(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服务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抽象成一个独立服务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识别多个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Agent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实例间的共享段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按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还会被几次访问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多久后访问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分层管理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而不是按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LRU(Least Recently Used,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最近最少使用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5727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Continuum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TTL(Time To Live,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存活时间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×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调度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估计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TTL =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用户思考间隔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下一轮预计输出长度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据此决定保留还是换出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;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调度器据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TTL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排序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快被命中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优先留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GPU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31984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</a:t>
            </a: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：语义暴露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913765" y="1125220"/>
            <a:ext cx="9961245" cy="430403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核心思路:在前端 / 中间层把 Agent 的语义结构(DAG / Semantic Variable / primitive 节点)显式暴露给后端,让后端不再做盲调度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Parrot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把一个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应用看成数据流图，设置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Semantic Variable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（语义变量），一个由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生成、带有语义含义、未来可能被其他 </a:t>
            </a:r>
            <a:r>
              <a:rPr lang="en-US" altLang="zh-CN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LLM </a:t>
            </a:r>
            <a:r>
              <a:rPr lang="zh-CN" altLang="en-US" sz="1800" b="0" i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调用引用的变量</a:t>
            </a: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910" y="3717290"/>
            <a:ext cx="4848225" cy="1733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630" y="4005580"/>
            <a:ext cx="4048125" cy="866775"/>
          </a:xfrm>
          <a:prstGeom prst="rect">
            <a:avLst/>
          </a:prstGeom>
        </p:spPr>
      </p:pic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27"/>
          <p:cNvSpPr txBox="1"/>
          <p:nvPr/>
        </p:nvSpPr>
        <p:spPr>
          <a:xfrm>
            <a:off x="1012825" y="176213"/>
            <a:ext cx="3198495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</a:t>
            </a:r>
            <a:r>
              <a:rPr 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：语义暴露</a:t>
            </a:r>
            <a:endParaRPr lang="zh-CN" altLang="en-US" sz="3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3" name="Freeform 5"/>
          <p:cNvSpPr/>
          <p:nvPr/>
        </p:nvSpPr>
        <p:spPr>
          <a:xfrm>
            <a:off x="427038" y="220663"/>
            <a:ext cx="474662" cy="56038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1201420" y="1125220"/>
            <a:ext cx="9102725" cy="92075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150000"/>
              </a:lnSpc>
            </a:pPr>
            <a:endParaRPr lang="zh-CN" altLang="en-US" sz="1800" b="0" i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59130" y="1058545"/>
          <a:ext cx="10998200" cy="6109970"/>
        </p:xfrm>
        <a:graphic>
          <a:graphicData uri="http://schemas.openxmlformats.org/drawingml/2006/table">
            <a:tbl>
              <a:tblPr/>
              <a:tblGrid>
                <a:gridCol w="1938655"/>
                <a:gridCol w="4850765"/>
                <a:gridCol w="4208780"/>
              </a:tblGrid>
              <a:tr h="396875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论文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暴露什么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1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后端利用什么</a:t>
                      </a:r>
                      <a:endParaRPr lang="zh-CN" altLang="en-US" sz="1600" b="1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365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Parrot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引入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Semantic Variable(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语义变量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):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prompt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输入变量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输出变量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标记出来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变量之间形成数据流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后端能还原出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DAG(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有向无环图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做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DAG-aware batching(DAG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感知的批处理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、跨请求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共享、按整条任务延迟优化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Teola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把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RAG(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检索增强生成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)/Agent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流程拆到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primitive(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原语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粒度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(embedding/retrieval/prefill/decode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即嵌入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检索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预填充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解码 都是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DAG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的节点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算子粒度并行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(retrieval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还在跑时下一段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prefill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已经准备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KV)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ALTO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之间用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流式触发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一边出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token,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一边消费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流水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不必等上一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完全结束才启动下一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stage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LLMCompiler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Planner(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规划器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直接把任务编译成函数调用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DAG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独立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tool call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自动并发执行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无依赖的 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LLM call 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自动并行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99377" marR="99377" marT="46037" marB="46037" anchor="ctr" anchorCtr="0">
                    <a:lnL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380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 tmFilter="0,0; .5, 1; 1, 1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 txBox="1"/>
          <p:nvPr/>
        </p:nvSpPr>
        <p:spPr>
          <a:xfrm>
            <a:off x="769938" y="2311400"/>
            <a:ext cx="10728325" cy="817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60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感谢您的批评指正</a:t>
            </a:r>
            <a:endParaRPr lang="zh-CN" altLang="en-US" sz="6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81" name="Rectangle 5"/>
          <p:cNvSpPr/>
          <p:nvPr/>
        </p:nvSpPr>
        <p:spPr>
          <a:xfrm>
            <a:off x="34925" y="6745288"/>
            <a:ext cx="12196763" cy="412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6158" name="直接连接符 2"/>
          <p:cNvCxnSpPr/>
          <p:nvPr/>
        </p:nvCxnSpPr>
        <p:spPr>
          <a:xfrm>
            <a:off x="1201738" y="2159000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159" name="直接连接符 17"/>
          <p:cNvCxnSpPr/>
          <p:nvPr/>
        </p:nvCxnSpPr>
        <p:spPr>
          <a:xfrm>
            <a:off x="1201738" y="3284538"/>
            <a:ext cx="986472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345" y="943854"/>
            <a:ext cx="4220005" cy="802395"/>
          </a:xfrm>
          <a:prstGeom prst="rect">
            <a:avLst/>
          </a:prstGeom>
        </p:spPr>
      </p:pic>
    </p:spTree>
  </p:cSld>
  <p:clrMapOvr>
    <a:masterClrMapping/>
  </p:clrMapOvr>
  <p:transition spd="slow" advTm="7871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/>
      <p:bldP spid="7181" grpId="0" bldLvl="0" animBg="1"/>
    </p:bldLst>
  </p:timing>
</p:sld>
</file>

<file path=ppt/tags/tag1.xml><?xml version="1.0" encoding="utf-8"?>
<p:tagLst xmlns:p="http://schemas.openxmlformats.org/presentationml/2006/main">
  <p:tag name="TABLE_ENDDRAG_ORIGIN_RECT" val="825*359"/>
  <p:tag name="TABLE_ENDDRAG_RECT" val="67*96*825*359"/>
</p:tagLst>
</file>

<file path=ppt/tags/tag2.xml><?xml version="1.0" encoding="utf-8"?>
<p:tagLst xmlns:p="http://schemas.openxmlformats.org/presentationml/2006/main">
  <p:tag name="TABLE_ENDDRAG_ORIGIN_RECT" val="825*306"/>
  <p:tag name="TABLE_ENDDRAG_RECT" val="67*87*825*306"/>
</p:tagLst>
</file>

<file path=ppt/tags/tag3.xml><?xml version="1.0" encoding="utf-8"?>
<p:tagLst xmlns:p="http://schemas.openxmlformats.org/presentationml/2006/main">
  <p:tag name="TABLE_ENDDRAG_ORIGIN_RECT" val="843*420"/>
  <p:tag name="TABLE_ENDDRAG_RECT" val="44*82*843*420"/>
</p:tagLst>
</file>

<file path=ppt/tags/tag4.xml><?xml version="1.0" encoding="utf-8"?>
<p:tagLst xmlns:p="http://schemas.openxmlformats.org/presentationml/2006/main">
  <p:tag name="TABLE_ENDDRAG_ORIGIN_RECT" val="825*416"/>
  <p:tag name="TABLE_ENDDRAG_RECT" val="67*77*825*416"/>
</p:tagLst>
</file>

<file path=ppt/tags/tag5.xml><?xml version="1.0" encoding="utf-8"?>
<p:tagLst xmlns:p="http://schemas.openxmlformats.org/presentationml/2006/main">
  <p:tag name="TABLE_ENDDRAG_ORIGIN_RECT" val="866*392"/>
  <p:tag name="TABLE_ENDDRAG_RECT" val="51*83*866*392"/>
</p:tagLst>
</file>

<file path=ppt/theme/theme1.xml><?xml version="1.0" encoding="utf-8"?>
<a:theme xmlns:a="http://schemas.openxmlformats.org/drawingml/2006/main" name="1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3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5606</Words>
  <Application>WPS 演示</Application>
  <PresentationFormat>自定义</PresentationFormat>
  <Paragraphs>352</Paragraphs>
  <Slides>25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仿宋_GB2312</vt:lpstr>
      <vt:lpstr>仿宋</vt:lpstr>
      <vt:lpstr>Calibri</vt:lpstr>
      <vt:lpstr>Arial Unicode MS</vt:lpstr>
      <vt:lpstr>仿宋_GB2312</vt:lpstr>
      <vt:lpstr>方正仿宋_GB2312</vt:lpstr>
      <vt:lpstr>Open Sans</vt:lpstr>
      <vt:lpstr>Segoe Print</vt:lpstr>
      <vt:lpstr>var(--monospace)</vt:lpstr>
      <vt:lpstr>Arial</vt:lpstr>
      <vt:lpstr>Open Sans</vt:lpstr>
      <vt:lpstr>1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/>
  <dc:description>1</dc:description>
  <dc:subject>1</dc:subject>
  <cp:lastModifiedBy>徐凯威</cp:lastModifiedBy>
  <cp:revision>195</cp:revision>
  <dcterms:created xsi:type="dcterms:W3CDTF">2013-01-25T01:44:00Z</dcterms:created>
  <dcterms:modified xsi:type="dcterms:W3CDTF">2026-05-29T08:15:08Z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C75DC27D5F4A46AA97CAB8A8D8E1FFFB_13</vt:lpwstr>
  </property>
</Properties>
</file>