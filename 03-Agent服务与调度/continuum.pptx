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773" r:id="rId4"/>
    <p:sldId id="815" r:id="rId6"/>
    <p:sldId id="745" r:id="rId7"/>
    <p:sldId id="776" r:id="rId8"/>
    <p:sldId id="816" r:id="rId9"/>
    <p:sldId id="817" r:id="rId10"/>
    <p:sldId id="818" r:id="rId11"/>
    <p:sldId id="783" r:id="rId12"/>
    <p:sldId id="777" r:id="rId13"/>
    <p:sldId id="819" r:id="rId14"/>
    <p:sldId id="820" r:id="rId15"/>
    <p:sldId id="821" r:id="rId16"/>
    <p:sldId id="822" r:id="rId17"/>
    <p:sldId id="823" r:id="rId18"/>
    <p:sldId id="824" r:id="rId19"/>
    <p:sldId id="825" r:id="rId20"/>
    <p:sldId id="827" r:id="rId21"/>
    <p:sldId id="789" r:id="rId22"/>
    <p:sldId id="778" r:id="rId23"/>
    <p:sldId id="829" r:id="rId24"/>
    <p:sldId id="830" r:id="rId25"/>
    <p:sldId id="831" r:id="rId26"/>
    <p:sldId id="832" r:id="rId27"/>
    <p:sldId id="833" r:id="rId28"/>
    <p:sldId id="840" r:id="rId29"/>
    <p:sldId id="794" r:id="rId30"/>
    <p:sldId id="790" r:id="rId31"/>
    <p:sldId id="806" r:id="rId32"/>
    <p:sldId id="804" r:id="rId33"/>
    <p:sldId id="791" r:id="rId34"/>
    <p:sldId id="807" r:id="rId35"/>
    <p:sldId id="808" r:id="rId36"/>
    <p:sldId id="809" r:id="rId37"/>
    <p:sldId id="810" r:id="rId38"/>
    <p:sldId id="811" r:id="rId39"/>
    <p:sldId id="812" r:id="rId40"/>
    <p:sldId id="813" r:id="rId41"/>
    <p:sldId id="814" r:id="rId42"/>
    <p:sldId id="796" r:id="rId43"/>
    <p:sldId id="834" r:id="rId44"/>
    <p:sldId id="835" r:id="rId45"/>
    <p:sldId id="836" r:id="rId46"/>
    <p:sldId id="837" r:id="rId47"/>
    <p:sldId id="838" r:id="rId48"/>
    <p:sldId id="839" r:id="rId49"/>
    <p:sldId id="803" r:id="rId50"/>
  </p:sldIdLst>
  <p:sldSz cx="12196445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113E6A"/>
    <a:srgbClr val="006BBC"/>
    <a:srgbClr val="363636"/>
    <a:srgbClr val="FAFAFA"/>
    <a:srgbClr val="0F3D68"/>
    <a:srgbClr val="003366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77" autoAdjust="0"/>
    <p:restoredTop sz="94660"/>
  </p:normalViewPr>
  <p:slideViewPr>
    <p:cSldViewPr snapToObjects="1" showGuides="1">
      <p:cViewPr varScale="1">
        <p:scale>
          <a:sx n="88" d="100"/>
          <a:sy n="88" d="100"/>
        </p:scale>
        <p:origin x="120" y="360"/>
      </p:cViewPr>
      <p:guideLst>
        <p:guide orient="horz" pos="2202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17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r>
              <a:rPr lang="zh-CN" altLang="en-US" dirty="0" smtClean="0"/>
              <a:t>亮亮图文旗舰店</a:t>
            </a:r>
            <a:endParaRPr lang="zh-CN" altLang="en-US" dirty="0" smtClean="0"/>
          </a:p>
          <a:p>
            <a:pPr lvl="0"/>
            <a:r>
              <a:rPr lang="en-US" altLang="zh-CN" dirty="0" smtClean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17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r>
              <a:rPr lang="zh-CN" altLang="en-US" dirty="0" smtClean="0"/>
              <a:t>亮亮图文旗舰店</a:t>
            </a:r>
            <a:endParaRPr lang="zh-CN" altLang="en-US" dirty="0" smtClean="0"/>
          </a:p>
          <a:p>
            <a:pPr lvl="0"/>
            <a:r>
              <a:rPr lang="en-US" altLang="zh-CN" dirty="0" smtClean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17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r>
              <a:rPr lang="zh-CN" altLang="en-US" dirty="0" smtClean="0"/>
              <a:t>亮亮图文旗舰店</a:t>
            </a:r>
            <a:endParaRPr lang="zh-CN" altLang="en-US" dirty="0" smtClean="0"/>
          </a:p>
          <a:p>
            <a:pPr lvl="0"/>
            <a:r>
              <a:rPr lang="en-US" altLang="zh-CN" dirty="0" smtClean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3" cstate="print"/>
          <a:srcRect t="14301" b="13251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0"/>
            <a:ext cx="12196763" cy="6858000"/>
          </a:xfrm>
          <a:prstGeom prst="rect">
            <a:avLst/>
          </a:prstGeom>
          <a:solidFill>
            <a:srgbClr val="003366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>
            <a:picLocks noChangeAspect="1"/>
          </p:cNvPicPr>
          <p:nvPr userDrawn="1"/>
        </p:nvPicPr>
        <p:blipFill>
          <a:blip r:embed="rId3" cstate="print"/>
          <a:srcRect t="14301" b="13251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0"/>
            <a:ext cx="12196763" cy="6858000"/>
          </a:xfrm>
          <a:prstGeom prst="rect">
            <a:avLst/>
          </a:prstGeom>
          <a:solidFill>
            <a:srgbClr val="003366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522913" y="0"/>
            <a:ext cx="667385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>
            <a:spLocks noChangeArrowheads="1"/>
          </p:cNvSpPr>
          <p:nvPr/>
        </p:nvSpPr>
        <p:spPr bwMode="auto">
          <a:xfrm>
            <a:off x="11582400" y="6381750"/>
            <a:ext cx="492125" cy="396875"/>
          </a:xfrm>
          <a:prstGeom prst="rect">
            <a:avLst/>
          </a:prstGeom>
          <a:solidFill>
            <a:srgbClr val="0F3D68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TextBox 4"/>
          <p:cNvSpPr txBox="1"/>
          <p:nvPr/>
        </p:nvSpPr>
        <p:spPr>
          <a:xfrm>
            <a:off x="11609388" y="6410325"/>
            <a:ext cx="436562" cy="3397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6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3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</p:txBody>
      </p:sp>
      <p:sp>
        <p:nvSpPr>
          <p:cNvPr id="2054" name="矩形 1"/>
          <p:cNvSpPr>
            <a:spLocks noChangeArrowheads="1"/>
          </p:cNvSpPr>
          <p:nvPr/>
        </p:nvSpPr>
        <p:spPr bwMode="auto">
          <a:xfrm>
            <a:off x="0" y="6713538"/>
            <a:ext cx="12196763" cy="144463"/>
          </a:xfrm>
          <a:prstGeom prst="rect">
            <a:avLst/>
          </a:prstGeom>
          <a:solidFill>
            <a:srgbClr val="0F3D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7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 txBox="1"/>
          <p:nvPr/>
        </p:nvSpPr>
        <p:spPr>
          <a:xfrm>
            <a:off x="769938" y="2311400"/>
            <a:ext cx="10728325" cy="817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Continuum: Efficient and Robust Multi-Turn LLM Agent Scheduling with KV Cache Time-to-Live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81" name="Rectangle 5"/>
          <p:cNvSpPr/>
          <p:nvPr/>
        </p:nvSpPr>
        <p:spPr>
          <a:xfrm>
            <a:off x="34925" y="6745288"/>
            <a:ext cx="12196763" cy="412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158" name="直接连接符 2"/>
          <p:cNvCxnSpPr/>
          <p:nvPr/>
        </p:nvCxnSpPr>
        <p:spPr>
          <a:xfrm>
            <a:off x="1201738" y="2159000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159" name="直接连接符 17"/>
          <p:cNvCxnSpPr/>
          <p:nvPr/>
        </p:nvCxnSpPr>
        <p:spPr>
          <a:xfrm>
            <a:off x="1201738" y="3284538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45" y="943854"/>
            <a:ext cx="4220005" cy="8023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5675" y="3440430"/>
            <a:ext cx="10550525" cy="1128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Continuum：基于 KV Cache TTL 机制的高效鲁棒多轮 LLM Agent 调度</a:t>
            </a:r>
            <a:endParaRPr lang="en-US" altLang="zh-CN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26600" y="4293235"/>
            <a:ext cx="2085975" cy="447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2"/>
                </a:solidFill>
              </a:rPr>
              <a:t> ICLR 2025</a:t>
            </a:r>
            <a:endParaRPr lang="en-US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 advTm="787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899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8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 txBox="1"/>
          <p:nvPr/>
        </p:nvSpPr>
        <p:spPr>
          <a:xfrm>
            <a:off x="769938" y="2311400"/>
            <a:ext cx="10728325" cy="817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Continuum: Efficient and Robust Multi-Turn LLM Agent Scheduling with KV Cache Time-to-Live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81" name="Rectangle 5"/>
          <p:cNvSpPr/>
          <p:nvPr/>
        </p:nvSpPr>
        <p:spPr>
          <a:xfrm>
            <a:off x="34925" y="6745288"/>
            <a:ext cx="12196763" cy="412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158" name="直接连接符 2"/>
          <p:cNvCxnSpPr/>
          <p:nvPr/>
        </p:nvCxnSpPr>
        <p:spPr>
          <a:xfrm>
            <a:off x="1201738" y="2159000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159" name="直接连接符 17"/>
          <p:cNvCxnSpPr/>
          <p:nvPr/>
        </p:nvCxnSpPr>
        <p:spPr>
          <a:xfrm>
            <a:off x="1201738" y="3284538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45" y="943854"/>
            <a:ext cx="4220005" cy="8023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55675" y="3440430"/>
            <a:ext cx="10550525" cy="1128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Continuum：基于 KV Cache TTL 机制的高效鲁棒多轮 LLM Agent 调度</a:t>
            </a:r>
            <a:endParaRPr lang="en-US" altLang="zh-CN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26600" y="4293235"/>
            <a:ext cx="2085975" cy="447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1800">
              <a:solidFill>
                <a:schemeClr val="accent2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445" y="4220845"/>
            <a:ext cx="8642985" cy="841375"/>
          </a:xfrm>
          <a:prstGeom prst="rect">
            <a:avLst/>
          </a:prstGeom>
        </p:spPr>
      </p:pic>
    </p:spTree>
  </p:cSld>
  <p:clrMapOvr>
    <a:masterClrMapping/>
  </p:clrMapOvr>
  <p:transition spd="slow" advTm="787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899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8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5"/>
          <p:cNvSpPr/>
          <p:nvPr/>
        </p:nvSpPr>
        <p:spPr>
          <a:xfrm>
            <a:off x="4062413" y="627063"/>
            <a:ext cx="4141787" cy="4144962"/>
          </a:xfrm>
          <a:prstGeom prst="ellipse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Freeform 11"/>
          <p:cNvSpPr>
            <a:spLocks noEditPoints="1"/>
          </p:cNvSpPr>
          <p:nvPr/>
        </p:nvSpPr>
        <p:spPr>
          <a:xfrm>
            <a:off x="5595938" y="936625"/>
            <a:ext cx="1152525" cy="121761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404" h="1483">
                <a:moveTo>
                  <a:pt x="308" y="0"/>
                </a:moveTo>
                <a:lnTo>
                  <a:pt x="877" y="0"/>
                </a:lnTo>
                <a:cubicBezTo>
                  <a:pt x="984" y="0"/>
                  <a:pt x="1072" y="88"/>
                  <a:pt x="1072" y="195"/>
                </a:cubicBezTo>
                <a:lnTo>
                  <a:pt x="1072" y="456"/>
                </a:lnTo>
                <a:cubicBezTo>
                  <a:pt x="1010" y="504"/>
                  <a:pt x="973" y="550"/>
                  <a:pt x="924" y="616"/>
                </a:cubicBezTo>
                <a:lnTo>
                  <a:pt x="924" y="195"/>
                </a:lnTo>
                <a:cubicBezTo>
                  <a:pt x="924" y="169"/>
                  <a:pt x="903" y="147"/>
                  <a:pt x="877" y="147"/>
                </a:cubicBezTo>
                <a:lnTo>
                  <a:pt x="426" y="147"/>
                </a:lnTo>
                <a:lnTo>
                  <a:pt x="426" y="354"/>
                </a:lnTo>
                <a:cubicBezTo>
                  <a:pt x="426" y="374"/>
                  <a:pt x="409" y="391"/>
                  <a:pt x="389" y="391"/>
                </a:cubicBezTo>
                <a:lnTo>
                  <a:pt x="148" y="391"/>
                </a:lnTo>
                <a:lnTo>
                  <a:pt x="148" y="1111"/>
                </a:lnTo>
                <a:cubicBezTo>
                  <a:pt x="148" y="1138"/>
                  <a:pt x="169" y="1159"/>
                  <a:pt x="196" y="1159"/>
                </a:cubicBezTo>
                <a:lnTo>
                  <a:pt x="647" y="1159"/>
                </a:lnTo>
                <a:cubicBezTo>
                  <a:pt x="632" y="1208"/>
                  <a:pt x="619" y="1257"/>
                  <a:pt x="610" y="1307"/>
                </a:cubicBezTo>
                <a:lnTo>
                  <a:pt x="196" y="1307"/>
                </a:lnTo>
                <a:cubicBezTo>
                  <a:pt x="88" y="1307"/>
                  <a:pt x="0" y="1219"/>
                  <a:pt x="0" y="1111"/>
                </a:cubicBezTo>
                <a:lnTo>
                  <a:pt x="0" y="308"/>
                </a:lnTo>
                <a:lnTo>
                  <a:pt x="308" y="0"/>
                </a:lnTo>
                <a:close/>
                <a:moveTo>
                  <a:pt x="1246" y="478"/>
                </a:moveTo>
                <a:cubicBezTo>
                  <a:pt x="1266" y="490"/>
                  <a:pt x="1279" y="509"/>
                  <a:pt x="1284" y="536"/>
                </a:cubicBezTo>
                <a:cubicBezTo>
                  <a:pt x="1322" y="546"/>
                  <a:pt x="1359" y="571"/>
                  <a:pt x="1386" y="619"/>
                </a:cubicBezTo>
                <a:cubicBezTo>
                  <a:pt x="1404" y="661"/>
                  <a:pt x="1397" y="720"/>
                  <a:pt x="1372" y="765"/>
                </a:cubicBezTo>
                <a:cubicBezTo>
                  <a:pt x="1330" y="843"/>
                  <a:pt x="1273" y="938"/>
                  <a:pt x="1222" y="1016"/>
                </a:cubicBezTo>
                <a:cubicBezTo>
                  <a:pt x="1190" y="1029"/>
                  <a:pt x="1196" y="961"/>
                  <a:pt x="1208" y="944"/>
                </a:cubicBezTo>
                <a:cubicBezTo>
                  <a:pt x="1249" y="882"/>
                  <a:pt x="1284" y="824"/>
                  <a:pt x="1317" y="713"/>
                </a:cubicBezTo>
                <a:cubicBezTo>
                  <a:pt x="1324" y="661"/>
                  <a:pt x="1300" y="637"/>
                  <a:pt x="1284" y="614"/>
                </a:cubicBezTo>
                <a:cubicBezTo>
                  <a:pt x="1283" y="618"/>
                  <a:pt x="1282" y="623"/>
                  <a:pt x="1281" y="628"/>
                </a:cubicBezTo>
                <a:cubicBezTo>
                  <a:pt x="1250" y="614"/>
                  <a:pt x="1220" y="599"/>
                  <a:pt x="1189" y="582"/>
                </a:cubicBezTo>
                <a:cubicBezTo>
                  <a:pt x="1158" y="565"/>
                  <a:pt x="1129" y="543"/>
                  <a:pt x="1099" y="523"/>
                </a:cubicBezTo>
                <a:cubicBezTo>
                  <a:pt x="1157" y="473"/>
                  <a:pt x="1207" y="456"/>
                  <a:pt x="1246" y="478"/>
                </a:cubicBezTo>
                <a:close/>
                <a:moveTo>
                  <a:pt x="1268" y="683"/>
                </a:moveTo>
                <a:cubicBezTo>
                  <a:pt x="1242" y="770"/>
                  <a:pt x="1192" y="879"/>
                  <a:pt x="1121" y="1002"/>
                </a:cubicBezTo>
                <a:cubicBezTo>
                  <a:pt x="1086" y="1064"/>
                  <a:pt x="1045" y="1123"/>
                  <a:pt x="1003" y="1178"/>
                </a:cubicBezTo>
                <a:cubicBezTo>
                  <a:pt x="964" y="1159"/>
                  <a:pt x="925" y="1138"/>
                  <a:pt x="885" y="1116"/>
                </a:cubicBezTo>
                <a:cubicBezTo>
                  <a:pt x="843" y="1094"/>
                  <a:pt x="804" y="1066"/>
                  <a:pt x="764" y="1039"/>
                </a:cubicBezTo>
                <a:cubicBezTo>
                  <a:pt x="790" y="976"/>
                  <a:pt x="821" y="911"/>
                  <a:pt x="857" y="849"/>
                </a:cubicBezTo>
                <a:cubicBezTo>
                  <a:pt x="927" y="727"/>
                  <a:pt x="996" y="628"/>
                  <a:pt x="1058" y="562"/>
                </a:cubicBezTo>
                <a:cubicBezTo>
                  <a:pt x="1091" y="584"/>
                  <a:pt x="1124" y="608"/>
                  <a:pt x="1159" y="628"/>
                </a:cubicBezTo>
                <a:cubicBezTo>
                  <a:pt x="1195" y="649"/>
                  <a:pt x="1232" y="664"/>
                  <a:pt x="1268" y="683"/>
                </a:cubicBezTo>
                <a:close/>
                <a:moveTo>
                  <a:pt x="968" y="1222"/>
                </a:moveTo>
                <a:cubicBezTo>
                  <a:pt x="839" y="1379"/>
                  <a:pt x="708" y="1483"/>
                  <a:pt x="678" y="1466"/>
                </a:cubicBezTo>
                <a:cubicBezTo>
                  <a:pt x="648" y="1448"/>
                  <a:pt x="672" y="1283"/>
                  <a:pt x="743" y="1092"/>
                </a:cubicBezTo>
                <a:cubicBezTo>
                  <a:pt x="779" y="1116"/>
                  <a:pt x="816" y="1140"/>
                  <a:pt x="854" y="1162"/>
                </a:cubicBezTo>
                <a:cubicBezTo>
                  <a:pt x="892" y="1184"/>
                  <a:pt x="930" y="1202"/>
                  <a:pt x="968" y="1222"/>
                </a:cubicBezTo>
                <a:close/>
                <a:moveTo>
                  <a:pt x="508" y="258"/>
                </a:moveTo>
                <a:lnTo>
                  <a:pt x="833" y="258"/>
                </a:lnTo>
                <a:lnTo>
                  <a:pt x="833" y="333"/>
                </a:lnTo>
                <a:lnTo>
                  <a:pt x="508" y="333"/>
                </a:lnTo>
                <a:lnTo>
                  <a:pt x="508" y="258"/>
                </a:lnTo>
                <a:close/>
                <a:moveTo>
                  <a:pt x="256" y="756"/>
                </a:moveTo>
                <a:lnTo>
                  <a:pt x="446" y="756"/>
                </a:lnTo>
                <a:lnTo>
                  <a:pt x="446" y="831"/>
                </a:lnTo>
                <a:lnTo>
                  <a:pt x="256" y="831"/>
                </a:lnTo>
                <a:lnTo>
                  <a:pt x="256" y="756"/>
                </a:lnTo>
                <a:close/>
                <a:moveTo>
                  <a:pt x="256" y="583"/>
                </a:moveTo>
                <a:lnTo>
                  <a:pt x="833" y="583"/>
                </a:lnTo>
                <a:lnTo>
                  <a:pt x="833" y="658"/>
                </a:lnTo>
                <a:lnTo>
                  <a:pt x="256" y="658"/>
                </a:lnTo>
                <a:lnTo>
                  <a:pt x="256" y="583"/>
                </a:lnTo>
                <a:close/>
                <a:moveTo>
                  <a:pt x="256" y="423"/>
                </a:moveTo>
                <a:lnTo>
                  <a:pt x="833" y="423"/>
                </a:lnTo>
                <a:lnTo>
                  <a:pt x="833" y="498"/>
                </a:lnTo>
                <a:lnTo>
                  <a:pt x="256" y="498"/>
                </a:lnTo>
                <a:lnTo>
                  <a:pt x="256" y="423"/>
                </a:lnTo>
                <a:close/>
                <a:moveTo>
                  <a:pt x="192" y="323"/>
                </a:moveTo>
                <a:lnTo>
                  <a:pt x="334" y="323"/>
                </a:lnTo>
                <a:cubicBezTo>
                  <a:pt x="347" y="323"/>
                  <a:pt x="359" y="312"/>
                  <a:pt x="359" y="299"/>
                </a:cubicBezTo>
                <a:lnTo>
                  <a:pt x="359" y="157"/>
                </a:lnTo>
                <a:lnTo>
                  <a:pt x="192" y="323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44" name="Line 12"/>
          <p:cNvSpPr/>
          <p:nvPr/>
        </p:nvSpPr>
        <p:spPr>
          <a:xfrm>
            <a:off x="4195763" y="2740025"/>
            <a:ext cx="3808412" cy="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5" name="TextBox 77"/>
          <p:cNvSpPr txBox="1"/>
          <p:nvPr/>
        </p:nvSpPr>
        <p:spPr>
          <a:xfrm>
            <a:off x="4548188" y="3068638"/>
            <a:ext cx="3168650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</a:t>
            </a:r>
            <a:endParaRPr lang="zh-CN" altLang="en-US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Rectangle 14"/>
          <p:cNvSpPr/>
          <p:nvPr/>
        </p:nvSpPr>
        <p:spPr>
          <a:xfrm>
            <a:off x="5634038" y="2255838"/>
            <a:ext cx="930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lang="zh-CN" altLang="en-US" sz="2600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41" y="91674"/>
            <a:ext cx="2646380" cy="503185"/>
          </a:xfrm>
          <a:prstGeom prst="rect">
            <a:avLst/>
          </a:prstGeom>
        </p:spPr>
      </p:pic>
    </p:spTree>
  </p:cSld>
  <p:clrMapOvr>
    <a:masterClrMapping/>
  </p:clrMapOvr>
  <p:transition advTm="8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45" grpId="0"/>
      <p:bldP spid="102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01065" y="1124585"/>
            <a:ext cx="5951855" cy="2548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管理对高效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推理很关键。现有推理引擎通常会在请求完成后立即逐出其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cache，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以提高显存利用率。但在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agentic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负载中，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调用与工具调用交错进行，工具调用造成的短暂停顿会打断多轮之间的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复用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5364" name="Picture 2" descr="F:\快盘\商务图片\png\2531170_084420255000_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26375" y="1268730"/>
            <a:ext cx="3575050" cy="4467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901065" y="1124585"/>
            <a:ext cx="5951855" cy="2548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由于许多工具调用耗时较短，保留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可能是一种更优的方案。不过，这需要考虑重计算或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offload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重加载成本，以及逐出带来的排队延迟。并且需要在工具调用时长难以准确预测的情况下保持鲁棒性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5364" name="Picture 2" descr="F:\快盘\商务图片\png\2531170_084420255000_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26375" y="1268730"/>
            <a:ext cx="3575050" cy="4467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837565" y="1093470"/>
            <a:ext cx="6099810" cy="4088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我们提出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Continuum，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一个面向多轮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负载、以最小化作业完成时间（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JCT）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为目标的服务系统，引入了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TTL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机制来保留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对于会触发工具调用的请求，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选择性地把它的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钉（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pin）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显存中，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TTL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过期，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可以被自动逐出以释放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显存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再结合任务级先来先服务调度策略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保持了多轮请求的连续性，降低了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agentic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工作流的整体延迟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5364" name="Picture 2" descr="F:\快盘\商务图片\png\2531170_084420255000_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26375" y="1268730"/>
            <a:ext cx="3575050" cy="4467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摘要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837565" y="1093470"/>
            <a:ext cx="6099810" cy="4088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我们在真实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agent（SWE-Bench、BFCL、OpenHand）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以及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Llama-3.1 8B/70B、Gemma-3 12B、GLM-4.5 355B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上的评测显示：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把平均作业完成时间提升了 8× 以上，同时还提升了吞吐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5364" name="Picture 2" descr="F:\快盘\商务图片\png\2531170_084420255000_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826375" y="1268730"/>
            <a:ext cx="3575050" cy="4467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5"/>
          <p:cNvSpPr/>
          <p:nvPr/>
        </p:nvSpPr>
        <p:spPr>
          <a:xfrm>
            <a:off x="4062413" y="627063"/>
            <a:ext cx="4141787" cy="4144962"/>
          </a:xfrm>
          <a:prstGeom prst="ellipse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solidFill>
                <a:srgbClr val="004C5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Line 12"/>
          <p:cNvSpPr/>
          <p:nvPr/>
        </p:nvSpPr>
        <p:spPr>
          <a:xfrm>
            <a:off x="4195763" y="2740025"/>
            <a:ext cx="3808412" cy="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412" name="TextBox 77"/>
          <p:cNvSpPr txBox="1"/>
          <p:nvPr/>
        </p:nvSpPr>
        <p:spPr>
          <a:xfrm>
            <a:off x="4602163" y="2852738"/>
            <a:ext cx="3168650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zh-CN" altLang="en-US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3" name="Rectangle 14"/>
          <p:cNvSpPr/>
          <p:nvPr/>
        </p:nvSpPr>
        <p:spPr>
          <a:xfrm>
            <a:off x="5634038" y="2255838"/>
            <a:ext cx="930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600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2" name="Freeform 13"/>
          <p:cNvSpPr>
            <a:spLocks noEditPoints="1"/>
          </p:cNvSpPr>
          <p:nvPr/>
        </p:nvSpPr>
        <p:spPr>
          <a:xfrm>
            <a:off x="5441950" y="830263"/>
            <a:ext cx="1489075" cy="139858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41" y="91674"/>
            <a:ext cx="2646380" cy="503185"/>
          </a:xfrm>
          <a:prstGeom prst="rect">
            <a:avLst/>
          </a:prstGeom>
        </p:spPr>
      </p:pic>
    </p:spTree>
  </p:cSld>
  <p:clrMapOvr>
    <a:masterClrMapping/>
  </p:clrMapOvr>
  <p:transition advTm="8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  <p:bldP spid="17412" grpId="0"/>
      <p:bldP spid="174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2825" y="981075"/>
            <a:ext cx="9175115" cy="138557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现代 agentic 负载大多遵循 ReAct-agent 循环：交替执行 (1) 推理步——LLM 解读上下文并输出思考；(2) 动作步——LLM 调用外部工具。这一范式已成为事实上的标准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610" y="2277110"/>
            <a:ext cx="8695690" cy="19697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95070" y="4468495"/>
            <a:ext cx="8950960" cy="1560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agentic 应用越来越倾向于把这个循环 scale 到长程多轮——在数十乃至数百轮中反复交错"思考、工具调用、上下文更新"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284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现有方法的局限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5520" y="1071245"/>
            <a:ext cx="10042525" cy="451993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先前工作未能很好地处理这种新兴的复杂负载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一类工作在预定义、静态的计算图上调度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agentic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工作流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Parrot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Semantic Variable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把应用级上下文暴露给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服务，让引擎能跨连续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请求，推断数据依赖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它</a:t>
            </a:r>
            <a:r>
              <a:rPr 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们的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共同局限在于它们都假设静态或确定性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DAG，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无法应对像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ReAct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这样在运行时才确定依赖图的动态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负载，使它们无法对实践中各式各样的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进行优化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9675" y="4077335"/>
            <a:ext cx="8950960" cy="1560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39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284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现有方法的局限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5520" y="828675"/>
            <a:ext cx="10042525" cy="476250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先前工作未能很好地处理这种新兴的复杂负载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一类工作未考虑工具调用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Autellix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提出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Program-Level Attained Service（PLAS）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调度，优先调度累积服务时间更少的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agentic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程序。而我们关注的特别是多轮、含可变工具调用的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agentic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负载。这些工作没有考虑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agentic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负载中工具调用的独特特性，尤其是其时长波动以及对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管理的影响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9675" y="4077335"/>
            <a:ext cx="8950960" cy="1560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39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284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现有方法的局限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5520" y="801370"/>
            <a:ext cx="10042525" cy="478980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保留策略不足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InferCept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引入了一个把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在工具调用间钉住的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preserve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操作，但忽略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KV cache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在一轮间被逐出后，回来的请求每轮都要承担额外排队时间，多轮场景下这种排队时间会累积，且它的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preserve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操作是固定的，无法实时适配工具使用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9675" y="4077335"/>
            <a:ext cx="8950960" cy="1560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134745" y="2575560"/>
          <a:ext cx="9899015" cy="3091180"/>
        </p:xfrm>
        <a:graphic>
          <a:graphicData uri="http://schemas.openxmlformats.org/drawingml/2006/table">
            <a:tbl>
              <a:tblPr/>
              <a:tblGrid>
                <a:gridCol w="1623060"/>
                <a:gridCol w="2407920"/>
                <a:gridCol w="3230245"/>
                <a:gridCol w="2637790"/>
              </a:tblGrid>
              <a:tr h="64008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方法</a:t>
                      </a:r>
                      <a:endParaRPr lang="zh-CN" altLang="en-US" sz="18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是否保留 KV Cache</a:t>
                      </a:r>
                      <a:endParaRPr lang="zh-CN" altLang="en-US" sz="18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是否纳入 per-turn 排队延迟</a:t>
                      </a:r>
                      <a:endParaRPr lang="zh-CN" altLang="en-US" sz="18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是否对保留时长设上界</a:t>
                      </a:r>
                      <a:endParaRPr lang="zh-CN" altLang="en-US" sz="18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02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vLLM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02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Autellix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02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Pie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✓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02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InferCept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✓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×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02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Continuum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✓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✓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✓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39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3765" y="836930"/>
            <a:ext cx="10148570" cy="4184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分析了 100 条 mini-swe-agent 在 SWE-Bench 上的 trace 和 100 条 BFCL V4 Web Search 的 trace，两者都用 GPT-5 作为基模型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轮次很多：这种新型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agentic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程序的轮次往往很多，给调度增加了额外难度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工具调用：时长分布多样，但很多很短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2145" y="3068955"/>
            <a:ext cx="7686675" cy="144780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3765" y="836930"/>
            <a:ext cx="10148570" cy="4184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越接近完成，剩余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token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越少。这意味着越靠后的轮次预期完成时间越短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这暗示：优先调度更早到来（任务级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FCFS）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或者已经执行了更多轮的请求，可以作为对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SRTF（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最短剩余时间优先）策略的良好近似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但当涉及工具调用时，要维护这种顺序较为困难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610" y="2853055"/>
            <a:ext cx="8942705" cy="300545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3765" y="836930"/>
            <a:ext cx="10148570" cy="4184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现有系统如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vLLM、SGLang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通常在一次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decoding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结束后就认为请求完成，并立即逐出该请求的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但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的一次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decoding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结束，往往不代表整个程序结束，而可能是等待工具返回，因此第二次调用它需要重新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prefill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8090" y="2493010"/>
            <a:ext cx="6831330" cy="374967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3765" y="836930"/>
            <a:ext cx="10148570" cy="4184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在等待工具调用期间，调度器为了提高吞吐，可能把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显存让给其他请求，导致当前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被移出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。工具返回后，这个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不是马上继续执行，而是要重新进入调度队列，排在其他正在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prefill / decoding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的请求后面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900" y="2708910"/>
            <a:ext cx="7877175" cy="294322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213"/>
            <a:ext cx="944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3765" y="836930"/>
            <a:ext cx="10584180" cy="4184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现有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preserve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策略通常假设工具调用时长可预测，或者直接把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钉住直到下一轮请求回来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但现实中，工具调用时长波动很大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3945" y="2061210"/>
            <a:ext cx="7858125" cy="316230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Oval 5"/>
          <p:cNvSpPr/>
          <p:nvPr/>
        </p:nvSpPr>
        <p:spPr>
          <a:xfrm>
            <a:off x="4062413" y="627063"/>
            <a:ext cx="4141787" cy="4144962"/>
          </a:xfrm>
          <a:prstGeom prst="ellipse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solidFill>
                <a:srgbClr val="004C5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Line 12"/>
          <p:cNvSpPr/>
          <p:nvPr/>
        </p:nvSpPr>
        <p:spPr>
          <a:xfrm>
            <a:off x="4195763" y="2740025"/>
            <a:ext cx="3808412" cy="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2" name="TextBox 77"/>
          <p:cNvSpPr txBox="1"/>
          <p:nvPr/>
        </p:nvSpPr>
        <p:spPr>
          <a:xfrm>
            <a:off x="4602163" y="2852738"/>
            <a:ext cx="3168650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endParaRPr lang="zh-CN" altLang="en-US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3" name="Rectangle 14"/>
          <p:cNvSpPr/>
          <p:nvPr/>
        </p:nvSpPr>
        <p:spPr>
          <a:xfrm>
            <a:off x="5634038" y="2255838"/>
            <a:ext cx="930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600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4" name="Freeform 12"/>
          <p:cNvSpPr>
            <a:spLocks noEditPoints="1"/>
          </p:cNvSpPr>
          <p:nvPr/>
        </p:nvSpPr>
        <p:spPr>
          <a:xfrm>
            <a:off x="5340350" y="798513"/>
            <a:ext cx="1517650" cy="14636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41" y="91674"/>
            <a:ext cx="2646380" cy="503185"/>
          </a:xfrm>
          <a:prstGeom prst="rect">
            <a:avLst/>
          </a:prstGeom>
        </p:spPr>
      </p:pic>
    </p:spTree>
  </p:cSld>
  <p:clrMapOvr>
    <a:masterClrMapping/>
  </p:clrMapOvr>
  <p:transition advTm="8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22532" grpId="0"/>
      <p:bldP spid="225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02055" y="1124585"/>
            <a:ext cx="10019030" cy="170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借鉴传统系统中的 TTL（Time-to-Live） 思想：为每个请求的 KV cache 设一个 TTL 值，定义其在 GPU 显存中可保留的最长时间，在保留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带来的收益和代价之间做权衡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2145" y="3140710"/>
            <a:ext cx="8516620" cy="213423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262445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的代价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1202055" y="980440"/>
            <a:ext cx="10019030" cy="1703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钉住请求 r 的 KV cache τ 秒，会占用 GPU 显存，导致其他请求无法使用这部分资源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4080" y="1916430"/>
            <a:ext cx="4770755" cy="1226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180" y="3716655"/>
            <a:ext cx="5552440" cy="215709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262445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的收益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1202055" y="980440"/>
            <a:ext cx="10019030" cy="4486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保留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的收益来自请求在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TTL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内返回时，可以避免两类开销：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CacheMissCost：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避免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reload / prefill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OutofOrderCost：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避免工具返回后重新排队造成的等待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900" y="2060575"/>
            <a:ext cx="7880985" cy="85915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262445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的收益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1202055" y="980440"/>
            <a:ext cx="10019030" cy="4486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重新加载或重新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prefill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的成本估计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越大，重建影响越大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prefill / reload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时间越长，成本越高。其中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Prefill-Reload(r)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由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profiling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得到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归一化成“影响多少个平均请求”的时间成本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710" y="1772920"/>
            <a:ext cx="8698865" cy="146304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262445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的收益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1202055" y="980440"/>
            <a:ext cx="10019030" cy="4486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重新</a:t>
            </a:r>
            <a:r>
              <a:rPr 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排队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的成本估计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855" y="1701165"/>
            <a:ext cx="8760460" cy="1431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790" y="3587115"/>
            <a:ext cx="3704590" cy="187960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213169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的设置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202055" y="2780665"/>
            <a:ext cx="5166360" cy="1431925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lnSpc>
                <a:spcPct val="150000"/>
              </a:lnSpc>
              <a:spcBef>
                <a:spcPts val="400"/>
              </a:spcBef>
              <a:buClrTx/>
              <a:buSzTx/>
              <a:buFont typeface="Arial" panose="020B0604020202020204"/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610" y="1988820"/>
            <a:ext cx="8963660" cy="9505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45565" y="1124585"/>
            <a:ext cx="9975215" cy="4713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预期净收益</a:t>
            </a:r>
            <a:endParaRPr lang="en-US" altLang="zh-CN"/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预期净收益 = 工具在 τ 内返回的概率 × 保留 KV 的收益 - 保留 τ 秒的显存代价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P(τ,f)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通过统计工具的历史耗时，得到工具耗时分布的经验累积分布函数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枚举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TTL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的候选值，计算每个候选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TTL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的预期净收益，选净收益最大的那个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TTL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调度优先级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202055" y="2780665"/>
            <a:ext cx="5166360" cy="1431925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lnSpc>
                <a:spcPct val="150000"/>
              </a:lnSpc>
              <a:spcBef>
                <a:spcPts val="400"/>
              </a:spcBef>
              <a:buClrTx/>
              <a:buSzTx/>
              <a:buFont typeface="Arial" panose="020B0604020202020204"/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2017" y="1124902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lnSpc>
                <a:spcPts val="168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的调度优先级是一个多级排序规则：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97865" y="1700530"/>
          <a:ext cx="11080750" cy="3746500"/>
        </p:xfrm>
        <a:graphic>
          <a:graphicData uri="http://schemas.openxmlformats.org/drawingml/2006/table">
            <a:tbl>
              <a:tblPr/>
              <a:tblGrid>
                <a:gridCol w="2801620"/>
                <a:gridCol w="4349115"/>
                <a:gridCol w="3930015"/>
              </a:tblGrid>
              <a:tr h="51498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优先级维度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排序规则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目的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662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抢占状态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已被抢占的请求优先于普通等待请求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保持与原推理引擎一致，避免被抢占请求长期等待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826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TTL 状态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 TTL 窗口内、KV cache 被保留的请求优先于未 pinned 的请求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尽快复用仍然有效的 KV cache，保持执行连续性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662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程序级到达顺序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同类请求按程序级到达时间排序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维持 FCFS 公平性，避免无序插队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Oval 5"/>
          <p:cNvSpPr/>
          <p:nvPr/>
        </p:nvSpPr>
        <p:spPr>
          <a:xfrm>
            <a:off x="4062413" y="627063"/>
            <a:ext cx="4141787" cy="4144962"/>
          </a:xfrm>
          <a:prstGeom prst="ellipse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solidFill>
                <a:srgbClr val="004C5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Line 12"/>
          <p:cNvSpPr/>
          <p:nvPr/>
        </p:nvSpPr>
        <p:spPr>
          <a:xfrm>
            <a:off x="4195763" y="2740025"/>
            <a:ext cx="3808412" cy="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628" name="TextBox 77"/>
          <p:cNvSpPr txBox="1"/>
          <p:nvPr/>
        </p:nvSpPr>
        <p:spPr>
          <a:xfrm>
            <a:off x="4602163" y="2852738"/>
            <a:ext cx="3168650" cy="14452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zh-CN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优点与</a:t>
            </a:r>
            <a:endParaRPr lang="zh-CN" altLang="zh-CN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zh-CN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不足之处</a:t>
            </a:r>
            <a:endParaRPr lang="zh-CN" altLang="zh-CN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9" name="Rectangle 14"/>
          <p:cNvSpPr/>
          <p:nvPr/>
        </p:nvSpPr>
        <p:spPr>
          <a:xfrm>
            <a:off x="5634038" y="2255838"/>
            <a:ext cx="930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600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0" name="Freeform 11"/>
          <p:cNvSpPr>
            <a:spLocks noEditPoints="1"/>
          </p:cNvSpPr>
          <p:nvPr/>
        </p:nvSpPr>
        <p:spPr>
          <a:xfrm>
            <a:off x="5354638" y="850900"/>
            <a:ext cx="1489075" cy="1287463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948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41" y="91674"/>
            <a:ext cx="2646380" cy="503185"/>
          </a:xfrm>
          <a:prstGeom prst="rect">
            <a:avLst/>
          </a:prstGeom>
        </p:spPr>
      </p:pic>
    </p:spTree>
  </p:cSld>
  <p:clrMapOvr>
    <a:masterClrMapping/>
  </p:clrMapOvr>
  <p:transition advTm="8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nimBg="1"/>
      <p:bldP spid="26628" grpId="0"/>
      <p:bldP spid="266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实验设置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01700" y="781050"/>
            <a:ext cx="9314815" cy="4497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模型与硬件：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Llama-3.1-8B、Llama-3.1-70B、Gemma-3-12B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GPU：A100-SXM、H100、B200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平台：Runpod、AWS、Tensormesh、自有服务器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实验设置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901700" y="781050"/>
            <a:ext cx="9314815" cy="4497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26110" y="924560"/>
          <a:ext cx="11322685" cy="4933950"/>
        </p:xfrm>
        <a:graphic>
          <a:graphicData uri="http://schemas.openxmlformats.org/drawingml/2006/table">
            <a:tbl>
              <a:tblPr/>
              <a:tblGrid>
                <a:gridCol w="2388235"/>
                <a:gridCol w="3051175"/>
                <a:gridCol w="5883275"/>
              </a:tblGrid>
              <a:tr h="68643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数据集 / 负载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类型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简介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924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SWE-Bench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代码修复 / 软件工程 Agent 任务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使用 mini-swe-agent 在 SWE-Bench 上运行，模拟真实软件工程问题求解过程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8902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BFCL V4 Web Search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函数调用 / 网页搜索 Agent 任务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来自 Berkeley Function Calling Leaderboard V4 的 Web Search 类别，Agent 通过网页浏览工具回答问题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924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OpenHands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开源编码 Agent / 多轮软件工程任务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使用流行开源编码 Agent OpenHands，运行官方仓库中针对 Go 语言的 multi-SWE-bench 示例，评估多轮真实编码 Agent 场景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实验设置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901700" y="781050"/>
            <a:ext cx="9314815" cy="4497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 altLang="en-US" sz="180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42010" y="836930"/>
          <a:ext cx="10899775" cy="5516245"/>
        </p:xfrm>
        <a:graphic>
          <a:graphicData uri="http://schemas.openxmlformats.org/drawingml/2006/table">
            <a:tbl>
              <a:tblPr/>
              <a:tblGrid>
                <a:gridCol w="2270125"/>
                <a:gridCol w="4160520"/>
                <a:gridCol w="4469130"/>
              </a:tblGrid>
              <a:tr h="415925"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基线方法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核心机制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简介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980"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Vanilla vLLM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默认 vLLM，chunk size 2048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基础推理服务对照组，不引入额外缓存或调度优化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345"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CPU DRAM Offload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LMCache 将 KV cache 卸载到 CPU DRAM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通过 CPU 内存扩展 KV cache 容量，缓解 GPU 显存压力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980"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Autellix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PLAS 调度算法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基于请求特征进行调度优化，提升长上下文请求处理效率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345"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Autellix+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Autellix + CPU offload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 Autellix 调度基础上叠加 CPU DRAM offload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980"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InferCept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preserve / swap / evict 策略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选择性保留、交换或驱逐 KV cache，降低缓存管理开销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345"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SGLang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cache-aware routing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开源分布式推理框架，支持缓存感知路由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8345"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NVIDIA Dynamo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1P1D，PD 解耦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 fontAlgn="base">
                        <a:lnSpc>
                          <a:spcPct val="100000"/>
                        </a:lnSpc>
                        <a:buClrTx/>
                        <a:buSzTx/>
                        <a:buNone/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NVIDIA 分布式推理系统，分离 prefill 与 decode 阶段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端到端实验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" y="980440"/>
            <a:ext cx="11273155" cy="38811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3720" y="5157470"/>
            <a:ext cx="104635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随着请求负载 JPS 增加，Continuum 的平均任务延迟明显低于 vLLM、Autellix+、InferCept，说明它在 Agent 场景下有更好的吞吐-延迟表现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端到端实验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53720" y="4580890"/>
            <a:ext cx="104635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在相同吞吐负载下显著降低 P90/P95 作业完成时间，尤其在高 JPS 场景下能有效缓解长尾延迟，表现出更好的稳定性和可扩展性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845" y="764540"/>
            <a:ext cx="6962775" cy="326707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端到端实验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129665" y="4580890"/>
            <a:ext cx="7293610" cy="1688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在整体上延迟较低，尤其优于 SGLang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的任务成功率与 SGLang 基本相当，明显高于 Dynamo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610" y="836930"/>
            <a:ext cx="9171940" cy="345440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敏感性分析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624840" y="4262755"/>
            <a:ext cx="11440795" cy="2006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在所有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max batch size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下，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的平均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Job Duration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都是最低的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对基线保持约 1.3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x–1.9x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的稳定优势，说明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的加速收益比较稳定，而不是只在某个单点配置上有效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改变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chunk size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仍然稳定优于所有基线，说明它的性能提升不依赖特定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chunk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196975"/>
            <a:ext cx="11338560" cy="261429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敏感性分析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624840" y="4897120"/>
            <a:ext cx="11440795" cy="1372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随着平均轮数从 10.9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turns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增加到 50.6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turns，Continuum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的平均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Job Duration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基本保持稳定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随着轮数增加，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的相对提升越明显，绝对延迟保持稳定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证明了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在复杂多轮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交互中具有很强的可扩展性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505" y="729615"/>
            <a:ext cx="7925435" cy="411670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敏感性分析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624840" y="4897120"/>
            <a:ext cx="11440795" cy="1749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SSD offload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提供更大空间但更慢加载，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当系统使用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SSD offload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扩展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/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中间状态存储时，不同系统在不同负载下的平均任务完成时间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可以稳定降低平均任务延迟，尤其在高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JPS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下优势明显，证明其调度机制能有效应对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SSD I/O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带来的额外开销和高负载下的资源竞争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900" y="1052830"/>
            <a:ext cx="8013065" cy="342201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敏感性分析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624840" y="4897120"/>
            <a:ext cx="11440795" cy="1749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Program-level FCFS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按程序到达时间排序而非请求；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Static TTL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用冷启动机制算出的固定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TTL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结果显示这些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idea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逐步累加，性能逐步提升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610" y="916940"/>
            <a:ext cx="9059545" cy="379285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敏感性分析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624840" y="4897120"/>
            <a:ext cx="11440795" cy="1749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我们的方法相比基线的额外调度开销在毫秒量级，远小于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推理的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执行时间，端到端性能提升远超过这些代价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2145" y="1340485"/>
            <a:ext cx="8277225" cy="321945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Box 27"/>
          <p:cNvSpPr txBox="1"/>
          <p:nvPr/>
        </p:nvSpPr>
        <p:spPr>
          <a:xfrm>
            <a:off x="1012825" y="176213"/>
            <a:ext cx="2087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敏感性分析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481965" y="3500755"/>
            <a:ext cx="11440795" cy="1749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OpenHands Agent + GLM-4.5-fp8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模型在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Multi-SWE bench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上做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rollout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生成，与并行工作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ThunderAgent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在每分钟推理步数上对比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Continuum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能更高效地并行推进软件工程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任务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1484630"/>
            <a:ext cx="11315700" cy="167640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Oval 5"/>
          <p:cNvSpPr/>
          <p:nvPr/>
        </p:nvSpPr>
        <p:spPr>
          <a:xfrm>
            <a:off x="4062413" y="627063"/>
            <a:ext cx="4141787" cy="4144962"/>
          </a:xfrm>
          <a:prstGeom prst="ellipse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solidFill>
                <a:srgbClr val="004C5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Line 12"/>
          <p:cNvSpPr/>
          <p:nvPr/>
        </p:nvSpPr>
        <p:spPr>
          <a:xfrm>
            <a:off x="4195763" y="2740025"/>
            <a:ext cx="3808412" cy="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24" name="TextBox 77"/>
          <p:cNvSpPr txBox="1"/>
          <p:nvPr/>
        </p:nvSpPr>
        <p:spPr>
          <a:xfrm>
            <a:off x="4602163" y="2852738"/>
            <a:ext cx="3168650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不足之处</a:t>
            </a:r>
            <a:endParaRPr lang="zh-CN" altLang="en-US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5" name="Rectangle 14"/>
          <p:cNvSpPr/>
          <p:nvPr/>
        </p:nvSpPr>
        <p:spPr>
          <a:xfrm>
            <a:off x="5634038" y="2255838"/>
            <a:ext cx="930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600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6" name="Freeform 28"/>
          <p:cNvSpPr>
            <a:spLocks noEditPoints="1"/>
          </p:cNvSpPr>
          <p:nvPr/>
        </p:nvSpPr>
        <p:spPr>
          <a:xfrm>
            <a:off x="5376863" y="850900"/>
            <a:ext cx="1511300" cy="1277938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41" y="91674"/>
            <a:ext cx="2646380" cy="503185"/>
          </a:xfrm>
          <a:prstGeom prst="rect">
            <a:avLst/>
          </a:prstGeom>
        </p:spPr>
      </p:pic>
    </p:spTree>
  </p:cSld>
  <p:clrMapOvr>
    <a:masterClrMapping/>
  </p:clrMapOvr>
  <p:transition advTm="8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  <p:bldP spid="30724" grpId="0"/>
      <p:bldP spid="307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不足之处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841375" y="1052830"/>
            <a:ext cx="10306050" cy="4944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TTL的成本收益模型对 workload 稳定性比较敏感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公式中涉及：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工具调用耗时分布 P(τ,f)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请求显存占用 MemUsage(r)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平均显存占用 M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平均排队时间 T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memoryfulness factor η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prefill/reload profiling 结果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b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这些估计都依赖历史数据。如果历史数据不能代表未来，TTL 就可能选错。比如某个搜索网页的工具调用，大多 2 秒内返回，但如果突然外部网站变慢，可能经常 20 秒才返回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endParaRPr lang="zh-CN" altLang="en-US"/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不足之处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12825" y="908685"/>
            <a:ext cx="10306050" cy="4944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同时，由于关键参数依赖过去观察到的 workload，这些参数在一个 agent workload 上可能很好用，但换到另一个 agent 后未必准确，泛化性较低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实验部分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12825" y="908685"/>
            <a:ext cx="10306050" cy="4944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53440" y="1146175"/>
          <a:ext cx="10722610" cy="4653915"/>
        </p:xfrm>
        <a:graphic>
          <a:graphicData uri="http://schemas.openxmlformats.org/drawingml/2006/table">
            <a:tbl>
              <a:tblPr/>
              <a:tblGrid>
                <a:gridCol w="2112645"/>
                <a:gridCol w="5908040"/>
                <a:gridCol w="2701925"/>
              </a:tblGrid>
              <a:tr h="62357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Benchmark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简介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评测重点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253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MARBLE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一个面向 LLM Agent 的综合能力评测基准，主要用于考察智能体在复杂任务中的规划、推理、交互和执行能力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多步推理、任务规划、工具调用、任务完成率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316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PinchBench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主要用于评估模型在困难、受限或边界场景下的鲁棒性，关注模型是否能够在高压或易错任务中保持稳定表现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鲁棒性、约束遵循、边界条件处理、错误恢复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4465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WildClawBench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面向更真实和开放的任务环境，评估 LLM Agent 在复杂交互场景中的工具使用、环境适应和长期任务执行能力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真实环境交互、工具使用、长程任务执行、鲁棒性</a:t>
                      </a:r>
                      <a:endParaRPr lang="zh-CN" altLang="en-US" sz="18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5715" cap="flat" cmpd="sng">
                      <a:solidFill>
                        <a:srgbClr val="D9D9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实验部分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12825" y="908685"/>
            <a:ext cx="10306050" cy="4944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9890" y="548640"/>
            <a:ext cx="7832725" cy="553275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实验部分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12825" y="908685"/>
            <a:ext cx="10306050" cy="4944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目前针对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benchmark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往往包含大量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call，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例如：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浏览器操作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数据库查询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包安装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网络下载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搜索引擎访问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第三方服务调用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这类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call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虽然更接近真实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使用场景，但其执行时长通常存在较大的方差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7"/>
          <p:cNvSpPr txBox="1"/>
          <p:nvPr/>
        </p:nvSpPr>
        <p:spPr>
          <a:xfrm>
            <a:off x="1012825" y="176213"/>
            <a:ext cx="1706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实验部分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4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012825" y="908685"/>
            <a:ext cx="10306050" cy="4944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假设某个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provider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优化将每次模型调用平均延迟降低了 20%，但任务中包含几个高方差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call，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此时，端到端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JCT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的变化很可能被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call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方差主导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因此，如果目标是评估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provider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优化对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JCT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的影响，那么直接使用包含真实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Web/API/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系统依赖的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benchmark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并不理想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基于上述观察，可以构造一个新的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benchmark，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其目标不是最大化真实环境复杂度，而是在保留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多轮决策和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tool-use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结构的同时，尽可能降低外部系统带来的噪声，使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JCT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更敏感地反映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provider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的优化效果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 txBox="1"/>
          <p:nvPr/>
        </p:nvSpPr>
        <p:spPr>
          <a:xfrm>
            <a:off x="769938" y="2311400"/>
            <a:ext cx="10728325" cy="817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6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感谢您的批评指正</a:t>
            </a:r>
            <a:endParaRPr lang="zh-CN" altLang="en-US" sz="6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81" name="Rectangle 5"/>
          <p:cNvSpPr/>
          <p:nvPr/>
        </p:nvSpPr>
        <p:spPr>
          <a:xfrm>
            <a:off x="34925" y="6745288"/>
            <a:ext cx="12196763" cy="412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158" name="直接连接符 2"/>
          <p:cNvCxnSpPr/>
          <p:nvPr/>
        </p:nvCxnSpPr>
        <p:spPr>
          <a:xfrm>
            <a:off x="1201738" y="2159000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159" name="直接连接符 17"/>
          <p:cNvCxnSpPr/>
          <p:nvPr/>
        </p:nvCxnSpPr>
        <p:spPr>
          <a:xfrm>
            <a:off x="1201738" y="3284538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45" y="943854"/>
            <a:ext cx="4220005" cy="802395"/>
          </a:xfrm>
          <a:prstGeom prst="rect">
            <a:avLst/>
          </a:prstGeom>
        </p:spPr>
      </p:pic>
    </p:spTree>
  </p:cSld>
  <p:clrMapOvr>
    <a:masterClrMapping/>
  </p:clrMapOvr>
  <p:transition spd="slow" advTm="787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81" grpId="0" bldLvl="0" animBg="1"/>
    </p:bldLst>
  </p:timing>
</p:sld>
</file>

<file path=ppt/tags/tag1.xml><?xml version="1.0" encoding="utf-8"?>
<p:tagLst xmlns:p="http://schemas.openxmlformats.org/presentationml/2006/main">
  <p:tag name="TABLE_ENDDRAG_ORIGIN_RECT" val="779*231"/>
  <p:tag name="TABLE_ENDDRAG_RECT" val="106*207*779*231"/>
</p:tagLst>
</file>

<file path=ppt/tags/tag2.xml><?xml version="1.0" encoding="utf-8"?>
<p:tagLst xmlns:p="http://schemas.openxmlformats.org/presentationml/2006/main">
  <p:tag name="TABLE_ENDDRAG_ORIGIN_RECT" val="872*295"/>
  <p:tag name="TABLE_ENDDRAG_RECT" val="60*139*872*295"/>
</p:tagLst>
</file>

<file path=ppt/tags/tag3.xml><?xml version="1.0" encoding="utf-8"?>
<p:tagLst xmlns:p="http://schemas.openxmlformats.org/presentationml/2006/main">
  <p:tag name="TABLE_ENDDRAG_ORIGIN_RECT" val="891*388"/>
  <p:tag name="TABLE_ENDDRAG_RECT" val="49*72*891*388"/>
</p:tagLst>
</file>

<file path=ppt/tags/tag4.xml><?xml version="1.0" encoding="utf-8"?>
<p:tagLst xmlns:p="http://schemas.openxmlformats.org/presentationml/2006/main">
  <p:tag name="TABLE_ENDDRAG_ORIGIN_RECT" val="858*434"/>
  <p:tag name="TABLE_ENDDRAG_RECT" val="66*65*858*434"/>
</p:tagLst>
</file>

<file path=ppt/tags/tag5.xml><?xml version="1.0" encoding="utf-8"?>
<p:tagLst xmlns:p="http://schemas.openxmlformats.org/presentationml/2006/main">
  <p:tag name="TABLE_ENDDRAG_ORIGIN_RECT" val="844*366"/>
  <p:tag name="TABLE_ENDDRAG_RECT" val="67*90*844*366"/>
</p:tagLst>
</file>

<file path=ppt/theme/theme1.xml><?xml version="1.0" encoding="utf-8"?>
<a:theme xmlns:a="http://schemas.openxmlformats.org/drawingml/2006/main" name="1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2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3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6014</Words>
  <Application>WPS 演示</Application>
  <PresentationFormat>自定义</PresentationFormat>
  <Paragraphs>446</Paragraphs>
  <Slides>46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8" baseType="lpstr">
      <vt:lpstr>Arial</vt:lpstr>
      <vt:lpstr>宋体</vt:lpstr>
      <vt:lpstr>Wingdings</vt:lpstr>
      <vt:lpstr>微软雅黑</vt:lpstr>
      <vt:lpstr>仿宋_GB2312</vt:lpstr>
      <vt:lpstr>仿宋</vt:lpstr>
      <vt:lpstr>Calibri</vt:lpstr>
      <vt:lpstr>Arial Unicode MS</vt:lpstr>
      <vt:lpstr>仿宋_GB2312</vt:lpstr>
      <vt:lpstr>-apple-system</vt:lpstr>
      <vt:lpstr>Segoe Print</vt:lpstr>
      <vt:lpstr>方正仿宋_GB2312</vt:lpstr>
      <vt:lpstr>Open Sans</vt:lpstr>
      <vt:lpstr>KSOFDF5B3762</vt:lpstr>
      <vt:lpstr>KSOF144172A3</vt:lpstr>
      <vt:lpstr>katex_main</vt:lpstr>
      <vt:lpstr>KaTeX_Math</vt:lpstr>
      <vt:lpstr>Arial</vt:lpstr>
      <vt:lpstr>MS PGothic</vt:lpstr>
      <vt:lpstr>ui-monospace</vt:lpstr>
      <vt:lpstr>1</vt:lpstr>
      <vt:lpstr>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/>
  <dc:description>1</dc:description>
  <dc:subject>1</dc:subject>
  <cp:lastModifiedBy>徐凯威</cp:lastModifiedBy>
  <cp:revision>223</cp:revision>
  <dcterms:created xsi:type="dcterms:W3CDTF">2013-01-25T01:44:00Z</dcterms:created>
  <dcterms:modified xsi:type="dcterms:W3CDTF">2026-06-12T07:05:25Z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C47E41FBD4B345BBB8F8D13F2D04735D_13</vt:lpwstr>
  </property>
</Properties>
</file>